
<file path=[Content_Types].xml><?xml version="1.0" encoding="utf-8"?>
<Types xmlns="http://schemas.openxmlformats.org/package/2006/content-types">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1" roundtripDataSignature="AMtx7mjC1/6GZ2I5iT+1EHu4Ub2USr4h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2F93AE-635C-42B7-8E95-DCFE6EE2B501}">
  <a:tblStyle styleId="{F82F93AE-635C-42B7-8E95-DCFE6EE2B50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customschemas.google.com/relationships/presentationmetadata" Target="metadata"/><Relationship Id="rId50" Type="http://schemas.openxmlformats.org/officeDocument/2006/relationships/slide" Target="slides/slide44.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image" Target="../media/image3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9" name="Google Shape;89;p1: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Mr. R C Ravindranath, Asst. Prof., SOE-CSE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5" name="Google Shape;95;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 name="Google Shape;10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5" name="Google Shape;12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 name="Google Shape;14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0" name="Google Shape;15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9" name="Google Shape;15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0" name="Google Shape;17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4" name="Google Shape;18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8" name="Google Shape;22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25" name="Google Shape;32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44" name="Google Shape;34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1" name="Google Shape;35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000000"/>
              </a:buClr>
              <a:buSzPts val="1200"/>
              <a:buFont typeface="Times New Roman"/>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387" name="Google Shape;387;p14:notes"/>
          <p:cNvSpPr txBox="1"/>
          <p:nvPr/>
        </p:nvSpPr>
        <p:spPr>
          <a:xfrm>
            <a:off x="3830638" y="8531225"/>
            <a:ext cx="2925762" cy="444500"/>
          </a:xfrm>
          <a:prstGeom prst="rect">
            <a:avLst/>
          </a:prstGeom>
          <a:noFill/>
          <a:ln>
            <a:noFill/>
          </a:ln>
        </p:spPr>
        <p:txBody>
          <a:bodyPr anchorCtr="0" anchor="b" bIns="46025" lIns="88525" spcFirstLastPara="1" rIns="88525" wrap="square" tIns="46025">
            <a:noAutofit/>
          </a:bodyPr>
          <a:lstStyle/>
          <a:p>
            <a:pPr indent="0" lvl="0" marL="0" marR="0" rtl="0" algn="r">
              <a:spcBef>
                <a:spcPts val="0"/>
              </a:spcBef>
              <a:spcAft>
                <a:spcPts val="0"/>
              </a:spcAft>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388" name="Google Shape;388;p14:notes"/>
          <p:cNvSpPr txBox="1"/>
          <p:nvPr/>
        </p:nvSpPr>
        <p:spPr>
          <a:xfrm>
            <a:off x="1127125" y="673100"/>
            <a:ext cx="4508500" cy="33686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4975" lIns="89950" spcFirstLastPara="1" rIns="89950" wrap="square" tIns="44975">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9" name="Google Shape;389;p14:notes"/>
          <p:cNvSpPr txBox="1"/>
          <p:nvPr>
            <p:ph idx="1" type="body"/>
          </p:nvPr>
        </p:nvSpPr>
        <p:spPr>
          <a:xfrm>
            <a:off x="676275" y="4265613"/>
            <a:ext cx="5392738" cy="4117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390" name="Google Shape;390;p1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Mr. R C Ravindranath, Asst. Prof., SOE-CSE</a:t>
            </a:r>
            <a:endParaRPr/>
          </a:p>
        </p:txBody>
      </p:sp>
      <p:sp>
        <p:nvSpPr>
          <p:cNvPr id="391" name="Google Shape;39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0" name="Google Shape;410;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latin typeface="Arial"/>
                <a:ea typeface="Arial"/>
                <a:cs typeface="Arial"/>
                <a:sym typeface="Arial"/>
              </a:rPr>
              <a:t>Java also comes in several versions:</a:t>
            </a:r>
            <a:endParaRPr/>
          </a:p>
          <a:p>
            <a:pPr indent="0" lvl="0" marL="0" rtl="0" algn="l">
              <a:spcBef>
                <a:spcPts val="0"/>
              </a:spcBef>
              <a:spcAft>
                <a:spcPts val="0"/>
              </a:spcAft>
              <a:buNone/>
            </a:pPr>
            <a:r>
              <a:rPr lang="en-US"/>
              <a:t>JDK 1.0 (1995) </a:t>
            </a:r>
            <a:endParaRPr/>
          </a:p>
          <a:p>
            <a:pPr indent="0" lvl="0" marL="0" rtl="0" algn="l">
              <a:spcBef>
                <a:spcPts val="0"/>
              </a:spcBef>
              <a:spcAft>
                <a:spcPts val="0"/>
              </a:spcAft>
              <a:buNone/>
            </a:pPr>
            <a:r>
              <a:rPr lang="en-US"/>
              <a:t>JDK 1.1 (1997)</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J2SE 1.2 (1998) ) 🡪Playground</a:t>
            </a:r>
            <a:endParaRPr/>
          </a:p>
          <a:p>
            <a:pPr indent="0" lvl="0" marL="0" rtl="0" algn="l">
              <a:spcBef>
                <a:spcPts val="0"/>
              </a:spcBef>
              <a:spcAft>
                <a:spcPts val="0"/>
              </a:spcAft>
              <a:buNone/>
            </a:pPr>
            <a:r>
              <a:rPr lang="en-US"/>
              <a:t>J2SE 1.3 (2000) 🡪 Kestrel</a:t>
            </a:r>
            <a:endParaRPr/>
          </a:p>
          <a:p>
            <a:pPr indent="0" lvl="0" marL="0" rtl="0" algn="l">
              <a:spcBef>
                <a:spcPts val="0"/>
              </a:spcBef>
              <a:spcAft>
                <a:spcPts val="0"/>
              </a:spcAft>
              <a:buNone/>
            </a:pPr>
            <a:r>
              <a:rPr lang="en-US"/>
              <a:t>J2SE 1.4 (2002) 🡪 Merlin</a:t>
            </a:r>
            <a:endParaRPr/>
          </a:p>
          <a:p>
            <a:pPr indent="0" lvl="0" marL="0" rtl="0" algn="l">
              <a:spcBef>
                <a:spcPts val="0"/>
              </a:spcBef>
              <a:spcAft>
                <a:spcPts val="0"/>
              </a:spcAft>
              <a:buNone/>
            </a:pPr>
            <a:r>
              <a:rPr lang="en-US"/>
              <a:t>The above 3 was called Java 2</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J2SE 5.0 (2004) 🡪 Tiger</a:t>
            </a:r>
            <a:endParaRPr/>
          </a:p>
          <a:p>
            <a:pPr indent="0" lvl="0" marL="0" rtl="0" algn="l">
              <a:spcBef>
                <a:spcPts val="0"/>
              </a:spcBef>
              <a:spcAft>
                <a:spcPts val="0"/>
              </a:spcAft>
              <a:buNone/>
            </a:pPr>
            <a:r>
              <a:rPr lang="en-US">
                <a:solidFill>
                  <a:srgbClr val="C00000"/>
                </a:solidFill>
              </a:rPr>
              <a:t>Java SE 6 ( 2006) 🡪 Mustang</a:t>
            </a:r>
            <a:endParaRPr>
              <a:solidFill>
                <a:srgbClr val="C00000"/>
              </a:solidFill>
            </a:endParaRPr>
          </a:p>
          <a:p>
            <a:pPr indent="0" lvl="0" marL="0" rtl="0" algn="l">
              <a:spcBef>
                <a:spcPts val="0"/>
              </a:spcBef>
              <a:spcAft>
                <a:spcPts val="0"/>
              </a:spcAft>
              <a:buNone/>
            </a:pPr>
            <a:r>
              <a:rPr lang="en-US"/>
              <a:t>Java SE 7 (2011) 🡪Dolphin</a:t>
            </a:r>
            <a:endParaRPr/>
          </a:p>
          <a:p>
            <a:pPr indent="0" lvl="0" marL="0" rtl="0" algn="l">
              <a:spcBef>
                <a:spcPts val="0"/>
              </a:spcBef>
              <a:spcAft>
                <a:spcPts val="0"/>
              </a:spcAft>
              <a:buNone/>
            </a:pPr>
            <a:r>
              <a:t/>
            </a:r>
            <a:endParaRPr>
              <a:latin typeface="Arial"/>
              <a:ea typeface="Arial"/>
              <a:cs typeface="Arial"/>
              <a:sym typeface="Arial"/>
            </a:endParaRPr>
          </a:p>
        </p:txBody>
      </p:sp>
      <p:sp>
        <p:nvSpPr>
          <p:cNvPr id="411" name="Google Shape;411;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412" name="Google Shape;412;p1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Mr. R C Ravindranath, Asst. Prof., SOE-CSE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0" name="Google Shape;42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27" name="Google Shape;42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000000"/>
              </a:buClr>
              <a:buSzPts val="1200"/>
              <a:buFont typeface="Times New Roman"/>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438" name="Google Shape;438;p18:notes"/>
          <p:cNvSpPr txBox="1"/>
          <p:nvPr/>
        </p:nvSpPr>
        <p:spPr>
          <a:xfrm>
            <a:off x="3830638" y="8531225"/>
            <a:ext cx="2925762" cy="444500"/>
          </a:xfrm>
          <a:prstGeom prst="rect">
            <a:avLst/>
          </a:prstGeom>
          <a:noFill/>
          <a:ln>
            <a:noFill/>
          </a:ln>
        </p:spPr>
        <p:txBody>
          <a:bodyPr anchorCtr="0" anchor="b" bIns="46025" lIns="88525" spcFirstLastPara="1" rIns="88525" wrap="square" tIns="46025">
            <a:noAutofit/>
          </a:bodyPr>
          <a:lstStyle/>
          <a:p>
            <a:pPr indent="0" lvl="0" marL="0" marR="0" rtl="0" algn="r">
              <a:spcBef>
                <a:spcPts val="0"/>
              </a:spcBef>
              <a:spcAft>
                <a:spcPts val="0"/>
              </a:spcAft>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439" name="Google Shape;439;p18:notes"/>
          <p:cNvSpPr txBox="1"/>
          <p:nvPr/>
        </p:nvSpPr>
        <p:spPr>
          <a:xfrm>
            <a:off x="1127125" y="673100"/>
            <a:ext cx="4508500" cy="33686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4975" lIns="89950" spcFirstLastPara="1" rIns="89950" wrap="square" tIns="44975">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0" name="Google Shape;440;p18:notes"/>
          <p:cNvSpPr txBox="1"/>
          <p:nvPr>
            <p:ph idx="1" type="body"/>
          </p:nvPr>
        </p:nvSpPr>
        <p:spPr>
          <a:xfrm>
            <a:off x="676275" y="4265613"/>
            <a:ext cx="5392738" cy="4117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441" name="Google Shape;441;p18: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Mr. R C Ravindranath, Asst. Prof., SOE-CSE</a:t>
            </a:r>
            <a:endParaRPr/>
          </a:p>
        </p:txBody>
      </p:sp>
      <p:sp>
        <p:nvSpPr>
          <p:cNvPr id="442" name="Google Shape;44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0" name="Google Shape;46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67" name="Google Shape;46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475" name="Google Shape;47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08" name="Google Shape;50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34" name="Google Shape;534;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Clr>
                <a:srgbClr val="000000"/>
              </a:buClr>
              <a:buSzPts val="1200"/>
              <a:buFont typeface="Times New Roman"/>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550" name="Google Shape;550;p24:notes"/>
          <p:cNvSpPr txBox="1"/>
          <p:nvPr/>
        </p:nvSpPr>
        <p:spPr>
          <a:xfrm>
            <a:off x="3830638" y="8531225"/>
            <a:ext cx="2925762" cy="444500"/>
          </a:xfrm>
          <a:prstGeom prst="rect">
            <a:avLst/>
          </a:prstGeom>
          <a:noFill/>
          <a:ln>
            <a:noFill/>
          </a:ln>
        </p:spPr>
        <p:txBody>
          <a:bodyPr anchorCtr="0" anchor="b" bIns="46025" lIns="88525" spcFirstLastPara="1" rIns="88525" wrap="square" tIns="46025">
            <a:noAutofit/>
          </a:bodyPr>
          <a:lstStyle/>
          <a:p>
            <a:pPr indent="0" lvl="0" marL="0" marR="0" rtl="0" algn="r">
              <a:spcBef>
                <a:spcPts val="0"/>
              </a:spcBef>
              <a:spcAft>
                <a:spcPts val="0"/>
              </a:spcAft>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551" name="Google Shape;551;p24:notes"/>
          <p:cNvSpPr txBox="1"/>
          <p:nvPr/>
        </p:nvSpPr>
        <p:spPr>
          <a:xfrm>
            <a:off x="1127125" y="673100"/>
            <a:ext cx="4508500" cy="3368675"/>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ctr" bIns="44975" lIns="89950" spcFirstLastPara="1" rIns="89950" wrap="square" tIns="44975">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2" name="Google Shape;552;p24:notes"/>
          <p:cNvSpPr txBox="1"/>
          <p:nvPr>
            <p:ph idx="1" type="body"/>
          </p:nvPr>
        </p:nvSpPr>
        <p:spPr>
          <a:xfrm>
            <a:off x="676275" y="4265613"/>
            <a:ext cx="5392738" cy="411797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553" name="Google Shape;553;p24: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Mr. R C Ravindranath, Asst. Prof., SOE-CSE</a:t>
            </a:r>
            <a:endParaRPr/>
          </a:p>
        </p:txBody>
      </p:sp>
      <p:sp>
        <p:nvSpPr>
          <p:cNvPr id="554" name="Google Shape;554;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64" name="Google Shape;56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http://www.btechsmartclass.com/java/java-Stream.html</a:t>
            </a:r>
            <a:endParaRPr/>
          </a:p>
        </p:txBody>
      </p:sp>
      <p:sp>
        <p:nvSpPr>
          <p:cNvPr id="576" name="Google Shape;576;p26: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Mr. R C Ravindranath, Asst. Prof., SOE-CSE</a:t>
            </a:r>
            <a:endParaRPr/>
          </a:p>
        </p:txBody>
      </p:sp>
      <p:sp>
        <p:nvSpPr>
          <p:cNvPr id="577" name="Google Shape;577;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0" name="Google Shape;630;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38" name="Google Shape;63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46" name="Google Shape;646;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53" name="Google Shape;653;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672" name="Google Shape;672;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1" name="Google Shape;701;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03" name="Google Shape;703;p32: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Mr. R C Ravindranath, Asst. Prof., SOE-CSE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20" name="Google Shape;72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68" name="Google Shape;768;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3" name="Google Shape;783;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4" name="Google Shape;784;p35: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Mr. R C Ravindranath, Asst. Prof., SOE-CSE</a:t>
            </a:r>
            <a:endParaRPr/>
          </a:p>
        </p:txBody>
      </p:sp>
      <p:sp>
        <p:nvSpPr>
          <p:cNvPr id="785" name="Google Shape;785;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97" name="Google Shape;797;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4" name="Google Shape;81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https://www.examtray.com/java/last-minute-java-programming-data-literals-or-constants-tutorial</a:t>
            </a:r>
            <a:endParaRPr/>
          </a:p>
        </p:txBody>
      </p:sp>
      <p:sp>
        <p:nvSpPr>
          <p:cNvPr id="815" name="Google Shape;815;p37: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Mr. R C Ravindranath, Asst. Prof., SOE-CSE</a:t>
            </a:r>
            <a:endParaRPr/>
          </a:p>
        </p:txBody>
      </p:sp>
      <p:sp>
        <p:nvSpPr>
          <p:cNvPr id="816" name="Google Shape;816;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28" name="Google Shape;828;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35" name="Google Shape;835;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7" name="Google Shape;867;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Source: https://mkyong.com/java/java-and-bitwise-shift-operator/</a:t>
            </a:r>
            <a:endParaRPr/>
          </a:p>
        </p:txBody>
      </p:sp>
      <p:sp>
        <p:nvSpPr>
          <p:cNvPr id="868" name="Google Shape;868;p40: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Mr. R C Ravindranath, Asst. Prof., SOE-CSE</a:t>
            </a:r>
            <a:endParaRPr/>
          </a:p>
        </p:txBody>
      </p:sp>
      <p:sp>
        <p:nvSpPr>
          <p:cNvPr id="869" name="Google Shape;869;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99" name="Google Shape;899;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29" name="Google Shape;929;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rgbClr val="000000"/>
                </a:solidFill>
                <a:latin typeface="Arial"/>
                <a:ea typeface="Arial"/>
                <a:cs typeface="Arial"/>
                <a:sym typeface="Arial"/>
              </a:rPr>
              <a:t>‹#›</a:t>
            </a:fld>
            <a:endParaRPr sz="1200">
              <a:solidFill>
                <a:srgbClr val="000000"/>
              </a:solidFill>
              <a:latin typeface="Arial"/>
              <a:ea typeface="Arial"/>
              <a:cs typeface="Arial"/>
              <a:sym typeface="Arial"/>
            </a:endParaRPr>
          </a:p>
        </p:txBody>
      </p:sp>
      <p:sp>
        <p:nvSpPr>
          <p:cNvPr id="995" name="Google Shape;995;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96" name="Google Shape;996;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997" name="Google Shape;997;p43:notes"/>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Mr. R C Ravindranath, Asst. Prof., SOE-CSE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06" name="Google Shape;1006;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8" name="Google Shape;18;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4" name="Google Shape;24;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 name="Shape 27"/>
        <p:cNvGrpSpPr/>
        <p:nvPr/>
      </p:nvGrpSpPr>
      <p:grpSpPr>
        <a:xfrm>
          <a:off x="0" y="0"/>
          <a:ext cx="0" cy="0"/>
          <a:chOff x="0" y="0"/>
          <a:chExt cx="0" cy="0"/>
        </a:xfrm>
      </p:grpSpPr>
      <p:sp>
        <p:nvSpPr>
          <p:cNvPr id="28" name="Google Shape;28;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 name="Shape 31"/>
        <p:cNvGrpSpPr/>
        <p:nvPr/>
      </p:nvGrpSpPr>
      <p:grpSpPr>
        <a:xfrm>
          <a:off x="0" y="0"/>
          <a:ext cx="0" cy="0"/>
          <a:chOff x="0" y="0"/>
          <a:chExt cx="0" cy="0"/>
        </a:xfrm>
      </p:grpSpPr>
      <p:sp>
        <p:nvSpPr>
          <p:cNvPr id="32" name="Google Shape;32;p4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3" name="Google Shape;33;p4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5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9" name="Google Shape;39;p5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0" name="Google Shape;40;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5" name="Google Shape;45;p5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5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2" name="Google Shape;52;p5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5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5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5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5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1" name="Google Shape;61;p5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5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5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8" name="Google Shape;68;p54"/>
          <p:cNvSpPr/>
          <p:nvPr>
            <p:ph idx="2" type="pic"/>
          </p:nvPr>
        </p:nvSpPr>
        <p:spPr>
          <a:xfrm>
            <a:off x="5183188" y="987425"/>
            <a:ext cx="6172200" cy="4873625"/>
          </a:xfrm>
          <a:prstGeom prst="rect">
            <a:avLst/>
          </a:prstGeom>
          <a:noFill/>
          <a:ln>
            <a:noFill/>
          </a:ln>
        </p:spPr>
      </p:sp>
      <p:sp>
        <p:nvSpPr>
          <p:cNvPr id="69" name="Google Shape;69;p5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5" name="Google Shape;75;p5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5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1" name="Google Shape;81;p5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Arial"/>
                <a:ea typeface="Arial"/>
                <a:cs typeface="Arial"/>
                <a:sym typeface="Arial"/>
              </a:defRPr>
            </a:lvl1pPr>
            <a:lvl2pPr indent="0" lvl="1" marL="0" marR="0" algn="r">
              <a:spcBef>
                <a:spcPts val="0"/>
              </a:spcBef>
              <a:spcAft>
                <a:spcPts val="0"/>
              </a:spcAft>
              <a:buNone/>
              <a:defRPr sz="1200">
                <a:solidFill>
                  <a:srgbClr val="888888"/>
                </a:solidFill>
                <a:latin typeface="Arial"/>
                <a:ea typeface="Arial"/>
                <a:cs typeface="Arial"/>
                <a:sym typeface="Arial"/>
              </a:defRPr>
            </a:lvl2pPr>
            <a:lvl3pPr indent="0" lvl="2" marL="0" marR="0" algn="r">
              <a:spcBef>
                <a:spcPts val="0"/>
              </a:spcBef>
              <a:spcAft>
                <a:spcPts val="0"/>
              </a:spcAft>
              <a:buNone/>
              <a:defRPr sz="1200">
                <a:solidFill>
                  <a:srgbClr val="888888"/>
                </a:solidFill>
                <a:latin typeface="Arial"/>
                <a:ea typeface="Arial"/>
                <a:cs typeface="Arial"/>
                <a:sym typeface="Arial"/>
              </a:defRPr>
            </a:lvl3pPr>
            <a:lvl4pPr indent="0" lvl="3" marL="0" marR="0" algn="r">
              <a:spcBef>
                <a:spcPts val="0"/>
              </a:spcBef>
              <a:spcAft>
                <a:spcPts val="0"/>
              </a:spcAft>
              <a:buNone/>
              <a:defRPr sz="1200">
                <a:solidFill>
                  <a:srgbClr val="888888"/>
                </a:solidFill>
                <a:latin typeface="Arial"/>
                <a:ea typeface="Arial"/>
                <a:cs typeface="Arial"/>
                <a:sym typeface="Arial"/>
              </a:defRPr>
            </a:lvl4pPr>
            <a:lvl5pPr indent="0" lvl="4" marL="0" marR="0" algn="r">
              <a:spcBef>
                <a:spcPts val="0"/>
              </a:spcBef>
              <a:spcAft>
                <a:spcPts val="0"/>
              </a:spcAft>
              <a:buNone/>
              <a:defRPr sz="1200">
                <a:solidFill>
                  <a:srgbClr val="888888"/>
                </a:solidFill>
                <a:latin typeface="Arial"/>
                <a:ea typeface="Arial"/>
                <a:cs typeface="Arial"/>
                <a:sym typeface="Arial"/>
              </a:defRPr>
            </a:lvl5pPr>
            <a:lvl6pPr indent="0" lvl="5" marL="0" marR="0" algn="r">
              <a:spcBef>
                <a:spcPts val="0"/>
              </a:spcBef>
              <a:spcAft>
                <a:spcPts val="0"/>
              </a:spcAft>
              <a:buNone/>
              <a:defRPr sz="1200">
                <a:solidFill>
                  <a:srgbClr val="888888"/>
                </a:solidFill>
                <a:latin typeface="Arial"/>
                <a:ea typeface="Arial"/>
                <a:cs typeface="Arial"/>
                <a:sym typeface="Arial"/>
              </a:defRPr>
            </a:lvl6pPr>
            <a:lvl7pPr indent="0" lvl="6" marL="0" marR="0" algn="r">
              <a:spcBef>
                <a:spcPts val="0"/>
              </a:spcBef>
              <a:spcAft>
                <a:spcPts val="0"/>
              </a:spcAft>
              <a:buNone/>
              <a:defRPr sz="1200">
                <a:solidFill>
                  <a:srgbClr val="888888"/>
                </a:solidFill>
                <a:latin typeface="Arial"/>
                <a:ea typeface="Arial"/>
                <a:cs typeface="Arial"/>
                <a:sym typeface="Arial"/>
              </a:defRPr>
            </a:lvl7pPr>
            <a:lvl8pPr indent="0" lvl="7" marL="0" marR="0" algn="r">
              <a:spcBef>
                <a:spcPts val="0"/>
              </a:spcBef>
              <a:spcAft>
                <a:spcPts val="0"/>
              </a:spcAft>
              <a:buNone/>
              <a:defRPr sz="1200">
                <a:solidFill>
                  <a:srgbClr val="888888"/>
                </a:solidFill>
                <a:latin typeface="Arial"/>
                <a:ea typeface="Arial"/>
                <a:cs typeface="Arial"/>
                <a:sym typeface="Arial"/>
              </a:defRPr>
            </a:lvl8pPr>
            <a:lvl9pPr indent="0" lvl="8" marL="0" marR="0" algn="r">
              <a:spcBef>
                <a:spcPts val="0"/>
              </a:spcBef>
              <a:spcAft>
                <a:spcPts val="0"/>
              </a:spcAft>
              <a:buNone/>
              <a:defRPr sz="1200">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88888"/>
                </a:solidFill>
                <a:latin typeface="Arial"/>
                <a:ea typeface="Arial"/>
                <a:cs typeface="Arial"/>
                <a:sym typeface="Arial"/>
              </a:defRPr>
            </a:lvl1pPr>
            <a:lvl2pPr indent="0" lvl="1" marL="0" marR="0" rtl="0" algn="r">
              <a:spcBef>
                <a:spcPts val="0"/>
              </a:spcBef>
              <a:spcAft>
                <a:spcPts val="0"/>
              </a:spcAft>
              <a:buNone/>
              <a:defRPr b="0" i="0" sz="1200" u="none" cap="none" strike="noStrike">
                <a:solidFill>
                  <a:srgbClr val="888888"/>
                </a:solidFill>
                <a:latin typeface="Arial"/>
                <a:ea typeface="Arial"/>
                <a:cs typeface="Arial"/>
                <a:sym typeface="Arial"/>
              </a:defRPr>
            </a:lvl2pPr>
            <a:lvl3pPr indent="0" lvl="2" marL="0" marR="0" rtl="0" algn="r">
              <a:spcBef>
                <a:spcPts val="0"/>
              </a:spcBef>
              <a:spcAft>
                <a:spcPts val="0"/>
              </a:spcAft>
              <a:buNone/>
              <a:defRPr b="0" i="0" sz="1200" u="none" cap="none" strike="noStrike">
                <a:solidFill>
                  <a:srgbClr val="888888"/>
                </a:solidFill>
                <a:latin typeface="Arial"/>
                <a:ea typeface="Arial"/>
                <a:cs typeface="Arial"/>
                <a:sym typeface="Arial"/>
              </a:defRPr>
            </a:lvl3pPr>
            <a:lvl4pPr indent="0" lvl="3" marL="0" marR="0" rtl="0" algn="r">
              <a:spcBef>
                <a:spcPts val="0"/>
              </a:spcBef>
              <a:spcAft>
                <a:spcPts val="0"/>
              </a:spcAft>
              <a:buNone/>
              <a:defRPr b="0" i="0" sz="1200" u="none" cap="none" strike="noStrike">
                <a:solidFill>
                  <a:srgbClr val="888888"/>
                </a:solidFill>
                <a:latin typeface="Arial"/>
                <a:ea typeface="Arial"/>
                <a:cs typeface="Arial"/>
                <a:sym typeface="Arial"/>
              </a:defRPr>
            </a:lvl4pPr>
            <a:lvl5pPr indent="0" lvl="4" marL="0" marR="0" rtl="0" algn="r">
              <a:spcBef>
                <a:spcPts val="0"/>
              </a:spcBef>
              <a:spcAft>
                <a:spcPts val="0"/>
              </a:spcAft>
              <a:buNone/>
              <a:defRPr b="0" i="0" sz="1200" u="none" cap="none" strike="noStrike">
                <a:solidFill>
                  <a:srgbClr val="888888"/>
                </a:solidFill>
                <a:latin typeface="Arial"/>
                <a:ea typeface="Arial"/>
                <a:cs typeface="Arial"/>
                <a:sym typeface="Arial"/>
              </a:defRPr>
            </a:lvl5pPr>
            <a:lvl6pPr indent="0" lvl="5" marL="0" marR="0" rtl="0" algn="r">
              <a:spcBef>
                <a:spcPts val="0"/>
              </a:spcBef>
              <a:spcAft>
                <a:spcPts val="0"/>
              </a:spcAft>
              <a:buNone/>
              <a:defRPr b="0" i="0" sz="1200" u="none" cap="none" strike="noStrike">
                <a:solidFill>
                  <a:srgbClr val="888888"/>
                </a:solidFill>
                <a:latin typeface="Arial"/>
                <a:ea typeface="Arial"/>
                <a:cs typeface="Arial"/>
                <a:sym typeface="Arial"/>
              </a:defRPr>
            </a:lvl6pPr>
            <a:lvl7pPr indent="0" lvl="6" marL="0" marR="0" rtl="0" algn="r">
              <a:spcBef>
                <a:spcPts val="0"/>
              </a:spcBef>
              <a:spcAft>
                <a:spcPts val="0"/>
              </a:spcAft>
              <a:buNone/>
              <a:defRPr b="0" i="0" sz="1200" u="none" cap="none" strike="noStrike">
                <a:solidFill>
                  <a:srgbClr val="888888"/>
                </a:solidFill>
                <a:latin typeface="Arial"/>
                <a:ea typeface="Arial"/>
                <a:cs typeface="Arial"/>
                <a:sym typeface="Arial"/>
              </a:defRPr>
            </a:lvl7pPr>
            <a:lvl8pPr indent="0" lvl="7" marL="0" marR="0" rtl="0" algn="r">
              <a:spcBef>
                <a:spcPts val="0"/>
              </a:spcBef>
              <a:spcAft>
                <a:spcPts val="0"/>
              </a:spcAft>
              <a:buNone/>
              <a:defRPr b="0" i="0" sz="1200" u="none" cap="none" strike="noStrike">
                <a:solidFill>
                  <a:srgbClr val="888888"/>
                </a:solidFill>
                <a:latin typeface="Arial"/>
                <a:ea typeface="Arial"/>
                <a:cs typeface="Arial"/>
                <a:sym typeface="Arial"/>
              </a:defRPr>
            </a:lvl8pPr>
            <a:lvl9pPr indent="0" lvl="8" marL="0" marR="0" rtl="0" algn="r">
              <a:spcBef>
                <a:spcPts val="0"/>
              </a:spcBef>
              <a:spcAft>
                <a:spcPts val="0"/>
              </a:spcAft>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5" name="Google Shape;15;p45"/>
          <p:cNvPicPr preferRelativeResize="0"/>
          <p:nvPr/>
        </p:nvPicPr>
        <p:blipFill rotWithShape="1">
          <a:blip r:embed="rId1">
            <a:alphaModFix/>
          </a:blip>
          <a:srcRect b="0" l="0" r="0" t="0"/>
          <a:stretch/>
        </p:blipFill>
        <p:spPr>
          <a:xfrm>
            <a:off x="0" y="5153025"/>
            <a:ext cx="12192000" cy="170497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1.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hyperlink" Target="https://www.oracle.com/in/java/technologies/javase-downloads.html" TargetMode="Externa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1" Type="http://schemas.openxmlformats.org/officeDocument/2006/relationships/image" Target="../media/image12.png"/><Relationship Id="rId10" Type="http://schemas.openxmlformats.org/officeDocument/2006/relationships/image" Target="../media/image7.pn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39.png"/><Relationship Id="rId9" Type="http://schemas.openxmlformats.org/officeDocument/2006/relationships/image" Target="../media/image29.png"/><Relationship Id="rId5" Type="http://schemas.openxmlformats.org/officeDocument/2006/relationships/image" Target="../media/image18.png"/><Relationship Id="rId6" Type="http://schemas.openxmlformats.org/officeDocument/2006/relationships/image" Target="../media/image22.png"/><Relationship Id="rId7" Type="http://schemas.openxmlformats.org/officeDocument/2006/relationships/image" Target="../media/image19.png"/><Relationship Id="rId8"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45.png"/><Relationship Id="rId6" Type="http://schemas.openxmlformats.org/officeDocument/2006/relationships/image" Target="../media/image25.png"/></Relationships>
</file>

<file path=ppt/slides/_rels/slide26.xml.rels><?xml version="1.0" encoding="UTF-8" standalone="yes"?><Relationships xmlns="http://schemas.openxmlformats.org/package/2006/relationships"><Relationship Id="rId10" Type="http://schemas.openxmlformats.org/officeDocument/2006/relationships/oleObject" Target="../embeddings/oleObject2.bin"/><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vmlDrawing" Target="../drawings/vmlDrawing1.vml"/><Relationship Id="rId4" Type="http://schemas.openxmlformats.org/officeDocument/2006/relationships/oleObject" Target="../embeddings/oleObject1.bin"/><Relationship Id="rId9" Type="http://schemas.openxmlformats.org/officeDocument/2006/relationships/oleObject" Target="../embeddings/oleObject2.bin"/><Relationship Id="rId5" Type="http://schemas.openxmlformats.org/officeDocument/2006/relationships/oleObject" Target="../embeddings/oleObject1.bin"/><Relationship Id="rId6" Type="http://schemas.openxmlformats.org/officeDocument/2006/relationships/image" Target="../media/image32.png"/><Relationship Id="rId7" Type="http://schemas.openxmlformats.org/officeDocument/2006/relationships/image" Target="../media/image26.png"/><Relationship Id="rId8"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www.eclipse.org/downloads/"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hyperlink" Target="https://www.javaprogramto.com/2013/08/static-in-java.html" TargetMode="External"/><Relationship Id="rId4" Type="http://schemas.openxmlformats.org/officeDocument/2006/relationships/image" Target="../media/image31.png"/><Relationship Id="rId5"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8.png"/><Relationship Id="rId4" Type="http://schemas.openxmlformats.org/officeDocument/2006/relationships/image" Target="../media/image40.png"/><Relationship Id="rId5" Type="http://schemas.openxmlformats.org/officeDocument/2006/relationships/image" Target="../media/image37.png"/><Relationship Id="rId6" Type="http://schemas.openxmlformats.org/officeDocument/2006/relationships/image" Target="../media/image57.png"/><Relationship Id="rId7" Type="http://schemas.openxmlformats.org/officeDocument/2006/relationships/image" Target="../media/image41.png"/><Relationship Id="rId8" Type="http://schemas.openxmlformats.org/officeDocument/2006/relationships/image" Target="../media/image43.png"/></Relationships>
</file>

<file path=ppt/slides/_rels/slide40.xml.rels><?xml version="1.0" encoding="UTF-8" standalone="yes"?><Relationships xmlns="http://schemas.openxmlformats.org/package/2006/relationships"><Relationship Id="rId20" Type="http://schemas.openxmlformats.org/officeDocument/2006/relationships/image" Target="../media/image54.png"/><Relationship Id="rId11" Type="http://schemas.openxmlformats.org/officeDocument/2006/relationships/image" Target="../media/image60.png"/><Relationship Id="rId10" Type="http://schemas.openxmlformats.org/officeDocument/2006/relationships/image" Target="../media/image56.png"/><Relationship Id="rId21" Type="http://schemas.openxmlformats.org/officeDocument/2006/relationships/image" Target="../media/image61.png"/><Relationship Id="rId13" Type="http://schemas.openxmlformats.org/officeDocument/2006/relationships/image" Target="../media/image53.png"/><Relationship Id="rId12" Type="http://schemas.openxmlformats.org/officeDocument/2006/relationships/image" Target="../media/image46.png"/><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7.png"/><Relationship Id="rId4" Type="http://schemas.openxmlformats.org/officeDocument/2006/relationships/image" Target="../media/image49.png"/><Relationship Id="rId9" Type="http://schemas.openxmlformats.org/officeDocument/2006/relationships/image" Target="../media/image48.png"/><Relationship Id="rId15" Type="http://schemas.openxmlformats.org/officeDocument/2006/relationships/image" Target="../media/image50.png"/><Relationship Id="rId14" Type="http://schemas.openxmlformats.org/officeDocument/2006/relationships/image" Target="../media/image58.png"/><Relationship Id="rId17" Type="http://schemas.openxmlformats.org/officeDocument/2006/relationships/image" Target="../media/image59.png"/><Relationship Id="rId16" Type="http://schemas.openxmlformats.org/officeDocument/2006/relationships/image" Target="../media/image62.png"/><Relationship Id="rId5" Type="http://schemas.openxmlformats.org/officeDocument/2006/relationships/image" Target="../media/image44.png"/><Relationship Id="rId19" Type="http://schemas.openxmlformats.org/officeDocument/2006/relationships/image" Target="../media/image55.png"/><Relationship Id="rId6" Type="http://schemas.openxmlformats.org/officeDocument/2006/relationships/image" Target="../media/image33.png"/><Relationship Id="rId18" Type="http://schemas.openxmlformats.org/officeDocument/2006/relationships/image" Target="../media/image51.png"/><Relationship Id="rId7" Type="http://schemas.openxmlformats.org/officeDocument/2006/relationships/image" Target="../media/image35.png"/><Relationship Id="rId8" Type="http://schemas.openxmlformats.org/officeDocument/2006/relationships/image" Target="../media/image5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p:nvPr/>
        </p:nvSpPr>
        <p:spPr>
          <a:xfrm>
            <a:off x="2514600" y="1905000"/>
            <a:ext cx="7162800" cy="16764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ctr">
              <a:spcBef>
                <a:spcPts val="0"/>
              </a:spcBef>
              <a:spcAft>
                <a:spcPts val="0"/>
              </a:spcAft>
              <a:buClr>
                <a:srgbClr val="000000"/>
              </a:buClr>
              <a:buSzPts val="2800"/>
              <a:buFont typeface="Times New Roman"/>
              <a:buNone/>
            </a:pPr>
            <a:r>
              <a:rPr b="1" i="0" lang="en-US" sz="2800" u="none" cap="none" strike="noStrike">
                <a:solidFill>
                  <a:srgbClr val="002060"/>
                </a:solidFill>
                <a:latin typeface="Times New Roman"/>
                <a:ea typeface="Times New Roman"/>
                <a:cs typeface="Times New Roman"/>
                <a:sym typeface="Times New Roman"/>
              </a:rPr>
              <a:t>MODULE – 1 Portion 1</a:t>
            </a:r>
            <a:endParaRPr b="1" i="0" sz="2800" u="none" cap="none" strike="noStrike">
              <a:solidFill>
                <a:srgbClr val="002060"/>
              </a:solidFill>
              <a:latin typeface="Times New Roman"/>
              <a:ea typeface="Times New Roman"/>
              <a:cs typeface="Times New Roman"/>
              <a:sym typeface="Times New Roman"/>
            </a:endParaRPr>
          </a:p>
          <a:p>
            <a:pPr indent="0" lvl="0" marL="0" marR="0" rtl="0" algn="ctr">
              <a:spcBef>
                <a:spcPts val="0"/>
              </a:spcBef>
              <a:spcAft>
                <a:spcPts val="0"/>
              </a:spcAft>
              <a:buClr>
                <a:srgbClr val="000000"/>
              </a:buClr>
              <a:buSzPts val="2800"/>
              <a:buFont typeface="Times New Roman"/>
              <a:buNone/>
            </a:pPr>
            <a:r>
              <a:rPr b="1" i="0" lang="en-US" sz="2800" u="none" cap="none" strike="noStrike">
                <a:solidFill>
                  <a:srgbClr val="FF0000"/>
                </a:solidFill>
                <a:latin typeface="Times New Roman"/>
                <a:ea typeface="Times New Roman"/>
                <a:cs typeface="Times New Roman"/>
                <a:sym typeface="Times New Roman"/>
              </a:rPr>
              <a:t>Basic Concepts of Programming and Java</a:t>
            </a:r>
            <a:endParaRPr/>
          </a:p>
          <a:p>
            <a:pPr indent="0" lvl="0" marL="0" marR="0" rtl="0" algn="ctr">
              <a:spcBef>
                <a:spcPts val="0"/>
              </a:spcBef>
              <a:spcAft>
                <a:spcPts val="0"/>
              </a:spcAft>
              <a:buClr>
                <a:srgbClr val="000000"/>
              </a:buClr>
              <a:buSzPts val="2800"/>
              <a:buFont typeface="Times New Roman"/>
              <a:buNone/>
            </a:pPr>
            <a:r>
              <a:rPr b="1" i="0" lang="en-US" sz="2800" u="none" cap="none" strike="noStrike">
                <a:solidFill>
                  <a:srgbClr val="FF0000"/>
                </a:solidFill>
                <a:latin typeface="Times New Roman"/>
                <a:ea typeface="Times New Roman"/>
                <a:cs typeface="Times New Roman"/>
                <a:sym typeface="Times New Roman"/>
              </a:rPr>
              <a:t>[</a:t>
            </a:r>
            <a:r>
              <a:rPr b="1" i="0" lang="en-US" sz="2800" u="none" cap="none" strike="noStrike">
                <a:solidFill>
                  <a:schemeClr val="dk1"/>
                </a:solidFill>
                <a:latin typeface="Times New Roman"/>
                <a:ea typeface="Times New Roman"/>
                <a:cs typeface="Times New Roman"/>
                <a:sym typeface="Times New Roman"/>
              </a:rPr>
              <a:t>Lecture: 4 &amp; Practical: 2</a:t>
            </a:r>
            <a:r>
              <a:rPr b="1" i="0" lang="en-US" sz="2800" u="none" cap="none" strike="noStrike">
                <a:solidFill>
                  <a:srgbClr val="FF0000"/>
                </a:solidFill>
                <a:latin typeface="Times New Roman"/>
                <a:ea typeface="Times New Roman"/>
                <a:cs typeface="Times New Roman"/>
                <a:sym typeface="Times New Roman"/>
              </a:rPr>
              <a:t>] </a:t>
            </a:r>
            <a:endParaRPr b="1" i="0" sz="2800" u="none" cap="none" strike="noStrike">
              <a:solidFill>
                <a:srgbClr val="FF0000"/>
              </a:solidFill>
              <a:latin typeface="Times New Roman"/>
              <a:ea typeface="Times New Roman"/>
              <a:cs typeface="Times New Roman"/>
              <a:sym typeface="Times New Roman"/>
            </a:endParaRPr>
          </a:p>
        </p:txBody>
      </p:sp>
      <p:sp>
        <p:nvSpPr>
          <p:cNvPr id="92" name="Google Shape;92;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idx="1" type="body"/>
          </p:nvPr>
        </p:nvSpPr>
        <p:spPr>
          <a:xfrm>
            <a:off x="419100" y="990600"/>
            <a:ext cx="10096500" cy="26670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Course Handout Discussion</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Problem solving</a:t>
            </a:r>
            <a:endParaRPr sz="2400">
              <a:latin typeface="Times New Roman"/>
              <a:ea typeface="Times New Roman"/>
              <a:cs typeface="Times New Roman"/>
              <a:sym typeface="Times New Roman"/>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Programming and Types of Programming Languages</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Introduction to Java</a:t>
            </a:r>
            <a:endParaRPr sz="2400">
              <a:latin typeface="Times New Roman"/>
              <a:ea typeface="Times New Roman"/>
              <a:cs typeface="Times New Roman"/>
              <a:sym typeface="Times New Roman"/>
            </a:endParaRPr>
          </a:p>
        </p:txBody>
      </p:sp>
      <p:sp>
        <p:nvSpPr>
          <p:cNvPr id="98" name="Google Shape;9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9" name="Google Shape;99;p2"/>
          <p:cNvSpPr txBox="1"/>
          <p:nvPr>
            <p:ph type="title"/>
          </p:nvPr>
        </p:nvSpPr>
        <p:spPr>
          <a:xfrm>
            <a:off x="419100" y="154723"/>
            <a:ext cx="2247900" cy="454878"/>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Contents</a:t>
            </a:r>
            <a:endParaRPr b="1" sz="3000">
              <a:solidFill>
                <a:srgbClr val="00206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3"/>
          <p:cNvPicPr preferRelativeResize="0"/>
          <p:nvPr/>
        </p:nvPicPr>
        <p:blipFill rotWithShape="1">
          <a:blip r:embed="rId3">
            <a:alphaModFix/>
          </a:blip>
          <a:srcRect b="0" l="0" r="0" t="0"/>
          <a:stretch/>
        </p:blipFill>
        <p:spPr>
          <a:xfrm>
            <a:off x="2899773" y="609601"/>
            <a:ext cx="9067800" cy="5122608"/>
          </a:xfrm>
          <a:prstGeom prst="rect">
            <a:avLst/>
          </a:prstGeom>
          <a:noFill/>
          <a:ln>
            <a:noFill/>
          </a:ln>
        </p:spPr>
      </p:pic>
      <p:sp>
        <p:nvSpPr>
          <p:cNvPr id="105" name="Google Shape;105;p3"/>
          <p:cNvSpPr txBox="1"/>
          <p:nvPr>
            <p:ph idx="1" type="body"/>
          </p:nvPr>
        </p:nvSpPr>
        <p:spPr>
          <a:xfrm>
            <a:off x="419101" y="762000"/>
            <a:ext cx="4762499" cy="2440483"/>
          </a:xfrm>
          <a:prstGeom prst="rect">
            <a:avLst/>
          </a:prstGeom>
          <a:noFill/>
          <a:ln>
            <a:noFill/>
          </a:ln>
        </p:spPr>
        <p:txBody>
          <a:bodyPr anchorCtr="0" anchor="t" bIns="45700" lIns="91425" spcFirstLastPara="1" rIns="91425" wrap="square" tIns="45700">
            <a:noAutofit/>
          </a:bodyPr>
          <a:lstStyle/>
          <a:p>
            <a:pPr indent="-228600" lvl="0" marL="228600" rtl="0" algn="just">
              <a:lnSpc>
                <a:spcPct val="90000"/>
              </a:lnSpc>
              <a:spcBef>
                <a:spcPts val="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 </a:t>
            </a:r>
            <a:r>
              <a:rPr b="1" lang="en-US" sz="2200">
                <a:latin typeface="Times New Roman"/>
                <a:ea typeface="Times New Roman"/>
                <a:cs typeface="Times New Roman"/>
                <a:sym typeface="Times New Roman"/>
              </a:rPr>
              <a:t>A problem is a puzzle that requires logical thought or mathematics to solve</a:t>
            </a:r>
            <a:endParaRPr/>
          </a:p>
          <a:p>
            <a:pPr indent="-228600" lvl="0" marL="228600" rtl="0" algn="just">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A puzzle could be a set of questions on a scenario which consists of </a:t>
            </a:r>
            <a:r>
              <a:rPr b="1" i="1" lang="en-US" sz="2200">
                <a:latin typeface="Times New Roman"/>
                <a:ea typeface="Times New Roman"/>
                <a:cs typeface="Times New Roman"/>
                <a:sym typeface="Times New Roman"/>
              </a:rPr>
              <a:t>description of reality </a:t>
            </a:r>
            <a:r>
              <a:rPr lang="en-US" sz="2200">
                <a:latin typeface="Times New Roman"/>
                <a:ea typeface="Times New Roman"/>
                <a:cs typeface="Times New Roman"/>
                <a:sym typeface="Times New Roman"/>
              </a:rPr>
              <a:t>and set of </a:t>
            </a:r>
            <a:r>
              <a:rPr b="1" i="1" lang="en-US" sz="2200">
                <a:latin typeface="Times New Roman"/>
                <a:ea typeface="Times New Roman"/>
                <a:cs typeface="Times New Roman"/>
                <a:sym typeface="Times New Roman"/>
              </a:rPr>
              <a:t>constraints</a:t>
            </a:r>
            <a:r>
              <a:rPr lang="en-US" sz="2200">
                <a:latin typeface="Times New Roman"/>
                <a:ea typeface="Times New Roman"/>
                <a:cs typeface="Times New Roman"/>
                <a:sym typeface="Times New Roman"/>
              </a:rPr>
              <a:t> about the scenario.</a:t>
            </a:r>
            <a:endParaRPr/>
          </a:p>
          <a:p>
            <a:pPr indent="-101600" lvl="0" marL="228600" rtl="0" algn="just">
              <a:lnSpc>
                <a:spcPct val="90000"/>
              </a:lnSpc>
              <a:spcBef>
                <a:spcPts val="1000"/>
              </a:spcBef>
              <a:spcAft>
                <a:spcPts val="0"/>
              </a:spcAft>
              <a:buClr>
                <a:schemeClr val="dk1"/>
              </a:buClr>
              <a:buSzPts val="2000"/>
              <a:buNone/>
            </a:pPr>
            <a:r>
              <a:t/>
            </a:r>
            <a:endParaRPr b="1" sz="20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2000"/>
              <a:buFont typeface="Noto Sans Symbols"/>
              <a:buNone/>
            </a:pPr>
            <a:r>
              <a:t/>
            </a:r>
            <a:endParaRPr sz="2000">
              <a:solidFill>
                <a:srgbClr val="000000"/>
              </a:solidFill>
              <a:latin typeface="Times New Roman"/>
              <a:ea typeface="Times New Roman"/>
              <a:cs typeface="Times New Roman"/>
              <a:sym typeface="Times New Roman"/>
            </a:endParaRPr>
          </a:p>
        </p:txBody>
      </p:sp>
      <p:sp>
        <p:nvSpPr>
          <p:cNvPr id="106" name="Google Shape;106;p3"/>
          <p:cNvSpPr txBox="1"/>
          <p:nvPr/>
        </p:nvSpPr>
        <p:spPr>
          <a:xfrm>
            <a:off x="419100" y="154723"/>
            <a:ext cx="1943100" cy="454878"/>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i="0" lang="en-US" sz="3000" u="none" cap="none" strike="noStrike">
                <a:solidFill>
                  <a:srgbClr val="002060"/>
                </a:solidFill>
                <a:latin typeface="Times New Roman"/>
                <a:ea typeface="Times New Roman"/>
                <a:cs typeface="Times New Roman"/>
                <a:sym typeface="Times New Roman"/>
              </a:rPr>
              <a:t>Problem</a:t>
            </a:r>
            <a:endParaRPr b="1" i="0" sz="3000" u="none" cap="none" strike="noStrike">
              <a:solidFill>
                <a:srgbClr val="002060"/>
              </a:solidFill>
              <a:latin typeface="Times New Roman"/>
              <a:ea typeface="Times New Roman"/>
              <a:cs typeface="Times New Roman"/>
              <a:sym typeface="Times New Roman"/>
            </a:endParaRPr>
          </a:p>
        </p:txBody>
      </p:sp>
      <p:sp>
        <p:nvSpPr>
          <p:cNvPr id="107" name="Google Shape;107;p3"/>
          <p:cNvSpPr txBox="1"/>
          <p:nvPr/>
        </p:nvSpPr>
        <p:spPr>
          <a:xfrm>
            <a:off x="8770787" y="4241780"/>
            <a:ext cx="3162300" cy="454878"/>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i="0" lang="en-US" sz="3000" u="none" cap="none" strike="noStrike">
                <a:solidFill>
                  <a:srgbClr val="002060"/>
                </a:solidFill>
                <a:latin typeface="Times New Roman"/>
                <a:ea typeface="Times New Roman"/>
                <a:cs typeface="Times New Roman"/>
                <a:sym typeface="Times New Roman"/>
              </a:rPr>
              <a:t>Problem Solving</a:t>
            </a:r>
            <a:endParaRPr b="1" i="0" sz="3000" u="none" cap="none" strike="noStrike">
              <a:solidFill>
                <a:srgbClr val="002060"/>
              </a:solidFill>
              <a:latin typeface="Times New Roman"/>
              <a:ea typeface="Times New Roman"/>
              <a:cs typeface="Times New Roman"/>
              <a:sym typeface="Times New Roman"/>
            </a:endParaRPr>
          </a:p>
        </p:txBody>
      </p:sp>
      <p:sp>
        <p:nvSpPr>
          <p:cNvPr id="108" name="Google Shape;108;p3"/>
          <p:cNvSpPr txBox="1"/>
          <p:nvPr/>
        </p:nvSpPr>
        <p:spPr>
          <a:xfrm>
            <a:off x="3574629" y="5222038"/>
            <a:ext cx="2456775" cy="39058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2000"/>
              <a:buFont typeface="Arial"/>
              <a:buNone/>
            </a:pPr>
            <a:r>
              <a:rPr b="1" i="0" lang="en-US" sz="2000" u="none" cap="none" strike="noStrike">
                <a:solidFill>
                  <a:srgbClr val="002060"/>
                </a:solidFill>
                <a:latin typeface="Times New Roman"/>
                <a:ea typeface="Times New Roman"/>
                <a:cs typeface="Times New Roman"/>
                <a:sym typeface="Times New Roman"/>
              </a:rPr>
              <a:t>Define the Problem</a:t>
            </a:r>
            <a:endParaRPr/>
          </a:p>
        </p:txBody>
      </p:sp>
      <p:pic>
        <p:nvPicPr>
          <p:cNvPr id="109" name="Google Shape;109;p3"/>
          <p:cNvPicPr preferRelativeResize="0"/>
          <p:nvPr/>
        </p:nvPicPr>
        <p:blipFill rotWithShape="1">
          <a:blip r:embed="rId4">
            <a:alphaModFix/>
          </a:blip>
          <a:srcRect b="0" l="0" r="0" t="0"/>
          <a:stretch/>
        </p:blipFill>
        <p:spPr>
          <a:xfrm rot="-349150">
            <a:off x="2511212" y="3529093"/>
            <a:ext cx="826265" cy="1623396"/>
          </a:xfrm>
          <a:prstGeom prst="rect">
            <a:avLst/>
          </a:prstGeom>
          <a:noFill/>
          <a:ln>
            <a:noFill/>
          </a:ln>
        </p:spPr>
      </p:pic>
      <p:sp>
        <p:nvSpPr>
          <p:cNvPr id="110" name="Google Shape;110;p3"/>
          <p:cNvSpPr txBox="1"/>
          <p:nvPr/>
        </p:nvSpPr>
        <p:spPr>
          <a:xfrm>
            <a:off x="4803016" y="4574575"/>
            <a:ext cx="1526953" cy="47236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2000"/>
              <a:buFont typeface="Arial"/>
              <a:buNone/>
            </a:pPr>
            <a:r>
              <a:rPr b="1" i="0" lang="en-US" sz="2000" u="none" cap="none" strike="noStrike">
                <a:solidFill>
                  <a:srgbClr val="002060"/>
                </a:solidFill>
                <a:latin typeface="Times New Roman"/>
                <a:ea typeface="Times New Roman"/>
                <a:cs typeface="Times New Roman"/>
                <a:sym typeface="Times New Roman"/>
              </a:rPr>
              <a:t>Analyze the Problem</a:t>
            </a:r>
            <a:endParaRPr/>
          </a:p>
        </p:txBody>
      </p:sp>
      <p:sp>
        <p:nvSpPr>
          <p:cNvPr id="111" name="Google Shape;111;p3"/>
          <p:cNvSpPr txBox="1"/>
          <p:nvPr/>
        </p:nvSpPr>
        <p:spPr>
          <a:xfrm>
            <a:off x="6019800" y="3908342"/>
            <a:ext cx="1447800" cy="53991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2000"/>
              <a:buFont typeface="Arial"/>
              <a:buNone/>
            </a:pPr>
            <a:r>
              <a:rPr b="1" i="0" lang="en-US" sz="2000" u="none" cap="none" strike="noStrike">
                <a:solidFill>
                  <a:srgbClr val="002060"/>
                </a:solidFill>
                <a:latin typeface="Times New Roman"/>
                <a:ea typeface="Times New Roman"/>
                <a:cs typeface="Times New Roman"/>
                <a:sym typeface="Times New Roman"/>
              </a:rPr>
              <a:t>Establish Criteria</a:t>
            </a:r>
            <a:endParaRPr b="1" i="0" sz="2000" u="none" cap="none" strike="noStrike">
              <a:solidFill>
                <a:srgbClr val="002060"/>
              </a:solidFill>
              <a:latin typeface="Times New Roman"/>
              <a:ea typeface="Times New Roman"/>
              <a:cs typeface="Times New Roman"/>
              <a:sym typeface="Times New Roman"/>
            </a:endParaRPr>
          </a:p>
        </p:txBody>
      </p:sp>
      <p:sp>
        <p:nvSpPr>
          <p:cNvPr id="112" name="Google Shape;112;p3"/>
          <p:cNvSpPr txBox="1"/>
          <p:nvPr/>
        </p:nvSpPr>
        <p:spPr>
          <a:xfrm>
            <a:off x="7247056" y="3202483"/>
            <a:ext cx="2118362" cy="90024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2000"/>
              <a:buFont typeface="Arial"/>
              <a:buNone/>
            </a:pPr>
            <a:r>
              <a:rPr b="1" i="0" lang="en-US" sz="2000" u="none" cap="none" strike="noStrike">
                <a:solidFill>
                  <a:srgbClr val="002060"/>
                </a:solidFill>
                <a:latin typeface="Times New Roman"/>
                <a:ea typeface="Times New Roman"/>
                <a:cs typeface="Times New Roman"/>
                <a:sym typeface="Times New Roman"/>
              </a:rPr>
              <a:t>Consider Problem Solutions</a:t>
            </a:r>
            <a:endParaRPr b="1" i="0" sz="2000" u="none" cap="none" strike="noStrike">
              <a:solidFill>
                <a:srgbClr val="002060"/>
              </a:solidFill>
              <a:latin typeface="Times New Roman"/>
              <a:ea typeface="Times New Roman"/>
              <a:cs typeface="Times New Roman"/>
              <a:sym typeface="Times New Roman"/>
            </a:endParaRPr>
          </a:p>
        </p:txBody>
      </p:sp>
      <p:sp>
        <p:nvSpPr>
          <p:cNvPr id="113" name="Google Shape;113;p3"/>
          <p:cNvSpPr txBox="1"/>
          <p:nvPr/>
        </p:nvSpPr>
        <p:spPr>
          <a:xfrm>
            <a:off x="8458200" y="2554201"/>
            <a:ext cx="1373875" cy="53991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2000"/>
              <a:buFont typeface="Arial"/>
              <a:buNone/>
            </a:pPr>
            <a:r>
              <a:rPr b="1" i="0" lang="en-US" sz="2000" u="none" cap="none" strike="noStrike">
                <a:solidFill>
                  <a:srgbClr val="002060"/>
                </a:solidFill>
                <a:latin typeface="Times New Roman"/>
                <a:ea typeface="Times New Roman"/>
                <a:cs typeface="Times New Roman"/>
                <a:sym typeface="Times New Roman"/>
              </a:rPr>
              <a:t>Decide on a Solution</a:t>
            </a:r>
            <a:endParaRPr b="1" i="0" sz="2000" u="none" cap="none" strike="noStrike">
              <a:solidFill>
                <a:srgbClr val="002060"/>
              </a:solidFill>
              <a:latin typeface="Times New Roman"/>
              <a:ea typeface="Times New Roman"/>
              <a:cs typeface="Times New Roman"/>
              <a:sym typeface="Times New Roman"/>
            </a:endParaRPr>
          </a:p>
        </p:txBody>
      </p:sp>
      <p:sp>
        <p:nvSpPr>
          <p:cNvPr id="114" name="Google Shape;114;p3"/>
          <p:cNvSpPr txBox="1"/>
          <p:nvPr/>
        </p:nvSpPr>
        <p:spPr>
          <a:xfrm>
            <a:off x="9706070" y="1871351"/>
            <a:ext cx="1619250" cy="53991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2000"/>
              <a:buFont typeface="Arial"/>
              <a:buNone/>
            </a:pPr>
            <a:r>
              <a:rPr b="1" i="0" lang="en-US" sz="2000" u="none" cap="none" strike="noStrike">
                <a:solidFill>
                  <a:srgbClr val="002060"/>
                </a:solidFill>
                <a:latin typeface="Times New Roman"/>
                <a:ea typeface="Times New Roman"/>
                <a:cs typeface="Times New Roman"/>
                <a:sym typeface="Times New Roman"/>
              </a:rPr>
              <a:t>Implement the Solution</a:t>
            </a:r>
            <a:endParaRPr b="1" i="0" sz="2000" u="none" cap="none" strike="noStrike">
              <a:solidFill>
                <a:srgbClr val="002060"/>
              </a:solidFill>
              <a:latin typeface="Times New Roman"/>
              <a:ea typeface="Times New Roman"/>
              <a:cs typeface="Times New Roman"/>
              <a:sym typeface="Times New Roman"/>
            </a:endParaRPr>
          </a:p>
        </p:txBody>
      </p:sp>
      <p:sp>
        <p:nvSpPr>
          <p:cNvPr id="115" name="Google Shape;115;p3"/>
          <p:cNvSpPr txBox="1"/>
          <p:nvPr/>
        </p:nvSpPr>
        <p:spPr>
          <a:xfrm>
            <a:off x="11019430" y="1219200"/>
            <a:ext cx="1143000" cy="551889"/>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2060"/>
              </a:buClr>
              <a:buSzPts val="2000"/>
              <a:buFont typeface="Arial"/>
              <a:buNone/>
            </a:pPr>
            <a:r>
              <a:rPr b="1" i="0" lang="en-US" sz="2000" u="none" cap="none" strike="noStrike">
                <a:solidFill>
                  <a:srgbClr val="002060"/>
                </a:solidFill>
                <a:latin typeface="Times New Roman"/>
                <a:ea typeface="Times New Roman"/>
                <a:cs typeface="Times New Roman"/>
                <a:sym typeface="Times New Roman"/>
              </a:rPr>
              <a:t>Follow up on Solution</a:t>
            </a:r>
            <a:endParaRPr b="1" i="0" sz="2000" u="none" cap="none" strike="noStrike">
              <a:solidFill>
                <a:srgbClr val="002060"/>
              </a:solidFill>
              <a:latin typeface="Times New Roman"/>
              <a:ea typeface="Times New Roman"/>
              <a:cs typeface="Times New Roman"/>
              <a:sym typeface="Times New Roman"/>
            </a:endParaRPr>
          </a:p>
        </p:txBody>
      </p:sp>
      <p:pic>
        <p:nvPicPr>
          <p:cNvPr id="116" name="Google Shape;116;p3"/>
          <p:cNvPicPr preferRelativeResize="0"/>
          <p:nvPr/>
        </p:nvPicPr>
        <p:blipFill rotWithShape="1">
          <a:blip r:embed="rId5">
            <a:alphaModFix/>
          </a:blip>
          <a:srcRect b="0" l="0" r="0" t="0"/>
          <a:stretch/>
        </p:blipFill>
        <p:spPr>
          <a:xfrm rot="-610233">
            <a:off x="3836943" y="2942629"/>
            <a:ext cx="768317" cy="1468419"/>
          </a:xfrm>
          <a:prstGeom prst="rect">
            <a:avLst/>
          </a:prstGeom>
          <a:noFill/>
          <a:ln>
            <a:noFill/>
          </a:ln>
        </p:spPr>
      </p:pic>
      <p:pic>
        <p:nvPicPr>
          <p:cNvPr id="117" name="Google Shape;117;p3"/>
          <p:cNvPicPr preferRelativeResize="0"/>
          <p:nvPr/>
        </p:nvPicPr>
        <p:blipFill rotWithShape="1">
          <a:blip r:embed="rId5">
            <a:alphaModFix/>
          </a:blip>
          <a:srcRect b="0" l="0" r="0" t="0"/>
          <a:stretch/>
        </p:blipFill>
        <p:spPr>
          <a:xfrm rot="-610233">
            <a:off x="5103234" y="2310198"/>
            <a:ext cx="768317" cy="1468419"/>
          </a:xfrm>
          <a:prstGeom prst="rect">
            <a:avLst/>
          </a:prstGeom>
          <a:noFill/>
          <a:ln>
            <a:noFill/>
          </a:ln>
        </p:spPr>
      </p:pic>
      <p:pic>
        <p:nvPicPr>
          <p:cNvPr id="118" name="Google Shape;118;p3"/>
          <p:cNvPicPr preferRelativeResize="0"/>
          <p:nvPr/>
        </p:nvPicPr>
        <p:blipFill rotWithShape="1">
          <a:blip r:embed="rId5">
            <a:alphaModFix/>
          </a:blip>
          <a:srcRect b="0" l="0" r="0" t="0"/>
          <a:stretch/>
        </p:blipFill>
        <p:spPr>
          <a:xfrm rot="-610233">
            <a:off x="6321069" y="1579554"/>
            <a:ext cx="768317" cy="1468419"/>
          </a:xfrm>
          <a:prstGeom prst="rect">
            <a:avLst/>
          </a:prstGeom>
          <a:noFill/>
          <a:ln>
            <a:noFill/>
          </a:ln>
        </p:spPr>
      </p:pic>
      <p:pic>
        <p:nvPicPr>
          <p:cNvPr id="119" name="Google Shape;119;p3"/>
          <p:cNvPicPr preferRelativeResize="0"/>
          <p:nvPr/>
        </p:nvPicPr>
        <p:blipFill rotWithShape="1">
          <a:blip r:embed="rId5">
            <a:alphaModFix/>
          </a:blip>
          <a:srcRect b="0" l="0" r="0" t="0"/>
          <a:stretch/>
        </p:blipFill>
        <p:spPr>
          <a:xfrm rot="-610233">
            <a:off x="7566274" y="921115"/>
            <a:ext cx="768317" cy="1468419"/>
          </a:xfrm>
          <a:prstGeom prst="rect">
            <a:avLst/>
          </a:prstGeom>
          <a:noFill/>
          <a:ln>
            <a:noFill/>
          </a:ln>
        </p:spPr>
      </p:pic>
      <p:pic>
        <p:nvPicPr>
          <p:cNvPr id="120" name="Google Shape;120;p3"/>
          <p:cNvPicPr preferRelativeResize="0"/>
          <p:nvPr/>
        </p:nvPicPr>
        <p:blipFill rotWithShape="1">
          <a:blip r:embed="rId5">
            <a:alphaModFix/>
          </a:blip>
          <a:srcRect b="0" l="0" r="0" t="0"/>
          <a:stretch/>
        </p:blipFill>
        <p:spPr>
          <a:xfrm rot="-610233">
            <a:off x="8760978" y="236375"/>
            <a:ext cx="768317" cy="1468419"/>
          </a:xfrm>
          <a:prstGeom prst="rect">
            <a:avLst/>
          </a:prstGeom>
          <a:noFill/>
          <a:ln>
            <a:noFill/>
          </a:ln>
        </p:spPr>
      </p:pic>
      <p:pic>
        <p:nvPicPr>
          <p:cNvPr id="121" name="Google Shape;121;p3"/>
          <p:cNvPicPr preferRelativeResize="0"/>
          <p:nvPr/>
        </p:nvPicPr>
        <p:blipFill rotWithShape="1">
          <a:blip r:embed="rId6">
            <a:alphaModFix/>
          </a:blip>
          <a:srcRect b="0" l="0" r="0" t="0"/>
          <a:stretch/>
        </p:blipFill>
        <p:spPr>
          <a:xfrm rot="-610233">
            <a:off x="10109746" y="71356"/>
            <a:ext cx="628309" cy="873491"/>
          </a:xfrm>
          <a:prstGeom prst="rect">
            <a:avLst/>
          </a:prstGeom>
          <a:noFill/>
          <a:ln>
            <a:noFill/>
          </a:ln>
        </p:spPr>
      </p:pic>
      <p:sp>
        <p:nvSpPr>
          <p:cNvPr id="122" name="Google Shape;1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5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500"/>
                                        <p:tgtEl>
                                          <p:spTgt spid="1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Effect filter="fade" transition="in">
                                      <p:cBhvr>
                                        <p:cTn dur="500"/>
                                        <p:tgtEl>
                                          <p:spTgt spid="1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animEffect filter="fade" transition="in">
                                      <p:cBhvr>
                                        <p:cTn dur="500"/>
                                        <p:tgtEl>
                                          <p:spTgt spid="1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par>
                                <p:cTn fill="hold" nodeType="with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0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par>
                                <p:cTn fill="hold" nodeType="with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par>
                                <p:cTn fill="hold" nodeType="with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par>
                                <p:cTn fill="hold" nodeType="withEffect" presetClass="entr" presetID="10" presetSubtype="0">
                                  <p:stCondLst>
                                    <p:cond delay="0"/>
                                  </p:stCondLst>
                                  <p:childTnLst>
                                    <p:set>
                                      <p:cBhvr>
                                        <p:cTn dur="1" fill="hold">
                                          <p:stCondLst>
                                            <p:cond delay="0"/>
                                          </p:stCondLst>
                                        </p:cTn>
                                        <p:tgtEl>
                                          <p:spTgt spid="113"/>
                                        </p:tgtEl>
                                        <p:attrNameLst>
                                          <p:attrName>style.visibility</p:attrName>
                                        </p:attrNameLst>
                                      </p:cBhvr>
                                      <p:to>
                                        <p:strVal val="visible"/>
                                      </p:to>
                                    </p:set>
                                    <p:animEffect filter="fade" transition="in">
                                      <p:cBhvr>
                                        <p:cTn dur="500"/>
                                        <p:tgtEl>
                                          <p:spTgt spid="1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1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par>
                                <p:cTn fill="hold" nodeType="with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500"/>
                                        <p:tgtEl>
                                          <p:spTgt spid="1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1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par>
                                <p:cTn fill="hold" nodeType="with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ph type="title"/>
          </p:nvPr>
        </p:nvSpPr>
        <p:spPr>
          <a:xfrm>
            <a:off x="304800" y="223293"/>
            <a:ext cx="4811712" cy="498475"/>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Problem Solving Approach</a:t>
            </a:r>
            <a:endParaRPr/>
          </a:p>
        </p:txBody>
      </p:sp>
      <p:sp>
        <p:nvSpPr>
          <p:cNvPr id="128" name="Google Shape;128;p4"/>
          <p:cNvSpPr/>
          <p:nvPr/>
        </p:nvSpPr>
        <p:spPr>
          <a:xfrm>
            <a:off x="5891772" y="854634"/>
            <a:ext cx="1323975" cy="504809"/>
          </a:xfrm>
          <a:prstGeom prst="flowChartProcess">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LOGIC</a:t>
            </a:r>
            <a:endParaRPr/>
          </a:p>
        </p:txBody>
      </p:sp>
      <p:sp>
        <p:nvSpPr>
          <p:cNvPr id="129" name="Google Shape;129;p4"/>
          <p:cNvSpPr/>
          <p:nvPr/>
        </p:nvSpPr>
        <p:spPr>
          <a:xfrm>
            <a:off x="7658100" y="288997"/>
            <a:ext cx="1905000" cy="432771"/>
          </a:xfrm>
          <a:prstGeom prst="flowChartProcess">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ALGORITHM</a:t>
            </a:r>
            <a:endParaRPr/>
          </a:p>
        </p:txBody>
      </p:sp>
      <p:sp>
        <p:nvSpPr>
          <p:cNvPr id="130" name="Google Shape;130;p4"/>
          <p:cNvSpPr/>
          <p:nvPr/>
        </p:nvSpPr>
        <p:spPr>
          <a:xfrm>
            <a:off x="7667625" y="1492310"/>
            <a:ext cx="1895475" cy="464738"/>
          </a:xfrm>
          <a:prstGeom prst="flowChartProcess">
            <a:avLst/>
          </a:prstGeom>
          <a:solidFill>
            <a:schemeClr val="accent1"/>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FLOWCHART</a:t>
            </a:r>
            <a:endParaRPr/>
          </a:p>
        </p:txBody>
      </p:sp>
      <p:sp>
        <p:nvSpPr>
          <p:cNvPr id="131" name="Google Shape;131;p4"/>
          <p:cNvSpPr/>
          <p:nvPr/>
        </p:nvSpPr>
        <p:spPr>
          <a:xfrm>
            <a:off x="10479988" y="788201"/>
            <a:ext cx="1549553" cy="637675"/>
          </a:xfrm>
          <a:prstGeom prst="flowChartProcess">
            <a:avLst/>
          </a:prstGeom>
          <a:solidFill>
            <a:srgbClr val="00B050"/>
          </a:solidFill>
          <a:ln>
            <a:noFill/>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PROGRAM</a:t>
            </a:r>
            <a:endParaRPr/>
          </a:p>
        </p:txBody>
      </p:sp>
      <p:cxnSp>
        <p:nvCxnSpPr>
          <p:cNvPr id="132" name="Google Shape;132;p4"/>
          <p:cNvCxnSpPr>
            <a:stCxn id="128" idx="3"/>
            <a:endCxn id="129" idx="1"/>
          </p:cNvCxnSpPr>
          <p:nvPr/>
        </p:nvCxnSpPr>
        <p:spPr>
          <a:xfrm flipH="1" rot="10800000">
            <a:off x="7215747" y="505239"/>
            <a:ext cx="442500" cy="601800"/>
          </a:xfrm>
          <a:prstGeom prst="straightConnector1">
            <a:avLst/>
          </a:prstGeom>
          <a:noFill/>
          <a:ln cap="flat" cmpd="sng" w="38100">
            <a:solidFill>
              <a:srgbClr val="00B0F0"/>
            </a:solidFill>
            <a:prstDash val="solid"/>
            <a:miter lim="800000"/>
            <a:headEnd len="sm" w="sm" type="none"/>
            <a:tailEnd len="med" w="med" type="triangle"/>
          </a:ln>
        </p:spPr>
      </p:cxnSp>
      <p:cxnSp>
        <p:nvCxnSpPr>
          <p:cNvPr id="133" name="Google Shape;133;p4"/>
          <p:cNvCxnSpPr>
            <a:stCxn id="128" idx="3"/>
            <a:endCxn id="130" idx="1"/>
          </p:cNvCxnSpPr>
          <p:nvPr/>
        </p:nvCxnSpPr>
        <p:spPr>
          <a:xfrm>
            <a:off x="7215747" y="1107038"/>
            <a:ext cx="451800" cy="617700"/>
          </a:xfrm>
          <a:prstGeom prst="straightConnector1">
            <a:avLst/>
          </a:prstGeom>
          <a:noFill/>
          <a:ln cap="flat" cmpd="sng" w="38100">
            <a:solidFill>
              <a:srgbClr val="00B0F0"/>
            </a:solidFill>
            <a:prstDash val="solid"/>
            <a:miter lim="800000"/>
            <a:headEnd len="sm" w="sm" type="none"/>
            <a:tailEnd len="med" w="med" type="triangle"/>
          </a:ln>
        </p:spPr>
      </p:cxnSp>
      <p:cxnSp>
        <p:nvCxnSpPr>
          <p:cNvPr id="134" name="Google Shape;134;p4"/>
          <p:cNvCxnSpPr>
            <a:stCxn id="129" idx="3"/>
            <a:endCxn id="131" idx="1"/>
          </p:cNvCxnSpPr>
          <p:nvPr/>
        </p:nvCxnSpPr>
        <p:spPr>
          <a:xfrm>
            <a:off x="9563100" y="505382"/>
            <a:ext cx="916800" cy="601800"/>
          </a:xfrm>
          <a:prstGeom prst="straightConnector1">
            <a:avLst/>
          </a:prstGeom>
          <a:noFill/>
          <a:ln cap="flat" cmpd="sng" w="38100">
            <a:solidFill>
              <a:srgbClr val="00B0F0"/>
            </a:solidFill>
            <a:prstDash val="solid"/>
            <a:miter lim="800000"/>
            <a:headEnd len="sm" w="sm" type="none"/>
            <a:tailEnd len="med" w="med" type="triangle"/>
          </a:ln>
        </p:spPr>
      </p:cxnSp>
      <p:cxnSp>
        <p:nvCxnSpPr>
          <p:cNvPr id="135" name="Google Shape;135;p4"/>
          <p:cNvCxnSpPr>
            <a:stCxn id="130" idx="3"/>
            <a:endCxn id="131" idx="1"/>
          </p:cNvCxnSpPr>
          <p:nvPr/>
        </p:nvCxnSpPr>
        <p:spPr>
          <a:xfrm flipH="1" rot="10800000">
            <a:off x="9563100" y="1106979"/>
            <a:ext cx="916800" cy="617700"/>
          </a:xfrm>
          <a:prstGeom prst="straightConnector1">
            <a:avLst/>
          </a:prstGeom>
          <a:noFill/>
          <a:ln cap="flat" cmpd="sng" w="38100">
            <a:solidFill>
              <a:srgbClr val="00B0F0"/>
            </a:solidFill>
            <a:prstDash val="solid"/>
            <a:miter lim="800000"/>
            <a:headEnd len="sm" w="sm" type="none"/>
            <a:tailEnd len="med" w="med" type="triangle"/>
          </a:ln>
        </p:spPr>
      </p:cxnSp>
      <p:cxnSp>
        <p:nvCxnSpPr>
          <p:cNvPr id="136" name="Google Shape;136;p4"/>
          <p:cNvCxnSpPr>
            <a:stCxn id="129" idx="2"/>
            <a:endCxn id="130" idx="0"/>
          </p:cNvCxnSpPr>
          <p:nvPr/>
        </p:nvCxnSpPr>
        <p:spPr>
          <a:xfrm>
            <a:off x="8610600" y="721768"/>
            <a:ext cx="4800" cy="770400"/>
          </a:xfrm>
          <a:prstGeom prst="straightConnector1">
            <a:avLst/>
          </a:prstGeom>
          <a:noFill/>
          <a:ln cap="flat" cmpd="sng" w="38100">
            <a:solidFill>
              <a:srgbClr val="00B0F0"/>
            </a:solidFill>
            <a:prstDash val="dash"/>
            <a:miter lim="800000"/>
            <a:headEnd len="sm" w="sm" type="none"/>
            <a:tailEnd len="med" w="med" type="triangle"/>
          </a:ln>
        </p:spPr>
      </p:cxnSp>
      <p:sp>
        <p:nvSpPr>
          <p:cNvPr id="137" name="Google Shape;137;p4"/>
          <p:cNvSpPr/>
          <p:nvPr/>
        </p:nvSpPr>
        <p:spPr>
          <a:xfrm>
            <a:off x="3548960" y="854634"/>
            <a:ext cx="1515594" cy="504809"/>
          </a:xfrm>
          <a:prstGeom prst="flowChartProcess">
            <a:avLst/>
          </a:prstGeom>
          <a:solidFill>
            <a:srgbClr val="FF0000"/>
          </a:solidFill>
          <a:ln cap="flat" cmpd="sng" w="12700">
            <a:solidFill>
              <a:srgbClr val="FF0000"/>
            </a:solidFill>
            <a:prstDash val="solid"/>
            <a:miter lim="800000"/>
            <a:headEnd len="sm" w="sm" type="none"/>
            <a:tailEnd len="sm" w="sm" type="none"/>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lt1"/>
                </a:solidFill>
                <a:latin typeface="Times New Roman"/>
                <a:ea typeface="Times New Roman"/>
                <a:cs typeface="Times New Roman"/>
                <a:sym typeface="Times New Roman"/>
              </a:rPr>
              <a:t>PROBLEM</a:t>
            </a:r>
            <a:endParaRPr b="1" i="0" sz="2000" u="none" cap="none" strike="noStrike">
              <a:solidFill>
                <a:schemeClr val="lt1"/>
              </a:solidFill>
              <a:latin typeface="Times New Roman"/>
              <a:ea typeface="Times New Roman"/>
              <a:cs typeface="Times New Roman"/>
              <a:sym typeface="Times New Roman"/>
            </a:endParaRPr>
          </a:p>
        </p:txBody>
      </p:sp>
      <p:cxnSp>
        <p:nvCxnSpPr>
          <p:cNvPr id="138" name="Google Shape;138;p4"/>
          <p:cNvCxnSpPr>
            <a:stCxn id="137" idx="3"/>
            <a:endCxn id="128" idx="1"/>
          </p:cNvCxnSpPr>
          <p:nvPr/>
        </p:nvCxnSpPr>
        <p:spPr>
          <a:xfrm>
            <a:off x="5064554" y="1107039"/>
            <a:ext cx="827100" cy="0"/>
          </a:xfrm>
          <a:prstGeom prst="straightConnector1">
            <a:avLst/>
          </a:prstGeom>
          <a:noFill/>
          <a:ln cap="flat" cmpd="sng" w="38100">
            <a:solidFill>
              <a:srgbClr val="00B0F0"/>
            </a:solidFill>
            <a:prstDash val="solid"/>
            <a:miter lim="800000"/>
            <a:headEnd len="sm" w="sm" type="none"/>
            <a:tailEnd len="med" w="med" type="triangle"/>
          </a:ln>
        </p:spPr>
      </p:cxnSp>
      <p:sp>
        <p:nvSpPr>
          <p:cNvPr id="139" name="Google Shape;13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0" name="Google Shape;140;p4"/>
          <p:cNvSpPr txBox="1"/>
          <p:nvPr/>
        </p:nvSpPr>
        <p:spPr>
          <a:xfrm>
            <a:off x="312761" y="1340109"/>
            <a:ext cx="11244618" cy="40386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What is Program?</a:t>
            </a:r>
            <a:endParaRPr/>
          </a:p>
          <a:p>
            <a:pPr indent="0" lvl="0" marL="0" marR="0" rtl="0" algn="l">
              <a:lnSpc>
                <a:spcPct val="150000"/>
              </a:lnSpc>
              <a:spcBef>
                <a:spcPts val="0"/>
              </a:spcBef>
              <a:spcAft>
                <a:spcPts val="0"/>
              </a:spcAft>
              <a:buClr>
                <a:srgbClr val="1E4E79"/>
              </a:buClr>
              <a:buSzPts val="2800"/>
              <a:buFont typeface="Arial"/>
              <a:buNone/>
            </a:pPr>
            <a:r>
              <a:rPr b="0" i="0" lang="en-US" sz="2800" u="none" cap="none" strike="noStrike">
                <a:solidFill>
                  <a:srgbClr val="1E4E79"/>
                </a:solidFill>
                <a:latin typeface="Times New Roman"/>
                <a:ea typeface="Times New Roman"/>
                <a:cs typeface="Times New Roman"/>
                <a:sym typeface="Times New Roman"/>
              </a:rPr>
              <a:t>	An approach to find solution to the Problem</a:t>
            </a:r>
            <a:endParaRPr/>
          </a:p>
          <a:p>
            <a:pPr indent="-228600" lvl="0" marL="2286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What is Programming ?</a:t>
            </a:r>
            <a:endParaRPr/>
          </a:p>
          <a:p>
            <a:pPr indent="0" lvl="0" marL="0" marR="0" rtl="0" algn="l">
              <a:lnSpc>
                <a:spcPct val="150000"/>
              </a:lnSpc>
              <a:spcBef>
                <a:spcPts val="0"/>
              </a:spcBef>
              <a:spcAft>
                <a:spcPts val="0"/>
              </a:spcAft>
              <a:buClr>
                <a:srgbClr val="1E4E79"/>
              </a:buClr>
              <a:buSzPts val="2800"/>
              <a:buFont typeface="Arial"/>
              <a:buNone/>
            </a:pPr>
            <a:r>
              <a:rPr b="0" i="0" lang="en-US" sz="2800" u="none" cap="none" strike="noStrike">
                <a:solidFill>
                  <a:srgbClr val="1E4E79"/>
                </a:solidFill>
                <a:latin typeface="Times New Roman"/>
                <a:ea typeface="Times New Roman"/>
                <a:cs typeface="Times New Roman"/>
                <a:sym typeface="Times New Roman"/>
              </a:rPr>
              <a:t>	Solving Problem in Engineering approach / Systematic Procedure. </a:t>
            </a:r>
            <a:endParaRPr/>
          </a:p>
          <a:p>
            <a:pPr indent="-228600" lvl="0" marL="228600" marR="0" rtl="0" algn="l">
              <a:lnSpc>
                <a:spcPct val="150000"/>
              </a:lnSpc>
              <a:spcBef>
                <a:spcPts val="0"/>
              </a:spcBef>
              <a:spcAft>
                <a:spcPts val="0"/>
              </a:spcAft>
              <a:buClr>
                <a:schemeClr val="dk1"/>
              </a:buClr>
              <a:buSzPts val="2800"/>
              <a:buFont typeface="Arial"/>
              <a:buChar char="•"/>
            </a:pPr>
            <a:r>
              <a:rPr b="0" i="0" lang="en-US" sz="2800" u="none" cap="none" strike="noStrike">
                <a:solidFill>
                  <a:schemeClr val="dk1"/>
                </a:solidFill>
                <a:latin typeface="Times New Roman"/>
                <a:ea typeface="Times New Roman"/>
                <a:cs typeface="Times New Roman"/>
                <a:sym typeface="Times New Roman"/>
              </a:rPr>
              <a:t>What is Programming Language ?</a:t>
            </a:r>
            <a:endParaRPr/>
          </a:p>
          <a:p>
            <a:pPr indent="0" lvl="0" marL="0" marR="0" rtl="0" algn="l">
              <a:lnSpc>
                <a:spcPct val="150000"/>
              </a:lnSpc>
              <a:spcBef>
                <a:spcPts val="0"/>
              </a:spcBef>
              <a:spcAft>
                <a:spcPts val="0"/>
              </a:spcAft>
              <a:buClr>
                <a:schemeClr val="dk1"/>
              </a:buClr>
              <a:buSzPts val="2800"/>
              <a:buFont typeface="Arial"/>
              <a:buNone/>
            </a:pPr>
            <a:r>
              <a:rPr b="0" i="0" lang="en-US" sz="2800" u="none" cap="none" strike="noStrike">
                <a:solidFill>
                  <a:schemeClr val="dk1"/>
                </a:solidFill>
                <a:latin typeface="Times New Roman"/>
                <a:ea typeface="Times New Roman"/>
                <a:cs typeface="Times New Roman"/>
                <a:sym typeface="Times New Roman"/>
              </a:rPr>
              <a:t>	 </a:t>
            </a:r>
            <a:r>
              <a:rPr b="0" i="0" lang="en-US" sz="2800" u="none" cap="none" strike="noStrike">
                <a:solidFill>
                  <a:srgbClr val="1E4E79"/>
                </a:solidFill>
                <a:latin typeface="Times New Roman"/>
                <a:ea typeface="Times New Roman"/>
                <a:cs typeface="Times New Roman"/>
                <a:sym typeface="Times New Roman"/>
              </a:rPr>
              <a:t>Tool to solve problem</a:t>
            </a:r>
            <a:endParaRPr b="0" i="0" sz="2800" u="none" cap="none" strike="noStrike">
              <a:solidFill>
                <a:srgbClr val="1E4E79"/>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500"/>
                                        <p:tgtEl>
                                          <p:spTgt spid="1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par>
                                <p:cTn fill="hold" nodeType="with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par>
                                <p:cTn fill="hold" nodeType="with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animEffect filter="fade" transition="in">
                                      <p:cBhvr>
                                        <p:cTn dur="500"/>
                                        <p:tgtEl>
                                          <p:spTgt spid="1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animEffect filter="fade" transition="in">
                                      <p:cBhvr>
                                        <p:cTn dur="500"/>
                                        <p:tgtEl>
                                          <p:spTgt spid="1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animEffect filter="fade" transition="in">
                                      <p:cBhvr>
                                        <p:cTn dur="500"/>
                                        <p:tgtEl>
                                          <p:spTgt spid="1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animEffect filter="fade" transition="in">
                                      <p:cBhvr>
                                        <p:cTn dur="500"/>
                                        <p:tgtEl>
                                          <p:spTgt spid="14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animEffect filter="fade" transition="in">
                                      <p:cBhvr>
                                        <p:cTn dur="500"/>
                                        <p:tgtEl>
                                          <p:spTgt spid="14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animEffect filter="fade" transition="in">
                                      <p:cBhvr>
                                        <p:cTn dur="500"/>
                                        <p:tgtEl>
                                          <p:spTgt spid="140">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txBox="1"/>
          <p:nvPr>
            <p:ph type="title"/>
          </p:nvPr>
        </p:nvSpPr>
        <p:spPr>
          <a:xfrm>
            <a:off x="304800" y="228600"/>
            <a:ext cx="4811712" cy="528637"/>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How to Develop a Program</a:t>
            </a:r>
            <a:endParaRPr/>
          </a:p>
        </p:txBody>
      </p:sp>
      <p:sp>
        <p:nvSpPr>
          <p:cNvPr id="146" name="Google Shape;146;p5"/>
          <p:cNvSpPr txBox="1"/>
          <p:nvPr>
            <p:ph idx="1" type="body"/>
          </p:nvPr>
        </p:nvSpPr>
        <p:spPr>
          <a:xfrm>
            <a:off x="304800" y="838200"/>
            <a:ext cx="11430000" cy="4572000"/>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150000"/>
              </a:lnSpc>
              <a:spcBef>
                <a:spcPts val="0"/>
              </a:spcBef>
              <a:spcAft>
                <a:spcPts val="0"/>
              </a:spcAft>
              <a:buClr>
                <a:schemeClr val="dk1"/>
              </a:buClr>
              <a:buSzPct val="100000"/>
              <a:buNone/>
            </a:pPr>
            <a:r>
              <a:rPr b="1" lang="en-US" sz="2400">
                <a:latin typeface="Times New Roman"/>
                <a:ea typeface="Times New Roman"/>
                <a:cs typeface="Times New Roman"/>
                <a:sym typeface="Times New Roman"/>
              </a:rPr>
              <a:t>Step1</a:t>
            </a:r>
            <a:r>
              <a:rPr lang="en-US" sz="2400">
                <a:latin typeface="Times New Roman"/>
                <a:ea typeface="Times New Roman"/>
                <a:cs typeface="Times New Roman"/>
                <a:sym typeface="Times New Roman"/>
              </a:rPr>
              <a:t>:  Analyze the problem to identify inputs, outputs and processing requirements</a:t>
            </a:r>
            <a:endParaRPr/>
          </a:p>
          <a:p>
            <a:pPr indent="0" lvl="0" marL="0" rtl="0" algn="just">
              <a:lnSpc>
                <a:spcPct val="150000"/>
              </a:lnSpc>
              <a:spcBef>
                <a:spcPts val="0"/>
              </a:spcBef>
              <a:spcAft>
                <a:spcPts val="0"/>
              </a:spcAft>
              <a:buClr>
                <a:schemeClr val="dk1"/>
              </a:buClr>
              <a:buSzPct val="100000"/>
              <a:buNone/>
            </a:pPr>
            <a:r>
              <a:rPr b="1" lang="en-US" sz="2400">
                <a:latin typeface="Times New Roman"/>
                <a:ea typeface="Times New Roman"/>
                <a:cs typeface="Times New Roman"/>
                <a:sym typeface="Times New Roman"/>
              </a:rPr>
              <a:t>Step2</a:t>
            </a:r>
            <a:r>
              <a:rPr lang="en-US" sz="2400">
                <a:latin typeface="Times New Roman"/>
                <a:ea typeface="Times New Roman"/>
                <a:cs typeface="Times New Roman"/>
                <a:sym typeface="Times New Roman"/>
              </a:rPr>
              <a:t>: Identify various processing steps needed to solve the problem  and represent them in a    	particular way (</a:t>
            </a:r>
            <a:r>
              <a:rPr b="1" lang="en-US" sz="2400">
                <a:solidFill>
                  <a:srgbClr val="FF0000"/>
                </a:solidFill>
                <a:latin typeface="Times New Roman"/>
                <a:ea typeface="Times New Roman"/>
                <a:cs typeface="Times New Roman"/>
                <a:sym typeface="Times New Roman"/>
              </a:rPr>
              <a:t>algorithm, flow charts</a:t>
            </a:r>
            <a:r>
              <a:rPr lang="en-US" sz="2400">
                <a:latin typeface="Times New Roman"/>
                <a:ea typeface="Times New Roman"/>
                <a:cs typeface="Times New Roman"/>
                <a:sym typeface="Times New Roman"/>
              </a:rPr>
              <a:t>, etc..)</a:t>
            </a:r>
            <a:endParaRPr/>
          </a:p>
          <a:p>
            <a:pPr indent="0" lvl="0" marL="0" rtl="0" algn="just">
              <a:lnSpc>
                <a:spcPct val="150000"/>
              </a:lnSpc>
              <a:spcBef>
                <a:spcPts val="0"/>
              </a:spcBef>
              <a:spcAft>
                <a:spcPts val="0"/>
              </a:spcAft>
              <a:buClr>
                <a:schemeClr val="dk1"/>
              </a:buClr>
              <a:buSzPct val="100000"/>
              <a:buNone/>
            </a:pPr>
            <a:r>
              <a:rPr b="1" lang="en-US" sz="2400">
                <a:latin typeface="Times New Roman"/>
                <a:ea typeface="Times New Roman"/>
                <a:cs typeface="Times New Roman"/>
                <a:sym typeface="Times New Roman"/>
              </a:rPr>
              <a:t>Step3</a:t>
            </a:r>
            <a:r>
              <a:rPr lang="en-US" sz="2400">
                <a:latin typeface="Times New Roman"/>
                <a:ea typeface="Times New Roman"/>
                <a:cs typeface="Times New Roman"/>
                <a:sym typeface="Times New Roman"/>
              </a:rPr>
              <a:t>: Refine step 2 in a way that all the processing steps are detailed  enough such that every 	processing step is equivalent to one instruction of the programming language.</a:t>
            </a:r>
            <a:endParaRPr/>
          </a:p>
          <a:p>
            <a:pPr indent="0" lvl="0" marL="0" rtl="0" algn="just">
              <a:lnSpc>
                <a:spcPct val="150000"/>
              </a:lnSpc>
              <a:spcBef>
                <a:spcPts val="0"/>
              </a:spcBef>
              <a:spcAft>
                <a:spcPts val="0"/>
              </a:spcAft>
              <a:buClr>
                <a:schemeClr val="dk1"/>
              </a:buClr>
              <a:buSzPct val="100000"/>
              <a:buNone/>
            </a:pPr>
            <a:r>
              <a:rPr b="1" lang="en-US" sz="2400">
                <a:latin typeface="Times New Roman"/>
                <a:ea typeface="Times New Roman"/>
                <a:cs typeface="Times New Roman"/>
                <a:sym typeface="Times New Roman"/>
              </a:rPr>
              <a:t>Step4</a:t>
            </a:r>
            <a:r>
              <a:rPr lang="en-US" sz="2400">
                <a:latin typeface="Times New Roman"/>
                <a:ea typeface="Times New Roman"/>
                <a:cs typeface="Times New Roman"/>
                <a:sym typeface="Times New Roman"/>
              </a:rPr>
              <a:t>: Add syntax of the programming language to the above representation and it becomes the 	program.</a:t>
            </a:r>
            <a:endParaRPr/>
          </a:p>
          <a:p>
            <a:pPr indent="0" lvl="0" marL="0" rtl="0" algn="just">
              <a:lnSpc>
                <a:spcPct val="150000"/>
              </a:lnSpc>
              <a:spcBef>
                <a:spcPts val="0"/>
              </a:spcBef>
              <a:spcAft>
                <a:spcPts val="0"/>
              </a:spcAft>
              <a:buClr>
                <a:schemeClr val="dk1"/>
              </a:buClr>
              <a:buSzPct val="100000"/>
              <a:buNone/>
            </a:pPr>
            <a:r>
              <a:rPr b="1" lang="en-US" sz="2400">
                <a:latin typeface="Times New Roman"/>
                <a:ea typeface="Times New Roman"/>
                <a:cs typeface="Times New Roman"/>
                <a:sym typeface="Times New Roman"/>
              </a:rPr>
              <a:t>Step5</a:t>
            </a:r>
            <a:r>
              <a:rPr lang="en-US" sz="2400">
                <a:latin typeface="Times New Roman"/>
                <a:ea typeface="Times New Roman"/>
                <a:cs typeface="Times New Roman"/>
                <a:sym typeface="Times New Roman"/>
              </a:rPr>
              <a:t>: Type the program and Compile it after removing all syntax related errors. </a:t>
            </a:r>
            <a:endParaRPr/>
          </a:p>
          <a:p>
            <a:pPr indent="0" lvl="0" marL="0" rtl="0" algn="just">
              <a:lnSpc>
                <a:spcPct val="150000"/>
              </a:lnSpc>
              <a:spcBef>
                <a:spcPts val="0"/>
              </a:spcBef>
              <a:spcAft>
                <a:spcPts val="0"/>
              </a:spcAft>
              <a:buClr>
                <a:schemeClr val="dk1"/>
              </a:buClr>
              <a:buSzPct val="100000"/>
              <a:buNone/>
            </a:pPr>
            <a:r>
              <a:rPr b="1" lang="en-US" sz="2400">
                <a:latin typeface="Times New Roman"/>
                <a:ea typeface="Times New Roman"/>
                <a:cs typeface="Times New Roman"/>
                <a:sym typeface="Times New Roman"/>
              </a:rPr>
              <a:t>Step6</a:t>
            </a:r>
            <a:r>
              <a:rPr lang="en-US" sz="2400">
                <a:latin typeface="Times New Roman"/>
                <a:ea typeface="Times New Roman"/>
                <a:cs typeface="Times New Roman"/>
                <a:sym typeface="Times New Roman"/>
              </a:rPr>
              <a:t>: Run the program and check it with different types of input to verify its correctness.</a:t>
            </a:r>
            <a:endParaRPr/>
          </a:p>
          <a:p>
            <a:pPr indent="-40639" lvl="0" marL="228600" rtl="0" algn="l">
              <a:lnSpc>
                <a:spcPct val="150000"/>
              </a:lnSpc>
              <a:spcBef>
                <a:spcPts val="0"/>
              </a:spcBef>
              <a:spcAft>
                <a:spcPts val="0"/>
              </a:spcAft>
              <a:buClr>
                <a:schemeClr val="dk1"/>
              </a:buClr>
              <a:buSzPct val="100000"/>
              <a:buNone/>
            </a:pPr>
            <a:r>
              <a:t/>
            </a:r>
            <a:endParaRPr sz="3200">
              <a:latin typeface="Times New Roman"/>
              <a:ea typeface="Times New Roman"/>
              <a:cs typeface="Times New Roman"/>
              <a:sym typeface="Times New Roman"/>
            </a:endParaRPr>
          </a:p>
        </p:txBody>
      </p:sp>
      <p:sp>
        <p:nvSpPr>
          <p:cNvPr id="147" name="Google Shape;14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500"/>
                                        <p:tgtEl>
                                          <p:spTgt spid="1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Effect filter="fade" transition="in">
                                      <p:cBhvr>
                                        <p:cTn dur="500"/>
                                        <p:tgtEl>
                                          <p:spTgt spid="1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Effect filter="fade" transition="in">
                                      <p:cBhvr>
                                        <p:cTn dur="500"/>
                                        <p:tgtEl>
                                          <p:spTgt spid="1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Effect filter="fade" transition="in">
                                      <p:cBhvr>
                                        <p:cTn dur="500"/>
                                        <p:tgtEl>
                                          <p:spTgt spid="1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animEffect filter="fade" transition="in">
                                      <p:cBhvr>
                                        <p:cTn dur="500"/>
                                        <p:tgtEl>
                                          <p:spTgt spid="1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5" st="5"/>
                                            </p:txEl>
                                          </p:spTgt>
                                        </p:tgtEl>
                                        <p:attrNameLst>
                                          <p:attrName>style.visibility</p:attrName>
                                        </p:attrNameLst>
                                      </p:cBhvr>
                                      <p:to>
                                        <p:strVal val="visible"/>
                                      </p:to>
                                    </p:set>
                                    <p:animEffect filter="fade" transition="in">
                                      <p:cBhvr>
                                        <p:cTn dur="500"/>
                                        <p:tgtEl>
                                          <p:spTgt spid="1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6" st="6"/>
                                            </p:txEl>
                                          </p:spTgt>
                                        </p:tgtEl>
                                        <p:attrNameLst>
                                          <p:attrName>style.visibility</p:attrName>
                                        </p:attrNameLst>
                                      </p:cBhvr>
                                      <p:to>
                                        <p:strVal val="visible"/>
                                      </p:to>
                                    </p:set>
                                    <p:animEffect filter="fade" transition="in">
                                      <p:cBhvr>
                                        <p:cTn dur="500"/>
                                        <p:tgtEl>
                                          <p:spTgt spid="146">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txBox="1"/>
          <p:nvPr>
            <p:ph type="title"/>
          </p:nvPr>
        </p:nvSpPr>
        <p:spPr>
          <a:xfrm>
            <a:off x="381000" y="228600"/>
            <a:ext cx="2190750" cy="449262"/>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Algorithm</a:t>
            </a:r>
            <a:endParaRPr b="1" sz="3000">
              <a:solidFill>
                <a:srgbClr val="002060"/>
              </a:solidFill>
              <a:latin typeface="Times New Roman"/>
              <a:ea typeface="Times New Roman"/>
              <a:cs typeface="Times New Roman"/>
              <a:sym typeface="Times New Roman"/>
            </a:endParaRPr>
          </a:p>
        </p:txBody>
      </p:sp>
      <p:sp>
        <p:nvSpPr>
          <p:cNvPr id="153" name="Google Shape;153;p6"/>
          <p:cNvSpPr txBox="1"/>
          <p:nvPr>
            <p:ph idx="1" type="body"/>
          </p:nvPr>
        </p:nvSpPr>
        <p:spPr>
          <a:xfrm>
            <a:off x="381000" y="762000"/>
            <a:ext cx="6096000" cy="4419600"/>
          </a:xfrm>
          <a:prstGeom prst="rect">
            <a:avLst/>
          </a:prstGeom>
          <a:noFill/>
          <a:ln>
            <a:noFill/>
          </a:ln>
        </p:spPr>
        <p:txBody>
          <a:bodyPr anchorCtr="0" anchor="t" bIns="45700" lIns="91425" spcFirstLastPara="1" rIns="91425" wrap="square" tIns="45700">
            <a:noAutofit/>
          </a:bodyPr>
          <a:lstStyle/>
          <a:p>
            <a:pPr indent="-228600" lvl="0" marL="228600" rtl="0" algn="just">
              <a:lnSpc>
                <a:spcPct val="10000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The algorithm is part of the blueprint or plan for the computer program, an algorithm is:</a:t>
            </a:r>
            <a:endParaRPr/>
          </a:p>
          <a:p>
            <a:pPr indent="0" lvl="0" marL="0" rtl="0" algn="just">
              <a:lnSpc>
                <a:spcPct val="100000"/>
              </a:lnSpc>
              <a:spcBef>
                <a:spcPts val="600"/>
              </a:spcBef>
              <a:spcAft>
                <a:spcPts val="0"/>
              </a:spcAft>
              <a:buClr>
                <a:srgbClr val="FF0000"/>
              </a:buClr>
              <a:buSzPts val="2000"/>
              <a:buFont typeface="Arial"/>
              <a:buNone/>
            </a:pPr>
            <a:r>
              <a:rPr i="1" lang="en-US" sz="2000">
                <a:solidFill>
                  <a:srgbClr val="FF0000"/>
                </a:solidFill>
                <a:latin typeface="Times New Roman"/>
                <a:ea typeface="Times New Roman"/>
                <a:cs typeface="Times New Roman"/>
                <a:sym typeface="Times New Roman"/>
              </a:rPr>
              <a:t>“An effective procedure for solving a class of problems in a finite number of steps.”</a:t>
            </a:r>
            <a:endParaRPr/>
          </a:p>
          <a:p>
            <a:pPr indent="-228600" lvl="0" marL="228600" rtl="0" algn="just">
              <a:lnSpc>
                <a:spcPct val="100000"/>
              </a:lnSpc>
              <a:spcBef>
                <a:spcPts val="600"/>
              </a:spcBef>
              <a:spcAft>
                <a:spcPts val="0"/>
              </a:spcAft>
              <a:buClr>
                <a:schemeClr val="dk1"/>
              </a:buClr>
              <a:buSzPts val="2000"/>
              <a:buChar char="•"/>
            </a:pPr>
            <a:r>
              <a:rPr lang="en-US" sz="2000">
                <a:latin typeface="Times New Roman"/>
                <a:ea typeface="Times New Roman"/>
                <a:cs typeface="Times New Roman"/>
                <a:sym typeface="Times New Roman"/>
              </a:rPr>
              <a:t>An algorithm is defined as the sequence of instructions written in simple English that are required to get the desired results. It helps to develop the fundamental logic of a problem that leads to a solution.</a:t>
            </a:r>
            <a:endParaRPr sz="2000">
              <a:latin typeface="Times New Roman"/>
              <a:ea typeface="Times New Roman"/>
              <a:cs typeface="Times New Roman"/>
              <a:sym typeface="Times New Roman"/>
            </a:endParaRPr>
          </a:p>
          <a:p>
            <a:pPr indent="-228600" lvl="0" marL="228600" rtl="0" algn="just">
              <a:lnSpc>
                <a:spcPct val="100000"/>
              </a:lnSpc>
              <a:spcBef>
                <a:spcPts val="600"/>
              </a:spcBef>
              <a:spcAft>
                <a:spcPts val="0"/>
              </a:spcAft>
              <a:buClr>
                <a:schemeClr val="dk1"/>
              </a:buClr>
              <a:buSzPts val="2000"/>
              <a:buChar char="•"/>
            </a:pPr>
            <a:r>
              <a:rPr lang="en-US" sz="2000">
                <a:latin typeface="Times New Roman"/>
                <a:ea typeface="Times New Roman"/>
                <a:cs typeface="Times New Roman"/>
                <a:sym typeface="Times New Roman"/>
              </a:rPr>
              <a:t>Every algorithm should have the following 5 characteristic feature:</a:t>
            </a:r>
            <a:endParaRPr/>
          </a:p>
        </p:txBody>
      </p:sp>
      <p:sp>
        <p:nvSpPr>
          <p:cNvPr id="154" name="Google Shape;15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Google Shape;155;p6"/>
          <p:cNvSpPr/>
          <p:nvPr/>
        </p:nvSpPr>
        <p:spPr>
          <a:xfrm>
            <a:off x="6781800" y="609600"/>
            <a:ext cx="5105400" cy="517064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2000" u="none" cap="none" strike="noStrike">
                <a:solidFill>
                  <a:srgbClr val="FF0000"/>
                </a:solidFill>
                <a:latin typeface="Times New Roman"/>
                <a:ea typeface="Times New Roman"/>
                <a:cs typeface="Times New Roman"/>
                <a:sym typeface="Times New Roman"/>
              </a:rPr>
              <a:t>Some characteristics of an algorithm are as follows:</a:t>
            </a:r>
            <a:endParaRPr/>
          </a:p>
          <a:p>
            <a:pPr indent="-457200" lvl="0" marL="457200" marR="0" rtl="0" algn="just">
              <a:spcBef>
                <a:spcPts val="600"/>
              </a:spcBef>
              <a:spcAft>
                <a:spcPts val="0"/>
              </a:spcAft>
              <a:buClr>
                <a:srgbClr val="3C3C3C"/>
              </a:buClr>
              <a:buSzPts val="2000"/>
              <a:buFont typeface="Calibri"/>
              <a:buAutoNum type="arabicPeriod"/>
            </a:pPr>
            <a:r>
              <a:rPr b="0" i="0" lang="en-US" sz="2000" u="none" cap="none" strike="noStrike">
                <a:solidFill>
                  <a:srgbClr val="3C3C3C"/>
                </a:solidFill>
                <a:latin typeface="Times New Roman"/>
                <a:ea typeface="Times New Roman"/>
                <a:cs typeface="Times New Roman"/>
                <a:sym typeface="Times New Roman"/>
              </a:rPr>
              <a:t>Each step of an algorithm must be precisely defined.</a:t>
            </a:r>
            <a:endParaRPr/>
          </a:p>
          <a:p>
            <a:pPr indent="-457200" lvl="0" marL="457200" marR="0" rtl="0" algn="just">
              <a:spcBef>
                <a:spcPts val="600"/>
              </a:spcBef>
              <a:spcAft>
                <a:spcPts val="0"/>
              </a:spcAft>
              <a:buClr>
                <a:srgbClr val="3C3C3C"/>
              </a:buClr>
              <a:buSzPts val="2000"/>
              <a:buFont typeface="Calibri"/>
              <a:buAutoNum type="arabicPeriod"/>
            </a:pPr>
            <a:r>
              <a:rPr b="0" i="0" lang="en-US" sz="2000" u="none" cap="none" strike="noStrike">
                <a:solidFill>
                  <a:srgbClr val="3C3C3C"/>
                </a:solidFill>
                <a:latin typeface="Times New Roman"/>
                <a:ea typeface="Times New Roman"/>
                <a:cs typeface="Times New Roman"/>
                <a:sym typeface="Times New Roman"/>
              </a:rPr>
              <a:t>An algorithm must contain blocks that will help to solve problems more efficiently and logically.</a:t>
            </a:r>
            <a:endParaRPr/>
          </a:p>
          <a:p>
            <a:pPr indent="-457200" lvl="0" marL="457200" marR="0" rtl="0" algn="just">
              <a:spcBef>
                <a:spcPts val="600"/>
              </a:spcBef>
              <a:spcAft>
                <a:spcPts val="0"/>
              </a:spcAft>
              <a:buClr>
                <a:srgbClr val="3C3C3C"/>
              </a:buClr>
              <a:buSzPts val="2000"/>
              <a:buFont typeface="Calibri"/>
              <a:buAutoNum type="arabicPeriod"/>
            </a:pPr>
            <a:r>
              <a:rPr b="0" i="0" lang="en-US" sz="2000" u="none" cap="none" strike="noStrike">
                <a:solidFill>
                  <a:srgbClr val="3C3C3C"/>
                </a:solidFill>
                <a:latin typeface="Times New Roman"/>
                <a:ea typeface="Times New Roman"/>
                <a:cs typeface="Times New Roman"/>
                <a:sym typeface="Times New Roman"/>
              </a:rPr>
              <a:t>It should accept a set of inputs and produce a defined output.</a:t>
            </a:r>
            <a:endParaRPr/>
          </a:p>
          <a:p>
            <a:pPr indent="-457200" lvl="0" marL="457200" marR="0" rtl="0" algn="just">
              <a:spcBef>
                <a:spcPts val="600"/>
              </a:spcBef>
              <a:spcAft>
                <a:spcPts val="0"/>
              </a:spcAft>
              <a:buClr>
                <a:srgbClr val="3C3C3C"/>
              </a:buClr>
              <a:buSzPts val="2000"/>
              <a:buFont typeface="Calibri"/>
              <a:buAutoNum type="arabicPeriod"/>
            </a:pPr>
            <a:r>
              <a:rPr b="0" i="0" lang="en-US" sz="2000" u="none" cap="none" strike="noStrike">
                <a:solidFill>
                  <a:srgbClr val="3C3C3C"/>
                </a:solidFill>
                <a:latin typeface="Times New Roman"/>
                <a:ea typeface="Times New Roman"/>
                <a:cs typeface="Times New Roman"/>
                <a:sym typeface="Times New Roman"/>
              </a:rPr>
              <a:t>It must be terminated after a finite number of steps.</a:t>
            </a:r>
            <a:endParaRPr/>
          </a:p>
          <a:p>
            <a:pPr indent="-457200" lvl="0" marL="457200" marR="0" rtl="0" algn="just">
              <a:spcBef>
                <a:spcPts val="600"/>
              </a:spcBef>
              <a:spcAft>
                <a:spcPts val="0"/>
              </a:spcAft>
              <a:buClr>
                <a:srgbClr val="3C3C3C"/>
              </a:buClr>
              <a:buSzPts val="2000"/>
              <a:buFont typeface="Calibri"/>
              <a:buAutoNum type="arabicPeriod"/>
            </a:pPr>
            <a:r>
              <a:rPr b="0" i="0" lang="en-US" sz="2000" u="none" cap="none" strike="noStrike">
                <a:solidFill>
                  <a:srgbClr val="3C3C3C"/>
                </a:solidFill>
                <a:latin typeface="Times New Roman"/>
                <a:ea typeface="Times New Roman"/>
                <a:cs typeface="Times New Roman"/>
                <a:sym typeface="Times New Roman"/>
              </a:rPr>
              <a:t>It should be independent from a computer programming language.</a:t>
            </a:r>
            <a:endParaRPr/>
          </a:p>
          <a:p>
            <a:pPr indent="-457200" lvl="0" marL="457200" marR="0" rtl="0" algn="just">
              <a:spcBef>
                <a:spcPts val="600"/>
              </a:spcBef>
              <a:spcAft>
                <a:spcPts val="0"/>
              </a:spcAft>
              <a:buClr>
                <a:srgbClr val="3C3C3C"/>
              </a:buClr>
              <a:buSzPts val="2000"/>
              <a:buFont typeface="Calibri"/>
              <a:buAutoNum type="arabicPeriod"/>
            </a:pPr>
            <a:r>
              <a:rPr b="0" i="0" lang="en-US" sz="2000" u="none" cap="none" strike="noStrike">
                <a:solidFill>
                  <a:srgbClr val="3C3C3C"/>
                </a:solidFill>
                <a:latin typeface="Times New Roman"/>
                <a:ea typeface="Times New Roman"/>
                <a:cs typeface="Times New Roman"/>
                <a:sym typeface="Times New Roman"/>
              </a:rPr>
              <a:t>It should develop a platform for writing programs.</a:t>
            </a:r>
            <a:endParaRPr b="0" i="0" sz="2000" u="none" cap="none" strike="noStrike">
              <a:solidFill>
                <a:srgbClr val="3C3C3C"/>
              </a:solidFill>
              <a:latin typeface="Times New Roman"/>
              <a:ea typeface="Times New Roman"/>
              <a:cs typeface="Times New Roman"/>
              <a:sym typeface="Times New Roman"/>
            </a:endParaRPr>
          </a:p>
        </p:txBody>
      </p:sp>
      <p:graphicFrame>
        <p:nvGraphicFramePr>
          <p:cNvPr id="156" name="Google Shape;156;p6"/>
          <p:cNvGraphicFramePr/>
          <p:nvPr/>
        </p:nvGraphicFramePr>
        <p:xfrm>
          <a:off x="1143000" y="4114800"/>
          <a:ext cx="3000000" cy="3000000"/>
        </p:xfrm>
        <a:graphic>
          <a:graphicData uri="http://schemas.openxmlformats.org/drawingml/2006/table">
            <a:tbl>
              <a:tblPr bandRow="1" firstRow="1">
                <a:noFill/>
                <a:tableStyleId>{F82F93AE-635C-42B7-8E95-DCFE6EE2B501}</a:tableStyleId>
              </a:tblPr>
              <a:tblGrid>
                <a:gridCol w="2133600"/>
                <a:gridCol w="2133600"/>
              </a:tblGrid>
              <a:tr h="370850">
                <a:tc>
                  <a:txBody>
                    <a:bodyPr/>
                    <a:lstStyle/>
                    <a:p>
                      <a:pPr indent="-342900" lvl="0" marL="342900" marR="0" rtl="0" algn="l">
                        <a:spcBef>
                          <a:spcPts val="0"/>
                        </a:spcBef>
                        <a:spcAft>
                          <a:spcPts val="0"/>
                        </a:spcAft>
                        <a:buClr>
                          <a:srgbClr val="000000"/>
                        </a:buClr>
                        <a:buSzPts val="2000"/>
                        <a:buFont typeface="Times New Roman"/>
                        <a:buAutoNum type="arabicPeriod"/>
                      </a:pPr>
                      <a:r>
                        <a:rPr b="0" lang="en-US" sz="2000" u="none" cap="none" strike="noStrike">
                          <a:solidFill>
                            <a:srgbClr val="000000"/>
                          </a:solidFill>
                          <a:latin typeface="Times New Roman"/>
                          <a:ea typeface="Times New Roman"/>
                          <a:cs typeface="Times New Roman"/>
                          <a:sym typeface="Times New Roman"/>
                        </a:rPr>
                        <a:t>Input</a:t>
                      </a:r>
                      <a:endParaRPr/>
                    </a:p>
                    <a:p>
                      <a:pPr indent="-342900" lvl="0" marL="342900" marR="0" rtl="0" algn="l">
                        <a:spcBef>
                          <a:spcPts val="0"/>
                        </a:spcBef>
                        <a:spcAft>
                          <a:spcPts val="0"/>
                        </a:spcAft>
                        <a:buClr>
                          <a:srgbClr val="000000"/>
                        </a:buClr>
                        <a:buSzPts val="2000"/>
                        <a:buFont typeface="Times New Roman"/>
                        <a:buAutoNum type="arabicPeriod"/>
                      </a:pPr>
                      <a:r>
                        <a:rPr b="0" lang="en-US" sz="2000" u="none" cap="none" strike="noStrike">
                          <a:solidFill>
                            <a:srgbClr val="000000"/>
                          </a:solidFill>
                          <a:latin typeface="Times New Roman"/>
                          <a:ea typeface="Times New Roman"/>
                          <a:cs typeface="Times New Roman"/>
                          <a:sym typeface="Times New Roman"/>
                        </a:rPr>
                        <a:t>Output</a:t>
                      </a:r>
                      <a:endParaRPr/>
                    </a:p>
                    <a:p>
                      <a:pPr indent="-342900" lvl="0" marL="342900" marR="0" rtl="0" algn="l">
                        <a:spcBef>
                          <a:spcPts val="0"/>
                        </a:spcBef>
                        <a:spcAft>
                          <a:spcPts val="0"/>
                        </a:spcAft>
                        <a:buClr>
                          <a:srgbClr val="000000"/>
                        </a:buClr>
                        <a:buSzPts val="2000"/>
                        <a:buFont typeface="Times New Roman"/>
                        <a:buAutoNum type="arabicPeriod"/>
                      </a:pPr>
                      <a:r>
                        <a:rPr b="0" lang="en-US" sz="2000" u="none" cap="none" strike="noStrike">
                          <a:solidFill>
                            <a:srgbClr val="000000"/>
                          </a:solidFill>
                          <a:latin typeface="Times New Roman"/>
                          <a:ea typeface="Times New Roman"/>
                          <a:cs typeface="Times New Roman"/>
                          <a:sym typeface="Times New Roman"/>
                        </a:rPr>
                        <a:t>Definiteness</a:t>
                      </a:r>
                      <a:endParaRPr b="0" sz="2000" u="none" cap="none" strike="noStrike">
                        <a:solidFill>
                          <a:srgbClr val="000000"/>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lang="en-US" sz="2000" u="none" cap="none" strike="noStrike">
                          <a:solidFill>
                            <a:srgbClr val="000000"/>
                          </a:solidFill>
                          <a:latin typeface="Times New Roman"/>
                          <a:ea typeface="Times New Roman"/>
                          <a:cs typeface="Times New Roman"/>
                          <a:sym typeface="Times New Roman"/>
                        </a:rPr>
                        <a:t>4.   Effectiveness</a:t>
                      </a:r>
                      <a:endParaRPr/>
                    </a:p>
                    <a:p>
                      <a:pPr indent="0" lvl="0" marL="0" marR="0" rtl="0" algn="l">
                        <a:spcBef>
                          <a:spcPts val="0"/>
                        </a:spcBef>
                        <a:spcAft>
                          <a:spcPts val="0"/>
                        </a:spcAft>
                        <a:buNone/>
                      </a:pPr>
                      <a:r>
                        <a:rPr b="0" lang="en-US" sz="2000">
                          <a:solidFill>
                            <a:srgbClr val="000000"/>
                          </a:solidFill>
                          <a:latin typeface="Times New Roman"/>
                          <a:ea typeface="Times New Roman"/>
                          <a:cs typeface="Times New Roman"/>
                          <a:sym typeface="Times New Roman"/>
                        </a:rPr>
                        <a:t>5.   Termination</a:t>
                      </a:r>
                      <a:endParaRPr b="0" sz="2000">
                        <a:solidFill>
                          <a:srgbClr val="000000"/>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0" st="0"/>
                                            </p:txEl>
                                          </p:spTgt>
                                        </p:tgtEl>
                                        <p:attrNameLst>
                                          <p:attrName>style.visibility</p:attrName>
                                        </p:attrNameLst>
                                      </p:cBhvr>
                                      <p:to>
                                        <p:strVal val="visible"/>
                                      </p:to>
                                    </p:set>
                                    <p:animEffect filter="fade" transition="in">
                                      <p:cBhvr>
                                        <p:cTn dur="500"/>
                                        <p:tgtEl>
                                          <p:spTgt spid="15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1" st="1"/>
                                            </p:txEl>
                                          </p:spTgt>
                                        </p:tgtEl>
                                        <p:attrNameLst>
                                          <p:attrName>style.visibility</p:attrName>
                                        </p:attrNameLst>
                                      </p:cBhvr>
                                      <p:to>
                                        <p:strVal val="visible"/>
                                      </p:to>
                                    </p:set>
                                    <p:animEffect filter="fade" transition="in">
                                      <p:cBhvr>
                                        <p:cTn dur="500"/>
                                        <p:tgtEl>
                                          <p:spTgt spid="15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2" st="2"/>
                                            </p:txEl>
                                          </p:spTgt>
                                        </p:tgtEl>
                                        <p:attrNameLst>
                                          <p:attrName>style.visibility</p:attrName>
                                        </p:attrNameLst>
                                      </p:cBhvr>
                                      <p:to>
                                        <p:strVal val="visible"/>
                                      </p:to>
                                    </p:set>
                                    <p:animEffect filter="fade" transition="in">
                                      <p:cBhvr>
                                        <p:cTn dur="500"/>
                                        <p:tgtEl>
                                          <p:spTgt spid="15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xEl>
                                              <p:pRg end="3" st="3"/>
                                            </p:txEl>
                                          </p:spTgt>
                                        </p:tgtEl>
                                        <p:attrNameLst>
                                          <p:attrName>style.visibility</p:attrName>
                                        </p:attrNameLst>
                                      </p:cBhvr>
                                      <p:to>
                                        <p:strVal val="visible"/>
                                      </p:to>
                                    </p:set>
                                    <p:animEffect filter="fade" transition="in">
                                      <p:cBhvr>
                                        <p:cTn dur="500"/>
                                        <p:tgtEl>
                                          <p:spTgt spid="15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Effect filter="fade" transition="in">
                                      <p:cBhvr>
                                        <p:cTn dur="500"/>
                                        <p:tgtEl>
                                          <p:spTgt spid="1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animEffect filter="fade" transition="in">
                                      <p:cBhvr>
                                        <p:cTn dur="500"/>
                                        <p:tgtEl>
                                          <p:spTgt spid="1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animEffect filter="fade" transition="in">
                                      <p:cBhvr>
                                        <p:cTn dur="500"/>
                                        <p:tgtEl>
                                          <p:spTgt spid="1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animEffect filter="fade" transition="in">
                                      <p:cBhvr>
                                        <p:cTn dur="500"/>
                                        <p:tgtEl>
                                          <p:spTgt spid="1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animEffect filter="fade" transition="in">
                                      <p:cBhvr>
                                        <p:cTn dur="500"/>
                                        <p:tgtEl>
                                          <p:spTgt spid="1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animEffect filter="fade" transition="in">
                                      <p:cBhvr>
                                        <p:cTn dur="500"/>
                                        <p:tgtEl>
                                          <p:spTgt spid="1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animEffect filter="fade" transition="in">
                                      <p:cBhvr>
                                        <p:cTn dur="500"/>
                                        <p:tgtEl>
                                          <p:spTgt spid="15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2" name="Google Shape;162;p7"/>
          <p:cNvSpPr txBox="1"/>
          <p:nvPr>
            <p:ph type="title"/>
          </p:nvPr>
        </p:nvSpPr>
        <p:spPr>
          <a:xfrm>
            <a:off x="381000" y="179696"/>
            <a:ext cx="1905000" cy="506104"/>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Algorithm</a:t>
            </a:r>
            <a:endParaRPr b="1" sz="3000">
              <a:solidFill>
                <a:srgbClr val="002060"/>
              </a:solidFill>
              <a:latin typeface="Times New Roman"/>
              <a:ea typeface="Times New Roman"/>
              <a:cs typeface="Times New Roman"/>
              <a:sym typeface="Times New Roman"/>
            </a:endParaRPr>
          </a:p>
        </p:txBody>
      </p:sp>
      <p:sp>
        <p:nvSpPr>
          <p:cNvPr id="163" name="Google Shape;163;p7"/>
          <p:cNvSpPr/>
          <p:nvPr/>
        </p:nvSpPr>
        <p:spPr>
          <a:xfrm>
            <a:off x="2286000" y="224135"/>
            <a:ext cx="1396536" cy="461665"/>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FF0000"/>
                </a:solidFill>
                <a:latin typeface="Times New Roman"/>
                <a:ea typeface="Times New Roman"/>
                <a:cs typeface="Times New Roman"/>
                <a:sym typeface="Times New Roman"/>
              </a:rPr>
              <a:t>Examples</a:t>
            </a:r>
            <a:endParaRPr/>
          </a:p>
        </p:txBody>
      </p:sp>
      <p:sp>
        <p:nvSpPr>
          <p:cNvPr id="164" name="Google Shape;164;p7"/>
          <p:cNvSpPr/>
          <p:nvPr/>
        </p:nvSpPr>
        <p:spPr>
          <a:xfrm>
            <a:off x="1315606" y="2466945"/>
            <a:ext cx="1723742" cy="400110"/>
          </a:xfrm>
          <a:prstGeom prst="rect">
            <a:avLst/>
          </a:pr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Prepare Coffee</a:t>
            </a:r>
            <a:endParaRPr sz="2000">
              <a:solidFill>
                <a:schemeClr val="dk1"/>
              </a:solidFill>
              <a:latin typeface="Times New Roman"/>
              <a:ea typeface="Times New Roman"/>
              <a:cs typeface="Times New Roman"/>
              <a:sym typeface="Times New Roman"/>
            </a:endParaRPr>
          </a:p>
        </p:txBody>
      </p:sp>
      <p:sp>
        <p:nvSpPr>
          <p:cNvPr id="165" name="Google Shape;165;p7"/>
          <p:cNvSpPr/>
          <p:nvPr/>
        </p:nvSpPr>
        <p:spPr>
          <a:xfrm>
            <a:off x="4648175" y="838200"/>
            <a:ext cx="7293600" cy="5081700"/>
          </a:xfrm>
          <a:prstGeom prst="rect">
            <a:avLst/>
          </a:prstGeom>
          <a:noFill/>
          <a:ln cap="flat" cmpd="sng" w="12700">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571500" lvl="0" marL="1028700" marR="0" rtl="0" algn="l">
              <a:lnSpc>
                <a:spcPct val="90000"/>
              </a:lnSpc>
              <a:spcBef>
                <a:spcPts val="0"/>
              </a:spcBef>
              <a:spcAft>
                <a:spcPts val="0"/>
              </a:spcAft>
              <a:buClr>
                <a:schemeClr val="dk1"/>
              </a:buClr>
              <a:buSzPts val="1800"/>
              <a:buFont typeface="Noto Sans Symbols"/>
              <a:buAutoNum type="arabicParenR"/>
            </a:pPr>
            <a:r>
              <a:rPr lang="en-US" sz="2000">
                <a:solidFill>
                  <a:schemeClr val="dk1"/>
                </a:solidFill>
                <a:latin typeface="Times New Roman"/>
                <a:ea typeface="Times New Roman"/>
                <a:cs typeface="Times New Roman"/>
                <a:sym typeface="Times New Roman"/>
              </a:rPr>
              <a:t>Start</a:t>
            </a:r>
            <a:endParaRPr/>
          </a:p>
          <a:p>
            <a:pPr indent="-571500" lvl="0" marL="1028700" marR="0" rtl="0" algn="l">
              <a:lnSpc>
                <a:spcPct val="90000"/>
              </a:lnSpc>
              <a:spcBef>
                <a:spcPts val="1000"/>
              </a:spcBef>
              <a:spcAft>
                <a:spcPts val="0"/>
              </a:spcAft>
              <a:buClr>
                <a:schemeClr val="dk1"/>
              </a:buClr>
              <a:buSzPts val="1800"/>
              <a:buFont typeface="Noto Sans Symbols"/>
              <a:buAutoNum type="arabicParenR"/>
            </a:pPr>
            <a:r>
              <a:rPr lang="en-US" sz="2000">
                <a:solidFill>
                  <a:schemeClr val="dk1"/>
                </a:solidFill>
                <a:latin typeface="Times New Roman"/>
                <a:ea typeface="Times New Roman"/>
                <a:cs typeface="Times New Roman"/>
                <a:sym typeface="Times New Roman"/>
              </a:rPr>
              <a:t>Grind the coffee beans</a:t>
            </a:r>
            <a:endParaRPr/>
          </a:p>
          <a:p>
            <a:pPr indent="-571500" lvl="0" marL="1028700" marR="0" rtl="0" algn="l">
              <a:lnSpc>
                <a:spcPct val="90000"/>
              </a:lnSpc>
              <a:spcBef>
                <a:spcPts val="1000"/>
              </a:spcBef>
              <a:spcAft>
                <a:spcPts val="0"/>
              </a:spcAft>
              <a:buClr>
                <a:schemeClr val="dk1"/>
              </a:buClr>
              <a:buSzPts val="1800"/>
              <a:buFont typeface="Noto Sans Symbols"/>
              <a:buAutoNum type="arabicParenR"/>
            </a:pPr>
            <a:r>
              <a:rPr lang="en-US" sz="2000">
                <a:solidFill>
                  <a:schemeClr val="dk1"/>
                </a:solidFill>
                <a:latin typeface="Times New Roman"/>
                <a:ea typeface="Times New Roman"/>
                <a:cs typeface="Times New Roman"/>
                <a:sym typeface="Times New Roman"/>
              </a:rPr>
              <a:t>Add water and milk in a coffee making vessel</a:t>
            </a:r>
            <a:endParaRPr/>
          </a:p>
          <a:p>
            <a:pPr indent="-571500" lvl="0" marL="1028700" marR="0" rtl="0" algn="l">
              <a:lnSpc>
                <a:spcPct val="90000"/>
              </a:lnSpc>
              <a:spcBef>
                <a:spcPts val="1000"/>
              </a:spcBef>
              <a:spcAft>
                <a:spcPts val="0"/>
              </a:spcAft>
              <a:buClr>
                <a:schemeClr val="dk1"/>
              </a:buClr>
              <a:buSzPts val="1800"/>
              <a:buFont typeface="Noto Sans Symbols"/>
              <a:buAutoNum type="arabicParenR"/>
            </a:pPr>
            <a:r>
              <a:rPr lang="en-US" sz="2000">
                <a:solidFill>
                  <a:schemeClr val="dk1"/>
                </a:solidFill>
                <a:latin typeface="Times New Roman"/>
                <a:ea typeface="Times New Roman"/>
                <a:cs typeface="Times New Roman"/>
                <a:sym typeface="Times New Roman"/>
              </a:rPr>
              <a:t>Ignite the stove and place the vessel on top of it</a:t>
            </a:r>
            <a:endParaRPr/>
          </a:p>
          <a:p>
            <a:pPr indent="-571500" lvl="0" marL="1028700" marR="0" rtl="0" algn="l">
              <a:lnSpc>
                <a:spcPct val="90000"/>
              </a:lnSpc>
              <a:spcBef>
                <a:spcPts val="1000"/>
              </a:spcBef>
              <a:spcAft>
                <a:spcPts val="0"/>
              </a:spcAft>
              <a:buClr>
                <a:schemeClr val="dk1"/>
              </a:buClr>
              <a:buSzPts val="1800"/>
              <a:buFont typeface="Noto Sans Symbols"/>
              <a:buAutoNum type="arabicParenR"/>
            </a:pPr>
            <a:r>
              <a:rPr lang="en-US" sz="2000">
                <a:solidFill>
                  <a:schemeClr val="dk1"/>
                </a:solidFill>
                <a:latin typeface="Times New Roman"/>
                <a:ea typeface="Times New Roman"/>
                <a:cs typeface="Times New Roman"/>
                <a:sym typeface="Times New Roman"/>
              </a:rPr>
              <a:t>Let the mixture to boil and add the coffee powder to the mixture</a:t>
            </a:r>
            <a:endParaRPr/>
          </a:p>
          <a:p>
            <a:pPr indent="-571500" lvl="0" marL="1028700" marR="0" rtl="0" algn="l">
              <a:lnSpc>
                <a:spcPct val="90000"/>
              </a:lnSpc>
              <a:spcBef>
                <a:spcPts val="1000"/>
              </a:spcBef>
              <a:spcAft>
                <a:spcPts val="0"/>
              </a:spcAft>
              <a:buClr>
                <a:schemeClr val="dk1"/>
              </a:buClr>
              <a:buSzPts val="1800"/>
              <a:buFont typeface="Noto Sans Symbols"/>
              <a:buAutoNum type="arabicParenR"/>
            </a:pPr>
            <a:r>
              <a:rPr lang="en-US" sz="2000">
                <a:solidFill>
                  <a:schemeClr val="dk1"/>
                </a:solidFill>
                <a:latin typeface="Times New Roman"/>
                <a:ea typeface="Times New Roman"/>
                <a:cs typeface="Times New Roman"/>
                <a:sym typeface="Times New Roman"/>
              </a:rPr>
              <a:t>Filter the mixture</a:t>
            </a:r>
            <a:endParaRPr/>
          </a:p>
          <a:p>
            <a:pPr indent="-571500" lvl="0" marL="1028700" marR="0" rtl="0" algn="l">
              <a:lnSpc>
                <a:spcPct val="90000"/>
              </a:lnSpc>
              <a:spcBef>
                <a:spcPts val="1000"/>
              </a:spcBef>
              <a:spcAft>
                <a:spcPts val="0"/>
              </a:spcAft>
              <a:buClr>
                <a:schemeClr val="dk1"/>
              </a:buClr>
              <a:buSzPts val="1800"/>
              <a:buFont typeface="Noto Sans Symbols"/>
              <a:buAutoNum type="arabicParenR"/>
            </a:pPr>
            <a:r>
              <a:rPr lang="en-US" sz="2000">
                <a:solidFill>
                  <a:schemeClr val="dk1"/>
                </a:solidFill>
                <a:latin typeface="Times New Roman"/>
                <a:ea typeface="Times New Roman"/>
                <a:cs typeface="Times New Roman"/>
                <a:sym typeface="Times New Roman"/>
              </a:rPr>
              <a:t>If sugar is not needed then,  go to step 9</a:t>
            </a:r>
            <a:endParaRPr/>
          </a:p>
          <a:p>
            <a:pPr indent="0" lvl="1" marL="457200" marR="0" rtl="0" algn="l">
              <a:lnSpc>
                <a:spcPct val="90000"/>
              </a:lnSpc>
              <a:spcBef>
                <a:spcPts val="500"/>
              </a:spcBef>
              <a:spcAft>
                <a:spcPts val="0"/>
              </a:spcAft>
              <a:buNone/>
            </a:pPr>
            <a:r>
              <a:rPr b="0" i="0" lang="en-US" sz="24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Times New Roman"/>
                <a:ea typeface="Times New Roman"/>
                <a:cs typeface="Times New Roman"/>
                <a:sym typeface="Times New Roman"/>
              </a:rPr>
              <a:t>Else, Add sugar to mixture </a:t>
            </a:r>
            <a:endParaRPr/>
          </a:p>
          <a:p>
            <a:pPr indent="-571500" lvl="0" marL="1028700" marR="0" rtl="0" algn="l">
              <a:lnSpc>
                <a:spcPct val="90000"/>
              </a:lnSpc>
              <a:spcBef>
                <a:spcPts val="1000"/>
              </a:spcBef>
              <a:spcAft>
                <a:spcPts val="0"/>
              </a:spcAft>
              <a:buClr>
                <a:schemeClr val="dk1"/>
              </a:buClr>
              <a:buSzPts val="1800"/>
              <a:buFont typeface="Noto Sans Symbols"/>
              <a:buAutoNum type="arabicParenR"/>
            </a:pPr>
            <a:r>
              <a:rPr lang="en-US" sz="2000">
                <a:solidFill>
                  <a:schemeClr val="dk1"/>
                </a:solidFill>
                <a:latin typeface="Times New Roman"/>
                <a:ea typeface="Times New Roman"/>
                <a:cs typeface="Times New Roman"/>
                <a:sym typeface="Times New Roman"/>
              </a:rPr>
              <a:t>If cream is not needed then, go to step 9</a:t>
            </a:r>
            <a:endParaRPr/>
          </a:p>
          <a:p>
            <a:pPr indent="0" lvl="1" marL="457200" marR="0" rtl="0" algn="l">
              <a:lnSpc>
                <a:spcPct val="90000"/>
              </a:lnSpc>
              <a:spcBef>
                <a:spcPts val="500"/>
              </a:spcBef>
              <a:spcAft>
                <a:spcPts val="0"/>
              </a:spcAft>
              <a:buNone/>
            </a:pPr>
            <a:r>
              <a:rPr b="0" i="0" lang="en-US" sz="2400" u="none" cap="none" strike="noStrike">
                <a:solidFill>
                  <a:schemeClr val="dk1"/>
                </a:solidFill>
                <a:latin typeface="Calibri"/>
                <a:ea typeface="Calibri"/>
                <a:cs typeface="Calibri"/>
                <a:sym typeface="Calibri"/>
              </a:rPr>
              <a:t>  </a:t>
            </a:r>
            <a:r>
              <a:rPr b="0" i="0" lang="en-US" sz="2000" u="none" cap="none" strike="noStrike">
                <a:solidFill>
                  <a:schemeClr val="dk1"/>
                </a:solidFill>
                <a:latin typeface="Times New Roman"/>
                <a:ea typeface="Times New Roman"/>
                <a:cs typeface="Times New Roman"/>
                <a:sym typeface="Times New Roman"/>
              </a:rPr>
              <a:t>Else add cream to the mixture</a:t>
            </a:r>
            <a:endParaRPr/>
          </a:p>
          <a:p>
            <a:pPr indent="-571500" lvl="0" marL="1028700" marR="0" rtl="0" algn="l">
              <a:lnSpc>
                <a:spcPct val="90000"/>
              </a:lnSpc>
              <a:spcBef>
                <a:spcPts val="1000"/>
              </a:spcBef>
              <a:spcAft>
                <a:spcPts val="0"/>
              </a:spcAft>
              <a:buClr>
                <a:schemeClr val="dk1"/>
              </a:buClr>
              <a:buSzPts val="1800"/>
              <a:buFont typeface="Noto Sans Symbols"/>
              <a:buAutoNum type="arabicParenR"/>
            </a:pPr>
            <a:r>
              <a:rPr lang="en-US" sz="2000">
                <a:solidFill>
                  <a:schemeClr val="dk1"/>
                </a:solidFill>
                <a:latin typeface="Times New Roman"/>
                <a:ea typeface="Times New Roman"/>
                <a:cs typeface="Times New Roman"/>
                <a:sym typeface="Times New Roman"/>
              </a:rPr>
              <a:t>Serve the coffee in a cup</a:t>
            </a:r>
            <a:endParaRPr/>
          </a:p>
          <a:p>
            <a:pPr indent="-571500" lvl="0" marL="1028700" marR="0" rtl="0" algn="l">
              <a:lnSpc>
                <a:spcPct val="90000"/>
              </a:lnSpc>
              <a:spcBef>
                <a:spcPts val="1000"/>
              </a:spcBef>
              <a:spcAft>
                <a:spcPts val="0"/>
              </a:spcAft>
              <a:buClr>
                <a:schemeClr val="dk1"/>
              </a:buClr>
              <a:buSzPts val="1800"/>
              <a:buFont typeface="Noto Sans Symbols"/>
              <a:buAutoNum type="arabicParenR"/>
            </a:pPr>
            <a:r>
              <a:rPr lang="en-US" sz="2000">
                <a:solidFill>
                  <a:schemeClr val="dk1"/>
                </a:solidFill>
                <a:latin typeface="Times New Roman"/>
                <a:ea typeface="Times New Roman"/>
                <a:cs typeface="Times New Roman"/>
                <a:sym typeface="Times New Roman"/>
              </a:rPr>
              <a:t>Stop</a:t>
            </a:r>
            <a:endParaRPr/>
          </a:p>
        </p:txBody>
      </p:sp>
      <p:sp>
        <p:nvSpPr>
          <p:cNvPr id="166" name="Google Shape;166;p7"/>
          <p:cNvSpPr/>
          <p:nvPr/>
        </p:nvSpPr>
        <p:spPr>
          <a:xfrm>
            <a:off x="4648200" y="378725"/>
            <a:ext cx="2438400" cy="459475"/>
          </a:xfrm>
          <a:prstGeom prst="rect">
            <a:avLst/>
          </a:prstGeom>
          <a:solidFill>
            <a:srgbClr val="00B050"/>
          </a:solidFill>
          <a:ln cap="flat" cmpd="sng" w="28575">
            <a:solidFill>
              <a:srgbClr val="00B050"/>
            </a:solidFill>
            <a:prstDash val="solid"/>
            <a:miter lim="800000"/>
            <a:headEnd len="sm" w="sm" type="none"/>
            <a:tailEnd len="sm" w="sm" type="none"/>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ALGORITHM</a:t>
            </a:r>
            <a:endParaRPr b="1" sz="2000">
              <a:solidFill>
                <a:schemeClr val="lt1"/>
              </a:solidFill>
              <a:latin typeface="Times New Roman"/>
              <a:ea typeface="Times New Roman"/>
              <a:cs typeface="Times New Roman"/>
              <a:sym typeface="Times New Roman"/>
            </a:endParaRPr>
          </a:p>
        </p:txBody>
      </p:sp>
      <p:cxnSp>
        <p:nvCxnSpPr>
          <p:cNvPr id="167" name="Google Shape;167;p7"/>
          <p:cNvCxnSpPr/>
          <p:nvPr/>
        </p:nvCxnSpPr>
        <p:spPr>
          <a:xfrm>
            <a:off x="3090612" y="2667000"/>
            <a:ext cx="1506324" cy="0"/>
          </a:xfrm>
          <a:prstGeom prst="straightConnector1">
            <a:avLst/>
          </a:prstGeom>
          <a:noFill/>
          <a:ln cap="flat" cmpd="sng" w="28575">
            <a:solidFill>
              <a:srgbClr val="00B050"/>
            </a:solidFill>
            <a:prstDash val="solid"/>
            <a:miter lim="800000"/>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par>
                                <p:cTn fill="hold" nodeType="with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animEffect filter="fade" transition="in">
                                      <p:cBhvr>
                                        <p:cTn dur="500"/>
                                        <p:tgtEl>
                                          <p:spTgt spid="1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animEffect filter="fade" transition="in">
                                      <p:cBhvr>
                                        <p:cTn dur="500"/>
                                        <p:tgtEl>
                                          <p:spTgt spid="1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animEffect filter="fade" transition="in">
                                      <p:cBhvr>
                                        <p:cTn dur="500"/>
                                        <p:tgtEl>
                                          <p:spTgt spid="1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animEffect filter="fade" transition="in">
                                      <p:cBhvr>
                                        <p:cTn dur="500"/>
                                        <p:tgtEl>
                                          <p:spTgt spid="1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4" st="4"/>
                                            </p:txEl>
                                          </p:spTgt>
                                        </p:tgtEl>
                                        <p:attrNameLst>
                                          <p:attrName>style.visibility</p:attrName>
                                        </p:attrNameLst>
                                      </p:cBhvr>
                                      <p:to>
                                        <p:strVal val="visible"/>
                                      </p:to>
                                    </p:set>
                                    <p:animEffect filter="fade" transition="in">
                                      <p:cBhvr>
                                        <p:cTn dur="500"/>
                                        <p:tgtEl>
                                          <p:spTgt spid="1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5" st="5"/>
                                            </p:txEl>
                                          </p:spTgt>
                                        </p:tgtEl>
                                        <p:attrNameLst>
                                          <p:attrName>style.visibility</p:attrName>
                                        </p:attrNameLst>
                                      </p:cBhvr>
                                      <p:to>
                                        <p:strVal val="visible"/>
                                      </p:to>
                                    </p:set>
                                    <p:animEffect filter="fade" transition="in">
                                      <p:cBhvr>
                                        <p:cTn dur="500"/>
                                        <p:tgtEl>
                                          <p:spTgt spid="1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6" st="6"/>
                                            </p:txEl>
                                          </p:spTgt>
                                        </p:tgtEl>
                                        <p:attrNameLst>
                                          <p:attrName>style.visibility</p:attrName>
                                        </p:attrNameLst>
                                      </p:cBhvr>
                                      <p:to>
                                        <p:strVal val="visible"/>
                                      </p:to>
                                    </p:set>
                                    <p:animEffect filter="fade" transition="in">
                                      <p:cBhvr>
                                        <p:cTn dur="500"/>
                                        <p:tgtEl>
                                          <p:spTgt spid="1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7" st="7"/>
                                            </p:txEl>
                                          </p:spTgt>
                                        </p:tgtEl>
                                        <p:attrNameLst>
                                          <p:attrName>style.visibility</p:attrName>
                                        </p:attrNameLst>
                                      </p:cBhvr>
                                      <p:to>
                                        <p:strVal val="visible"/>
                                      </p:to>
                                    </p:set>
                                    <p:animEffect filter="fade" transition="in">
                                      <p:cBhvr>
                                        <p:cTn dur="500"/>
                                        <p:tgtEl>
                                          <p:spTgt spid="1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8" st="8"/>
                                            </p:txEl>
                                          </p:spTgt>
                                        </p:tgtEl>
                                        <p:attrNameLst>
                                          <p:attrName>style.visibility</p:attrName>
                                        </p:attrNameLst>
                                      </p:cBhvr>
                                      <p:to>
                                        <p:strVal val="visible"/>
                                      </p:to>
                                    </p:set>
                                    <p:animEffect filter="fade" transition="in">
                                      <p:cBhvr>
                                        <p:cTn dur="500"/>
                                        <p:tgtEl>
                                          <p:spTgt spid="1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9" st="9"/>
                                            </p:txEl>
                                          </p:spTgt>
                                        </p:tgtEl>
                                        <p:attrNameLst>
                                          <p:attrName>style.visibility</p:attrName>
                                        </p:attrNameLst>
                                      </p:cBhvr>
                                      <p:to>
                                        <p:strVal val="visible"/>
                                      </p:to>
                                    </p:set>
                                    <p:animEffect filter="fade" transition="in">
                                      <p:cBhvr>
                                        <p:cTn dur="500"/>
                                        <p:tgtEl>
                                          <p:spTgt spid="1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0" st="10"/>
                                            </p:txEl>
                                          </p:spTgt>
                                        </p:tgtEl>
                                        <p:attrNameLst>
                                          <p:attrName>style.visibility</p:attrName>
                                        </p:attrNameLst>
                                      </p:cBhvr>
                                      <p:to>
                                        <p:strVal val="visible"/>
                                      </p:to>
                                    </p:set>
                                    <p:animEffect filter="fade" transition="in">
                                      <p:cBhvr>
                                        <p:cTn dur="500"/>
                                        <p:tgtEl>
                                          <p:spTgt spid="16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1" st="11"/>
                                            </p:txEl>
                                          </p:spTgt>
                                        </p:tgtEl>
                                        <p:attrNameLst>
                                          <p:attrName>style.visibility</p:attrName>
                                        </p:attrNameLst>
                                      </p:cBhvr>
                                      <p:to>
                                        <p:strVal val="visible"/>
                                      </p:to>
                                    </p:set>
                                    <p:animEffect filter="fade" transition="in">
                                      <p:cBhvr>
                                        <p:cTn dur="500"/>
                                        <p:tgtEl>
                                          <p:spTgt spid="165">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8"/>
          <p:cNvSpPr txBox="1"/>
          <p:nvPr>
            <p:ph type="title"/>
          </p:nvPr>
        </p:nvSpPr>
        <p:spPr>
          <a:xfrm>
            <a:off x="381000" y="179696"/>
            <a:ext cx="1905000" cy="506104"/>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Algorithm</a:t>
            </a:r>
            <a:endParaRPr b="1" sz="3000">
              <a:solidFill>
                <a:srgbClr val="002060"/>
              </a:solidFill>
              <a:latin typeface="Times New Roman"/>
              <a:ea typeface="Times New Roman"/>
              <a:cs typeface="Times New Roman"/>
              <a:sym typeface="Times New Roman"/>
            </a:endParaRPr>
          </a:p>
        </p:txBody>
      </p:sp>
      <p:sp>
        <p:nvSpPr>
          <p:cNvPr id="173" name="Google Shape;173;p8"/>
          <p:cNvSpPr txBox="1"/>
          <p:nvPr>
            <p:ph idx="1" type="body"/>
          </p:nvPr>
        </p:nvSpPr>
        <p:spPr>
          <a:xfrm>
            <a:off x="6521725" y="609600"/>
            <a:ext cx="5481000" cy="5340000"/>
          </a:xfrm>
          <a:prstGeom prst="rect">
            <a:avLst/>
          </a:prstGeom>
          <a:noFill/>
          <a:ln cap="flat" cmpd="sng" w="12700">
            <a:solidFill>
              <a:srgbClr val="00B050"/>
            </a:solidFill>
            <a:prstDash val="solid"/>
            <a:round/>
            <a:headEnd len="sm" w="sm" type="none"/>
            <a:tailEnd len="sm" w="sm" type="none"/>
          </a:ln>
        </p:spPr>
        <p:txBody>
          <a:bodyPr anchorCtr="0" anchor="t" bIns="45700" lIns="91425" spcFirstLastPara="1" rIns="91425" wrap="square" tIns="45700">
            <a:noAutofit/>
          </a:bodyPr>
          <a:lstStyle/>
          <a:p>
            <a:pPr indent="-571500" lvl="0" marL="571500" rtl="0" algn="l">
              <a:lnSpc>
                <a:spcPct val="90000"/>
              </a:lnSpc>
              <a:spcBef>
                <a:spcPts val="0"/>
              </a:spcBef>
              <a:spcAft>
                <a:spcPts val="0"/>
              </a:spcAft>
              <a:buClr>
                <a:schemeClr val="dk1"/>
              </a:buClr>
              <a:buSzPts val="1800"/>
              <a:buFont typeface="Noto Sans Symbols"/>
              <a:buAutoNum type="arabicParenR"/>
            </a:pPr>
            <a:r>
              <a:rPr lang="en-US" sz="2000">
                <a:latin typeface="Times New Roman"/>
                <a:ea typeface="Times New Roman"/>
                <a:cs typeface="Times New Roman"/>
                <a:sym typeface="Times New Roman"/>
              </a:rPr>
              <a:t>Start</a:t>
            </a:r>
            <a:endParaRPr/>
          </a:p>
          <a:p>
            <a:pPr indent="-571500" lvl="0" marL="571500" rtl="0" algn="l">
              <a:lnSpc>
                <a:spcPct val="90000"/>
              </a:lnSpc>
              <a:spcBef>
                <a:spcPts val="1000"/>
              </a:spcBef>
              <a:spcAft>
                <a:spcPts val="0"/>
              </a:spcAft>
              <a:buClr>
                <a:schemeClr val="dk1"/>
              </a:buClr>
              <a:buSzPts val="1800"/>
              <a:buFont typeface="Noto Sans Symbols"/>
              <a:buAutoNum type="arabicParenR"/>
            </a:pPr>
            <a:r>
              <a:rPr lang="en-US" sz="2000">
                <a:latin typeface="Times New Roman"/>
                <a:ea typeface="Times New Roman"/>
                <a:cs typeface="Times New Roman"/>
                <a:sym typeface="Times New Roman"/>
              </a:rPr>
              <a:t>Read 3 numbers: num1, num2, num3</a:t>
            </a:r>
            <a:endParaRPr/>
          </a:p>
          <a:p>
            <a:pPr indent="-571500" lvl="0" marL="571500" rtl="0" algn="l">
              <a:lnSpc>
                <a:spcPct val="90000"/>
              </a:lnSpc>
              <a:spcBef>
                <a:spcPts val="1000"/>
              </a:spcBef>
              <a:spcAft>
                <a:spcPts val="0"/>
              </a:spcAft>
              <a:buClr>
                <a:schemeClr val="dk1"/>
              </a:buClr>
              <a:buSzPts val="1800"/>
              <a:buFont typeface="Noto Sans Symbols"/>
              <a:buAutoNum type="arabicParenR"/>
            </a:pPr>
            <a:r>
              <a:rPr lang="en-US" sz="2000">
                <a:latin typeface="Times New Roman"/>
                <a:ea typeface="Times New Roman"/>
                <a:cs typeface="Times New Roman"/>
                <a:sym typeface="Times New Roman"/>
              </a:rPr>
              <a:t>if num1 &gt; num2 then go to step 5</a:t>
            </a:r>
            <a:endParaRPr/>
          </a:p>
          <a:p>
            <a:pPr indent="-571500" lvl="0" marL="571500" rtl="0" algn="l">
              <a:lnSpc>
                <a:spcPct val="90000"/>
              </a:lnSpc>
              <a:spcBef>
                <a:spcPts val="1000"/>
              </a:spcBef>
              <a:spcAft>
                <a:spcPts val="0"/>
              </a:spcAft>
              <a:buClr>
                <a:schemeClr val="dk1"/>
              </a:buClr>
              <a:buSzPts val="1800"/>
              <a:buFont typeface="Noto Sans Symbols"/>
              <a:buAutoNum type="arabicParenR"/>
            </a:pPr>
            <a:r>
              <a:rPr lang="en-US" sz="2000">
                <a:latin typeface="Times New Roman"/>
                <a:ea typeface="Times New Roman"/>
                <a:cs typeface="Times New Roman"/>
                <a:sym typeface="Times New Roman"/>
              </a:rPr>
              <a:t>if num2 &gt; num3 then </a:t>
            </a:r>
            <a:endParaRPr/>
          </a:p>
          <a:p>
            <a:pPr indent="-571500" lvl="0" marL="5715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print num2 is largest</a:t>
            </a:r>
            <a:endParaRPr/>
          </a:p>
          <a:p>
            <a:pPr indent="-571500" lvl="0" marL="5715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else          </a:t>
            </a:r>
            <a:endParaRPr/>
          </a:p>
          <a:p>
            <a:pPr indent="-571500" lvl="0" marL="5715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print num3 is largest</a:t>
            </a:r>
            <a:endParaRPr/>
          </a:p>
          <a:p>
            <a:pPr indent="-571500" lvl="0" marL="5715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goto step 6</a:t>
            </a:r>
            <a:endParaRPr/>
          </a:p>
          <a:p>
            <a:pPr indent="-571500" lvl="0" marL="571500" rtl="0" algn="l">
              <a:lnSpc>
                <a:spcPct val="90000"/>
              </a:lnSpc>
              <a:spcBef>
                <a:spcPts val="1000"/>
              </a:spcBef>
              <a:spcAft>
                <a:spcPts val="0"/>
              </a:spcAft>
              <a:buClr>
                <a:schemeClr val="dk1"/>
              </a:buClr>
              <a:buSzPts val="1800"/>
              <a:buFont typeface="Noto Sans Symbols"/>
              <a:buAutoNum type="arabicParenR" startAt="5"/>
            </a:pPr>
            <a:r>
              <a:rPr lang="en-US" sz="2000">
                <a:latin typeface="Times New Roman"/>
                <a:ea typeface="Times New Roman"/>
                <a:cs typeface="Times New Roman"/>
                <a:sym typeface="Times New Roman"/>
              </a:rPr>
              <a:t>if num1 &gt; num3 then </a:t>
            </a:r>
            <a:endParaRPr/>
          </a:p>
          <a:p>
            <a:pPr indent="-571500" lvl="0" marL="5715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print num1 is largest </a:t>
            </a:r>
            <a:endParaRPr/>
          </a:p>
          <a:p>
            <a:pPr indent="-571500" lvl="0" marL="5715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else 	</a:t>
            </a:r>
            <a:endParaRPr/>
          </a:p>
          <a:p>
            <a:pPr indent="-571500" lvl="0" marL="571500" rtl="0" algn="l">
              <a:lnSpc>
                <a:spcPct val="90000"/>
              </a:lnSpc>
              <a:spcBef>
                <a:spcPts val="1000"/>
              </a:spcBef>
              <a:spcAft>
                <a:spcPts val="0"/>
              </a:spcAft>
              <a:buClr>
                <a:schemeClr val="dk1"/>
              </a:buClr>
              <a:buSzPts val="2000"/>
              <a:buFont typeface="Arial"/>
              <a:buNone/>
            </a:pPr>
            <a:r>
              <a:rPr lang="en-US" sz="2000">
                <a:latin typeface="Times New Roman"/>
                <a:ea typeface="Times New Roman"/>
                <a:cs typeface="Times New Roman"/>
                <a:sym typeface="Times New Roman"/>
              </a:rPr>
              <a:t>		print num3 is largest</a:t>
            </a:r>
            <a:endParaRPr/>
          </a:p>
          <a:p>
            <a:pPr indent="-571500" lvl="0" marL="571500" rtl="0" algn="l">
              <a:lnSpc>
                <a:spcPct val="90000"/>
              </a:lnSpc>
              <a:spcBef>
                <a:spcPts val="1000"/>
              </a:spcBef>
              <a:spcAft>
                <a:spcPts val="0"/>
              </a:spcAft>
              <a:buClr>
                <a:schemeClr val="dk1"/>
              </a:buClr>
              <a:buSzPts val="1800"/>
              <a:buFont typeface="Noto Sans Symbols"/>
              <a:buAutoNum type="arabicParenR" startAt="6"/>
            </a:pPr>
            <a:r>
              <a:rPr lang="en-US" sz="2000">
                <a:latin typeface="Times New Roman"/>
                <a:ea typeface="Times New Roman"/>
                <a:cs typeface="Times New Roman"/>
                <a:sym typeface="Times New Roman"/>
              </a:rPr>
              <a:t>end.</a:t>
            </a:r>
            <a:endParaRPr/>
          </a:p>
        </p:txBody>
      </p:sp>
      <p:sp>
        <p:nvSpPr>
          <p:cNvPr id="174" name="Google Shape;174;p8"/>
          <p:cNvSpPr txBox="1"/>
          <p:nvPr/>
        </p:nvSpPr>
        <p:spPr>
          <a:xfrm>
            <a:off x="1143000" y="909980"/>
            <a:ext cx="3751476" cy="400110"/>
          </a:xfrm>
          <a:prstGeom prst="rect">
            <a:avLst/>
          </a:pr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To Find Largest of Three Numbers</a:t>
            </a:r>
            <a:endParaRPr sz="2000">
              <a:solidFill>
                <a:schemeClr val="dk1"/>
              </a:solidFill>
              <a:latin typeface="Times New Roman"/>
              <a:ea typeface="Times New Roman"/>
              <a:cs typeface="Times New Roman"/>
              <a:sym typeface="Times New Roman"/>
            </a:endParaRPr>
          </a:p>
        </p:txBody>
      </p:sp>
      <p:cxnSp>
        <p:nvCxnSpPr>
          <p:cNvPr id="175" name="Google Shape;175;p8"/>
          <p:cNvCxnSpPr>
            <a:stCxn id="174" idx="3"/>
          </p:cNvCxnSpPr>
          <p:nvPr/>
        </p:nvCxnSpPr>
        <p:spPr>
          <a:xfrm>
            <a:off x="4894476" y="1110035"/>
            <a:ext cx="1506300" cy="0"/>
          </a:xfrm>
          <a:prstGeom prst="straightConnector1">
            <a:avLst/>
          </a:prstGeom>
          <a:noFill/>
          <a:ln cap="flat" cmpd="sng" w="28575">
            <a:solidFill>
              <a:srgbClr val="00B050"/>
            </a:solidFill>
            <a:prstDash val="solid"/>
            <a:miter lim="800000"/>
            <a:headEnd len="sm" w="sm" type="none"/>
            <a:tailEnd len="med" w="med" type="triangle"/>
          </a:ln>
        </p:spPr>
      </p:cxnSp>
      <p:sp>
        <p:nvSpPr>
          <p:cNvPr id="176" name="Google Shape;176;p8"/>
          <p:cNvSpPr/>
          <p:nvPr/>
        </p:nvSpPr>
        <p:spPr>
          <a:xfrm>
            <a:off x="6400800" y="150125"/>
            <a:ext cx="2438400" cy="459475"/>
          </a:xfrm>
          <a:prstGeom prst="rect">
            <a:avLst/>
          </a:prstGeom>
          <a:solidFill>
            <a:srgbClr val="00B050"/>
          </a:solidFill>
          <a:ln cap="flat" cmpd="sng" w="28575">
            <a:solidFill>
              <a:srgbClr val="00B050"/>
            </a:solidFill>
            <a:prstDash val="solid"/>
            <a:miter lim="800000"/>
            <a:headEnd len="sm" w="sm" type="none"/>
            <a:tailEnd len="sm" w="sm" type="none"/>
          </a:ln>
          <a:effectLst>
            <a:outerShdw blurRad="107950" algn="ctr" dir="5400000" dist="12700">
              <a:srgbClr val="000000"/>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ALGORITHM</a:t>
            </a:r>
            <a:endParaRPr b="1" sz="2000">
              <a:solidFill>
                <a:schemeClr val="lt1"/>
              </a:solidFill>
              <a:latin typeface="Times New Roman"/>
              <a:ea typeface="Times New Roman"/>
              <a:cs typeface="Times New Roman"/>
              <a:sym typeface="Times New Roman"/>
            </a:endParaRPr>
          </a:p>
        </p:txBody>
      </p:sp>
      <p:sp>
        <p:nvSpPr>
          <p:cNvPr id="177" name="Google Shape;17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78" name="Google Shape;178;p8"/>
          <p:cNvSpPr/>
          <p:nvPr/>
        </p:nvSpPr>
        <p:spPr>
          <a:xfrm>
            <a:off x="2286000" y="224135"/>
            <a:ext cx="1396536" cy="461665"/>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Examples</a:t>
            </a:r>
            <a:endParaRPr/>
          </a:p>
        </p:txBody>
      </p:sp>
      <p:sp>
        <p:nvSpPr>
          <p:cNvPr id="179" name="Google Shape;179;p8"/>
          <p:cNvSpPr/>
          <p:nvPr/>
        </p:nvSpPr>
        <p:spPr>
          <a:xfrm>
            <a:off x="414551" y="2357211"/>
            <a:ext cx="5763336" cy="1015663"/>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rgbClr val="3C3C3C"/>
                </a:solidFill>
                <a:latin typeface="Times New Roman"/>
                <a:ea typeface="Times New Roman"/>
                <a:cs typeface="Times New Roman"/>
                <a:sym typeface="Times New Roman"/>
              </a:rPr>
              <a:t>Q1. Accept the length of two different line segments and check whether they are equal or unequal. Display the message accordingly.</a:t>
            </a:r>
            <a:endParaRPr sz="2000">
              <a:solidFill>
                <a:schemeClr val="dk1"/>
              </a:solidFill>
              <a:latin typeface="Times New Roman"/>
              <a:ea typeface="Times New Roman"/>
              <a:cs typeface="Times New Roman"/>
              <a:sym typeface="Times New Roman"/>
            </a:endParaRPr>
          </a:p>
        </p:txBody>
      </p:sp>
      <p:sp>
        <p:nvSpPr>
          <p:cNvPr id="180" name="Google Shape;180;p8"/>
          <p:cNvSpPr/>
          <p:nvPr/>
        </p:nvSpPr>
        <p:spPr>
          <a:xfrm>
            <a:off x="414551" y="3372874"/>
            <a:ext cx="5763336" cy="170816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2000">
                <a:solidFill>
                  <a:srgbClr val="3C3C3C"/>
                </a:solidFill>
                <a:latin typeface="Times New Roman"/>
                <a:ea typeface="Times New Roman"/>
                <a:cs typeface="Times New Roman"/>
                <a:sym typeface="Times New Roman"/>
              </a:rPr>
              <a:t>Q2. Accept three numbers and check whether they are 'Pythagorean Triplets' or not. Display the message accordingly.</a:t>
            </a:r>
            <a:endParaRPr/>
          </a:p>
          <a:p>
            <a:pPr indent="0" lvl="0" marL="0" marR="0" rtl="0" algn="just">
              <a:spcBef>
                <a:spcPts val="600"/>
              </a:spcBef>
              <a:spcAft>
                <a:spcPts val="0"/>
              </a:spcAft>
              <a:buNone/>
            </a:pPr>
            <a:r>
              <a:rPr lang="en-US" sz="2000">
                <a:solidFill>
                  <a:srgbClr val="3C3C3C"/>
                </a:solidFill>
                <a:latin typeface="Times New Roman"/>
                <a:ea typeface="Times New Roman"/>
                <a:cs typeface="Times New Roman"/>
                <a:sym typeface="Times New Roman"/>
              </a:rPr>
              <a:t>(</a:t>
            </a:r>
            <a:r>
              <a:rPr b="1" lang="en-US" sz="2000">
                <a:solidFill>
                  <a:srgbClr val="3C3C3C"/>
                </a:solidFill>
                <a:latin typeface="Times New Roman"/>
                <a:ea typeface="Times New Roman"/>
                <a:cs typeface="Times New Roman"/>
                <a:sym typeface="Times New Roman"/>
              </a:rPr>
              <a:t>Hint</a:t>
            </a:r>
            <a:r>
              <a:rPr lang="en-US" sz="2000">
                <a:solidFill>
                  <a:srgbClr val="3C3C3C"/>
                </a:solidFill>
                <a:latin typeface="Times New Roman"/>
                <a:ea typeface="Times New Roman"/>
                <a:cs typeface="Times New Roman"/>
                <a:sym typeface="Times New Roman"/>
              </a:rPr>
              <a:t>: Use Pythagoras Formula for a Right-angled Triangle: h2 = p2+b2)</a:t>
            </a:r>
            <a:endParaRPr sz="2000">
              <a:solidFill>
                <a:schemeClr val="dk1"/>
              </a:solidFill>
              <a:latin typeface="Times New Roman"/>
              <a:ea typeface="Times New Roman"/>
              <a:cs typeface="Times New Roman"/>
              <a:sym typeface="Times New Roman"/>
            </a:endParaRPr>
          </a:p>
        </p:txBody>
      </p:sp>
      <p:sp>
        <p:nvSpPr>
          <p:cNvPr id="181" name="Google Shape;181;p8"/>
          <p:cNvSpPr/>
          <p:nvPr/>
        </p:nvSpPr>
        <p:spPr>
          <a:xfrm>
            <a:off x="414551" y="1866725"/>
            <a:ext cx="1191352" cy="461665"/>
          </a:xfrm>
          <a:prstGeom prst="rect">
            <a:avLst/>
          </a:prstGeom>
          <a:noFill/>
          <a:ln cap="flat" cmpd="sng" w="9525">
            <a:solidFill>
              <a:srgbClr val="FF0000"/>
            </a:solidFill>
            <a:prstDash val="solid"/>
            <a:round/>
            <a:headEnd len="sm" w="sm" type="none"/>
            <a:tailEnd len="sm" w="sm" type="none"/>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Activity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0" st="0"/>
                                            </p:txEl>
                                          </p:spTgt>
                                        </p:tgtEl>
                                        <p:attrNameLst>
                                          <p:attrName>style.visibility</p:attrName>
                                        </p:attrNameLst>
                                      </p:cBhvr>
                                      <p:to>
                                        <p:strVal val="visible"/>
                                      </p:to>
                                    </p:set>
                                    <p:animEffect filter="fade" transition="in">
                                      <p:cBhvr>
                                        <p:cTn dur="500"/>
                                        <p:tgtEl>
                                          <p:spTgt spid="1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 st="1"/>
                                            </p:txEl>
                                          </p:spTgt>
                                        </p:tgtEl>
                                        <p:attrNameLst>
                                          <p:attrName>style.visibility</p:attrName>
                                        </p:attrNameLst>
                                      </p:cBhvr>
                                      <p:to>
                                        <p:strVal val="visible"/>
                                      </p:to>
                                    </p:set>
                                    <p:animEffect filter="fade" transition="in">
                                      <p:cBhvr>
                                        <p:cTn dur="500"/>
                                        <p:tgtEl>
                                          <p:spTgt spid="1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2" st="2"/>
                                            </p:txEl>
                                          </p:spTgt>
                                        </p:tgtEl>
                                        <p:attrNameLst>
                                          <p:attrName>style.visibility</p:attrName>
                                        </p:attrNameLst>
                                      </p:cBhvr>
                                      <p:to>
                                        <p:strVal val="visible"/>
                                      </p:to>
                                    </p:set>
                                    <p:animEffect filter="fade" transition="in">
                                      <p:cBhvr>
                                        <p:cTn dur="500"/>
                                        <p:tgtEl>
                                          <p:spTgt spid="1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3" st="3"/>
                                            </p:txEl>
                                          </p:spTgt>
                                        </p:tgtEl>
                                        <p:attrNameLst>
                                          <p:attrName>style.visibility</p:attrName>
                                        </p:attrNameLst>
                                      </p:cBhvr>
                                      <p:to>
                                        <p:strVal val="visible"/>
                                      </p:to>
                                    </p:set>
                                    <p:animEffect filter="fade" transition="in">
                                      <p:cBhvr>
                                        <p:cTn dur="500"/>
                                        <p:tgtEl>
                                          <p:spTgt spid="1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4" st="4"/>
                                            </p:txEl>
                                          </p:spTgt>
                                        </p:tgtEl>
                                        <p:attrNameLst>
                                          <p:attrName>style.visibility</p:attrName>
                                        </p:attrNameLst>
                                      </p:cBhvr>
                                      <p:to>
                                        <p:strVal val="visible"/>
                                      </p:to>
                                    </p:set>
                                    <p:animEffect filter="fade" transition="in">
                                      <p:cBhvr>
                                        <p:cTn dur="500"/>
                                        <p:tgtEl>
                                          <p:spTgt spid="1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5" st="5"/>
                                            </p:txEl>
                                          </p:spTgt>
                                        </p:tgtEl>
                                        <p:attrNameLst>
                                          <p:attrName>style.visibility</p:attrName>
                                        </p:attrNameLst>
                                      </p:cBhvr>
                                      <p:to>
                                        <p:strVal val="visible"/>
                                      </p:to>
                                    </p:set>
                                    <p:animEffect filter="fade" transition="in">
                                      <p:cBhvr>
                                        <p:cTn dur="500"/>
                                        <p:tgtEl>
                                          <p:spTgt spid="1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6" st="6"/>
                                            </p:txEl>
                                          </p:spTgt>
                                        </p:tgtEl>
                                        <p:attrNameLst>
                                          <p:attrName>style.visibility</p:attrName>
                                        </p:attrNameLst>
                                      </p:cBhvr>
                                      <p:to>
                                        <p:strVal val="visible"/>
                                      </p:to>
                                    </p:set>
                                    <p:animEffect filter="fade" transition="in">
                                      <p:cBhvr>
                                        <p:cTn dur="500"/>
                                        <p:tgtEl>
                                          <p:spTgt spid="1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7" st="7"/>
                                            </p:txEl>
                                          </p:spTgt>
                                        </p:tgtEl>
                                        <p:attrNameLst>
                                          <p:attrName>style.visibility</p:attrName>
                                        </p:attrNameLst>
                                      </p:cBhvr>
                                      <p:to>
                                        <p:strVal val="visible"/>
                                      </p:to>
                                    </p:set>
                                    <p:animEffect filter="fade" transition="in">
                                      <p:cBhvr>
                                        <p:cTn dur="500"/>
                                        <p:tgtEl>
                                          <p:spTgt spid="1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8" st="8"/>
                                            </p:txEl>
                                          </p:spTgt>
                                        </p:tgtEl>
                                        <p:attrNameLst>
                                          <p:attrName>style.visibility</p:attrName>
                                        </p:attrNameLst>
                                      </p:cBhvr>
                                      <p:to>
                                        <p:strVal val="visible"/>
                                      </p:to>
                                    </p:set>
                                    <p:animEffect filter="fade" transition="in">
                                      <p:cBhvr>
                                        <p:cTn dur="500"/>
                                        <p:tgtEl>
                                          <p:spTgt spid="1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9" st="9"/>
                                            </p:txEl>
                                          </p:spTgt>
                                        </p:tgtEl>
                                        <p:attrNameLst>
                                          <p:attrName>style.visibility</p:attrName>
                                        </p:attrNameLst>
                                      </p:cBhvr>
                                      <p:to>
                                        <p:strVal val="visible"/>
                                      </p:to>
                                    </p:set>
                                    <p:animEffect filter="fade" transition="in">
                                      <p:cBhvr>
                                        <p:cTn dur="500"/>
                                        <p:tgtEl>
                                          <p:spTgt spid="17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0" st="10"/>
                                            </p:txEl>
                                          </p:spTgt>
                                        </p:tgtEl>
                                        <p:attrNameLst>
                                          <p:attrName>style.visibility</p:attrName>
                                        </p:attrNameLst>
                                      </p:cBhvr>
                                      <p:to>
                                        <p:strVal val="visible"/>
                                      </p:to>
                                    </p:set>
                                    <p:animEffect filter="fade" transition="in">
                                      <p:cBhvr>
                                        <p:cTn dur="500"/>
                                        <p:tgtEl>
                                          <p:spTgt spid="17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1" st="11"/>
                                            </p:txEl>
                                          </p:spTgt>
                                        </p:tgtEl>
                                        <p:attrNameLst>
                                          <p:attrName>style.visibility</p:attrName>
                                        </p:attrNameLst>
                                      </p:cBhvr>
                                      <p:to>
                                        <p:strVal val="visible"/>
                                      </p:to>
                                    </p:set>
                                    <p:animEffect filter="fade" transition="in">
                                      <p:cBhvr>
                                        <p:cTn dur="500"/>
                                        <p:tgtEl>
                                          <p:spTgt spid="17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xEl>
                                              <p:pRg end="12" st="12"/>
                                            </p:txEl>
                                          </p:spTgt>
                                        </p:tgtEl>
                                        <p:attrNameLst>
                                          <p:attrName>style.visibility</p:attrName>
                                        </p:attrNameLst>
                                      </p:cBhvr>
                                      <p:to>
                                        <p:strVal val="visible"/>
                                      </p:to>
                                    </p:set>
                                    <p:animEffect filter="fade" transition="in">
                                      <p:cBhvr>
                                        <p:cTn dur="500"/>
                                        <p:tgtEl>
                                          <p:spTgt spid="17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par>
                                <p:cTn fill="hold" nodeType="with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par>
                                <p:cTn fill="hold" nodeType="with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9"/>
          <p:cNvSpPr txBox="1"/>
          <p:nvPr/>
        </p:nvSpPr>
        <p:spPr>
          <a:xfrm>
            <a:off x="390525" y="158750"/>
            <a:ext cx="1971675" cy="45085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Flowchart</a:t>
            </a:r>
            <a:endParaRPr b="1" sz="3000">
              <a:solidFill>
                <a:srgbClr val="002060"/>
              </a:solidFill>
              <a:latin typeface="Times New Roman"/>
              <a:ea typeface="Times New Roman"/>
              <a:cs typeface="Times New Roman"/>
              <a:sym typeface="Times New Roman"/>
            </a:endParaRPr>
          </a:p>
        </p:txBody>
      </p:sp>
      <p:sp>
        <p:nvSpPr>
          <p:cNvPr id="187" name="Google Shape;187;p9"/>
          <p:cNvSpPr txBox="1"/>
          <p:nvPr/>
        </p:nvSpPr>
        <p:spPr>
          <a:xfrm>
            <a:off x="2359819" y="152400"/>
            <a:ext cx="5121915" cy="461665"/>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Basic Flowchart Shapes and Definitions</a:t>
            </a:r>
            <a:endParaRPr/>
          </a:p>
        </p:txBody>
      </p:sp>
      <p:grpSp>
        <p:nvGrpSpPr>
          <p:cNvPr id="188" name="Google Shape;188;p9"/>
          <p:cNvGrpSpPr/>
          <p:nvPr/>
        </p:nvGrpSpPr>
        <p:grpSpPr>
          <a:xfrm>
            <a:off x="6388941" y="619441"/>
            <a:ext cx="1807589" cy="1359704"/>
            <a:chOff x="1304637" y="1293091"/>
            <a:chExt cx="1931656" cy="1327630"/>
          </a:xfrm>
        </p:grpSpPr>
        <p:sp>
          <p:nvSpPr>
            <p:cNvPr id="189" name="Google Shape;189;p9"/>
            <p:cNvSpPr/>
            <p:nvPr/>
          </p:nvSpPr>
          <p:spPr>
            <a:xfrm>
              <a:off x="1444313" y="1293091"/>
              <a:ext cx="1658653" cy="791328"/>
            </a:xfrm>
            <a:prstGeom prst="flowChartTerminator">
              <a:avLst/>
            </a:prstGeom>
            <a:solidFill>
              <a:srgbClr val="99BA82"/>
            </a:solidFill>
            <a:ln cap="flat" cmpd="sng" w="9525">
              <a:solidFill>
                <a:srgbClr val="FFFFFF"/>
              </a:solidFill>
              <a:prstDash val="solid"/>
              <a:miter lim="800000"/>
              <a:headEnd len="sm" w="sm" type="none"/>
              <a:tailEnd len="sm" w="sm" type="none"/>
            </a:ln>
            <a:effectLst>
              <a:outerShdw blurRad="41275" rotWithShape="0" algn="tl" dir="5400000" dist="25400">
                <a:srgbClr val="68686D">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190" name="Google Shape;190;p9"/>
            <p:cNvSpPr txBox="1"/>
            <p:nvPr/>
          </p:nvSpPr>
          <p:spPr>
            <a:xfrm>
              <a:off x="1452249" y="1521909"/>
              <a:ext cx="1650717" cy="33887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Start / End</a:t>
              </a:r>
              <a:endParaRPr/>
            </a:p>
          </p:txBody>
        </p:sp>
        <p:sp>
          <p:nvSpPr>
            <p:cNvPr id="191" name="Google Shape;191;p9"/>
            <p:cNvSpPr txBox="1"/>
            <p:nvPr/>
          </p:nvSpPr>
          <p:spPr>
            <a:xfrm>
              <a:off x="1304637" y="2109843"/>
              <a:ext cx="1931656" cy="51087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The start or end of a workflow.</a:t>
              </a:r>
              <a:endParaRPr/>
            </a:p>
          </p:txBody>
        </p:sp>
      </p:grpSp>
      <p:grpSp>
        <p:nvGrpSpPr>
          <p:cNvPr id="192" name="Google Shape;192;p9"/>
          <p:cNvGrpSpPr/>
          <p:nvPr/>
        </p:nvGrpSpPr>
        <p:grpSpPr>
          <a:xfrm>
            <a:off x="6490008" y="2772647"/>
            <a:ext cx="1746222" cy="1218126"/>
            <a:chOff x="4064000" y="1293091"/>
            <a:chExt cx="1848184" cy="1092885"/>
          </a:xfrm>
        </p:grpSpPr>
        <p:sp>
          <p:nvSpPr>
            <p:cNvPr id="193" name="Google Shape;193;p9"/>
            <p:cNvSpPr/>
            <p:nvPr/>
          </p:nvSpPr>
          <p:spPr>
            <a:xfrm>
              <a:off x="4157694" y="1293091"/>
              <a:ext cx="1511811" cy="791328"/>
            </a:xfrm>
            <a:prstGeom prst="flowChartProcess">
              <a:avLst/>
            </a:prstGeom>
            <a:solidFill>
              <a:srgbClr val="759FAB"/>
            </a:solidFill>
            <a:ln cap="flat" cmpd="sng" w="9525">
              <a:solidFill>
                <a:srgbClr val="FFFFFF"/>
              </a:solidFill>
              <a:prstDash val="solid"/>
              <a:miter lim="800000"/>
              <a:headEnd len="sm" w="sm" type="none"/>
              <a:tailEnd len="sm" w="sm" type="none"/>
            </a:ln>
            <a:effectLst>
              <a:outerShdw blurRad="41275" rotWithShape="0" algn="tl" dir="5400000" dist="25400">
                <a:srgbClr val="68686D">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194" name="Google Shape;194;p9"/>
            <p:cNvSpPr txBox="1"/>
            <p:nvPr/>
          </p:nvSpPr>
          <p:spPr>
            <a:xfrm>
              <a:off x="4157694" y="1528265"/>
              <a:ext cx="1511811" cy="30374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Project / Task</a:t>
              </a:r>
              <a:endParaRPr/>
            </a:p>
          </p:txBody>
        </p:sp>
        <p:sp>
          <p:nvSpPr>
            <p:cNvPr id="195" name="Google Shape;195;p9"/>
            <p:cNvSpPr txBox="1"/>
            <p:nvPr/>
          </p:nvSpPr>
          <p:spPr>
            <a:xfrm>
              <a:off x="4064000" y="2109843"/>
              <a:ext cx="1848184" cy="27613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Process or action.</a:t>
              </a:r>
              <a:endParaRPr/>
            </a:p>
          </p:txBody>
        </p:sp>
      </p:grpSp>
      <p:grpSp>
        <p:nvGrpSpPr>
          <p:cNvPr id="196" name="Google Shape;196;p9"/>
          <p:cNvGrpSpPr/>
          <p:nvPr/>
        </p:nvGrpSpPr>
        <p:grpSpPr>
          <a:xfrm>
            <a:off x="8178372" y="227131"/>
            <a:ext cx="2110665" cy="2127805"/>
            <a:chOff x="6547030" y="3132310"/>
            <a:chExt cx="2110074" cy="2127475"/>
          </a:xfrm>
        </p:grpSpPr>
        <p:sp>
          <p:nvSpPr>
            <p:cNvPr id="197" name="Google Shape;197;p9"/>
            <p:cNvSpPr/>
            <p:nvPr/>
          </p:nvSpPr>
          <p:spPr>
            <a:xfrm>
              <a:off x="6928350" y="3132310"/>
              <a:ext cx="1267576" cy="1145899"/>
            </a:xfrm>
            <a:prstGeom prst="flowChartExtract">
              <a:avLst/>
            </a:prstGeom>
            <a:solidFill>
              <a:srgbClr val="E8A26C"/>
            </a:solidFill>
            <a:ln cap="flat" cmpd="sng" w="9525">
              <a:solidFill>
                <a:srgbClr val="FFFFFF"/>
              </a:solidFill>
              <a:prstDash val="solid"/>
              <a:miter lim="800000"/>
              <a:headEnd len="sm" w="sm" type="none"/>
              <a:tailEnd len="sm" w="sm" type="none"/>
            </a:ln>
            <a:effectLst>
              <a:outerShdw blurRad="41275" rotWithShape="0" dir="5400000" dist="25400">
                <a:srgbClr val="68686D">
                  <a:alpha val="3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198" name="Google Shape;198;p9"/>
            <p:cNvSpPr txBox="1"/>
            <p:nvPr/>
          </p:nvSpPr>
          <p:spPr>
            <a:xfrm>
              <a:off x="7020157" y="3514720"/>
              <a:ext cx="1083960" cy="707776"/>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lang="en-US" sz="1600">
                  <a:solidFill>
                    <a:schemeClr val="dk1"/>
                  </a:solidFill>
                  <a:latin typeface="Times New Roman"/>
                  <a:ea typeface="Times New Roman"/>
                  <a:cs typeface="Times New Roman"/>
                  <a:sym typeface="Times New Roman"/>
                </a:rPr>
                <a:t>Split</a:t>
              </a:r>
              <a:endParaRPr/>
            </a:p>
            <a:p>
              <a:pPr indent="0" lvl="0" marL="0" marR="0" rtl="0" algn="ctr">
                <a:lnSpc>
                  <a:spcPct val="80000"/>
                </a:lnSpc>
                <a:spcBef>
                  <a:spcPts val="0"/>
                </a:spcBef>
                <a:spcAft>
                  <a:spcPts val="0"/>
                </a:spcAft>
                <a:buNone/>
              </a:pPr>
              <a:r>
                <a:rPr b="1" lang="en-US" sz="1600">
                  <a:solidFill>
                    <a:schemeClr val="dk1"/>
                  </a:solidFill>
                  <a:latin typeface="Times New Roman"/>
                  <a:ea typeface="Times New Roman"/>
                  <a:cs typeface="Times New Roman"/>
                  <a:sym typeface="Times New Roman"/>
                </a:rPr>
                <a:t>or</a:t>
              </a:r>
              <a:endParaRPr/>
            </a:p>
            <a:p>
              <a:pPr indent="0" lvl="0" marL="0" marR="0" rtl="0" algn="ctr">
                <a:lnSpc>
                  <a:spcPct val="80000"/>
                </a:lnSpc>
                <a:spcBef>
                  <a:spcPts val="0"/>
                </a:spcBef>
                <a:spcAft>
                  <a:spcPts val="0"/>
                </a:spcAft>
                <a:buNone/>
              </a:pPr>
              <a:r>
                <a:rPr b="1" lang="en-US" sz="1600">
                  <a:solidFill>
                    <a:schemeClr val="dk1"/>
                  </a:solidFill>
                  <a:latin typeface="Times New Roman"/>
                  <a:ea typeface="Times New Roman"/>
                  <a:cs typeface="Times New Roman"/>
                  <a:sym typeface="Times New Roman"/>
                </a:rPr>
                <a:t>Merge</a:t>
              </a:r>
              <a:endParaRPr/>
            </a:p>
          </p:txBody>
        </p:sp>
        <p:sp>
          <p:nvSpPr>
            <p:cNvPr id="199" name="Google Shape;199;p9"/>
            <p:cNvSpPr txBox="1"/>
            <p:nvPr/>
          </p:nvSpPr>
          <p:spPr>
            <a:xfrm>
              <a:off x="6547030" y="4305826"/>
              <a:ext cx="2110074" cy="95395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Upright indicates a process split, inverted indicates a merge of processes.</a:t>
              </a:r>
              <a:endParaRPr/>
            </a:p>
          </p:txBody>
        </p:sp>
      </p:grpSp>
      <p:grpSp>
        <p:nvGrpSpPr>
          <p:cNvPr id="200" name="Google Shape;200;p9"/>
          <p:cNvGrpSpPr/>
          <p:nvPr/>
        </p:nvGrpSpPr>
        <p:grpSpPr>
          <a:xfrm>
            <a:off x="10289037" y="4459715"/>
            <a:ext cx="1844675" cy="1752036"/>
            <a:chOff x="9080948" y="1208426"/>
            <a:chExt cx="1844675" cy="1752372"/>
          </a:xfrm>
        </p:grpSpPr>
        <p:sp>
          <p:nvSpPr>
            <p:cNvPr id="201" name="Google Shape;201;p9"/>
            <p:cNvSpPr/>
            <p:nvPr/>
          </p:nvSpPr>
          <p:spPr>
            <a:xfrm>
              <a:off x="9399588" y="1208426"/>
              <a:ext cx="1098548" cy="937289"/>
            </a:xfrm>
            <a:prstGeom prst="flowChartOffpageConnector">
              <a:avLst/>
            </a:prstGeom>
            <a:solidFill>
              <a:srgbClr val="759FAB"/>
            </a:solidFill>
            <a:ln cap="flat" cmpd="sng" w="9525">
              <a:solidFill>
                <a:srgbClr val="FFFFFF"/>
              </a:solidFill>
              <a:prstDash val="solid"/>
              <a:miter lim="800000"/>
              <a:headEnd len="sm" w="sm" type="none"/>
              <a:tailEnd len="sm" w="sm" type="none"/>
            </a:ln>
            <a:effectLst>
              <a:outerShdw blurRad="41275" rotWithShape="0" dir="5400000" dist="25400">
                <a:srgbClr val="68686D">
                  <a:alpha val="3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202" name="Google Shape;202;p9"/>
            <p:cNvSpPr txBox="1"/>
            <p:nvPr/>
          </p:nvSpPr>
          <p:spPr>
            <a:xfrm>
              <a:off x="9399588" y="1387767"/>
              <a:ext cx="1130300" cy="5848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Off Page</a:t>
              </a:r>
              <a:br>
                <a:rPr b="1" lang="en-US" sz="1600">
                  <a:solidFill>
                    <a:schemeClr val="dk1"/>
                  </a:solidFill>
                  <a:latin typeface="Times New Roman"/>
                  <a:ea typeface="Times New Roman"/>
                  <a:cs typeface="Times New Roman"/>
                  <a:sym typeface="Times New Roman"/>
                </a:rPr>
              </a:br>
              <a:r>
                <a:rPr b="1" lang="en-US" sz="1600">
                  <a:solidFill>
                    <a:schemeClr val="dk1"/>
                  </a:solidFill>
                  <a:latin typeface="Times New Roman"/>
                  <a:ea typeface="Times New Roman"/>
                  <a:cs typeface="Times New Roman"/>
                  <a:sym typeface="Times New Roman"/>
                </a:rPr>
                <a:t>Connector</a:t>
              </a:r>
              <a:endParaRPr/>
            </a:p>
          </p:txBody>
        </p:sp>
        <p:sp>
          <p:nvSpPr>
            <p:cNvPr id="203" name="Google Shape;203;p9"/>
            <p:cNvSpPr txBox="1"/>
            <p:nvPr/>
          </p:nvSpPr>
          <p:spPr>
            <a:xfrm>
              <a:off x="9080948" y="2221992"/>
              <a:ext cx="1844675" cy="73880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Connector used to connect one page of a flowchart to another.</a:t>
              </a:r>
              <a:endParaRPr/>
            </a:p>
          </p:txBody>
        </p:sp>
      </p:grpSp>
      <p:grpSp>
        <p:nvGrpSpPr>
          <p:cNvPr id="204" name="Google Shape;204;p9"/>
          <p:cNvGrpSpPr/>
          <p:nvPr/>
        </p:nvGrpSpPr>
        <p:grpSpPr>
          <a:xfrm>
            <a:off x="10271125" y="2382536"/>
            <a:ext cx="1692275" cy="1797111"/>
            <a:chOff x="3742635" y="5038901"/>
            <a:chExt cx="1691432" cy="1798355"/>
          </a:xfrm>
        </p:grpSpPr>
        <p:sp>
          <p:nvSpPr>
            <p:cNvPr id="205" name="Google Shape;205;p9"/>
            <p:cNvSpPr/>
            <p:nvPr/>
          </p:nvSpPr>
          <p:spPr>
            <a:xfrm>
              <a:off x="4136493" y="5038901"/>
              <a:ext cx="1040527" cy="1046471"/>
            </a:xfrm>
            <a:prstGeom prst="flowChartConnector">
              <a:avLst/>
            </a:prstGeom>
            <a:solidFill>
              <a:srgbClr val="E8A26C"/>
            </a:solidFill>
            <a:ln cap="flat" cmpd="sng" w="9525">
              <a:solidFill>
                <a:srgbClr val="FFFFFF"/>
              </a:solidFill>
              <a:prstDash val="solid"/>
              <a:round/>
              <a:headEnd len="sm" w="sm" type="none"/>
              <a:tailEnd len="sm" w="sm" type="none"/>
            </a:ln>
            <a:effectLst>
              <a:outerShdw blurRad="41275" rotWithShape="0" algn="tl" dir="5400000" dist="25400">
                <a:srgbClr val="68686D">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206" name="Google Shape;206;p9"/>
            <p:cNvSpPr txBox="1"/>
            <p:nvPr/>
          </p:nvSpPr>
          <p:spPr>
            <a:xfrm>
              <a:off x="4053109" y="5429282"/>
              <a:ext cx="1177338" cy="3387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Connector</a:t>
              </a:r>
              <a:endParaRPr/>
            </a:p>
          </p:txBody>
        </p:sp>
        <p:sp>
          <p:nvSpPr>
            <p:cNvPr id="207" name="Google Shape;207;p9"/>
            <p:cNvSpPr txBox="1"/>
            <p:nvPr/>
          </p:nvSpPr>
          <p:spPr>
            <a:xfrm>
              <a:off x="3742635" y="6098081"/>
              <a:ext cx="1691432" cy="7391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Used to connect one part of a flowchart to another.</a:t>
              </a:r>
              <a:endParaRPr/>
            </a:p>
          </p:txBody>
        </p:sp>
      </p:grpSp>
      <p:grpSp>
        <p:nvGrpSpPr>
          <p:cNvPr id="208" name="Google Shape;208;p9"/>
          <p:cNvGrpSpPr/>
          <p:nvPr/>
        </p:nvGrpSpPr>
        <p:grpSpPr>
          <a:xfrm>
            <a:off x="8403070" y="2284093"/>
            <a:ext cx="1725368" cy="1854737"/>
            <a:chOff x="1574975" y="2793834"/>
            <a:chExt cx="1725175" cy="1854543"/>
          </a:xfrm>
        </p:grpSpPr>
        <p:sp>
          <p:nvSpPr>
            <p:cNvPr id="209" name="Google Shape;209;p9"/>
            <p:cNvSpPr/>
            <p:nvPr/>
          </p:nvSpPr>
          <p:spPr>
            <a:xfrm>
              <a:off x="1887979" y="2793834"/>
              <a:ext cx="1258361" cy="1342490"/>
            </a:xfrm>
            <a:prstGeom prst="flowChartDecision">
              <a:avLst/>
            </a:prstGeom>
            <a:solidFill>
              <a:srgbClr val="C25552"/>
            </a:solidFill>
            <a:ln cap="flat" cmpd="sng" w="9525">
              <a:solidFill>
                <a:srgbClr val="FFFFFF"/>
              </a:solidFill>
              <a:prstDash val="solid"/>
              <a:miter lim="800000"/>
              <a:headEnd len="sm" w="sm" type="none"/>
              <a:tailEnd len="sm" w="sm" type="none"/>
            </a:ln>
            <a:effectLst>
              <a:outerShdw blurRad="41275" rotWithShape="0" algn="tl" dir="5400000" dist="25400">
                <a:srgbClr val="68686D">
                  <a:alpha val="34901"/>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210" name="Google Shape;210;p9"/>
            <p:cNvSpPr txBox="1"/>
            <p:nvPr/>
          </p:nvSpPr>
          <p:spPr>
            <a:xfrm>
              <a:off x="1857175" y="3321247"/>
              <a:ext cx="1390495" cy="33851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Decision</a:t>
              </a:r>
              <a:endParaRPr/>
            </a:p>
          </p:txBody>
        </p:sp>
        <p:sp>
          <p:nvSpPr>
            <p:cNvPr id="211" name="Google Shape;211;p9"/>
            <p:cNvSpPr txBox="1"/>
            <p:nvPr/>
          </p:nvSpPr>
          <p:spPr>
            <a:xfrm>
              <a:off x="1574975" y="4125212"/>
              <a:ext cx="1725175" cy="5231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Decision point in a process or workflow.</a:t>
              </a:r>
              <a:endParaRPr/>
            </a:p>
          </p:txBody>
        </p:sp>
      </p:grpSp>
      <p:grpSp>
        <p:nvGrpSpPr>
          <p:cNvPr id="212" name="Google Shape;212;p9"/>
          <p:cNvGrpSpPr/>
          <p:nvPr/>
        </p:nvGrpSpPr>
        <p:grpSpPr>
          <a:xfrm>
            <a:off x="6134879" y="4295829"/>
            <a:ext cx="2164995" cy="1391235"/>
            <a:chOff x="6651882" y="1326868"/>
            <a:chExt cx="2318964" cy="1345625"/>
          </a:xfrm>
        </p:grpSpPr>
        <p:sp>
          <p:nvSpPr>
            <p:cNvPr id="213" name="Google Shape;213;p9"/>
            <p:cNvSpPr/>
            <p:nvPr/>
          </p:nvSpPr>
          <p:spPr>
            <a:xfrm>
              <a:off x="6918140" y="1326868"/>
              <a:ext cx="1998475" cy="776744"/>
            </a:xfrm>
            <a:prstGeom prst="flowChartInputOutput">
              <a:avLst/>
            </a:prstGeom>
            <a:solidFill>
              <a:srgbClr val="78C9BA"/>
            </a:solidFill>
            <a:ln cap="flat" cmpd="sng" w="9525">
              <a:solidFill>
                <a:srgbClr val="FFFFFF"/>
              </a:solidFill>
              <a:prstDash val="solid"/>
              <a:miter lim="800000"/>
              <a:headEnd len="sm" w="sm" type="none"/>
              <a:tailEnd len="sm" w="sm" type="none"/>
            </a:ln>
            <a:effectLst>
              <a:outerShdw blurRad="41275" rotWithShape="0" dir="5400000" dist="25400">
                <a:srgbClr val="68686D">
                  <a:alpha val="3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214" name="Google Shape;214;p9"/>
            <p:cNvSpPr txBox="1"/>
            <p:nvPr/>
          </p:nvSpPr>
          <p:spPr>
            <a:xfrm>
              <a:off x="7108252" y="1589831"/>
              <a:ext cx="1581978" cy="33875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Input / Output</a:t>
              </a:r>
              <a:endParaRPr/>
            </a:p>
          </p:txBody>
        </p:sp>
        <p:sp>
          <p:nvSpPr>
            <p:cNvPr id="215" name="Google Shape;215;p9"/>
            <p:cNvSpPr txBox="1"/>
            <p:nvPr/>
          </p:nvSpPr>
          <p:spPr>
            <a:xfrm>
              <a:off x="6651882" y="2166426"/>
              <a:ext cx="2318964" cy="50606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Data: Inputs to, and outputs from, a process.</a:t>
              </a:r>
              <a:endParaRPr/>
            </a:p>
          </p:txBody>
        </p:sp>
      </p:grpSp>
      <p:grpSp>
        <p:nvGrpSpPr>
          <p:cNvPr id="216" name="Google Shape;216;p9"/>
          <p:cNvGrpSpPr/>
          <p:nvPr/>
        </p:nvGrpSpPr>
        <p:grpSpPr>
          <a:xfrm>
            <a:off x="8722957" y="4391120"/>
            <a:ext cx="1276350" cy="1655720"/>
            <a:chOff x="6935722" y="4912799"/>
            <a:chExt cx="1276538" cy="1655419"/>
          </a:xfrm>
        </p:grpSpPr>
        <p:sp>
          <p:nvSpPr>
            <p:cNvPr id="217" name="Google Shape;217;p9"/>
            <p:cNvSpPr/>
            <p:nvPr/>
          </p:nvSpPr>
          <p:spPr>
            <a:xfrm>
              <a:off x="6985874" y="4912799"/>
              <a:ext cx="1118919" cy="1126196"/>
            </a:xfrm>
            <a:prstGeom prst="flowChartDocument">
              <a:avLst/>
            </a:prstGeom>
            <a:solidFill>
              <a:srgbClr val="99BA82"/>
            </a:solidFill>
            <a:ln cap="flat" cmpd="sng" w="9525">
              <a:solidFill>
                <a:srgbClr val="FFFFFF"/>
              </a:solidFill>
              <a:prstDash val="solid"/>
              <a:miter lim="800000"/>
              <a:headEnd len="sm" w="sm" type="none"/>
              <a:tailEnd len="sm" w="sm" type="none"/>
            </a:ln>
            <a:effectLst>
              <a:outerShdw blurRad="41275" rotWithShape="0" dir="5400000" dist="25400">
                <a:srgbClr val="68686D">
                  <a:alpha val="3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218" name="Google Shape;218;p9"/>
            <p:cNvSpPr txBox="1"/>
            <p:nvPr/>
          </p:nvSpPr>
          <p:spPr>
            <a:xfrm>
              <a:off x="6950509" y="5264437"/>
              <a:ext cx="1154283" cy="3384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Document</a:t>
              </a:r>
              <a:endParaRPr/>
            </a:p>
          </p:txBody>
        </p:sp>
        <p:sp>
          <p:nvSpPr>
            <p:cNvPr id="219" name="Google Shape;219;p9"/>
            <p:cNvSpPr txBox="1"/>
            <p:nvPr/>
          </p:nvSpPr>
          <p:spPr>
            <a:xfrm>
              <a:off x="6935722" y="6045093"/>
              <a:ext cx="1276538" cy="52312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Document or report.</a:t>
              </a:r>
              <a:endParaRPr/>
            </a:p>
          </p:txBody>
        </p:sp>
      </p:grpSp>
      <p:grpSp>
        <p:nvGrpSpPr>
          <p:cNvPr id="220" name="Google Shape;220;p9"/>
          <p:cNvGrpSpPr/>
          <p:nvPr/>
        </p:nvGrpSpPr>
        <p:grpSpPr>
          <a:xfrm>
            <a:off x="10391879" y="381002"/>
            <a:ext cx="1600096" cy="1875533"/>
            <a:chOff x="6325519" y="4876241"/>
            <a:chExt cx="1758942" cy="1802768"/>
          </a:xfrm>
        </p:grpSpPr>
        <p:sp>
          <p:nvSpPr>
            <p:cNvPr id="221" name="Google Shape;221;p9"/>
            <p:cNvSpPr/>
            <p:nvPr/>
          </p:nvSpPr>
          <p:spPr>
            <a:xfrm>
              <a:off x="6325519" y="4876241"/>
              <a:ext cx="1473194" cy="850751"/>
            </a:xfrm>
            <a:prstGeom prst="flowChartManualInput">
              <a:avLst/>
            </a:prstGeom>
            <a:solidFill>
              <a:srgbClr val="78C9BA"/>
            </a:solidFill>
            <a:ln cap="flat" cmpd="sng" w="9525">
              <a:solidFill>
                <a:srgbClr val="FFFFFF"/>
              </a:solidFill>
              <a:prstDash val="solid"/>
              <a:miter lim="800000"/>
              <a:headEnd len="sm" w="sm" type="none"/>
              <a:tailEnd len="sm" w="sm" type="none"/>
            </a:ln>
            <a:effectLst>
              <a:outerShdw blurRad="41275" rotWithShape="0" dir="5400000" dist="25400">
                <a:srgbClr val="68686D">
                  <a:alpha val="3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222" name="Google Shape;222;p9"/>
            <p:cNvSpPr txBox="1"/>
            <p:nvPr/>
          </p:nvSpPr>
          <p:spPr>
            <a:xfrm>
              <a:off x="6524626" y="5162115"/>
              <a:ext cx="1074979" cy="5620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Times New Roman"/>
                  <a:ea typeface="Times New Roman"/>
                  <a:cs typeface="Times New Roman"/>
                  <a:sym typeface="Times New Roman"/>
                </a:rPr>
                <a:t>Manual</a:t>
              </a:r>
              <a:br>
                <a:rPr b="1" lang="en-US" sz="1600">
                  <a:solidFill>
                    <a:schemeClr val="dk1"/>
                  </a:solidFill>
                  <a:latin typeface="Times New Roman"/>
                  <a:ea typeface="Times New Roman"/>
                  <a:cs typeface="Times New Roman"/>
                  <a:sym typeface="Times New Roman"/>
                </a:rPr>
              </a:br>
              <a:r>
                <a:rPr b="1" lang="en-US" sz="1600">
                  <a:solidFill>
                    <a:schemeClr val="dk1"/>
                  </a:solidFill>
                  <a:latin typeface="Times New Roman"/>
                  <a:ea typeface="Times New Roman"/>
                  <a:cs typeface="Times New Roman"/>
                  <a:sym typeface="Times New Roman"/>
                </a:rPr>
                <a:t>Input</a:t>
              </a:r>
              <a:endParaRPr/>
            </a:p>
          </p:txBody>
        </p:sp>
        <p:sp>
          <p:nvSpPr>
            <p:cNvPr id="223" name="Google Shape;223;p9"/>
            <p:cNvSpPr txBox="1"/>
            <p:nvPr/>
          </p:nvSpPr>
          <p:spPr>
            <a:xfrm>
              <a:off x="6325519" y="5761918"/>
              <a:ext cx="1758942" cy="91709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Prompt for information, manually entered into a system.</a:t>
              </a:r>
              <a:endParaRPr/>
            </a:p>
          </p:txBody>
        </p:sp>
      </p:grpSp>
      <p:sp>
        <p:nvSpPr>
          <p:cNvPr id="224" name="Google Shape;224;p9"/>
          <p:cNvSpPr txBox="1"/>
          <p:nvPr/>
        </p:nvSpPr>
        <p:spPr>
          <a:xfrm>
            <a:off x="404044" y="838200"/>
            <a:ext cx="5803770" cy="4385597"/>
          </a:xfrm>
          <a:prstGeom prst="rect">
            <a:avLst/>
          </a:prstGeom>
          <a:noFill/>
          <a:ln>
            <a:noFill/>
          </a:ln>
        </p:spPr>
        <p:txBody>
          <a:bodyPr anchorCtr="0" anchor="t" bIns="45700" lIns="91425" spcFirstLastPara="1" rIns="91425" wrap="square" tIns="45700">
            <a:noAutofit/>
          </a:bodyPr>
          <a:lstStyle/>
          <a:p>
            <a:pPr indent="-228600" lvl="0" marL="228600" marR="0" rtl="0" algn="just">
              <a:lnSpc>
                <a:spcPct val="100000"/>
              </a:lnSpc>
              <a:spcBef>
                <a:spcPts val="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Rounded box</a:t>
            </a:r>
            <a:r>
              <a:rPr lang="en-US" sz="2400">
                <a:solidFill>
                  <a:schemeClr val="dk1"/>
                </a:solidFill>
                <a:latin typeface="Times New Roman"/>
                <a:ea typeface="Times New Roman"/>
                <a:cs typeface="Times New Roman"/>
                <a:sym typeface="Times New Roman"/>
              </a:rPr>
              <a:t>: use it to represent an event which occurs automatically. </a:t>
            </a:r>
            <a:endParaRPr/>
          </a:p>
          <a:p>
            <a:pPr indent="-228600" lvl="0" marL="228600" marR="0" rtl="0" algn="just">
              <a:lnSpc>
                <a:spcPct val="100000"/>
              </a:lnSpc>
              <a:spcBef>
                <a:spcPts val="60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Rectangle or box: </a:t>
            </a:r>
            <a:r>
              <a:rPr lang="en-US" sz="2400">
                <a:solidFill>
                  <a:schemeClr val="dk1"/>
                </a:solidFill>
                <a:latin typeface="Times New Roman"/>
                <a:ea typeface="Times New Roman"/>
                <a:cs typeface="Times New Roman"/>
                <a:sym typeface="Times New Roman"/>
              </a:rPr>
              <a:t>use it to represent an event which is controlled within the process. Typically this will be a step or action which is taken. </a:t>
            </a:r>
            <a:endParaRPr/>
          </a:p>
          <a:p>
            <a:pPr indent="-228600" lvl="0" marL="228600" marR="0" rtl="0" algn="just">
              <a:lnSpc>
                <a:spcPct val="100000"/>
              </a:lnSpc>
              <a:spcBef>
                <a:spcPts val="60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Diamond: </a:t>
            </a:r>
            <a:r>
              <a:rPr lang="en-US" sz="2400">
                <a:solidFill>
                  <a:schemeClr val="dk1"/>
                </a:solidFill>
                <a:latin typeface="Times New Roman"/>
                <a:ea typeface="Times New Roman"/>
                <a:cs typeface="Times New Roman"/>
                <a:sym typeface="Times New Roman"/>
              </a:rPr>
              <a:t>use it to represent a decision point in the process. </a:t>
            </a:r>
            <a:endParaRPr/>
          </a:p>
          <a:p>
            <a:pPr indent="-228600" lvl="0" marL="228600" marR="0" rtl="0" algn="just">
              <a:lnSpc>
                <a:spcPct val="100000"/>
              </a:lnSpc>
              <a:spcBef>
                <a:spcPts val="600"/>
              </a:spcBef>
              <a:spcAft>
                <a:spcPts val="0"/>
              </a:spcAft>
              <a:buClr>
                <a:schemeClr val="dk1"/>
              </a:buClr>
              <a:buSzPts val="2400"/>
              <a:buFont typeface="Arial"/>
              <a:buChar char="•"/>
            </a:pPr>
            <a:r>
              <a:rPr b="1" lang="en-US" sz="2400">
                <a:solidFill>
                  <a:schemeClr val="dk1"/>
                </a:solidFill>
                <a:latin typeface="Times New Roman"/>
                <a:ea typeface="Times New Roman"/>
                <a:cs typeface="Times New Roman"/>
                <a:sym typeface="Times New Roman"/>
              </a:rPr>
              <a:t>Circle: </a:t>
            </a:r>
            <a:r>
              <a:rPr lang="en-US" sz="2400">
                <a:solidFill>
                  <a:schemeClr val="dk1"/>
                </a:solidFill>
                <a:latin typeface="Times New Roman"/>
                <a:ea typeface="Times New Roman"/>
                <a:cs typeface="Times New Roman"/>
                <a:sym typeface="Times New Roman"/>
              </a:rPr>
              <a:t>use it to represent a point at which the flowchart connects with another process. </a:t>
            </a:r>
            <a:endParaRPr/>
          </a:p>
        </p:txBody>
      </p:sp>
      <p:sp>
        <p:nvSpPr>
          <p:cNvPr id="225" name="Google Shape;225;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0"/>
          <p:cNvSpPr/>
          <p:nvPr/>
        </p:nvSpPr>
        <p:spPr>
          <a:xfrm>
            <a:off x="2390633" y="152400"/>
            <a:ext cx="1276311" cy="461665"/>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Example</a:t>
            </a:r>
            <a:endParaRPr sz="2400">
              <a:solidFill>
                <a:srgbClr val="FF0000"/>
              </a:solidFill>
              <a:latin typeface="Times New Roman"/>
              <a:ea typeface="Times New Roman"/>
              <a:cs typeface="Times New Roman"/>
              <a:sym typeface="Times New Roman"/>
            </a:endParaRPr>
          </a:p>
        </p:txBody>
      </p:sp>
      <p:sp>
        <p:nvSpPr>
          <p:cNvPr id="231" name="Google Shape;231;p10"/>
          <p:cNvSpPr txBox="1"/>
          <p:nvPr/>
        </p:nvSpPr>
        <p:spPr>
          <a:xfrm>
            <a:off x="390525" y="158750"/>
            <a:ext cx="1971675" cy="45085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Flowchart</a:t>
            </a:r>
            <a:endParaRPr b="1" sz="3000">
              <a:solidFill>
                <a:srgbClr val="002060"/>
              </a:solidFill>
              <a:latin typeface="Times New Roman"/>
              <a:ea typeface="Times New Roman"/>
              <a:cs typeface="Times New Roman"/>
              <a:sym typeface="Times New Roman"/>
            </a:endParaRPr>
          </a:p>
        </p:txBody>
      </p:sp>
      <p:sp>
        <p:nvSpPr>
          <p:cNvPr id="232" name="Google Shape;232;p10"/>
          <p:cNvSpPr/>
          <p:nvPr/>
        </p:nvSpPr>
        <p:spPr>
          <a:xfrm>
            <a:off x="587512" y="2438400"/>
            <a:ext cx="1824730" cy="400110"/>
          </a:xfrm>
          <a:prstGeom prst="rect">
            <a:avLst/>
          </a:prstGeom>
          <a:noFill/>
          <a:ln cap="flat" cmpd="sng" w="19050">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Brewing Coffee</a:t>
            </a:r>
            <a:endParaRPr/>
          </a:p>
        </p:txBody>
      </p:sp>
      <p:cxnSp>
        <p:nvCxnSpPr>
          <p:cNvPr id="233" name="Google Shape;233;p10"/>
          <p:cNvCxnSpPr/>
          <p:nvPr/>
        </p:nvCxnSpPr>
        <p:spPr>
          <a:xfrm>
            <a:off x="5538566" y="1125597"/>
            <a:ext cx="0" cy="610732"/>
          </a:xfrm>
          <a:prstGeom prst="straightConnector1">
            <a:avLst/>
          </a:prstGeom>
          <a:noFill/>
          <a:ln cap="flat" cmpd="sng" w="12700">
            <a:solidFill>
              <a:srgbClr val="FF0000"/>
            </a:solidFill>
            <a:prstDash val="solid"/>
            <a:miter lim="800000"/>
            <a:headEnd len="sm" w="sm" type="none"/>
            <a:tailEnd len="med" w="med" type="triangle"/>
          </a:ln>
        </p:spPr>
      </p:cxnSp>
      <p:cxnSp>
        <p:nvCxnSpPr>
          <p:cNvPr id="234" name="Google Shape;234;p10"/>
          <p:cNvCxnSpPr>
            <a:stCxn id="235" idx="1"/>
            <a:endCxn id="236" idx="3"/>
          </p:cNvCxnSpPr>
          <p:nvPr/>
        </p:nvCxnSpPr>
        <p:spPr>
          <a:xfrm flipH="1">
            <a:off x="5353088" y="4959407"/>
            <a:ext cx="673500" cy="900"/>
          </a:xfrm>
          <a:prstGeom prst="straightConnector1">
            <a:avLst/>
          </a:prstGeom>
          <a:noFill/>
          <a:ln cap="flat" cmpd="sng" w="12700">
            <a:solidFill>
              <a:srgbClr val="FF0000"/>
            </a:solidFill>
            <a:prstDash val="solid"/>
            <a:miter lim="800000"/>
            <a:headEnd len="sm" w="sm" type="none"/>
            <a:tailEnd len="med" w="med" type="triangle"/>
          </a:ln>
        </p:spPr>
      </p:cxnSp>
      <p:grpSp>
        <p:nvGrpSpPr>
          <p:cNvPr id="237" name="Google Shape;237;p10"/>
          <p:cNvGrpSpPr/>
          <p:nvPr/>
        </p:nvGrpSpPr>
        <p:grpSpPr>
          <a:xfrm>
            <a:off x="4009231" y="524314"/>
            <a:ext cx="3525519" cy="657232"/>
            <a:chOff x="4009231" y="524314"/>
            <a:chExt cx="3525519" cy="657232"/>
          </a:xfrm>
        </p:grpSpPr>
        <p:cxnSp>
          <p:nvCxnSpPr>
            <p:cNvPr id="238" name="Google Shape;238;p10"/>
            <p:cNvCxnSpPr/>
            <p:nvPr/>
          </p:nvCxnSpPr>
          <p:spPr>
            <a:xfrm>
              <a:off x="5150645" y="862385"/>
              <a:ext cx="360363" cy="0"/>
            </a:xfrm>
            <a:prstGeom prst="straightConnector1">
              <a:avLst/>
            </a:prstGeom>
            <a:noFill/>
            <a:ln cap="flat" cmpd="sng" w="12700">
              <a:solidFill>
                <a:srgbClr val="FF0000"/>
              </a:solidFill>
              <a:prstDash val="solid"/>
              <a:miter lim="800000"/>
              <a:headEnd len="sm" w="sm" type="none"/>
              <a:tailEnd len="med" w="med" type="triangle"/>
            </a:ln>
          </p:spPr>
        </p:cxnSp>
        <p:grpSp>
          <p:nvGrpSpPr>
            <p:cNvPr id="239" name="Google Shape;239;p10"/>
            <p:cNvGrpSpPr/>
            <p:nvPr/>
          </p:nvGrpSpPr>
          <p:grpSpPr>
            <a:xfrm>
              <a:off x="4009231" y="590994"/>
              <a:ext cx="1155118" cy="590552"/>
              <a:chOff x="1196889" y="1589088"/>
              <a:chExt cx="1166081" cy="568325"/>
            </a:xfrm>
          </p:grpSpPr>
          <p:sp>
            <p:nvSpPr>
              <p:cNvPr id="240" name="Google Shape;240;p10"/>
              <p:cNvSpPr/>
              <p:nvPr/>
            </p:nvSpPr>
            <p:spPr>
              <a:xfrm>
                <a:off x="1210723" y="1589088"/>
                <a:ext cx="1152247" cy="568325"/>
              </a:xfrm>
              <a:prstGeom prst="flowChartTerminator">
                <a:avLst/>
              </a:prstGeom>
              <a:solidFill>
                <a:srgbClr val="99BA82"/>
              </a:solidFill>
              <a:ln cap="flat" cmpd="sng" w="9525">
                <a:solidFill>
                  <a:srgbClr val="FFFFFF"/>
                </a:solidFill>
                <a:prstDash val="solid"/>
                <a:miter lim="800000"/>
                <a:headEnd len="sm" w="sm" type="none"/>
                <a:tailEnd len="sm" w="sm" type="none"/>
              </a:ln>
              <a:effectLst>
                <a:outerShdw blurRad="41275" rotWithShape="0" algn="tl" dir="5400000" dist="25400">
                  <a:srgbClr val="68686D">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rgbClr val="3A3838"/>
                  </a:solidFill>
                  <a:latin typeface="Times New Roman"/>
                  <a:ea typeface="Times New Roman"/>
                  <a:cs typeface="Times New Roman"/>
                  <a:sym typeface="Times New Roman"/>
                </a:endParaRPr>
              </a:p>
            </p:txBody>
          </p:sp>
          <p:sp>
            <p:nvSpPr>
              <p:cNvPr id="241" name="Google Shape;241;p10"/>
              <p:cNvSpPr txBox="1"/>
              <p:nvPr/>
            </p:nvSpPr>
            <p:spPr>
              <a:xfrm>
                <a:off x="1196889" y="1700749"/>
                <a:ext cx="1152247" cy="3258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Times New Roman"/>
                    <a:ea typeface="Times New Roman"/>
                    <a:cs typeface="Times New Roman"/>
                    <a:sym typeface="Times New Roman"/>
                  </a:rPr>
                  <a:t>Start</a:t>
                </a:r>
                <a:endParaRPr/>
              </a:p>
            </p:txBody>
          </p:sp>
        </p:grpSp>
        <p:grpSp>
          <p:nvGrpSpPr>
            <p:cNvPr id="242" name="Google Shape;242;p10"/>
            <p:cNvGrpSpPr/>
            <p:nvPr/>
          </p:nvGrpSpPr>
          <p:grpSpPr>
            <a:xfrm>
              <a:off x="5508622" y="524314"/>
              <a:ext cx="1460280" cy="601283"/>
              <a:chOff x="2815950" y="3195159"/>
              <a:chExt cx="1575942" cy="564041"/>
            </a:xfrm>
          </p:grpSpPr>
          <p:sp>
            <p:nvSpPr>
              <p:cNvPr id="243" name="Google Shape;243;p10"/>
              <p:cNvSpPr/>
              <p:nvPr/>
            </p:nvSpPr>
            <p:spPr>
              <a:xfrm>
                <a:off x="2815950" y="3195159"/>
                <a:ext cx="1543627" cy="564041"/>
              </a:xfrm>
              <a:prstGeom prst="flowChartProcess">
                <a:avLst/>
              </a:prstGeom>
              <a:solidFill>
                <a:srgbClr val="759FAB"/>
              </a:solidFill>
              <a:ln cap="flat" cmpd="sng" w="9525">
                <a:solidFill>
                  <a:srgbClr val="FFFFFF"/>
                </a:solidFill>
                <a:prstDash val="solid"/>
                <a:miter lim="800000"/>
                <a:headEnd len="sm" w="sm" type="none"/>
                <a:tailEnd len="sm" w="sm" type="none"/>
              </a:ln>
              <a:effectLst>
                <a:outerShdw blurRad="41275" rotWithShape="0" algn="tl" dir="5400000" dist="25400">
                  <a:srgbClr val="68686D">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244" name="Google Shape;244;p10"/>
              <p:cNvSpPr txBox="1"/>
              <p:nvPr/>
            </p:nvSpPr>
            <p:spPr>
              <a:xfrm>
                <a:off x="2848266" y="3335689"/>
                <a:ext cx="1543626" cy="31758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Times New Roman"/>
                    <a:ea typeface="Times New Roman"/>
                    <a:cs typeface="Times New Roman"/>
                    <a:sym typeface="Times New Roman"/>
                  </a:rPr>
                  <a:t>Grind Beans</a:t>
                </a:r>
                <a:endParaRPr/>
              </a:p>
            </p:txBody>
          </p:sp>
        </p:grpSp>
        <p:sp>
          <p:nvSpPr>
            <p:cNvPr id="245" name="Google Shape;245;p10"/>
            <p:cNvSpPr/>
            <p:nvPr/>
          </p:nvSpPr>
          <p:spPr>
            <a:xfrm>
              <a:off x="6936124" y="709327"/>
              <a:ext cx="59862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BFBFBF"/>
                  </a:solidFill>
                  <a:latin typeface="Times New Roman"/>
                  <a:ea typeface="Times New Roman"/>
                  <a:cs typeface="Times New Roman"/>
                  <a:sym typeface="Times New Roman"/>
                </a:rPr>
                <a:t>Task</a:t>
              </a:r>
              <a:endParaRPr/>
            </a:p>
          </p:txBody>
        </p:sp>
      </p:grpSp>
      <p:sp>
        <p:nvSpPr>
          <p:cNvPr id="246" name="Google Shape;246;p10"/>
          <p:cNvSpPr/>
          <p:nvPr/>
        </p:nvSpPr>
        <p:spPr>
          <a:xfrm rot="5400000">
            <a:off x="5397504" y="2142131"/>
            <a:ext cx="173037" cy="261937"/>
          </a:xfrm>
          <a:prstGeom prst="homePlat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grpSp>
        <p:nvGrpSpPr>
          <p:cNvPr id="247" name="Google Shape;247;p10"/>
          <p:cNvGrpSpPr/>
          <p:nvPr/>
        </p:nvGrpSpPr>
        <p:grpSpPr>
          <a:xfrm>
            <a:off x="4153457" y="1719274"/>
            <a:ext cx="1539879" cy="1339054"/>
            <a:chOff x="4153457" y="1719274"/>
            <a:chExt cx="1539879" cy="1339054"/>
          </a:xfrm>
        </p:grpSpPr>
        <p:grpSp>
          <p:nvGrpSpPr>
            <p:cNvPr id="248" name="Google Shape;248;p10"/>
            <p:cNvGrpSpPr/>
            <p:nvPr/>
          </p:nvGrpSpPr>
          <p:grpSpPr>
            <a:xfrm>
              <a:off x="4153457" y="1719274"/>
              <a:ext cx="1539879" cy="894489"/>
              <a:chOff x="6049807" y="4823306"/>
              <a:chExt cx="965721" cy="966191"/>
            </a:xfrm>
          </p:grpSpPr>
          <p:sp>
            <p:nvSpPr>
              <p:cNvPr id="249" name="Google Shape;249;p10"/>
              <p:cNvSpPr/>
              <p:nvPr/>
            </p:nvSpPr>
            <p:spPr>
              <a:xfrm>
                <a:off x="6098595" y="4823306"/>
                <a:ext cx="877677" cy="966191"/>
              </a:xfrm>
              <a:prstGeom prst="flowChartDocument">
                <a:avLst/>
              </a:prstGeom>
              <a:solidFill>
                <a:srgbClr val="99BA82"/>
              </a:solidFill>
              <a:ln cap="flat" cmpd="sng" w="9525">
                <a:solidFill>
                  <a:srgbClr val="FFFFFF"/>
                </a:solidFill>
                <a:prstDash val="solid"/>
                <a:miter lim="800000"/>
                <a:headEnd len="sm" w="sm" type="none"/>
                <a:tailEnd len="sm" w="sm" type="none"/>
              </a:ln>
              <a:effectLst>
                <a:outerShdw blurRad="41275" rotWithShape="0" dir="5400000" dist="25400">
                  <a:srgbClr val="68686D">
                    <a:alpha val="3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250" name="Google Shape;250;p10"/>
              <p:cNvSpPr txBox="1"/>
              <p:nvPr/>
            </p:nvSpPr>
            <p:spPr>
              <a:xfrm>
                <a:off x="6049807" y="4913887"/>
                <a:ext cx="965721" cy="659184"/>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lang="en-US" sz="1600">
                    <a:solidFill>
                      <a:schemeClr val="lt1"/>
                    </a:solidFill>
                    <a:latin typeface="Times New Roman"/>
                    <a:ea typeface="Times New Roman"/>
                    <a:cs typeface="Times New Roman"/>
                    <a:sym typeface="Times New Roman"/>
                  </a:rPr>
                  <a:t>Read </a:t>
                </a:r>
                <a:br>
                  <a:rPr b="1" lang="en-US" sz="1600">
                    <a:solidFill>
                      <a:schemeClr val="lt1"/>
                    </a:solidFill>
                    <a:latin typeface="Times New Roman"/>
                    <a:ea typeface="Times New Roman"/>
                    <a:cs typeface="Times New Roman"/>
                    <a:sym typeface="Times New Roman"/>
                  </a:rPr>
                </a:br>
                <a:r>
                  <a:rPr b="1" lang="en-US" sz="1600">
                    <a:solidFill>
                      <a:schemeClr val="lt1"/>
                    </a:solidFill>
                    <a:latin typeface="Times New Roman"/>
                    <a:ea typeface="Times New Roman"/>
                    <a:cs typeface="Times New Roman"/>
                    <a:sym typeface="Times New Roman"/>
                  </a:rPr>
                  <a:t>Instructions</a:t>
                </a:r>
                <a:endParaRPr/>
              </a:p>
            </p:txBody>
          </p:sp>
        </p:grpSp>
        <p:sp>
          <p:nvSpPr>
            <p:cNvPr id="251" name="Google Shape;251;p10"/>
            <p:cNvSpPr/>
            <p:nvPr/>
          </p:nvSpPr>
          <p:spPr>
            <a:xfrm>
              <a:off x="4214907" y="2672529"/>
              <a:ext cx="1313391" cy="3857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A5A5A5"/>
                  </a:solidFill>
                  <a:latin typeface="Times New Roman"/>
                  <a:ea typeface="Times New Roman"/>
                  <a:cs typeface="Times New Roman"/>
                  <a:sym typeface="Times New Roman"/>
                </a:rPr>
                <a:t>Document</a:t>
              </a:r>
              <a:endParaRPr/>
            </a:p>
          </p:txBody>
        </p:sp>
      </p:grpSp>
      <p:grpSp>
        <p:nvGrpSpPr>
          <p:cNvPr id="252" name="Google Shape;252;p10"/>
          <p:cNvGrpSpPr/>
          <p:nvPr/>
        </p:nvGrpSpPr>
        <p:grpSpPr>
          <a:xfrm>
            <a:off x="4087170" y="4640259"/>
            <a:ext cx="1265884" cy="639903"/>
            <a:chOff x="1210724" y="1589088"/>
            <a:chExt cx="1152343" cy="568325"/>
          </a:xfrm>
        </p:grpSpPr>
        <p:sp>
          <p:nvSpPr>
            <p:cNvPr id="253" name="Google Shape;253;p10"/>
            <p:cNvSpPr/>
            <p:nvPr/>
          </p:nvSpPr>
          <p:spPr>
            <a:xfrm>
              <a:off x="1210724" y="1589088"/>
              <a:ext cx="1152343" cy="568325"/>
            </a:xfrm>
            <a:prstGeom prst="flowChartTerminator">
              <a:avLst/>
            </a:prstGeom>
            <a:solidFill>
              <a:srgbClr val="99BA82"/>
            </a:solidFill>
            <a:ln cap="flat" cmpd="sng" w="9525">
              <a:solidFill>
                <a:srgbClr val="FFFFFF"/>
              </a:solidFill>
              <a:prstDash val="solid"/>
              <a:miter lim="800000"/>
              <a:headEnd len="sm" w="sm" type="none"/>
              <a:tailEnd len="sm" w="sm" type="none"/>
            </a:ln>
            <a:effectLst>
              <a:outerShdw blurRad="41275" rotWithShape="0" algn="tl" dir="5400000" dist="25400">
                <a:srgbClr val="68686D">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rgbClr val="3A3838"/>
                </a:solidFill>
                <a:latin typeface="Times New Roman"/>
                <a:ea typeface="Times New Roman"/>
                <a:cs typeface="Times New Roman"/>
                <a:sym typeface="Times New Roman"/>
              </a:endParaRPr>
            </a:p>
          </p:txBody>
        </p:sp>
        <p:sp>
          <p:nvSpPr>
            <p:cNvPr id="236" name="Google Shape;236;p10"/>
            <p:cNvSpPr txBox="1"/>
            <p:nvPr/>
          </p:nvSpPr>
          <p:spPr>
            <a:xfrm>
              <a:off x="1210724" y="1722908"/>
              <a:ext cx="1152343" cy="30068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Times New Roman"/>
                  <a:ea typeface="Times New Roman"/>
                  <a:cs typeface="Times New Roman"/>
                  <a:sym typeface="Times New Roman"/>
                </a:rPr>
                <a:t>Finish</a:t>
              </a:r>
              <a:endParaRPr/>
            </a:p>
          </p:txBody>
        </p:sp>
      </p:grpSp>
      <p:grpSp>
        <p:nvGrpSpPr>
          <p:cNvPr id="254" name="Google Shape;254;p10"/>
          <p:cNvGrpSpPr/>
          <p:nvPr/>
        </p:nvGrpSpPr>
        <p:grpSpPr>
          <a:xfrm>
            <a:off x="6012357" y="4649021"/>
            <a:ext cx="1254663" cy="589111"/>
            <a:chOff x="2815951" y="3195159"/>
            <a:chExt cx="1241976" cy="564041"/>
          </a:xfrm>
        </p:grpSpPr>
        <p:sp>
          <p:nvSpPr>
            <p:cNvPr id="255" name="Google Shape;255;p10"/>
            <p:cNvSpPr/>
            <p:nvPr/>
          </p:nvSpPr>
          <p:spPr>
            <a:xfrm>
              <a:off x="2815951" y="3195159"/>
              <a:ext cx="1227889" cy="564041"/>
            </a:xfrm>
            <a:prstGeom prst="flowChartProcess">
              <a:avLst/>
            </a:prstGeom>
            <a:solidFill>
              <a:srgbClr val="759FAB"/>
            </a:solidFill>
            <a:ln cap="flat" cmpd="sng" w="9525">
              <a:solidFill>
                <a:srgbClr val="FFFFFF"/>
              </a:solidFill>
              <a:prstDash val="solid"/>
              <a:miter lim="800000"/>
              <a:headEnd len="sm" w="sm" type="none"/>
              <a:tailEnd len="sm" w="sm" type="none"/>
            </a:ln>
            <a:effectLst>
              <a:outerShdw blurRad="41275" rotWithShape="0" algn="tl" dir="5400000" dist="25400">
                <a:srgbClr val="68686D">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235" name="Google Shape;235;p10"/>
            <p:cNvSpPr txBox="1"/>
            <p:nvPr/>
          </p:nvSpPr>
          <p:spPr>
            <a:xfrm>
              <a:off x="2830038" y="3330263"/>
              <a:ext cx="1227889" cy="32414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Times New Roman"/>
                  <a:ea typeface="Times New Roman"/>
                  <a:cs typeface="Times New Roman"/>
                  <a:sym typeface="Times New Roman"/>
                </a:rPr>
                <a:t>Drink</a:t>
              </a:r>
              <a:endParaRPr/>
            </a:p>
          </p:txBody>
        </p:sp>
      </p:grpSp>
      <p:sp>
        <p:nvSpPr>
          <p:cNvPr id="256" name="Google Shape;256;p10"/>
          <p:cNvSpPr/>
          <p:nvPr/>
        </p:nvSpPr>
        <p:spPr>
          <a:xfrm>
            <a:off x="6307558" y="5223821"/>
            <a:ext cx="59862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BFBFBF"/>
                </a:solidFill>
                <a:latin typeface="Times New Roman"/>
                <a:ea typeface="Times New Roman"/>
                <a:cs typeface="Times New Roman"/>
                <a:sym typeface="Times New Roman"/>
              </a:rPr>
              <a:t>Task</a:t>
            </a:r>
            <a:endParaRPr/>
          </a:p>
        </p:txBody>
      </p:sp>
      <p:grpSp>
        <p:nvGrpSpPr>
          <p:cNvPr id="257" name="Google Shape;257;p10"/>
          <p:cNvGrpSpPr/>
          <p:nvPr/>
        </p:nvGrpSpPr>
        <p:grpSpPr>
          <a:xfrm>
            <a:off x="10140342" y="3118395"/>
            <a:ext cx="1694524" cy="1734601"/>
            <a:chOff x="10140342" y="3118395"/>
            <a:chExt cx="1694524" cy="1734601"/>
          </a:xfrm>
        </p:grpSpPr>
        <p:cxnSp>
          <p:nvCxnSpPr>
            <p:cNvPr id="258" name="Google Shape;258;p10"/>
            <p:cNvCxnSpPr>
              <a:stCxn id="259" idx="0"/>
            </p:cNvCxnSpPr>
            <p:nvPr/>
          </p:nvCxnSpPr>
          <p:spPr>
            <a:xfrm>
              <a:off x="10575621" y="3118395"/>
              <a:ext cx="3900" cy="661500"/>
            </a:xfrm>
            <a:prstGeom prst="straightConnector1">
              <a:avLst/>
            </a:prstGeom>
            <a:noFill/>
            <a:ln cap="flat" cmpd="sng" w="12700">
              <a:solidFill>
                <a:srgbClr val="FF0000"/>
              </a:solidFill>
              <a:prstDash val="solid"/>
              <a:miter lim="800000"/>
              <a:headEnd len="sm" w="sm" type="none"/>
              <a:tailEnd len="med" w="med" type="triangle"/>
            </a:ln>
          </p:spPr>
        </p:cxnSp>
        <p:grpSp>
          <p:nvGrpSpPr>
            <p:cNvPr id="260" name="Google Shape;260;p10"/>
            <p:cNvGrpSpPr/>
            <p:nvPr/>
          </p:nvGrpSpPr>
          <p:grpSpPr>
            <a:xfrm>
              <a:off x="10140342" y="3651831"/>
              <a:ext cx="1337818" cy="785020"/>
              <a:chOff x="4316407" y="3111455"/>
              <a:chExt cx="1231925" cy="695878"/>
            </a:xfrm>
          </p:grpSpPr>
          <p:sp>
            <p:nvSpPr>
              <p:cNvPr id="261" name="Google Shape;261;p10"/>
              <p:cNvSpPr/>
              <p:nvPr/>
            </p:nvSpPr>
            <p:spPr>
              <a:xfrm>
                <a:off x="4316407" y="3111455"/>
                <a:ext cx="1231925" cy="695878"/>
              </a:xfrm>
              <a:prstGeom prst="flowChartManualInput">
                <a:avLst/>
              </a:prstGeom>
              <a:solidFill>
                <a:srgbClr val="78C9BA"/>
              </a:solidFill>
              <a:ln cap="flat" cmpd="sng" w="9525">
                <a:solidFill>
                  <a:srgbClr val="FFFFFF"/>
                </a:solidFill>
                <a:prstDash val="solid"/>
                <a:miter lim="800000"/>
                <a:headEnd len="sm" w="sm" type="none"/>
                <a:tailEnd len="sm" w="sm" type="none"/>
              </a:ln>
              <a:effectLst>
                <a:outerShdw blurRad="41275" rotWithShape="0" dir="5400000" dist="25400">
                  <a:srgbClr val="68686D">
                    <a:alpha val="3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262" name="Google Shape;262;p10"/>
              <p:cNvSpPr txBox="1"/>
              <p:nvPr/>
            </p:nvSpPr>
            <p:spPr>
              <a:xfrm>
                <a:off x="4316407" y="3337865"/>
                <a:ext cx="1231925" cy="3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Times New Roman"/>
                    <a:ea typeface="Times New Roman"/>
                    <a:cs typeface="Times New Roman"/>
                    <a:sym typeface="Times New Roman"/>
                  </a:rPr>
                  <a:t>Pour</a:t>
                </a:r>
                <a:endParaRPr/>
              </a:p>
            </p:txBody>
          </p:sp>
        </p:grpSp>
        <p:sp>
          <p:nvSpPr>
            <p:cNvPr id="263" name="Google Shape;263;p10"/>
            <p:cNvSpPr/>
            <p:nvPr/>
          </p:nvSpPr>
          <p:spPr>
            <a:xfrm>
              <a:off x="10421089" y="4514442"/>
              <a:ext cx="141377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BFBFBF"/>
                  </a:solidFill>
                  <a:latin typeface="Times New Roman"/>
                  <a:ea typeface="Times New Roman"/>
                  <a:cs typeface="Times New Roman"/>
                  <a:sym typeface="Times New Roman"/>
                </a:rPr>
                <a:t>Manual Input</a:t>
              </a:r>
              <a:endParaRPr/>
            </a:p>
          </p:txBody>
        </p:sp>
      </p:grpSp>
      <p:grpSp>
        <p:nvGrpSpPr>
          <p:cNvPr id="264" name="Google Shape;264;p10"/>
          <p:cNvGrpSpPr/>
          <p:nvPr/>
        </p:nvGrpSpPr>
        <p:grpSpPr>
          <a:xfrm>
            <a:off x="8693420" y="3579069"/>
            <a:ext cx="1523445" cy="1346818"/>
            <a:chOff x="8693420" y="3579069"/>
            <a:chExt cx="1523445" cy="1346818"/>
          </a:xfrm>
        </p:grpSpPr>
        <p:grpSp>
          <p:nvGrpSpPr>
            <p:cNvPr id="265" name="Google Shape;265;p10"/>
            <p:cNvGrpSpPr/>
            <p:nvPr/>
          </p:nvGrpSpPr>
          <p:grpSpPr>
            <a:xfrm>
              <a:off x="8693420" y="3579069"/>
              <a:ext cx="1446922" cy="1046882"/>
              <a:chOff x="8685525" y="3552039"/>
              <a:chExt cx="1446922" cy="1046882"/>
            </a:xfrm>
          </p:grpSpPr>
          <p:cxnSp>
            <p:nvCxnSpPr>
              <p:cNvPr id="266" name="Google Shape;266;p10"/>
              <p:cNvCxnSpPr>
                <a:stCxn id="262" idx="1"/>
                <a:endCxn id="267" idx="3"/>
              </p:cNvCxnSpPr>
              <p:nvPr/>
            </p:nvCxnSpPr>
            <p:spPr>
              <a:xfrm flipH="1">
                <a:off x="9816247" y="4049491"/>
                <a:ext cx="316200" cy="26100"/>
              </a:xfrm>
              <a:prstGeom prst="straightConnector1">
                <a:avLst/>
              </a:prstGeom>
              <a:noFill/>
              <a:ln cap="flat" cmpd="sng" w="12700">
                <a:solidFill>
                  <a:srgbClr val="FF0000"/>
                </a:solidFill>
                <a:prstDash val="solid"/>
                <a:miter lim="800000"/>
                <a:headEnd len="sm" w="sm" type="none"/>
                <a:tailEnd len="med" w="med" type="triangle"/>
              </a:ln>
            </p:spPr>
          </p:cxnSp>
          <p:grpSp>
            <p:nvGrpSpPr>
              <p:cNvPr id="268" name="Google Shape;268;p10"/>
              <p:cNvGrpSpPr/>
              <p:nvPr/>
            </p:nvGrpSpPr>
            <p:grpSpPr>
              <a:xfrm>
                <a:off x="8685525" y="3552039"/>
                <a:ext cx="1144275" cy="1046882"/>
                <a:chOff x="5847090" y="1304054"/>
                <a:chExt cx="1163752" cy="1147920"/>
              </a:xfrm>
            </p:grpSpPr>
            <p:sp>
              <p:nvSpPr>
                <p:cNvPr id="267" name="Google Shape;267;p10"/>
                <p:cNvSpPr/>
                <p:nvPr/>
              </p:nvSpPr>
              <p:spPr>
                <a:xfrm>
                  <a:off x="5847090" y="1304054"/>
                  <a:ext cx="1150088" cy="1147920"/>
                </a:xfrm>
                <a:prstGeom prst="flowChartDecision">
                  <a:avLst/>
                </a:prstGeom>
                <a:solidFill>
                  <a:srgbClr val="C25552"/>
                </a:solidFill>
                <a:ln cap="flat" cmpd="sng" w="9525">
                  <a:solidFill>
                    <a:srgbClr val="FFFFFF"/>
                  </a:solidFill>
                  <a:prstDash val="solid"/>
                  <a:miter lim="800000"/>
                  <a:headEnd len="sm" w="sm" type="none"/>
                  <a:tailEnd len="sm" w="sm" type="none"/>
                </a:ln>
                <a:effectLst>
                  <a:outerShdw blurRad="41275" rotWithShape="0" algn="tl" dir="5400000" dist="25400">
                    <a:srgbClr val="68686D">
                      <a:alpha val="34901"/>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269" name="Google Shape;269;p10"/>
                <p:cNvSpPr txBox="1"/>
                <p:nvPr/>
              </p:nvSpPr>
              <p:spPr>
                <a:xfrm>
                  <a:off x="5860754" y="1661639"/>
                  <a:ext cx="1150088" cy="3712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Times New Roman"/>
                      <a:ea typeface="Times New Roman"/>
                      <a:cs typeface="Times New Roman"/>
                      <a:sym typeface="Times New Roman"/>
                    </a:rPr>
                    <a:t>Sugar</a:t>
                  </a:r>
                  <a:endParaRPr/>
                </a:p>
              </p:txBody>
            </p:sp>
          </p:grpSp>
        </p:grpSp>
        <p:sp>
          <p:nvSpPr>
            <p:cNvPr id="270" name="Google Shape;270;p10"/>
            <p:cNvSpPr/>
            <p:nvPr/>
          </p:nvSpPr>
          <p:spPr>
            <a:xfrm>
              <a:off x="9290008" y="4587333"/>
              <a:ext cx="92685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BFBFBF"/>
                  </a:solidFill>
                  <a:latin typeface="Times New Roman"/>
                  <a:ea typeface="Times New Roman"/>
                  <a:cs typeface="Times New Roman"/>
                  <a:sym typeface="Times New Roman"/>
                </a:rPr>
                <a:t>Decision</a:t>
              </a:r>
              <a:endParaRPr/>
            </a:p>
          </p:txBody>
        </p:sp>
      </p:grpSp>
      <p:cxnSp>
        <p:nvCxnSpPr>
          <p:cNvPr id="271" name="Google Shape;271;p10"/>
          <p:cNvCxnSpPr/>
          <p:nvPr/>
        </p:nvCxnSpPr>
        <p:spPr>
          <a:xfrm flipH="1">
            <a:off x="7830965" y="4612539"/>
            <a:ext cx="13318" cy="373460"/>
          </a:xfrm>
          <a:prstGeom prst="straightConnector1">
            <a:avLst/>
          </a:prstGeom>
          <a:noFill/>
          <a:ln cap="flat" cmpd="sng" w="28575">
            <a:solidFill>
              <a:srgbClr val="FF0000"/>
            </a:solidFill>
            <a:prstDash val="dot"/>
            <a:miter lim="800000"/>
            <a:headEnd len="sm" w="sm" type="none"/>
            <a:tailEnd len="sm" w="sm" type="none"/>
          </a:ln>
        </p:spPr>
      </p:cxnSp>
      <p:grpSp>
        <p:nvGrpSpPr>
          <p:cNvPr id="272" name="Google Shape;272;p10"/>
          <p:cNvGrpSpPr/>
          <p:nvPr/>
        </p:nvGrpSpPr>
        <p:grpSpPr>
          <a:xfrm>
            <a:off x="7267020" y="4549624"/>
            <a:ext cx="2029800" cy="716086"/>
            <a:chOff x="7267020" y="4549624"/>
            <a:chExt cx="2029800" cy="716086"/>
          </a:xfrm>
        </p:grpSpPr>
        <p:cxnSp>
          <p:nvCxnSpPr>
            <p:cNvPr id="273" name="Google Shape;273;p10"/>
            <p:cNvCxnSpPr>
              <a:endCxn id="235" idx="3"/>
            </p:cNvCxnSpPr>
            <p:nvPr/>
          </p:nvCxnSpPr>
          <p:spPr>
            <a:xfrm flipH="1">
              <a:off x="7267020" y="4957907"/>
              <a:ext cx="2029800" cy="1500"/>
            </a:xfrm>
            <a:prstGeom prst="straightConnector1">
              <a:avLst/>
            </a:prstGeom>
            <a:noFill/>
            <a:ln cap="flat" cmpd="sng" w="28575">
              <a:solidFill>
                <a:srgbClr val="FF0000"/>
              </a:solidFill>
              <a:prstDash val="dot"/>
              <a:miter lim="800000"/>
              <a:headEnd len="sm" w="sm" type="none"/>
              <a:tailEnd len="med" w="med" type="triangle"/>
            </a:ln>
          </p:spPr>
        </p:cxnSp>
        <p:cxnSp>
          <p:nvCxnSpPr>
            <p:cNvPr id="274" name="Google Shape;274;p10"/>
            <p:cNvCxnSpPr/>
            <p:nvPr/>
          </p:nvCxnSpPr>
          <p:spPr>
            <a:xfrm>
              <a:off x="9250945" y="4549624"/>
              <a:ext cx="13435" cy="441830"/>
            </a:xfrm>
            <a:prstGeom prst="straightConnector1">
              <a:avLst/>
            </a:prstGeom>
            <a:noFill/>
            <a:ln cap="flat" cmpd="sng" w="28575">
              <a:solidFill>
                <a:srgbClr val="FF0000"/>
              </a:solidFill>
              <a:prstDash val="dot"/>
              <a:miter lim="800000"/>
              <a:headEnd len="sm" w="sm" type="none"/>
              <a:tailEnd len="sm" w="sm" type="none"/>
            </a:ln>
          </p:spPr>
        </p:cxnSp>
        <p:sp>
          <p:nvSpPr>
            <p:cNvPr id="275" name="Google Shape;275;p10"/>
            <p:cNvSpPr/>
            <p:nvPr/>
          </p:nvSpPr>
          <p:spPr>
            <a:xfrm>
              <a:off x="8281967" y="4957933"/>
              <a:ext cx="40427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BFBFBF"/>
                  </a:solidFill>
                  <a:latin typeface="Times New Roman"/>
                  <a:ea typeface="Times New Roman"/>
                  <a:cs typeface="Times New Roman"/>
                  <a:sym typeface="Times New Roman"/>
                </a:rPr>
                <a:t>No</a:t>
              </a:r>
              <a:endParaRPr/>
            </a:p>
          </p:txBody>
        </p:sp>
      </p:grpSp>
      <p:sp>
        <p:nvSpPr>
          <p:cNvPr id="276" name="Google Shape;276;p10"/>
          <p:cNvSpPr/>
          <p:nvPr/>
        </p:nvSpPr>
        <p:spPr>
          <a:xfrm>
            <a:off x="7844283" y="4630862"/>
            <a:ext cx="40427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BFBFBF"/>
                </a:solidFill>
                <a:latin typeface="Times New Roman"/>
                <a:ea typeface="Times New Roman"/>
                <a:cs typeface="Times New Roman"/>
                <a:sym typeface="Times New Roman"/>
              </a:rPr>
              <a:t>No</a:t>
            </a:r>
            <a:endParaRPr/>
          </a:p>
        </p:txBody>
      </p:sp>
      <p:sp>
        <p:nvSpPr>
          <p:cNvPr id="277" name="Google Shape;277;p10"/>
          <p:cNvSpPr/>
          <p:nvPr/>
        </p:nvSpPr>
        <p:spPr>
          <a:xfrm>
            <a:off x="6746244" y="4163507"/>
            <a:ext cx="44531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BFBFBF"/>
                </a:solidFill>
                <a:latin typeface="Times New Roman"/>
                <a:ea typeface="Times New Roman"/>
                <a:cs typeface="Times New Roman"/>
                <a:sym typeface="Times New Roman"/>
              </a:rPr>
              <a:t>Yes</a:t>
            </a:r>
            <a:endParaRPr/>
          </a:p>
        </p:txBody>
      </p:sp>
      <p:grpSp>
        <p:nvGrpSpPr>
          <p:cNvPr id="278" name="Google Shape;278;p10"/>
          <p:cNvGrpSpPr/>
          <p:nvPr/>
        </p:nvGrpSpPr>
        <p:grpSpPr>
          <a:xfrm>
            <a:off x="5649968" y="1480462"/>
            <a:ext cx="3606744" cy="1903292"/>
            <a:chOff x="5649968" y="1480462"/>
            <a:chExt cx="3606744" cy="1903292"/>
          </a:xfrm>
        </p:grpSpPr>
        <p:cxnSp>
          <p:nvCxnSpPr>
            <p:cNvPr id="279" name="Google Shape;279;p10"/>
            <p:cNvCxnSpPr/>
            <p:nvPr/>
          </p:nvCxnSpPr>
          <p:spPr>
            <a:xfrm flipH="1">
              <a:off x="8205888" y="2798006"/>
              <a:ext cx="3053" cy="326194"/>
            </a:xfrm>
            <a:prstGeom prst="straightConnector1">
              <a:avLst/>
            </a:prstGeom>
            <a:noFill/>
            <a:ln cap="flat" cmpd="sng" w="12700">
              <a:solidFill>
                <a:srgbClr val="FF0000"/>
              </a:solidFill>
              <a:prstDash val="solid"/>
              <a:miter lim="800000"/>
              <a:headEnd len="sm" w="sm" type="none"/>
              <a:tailEnd len="med" w="med" type="triangle"/>
            </a:ln>
          </p:spPr>
        </p:cxnSp>
        <p:cxnSp>
          <p:nvCxnSpPr>
            <p:cNvPr id="280" name="Google Shape;280;p10"/>
            <p:cNvCxnSpPr>
              <a:endCxn id="281" idx="1"/>
            </p:cNvCxnSpPr>
            <p:nvPr/>
          </p:nvCxnSpPr>
          <p:spPr>
            <a:xfrm>
              <a:off x="8265162" y="1834315"/>
              <a:ext cx="4200" cy="198900"/>
            </a:xfrm>
            <a:prstGeom prst="straightConnector1">
              <a:avLst/>
            </a:prstGeom>
            <a:noFill/>
            <a:ln cap="flat" cmpd="sng" w="12700">
              <a:solidFill>
                <a:srgbClr val="FF0000"/>
              </a:solidFill>
              <a:prstDash val="solid"/>
              <a:miter lim="800000"/>
              <a:headEnd len="sm" w="sm" type="none"/>
              <a:tailEnd len="med" w="med" type="triangle"/>
            </a:ln>
          </p:spPr>
        </p:cxnSp>
        <p:cxnSp>
          <p:nvCxnSpPr>
            <p:cNvPr id="282" name="Google Shape;282;p10"/>
            <p:cNvCxnSpPr/>
            <p:nvPr/>
          </p:nvCxnSpPr>
          <p:spPr>
            <a:xfrm>
              <a:off x="7250311" y="3111961"/>
              <a:ext cx="2006401" cy="12239"/>
            </a:xfrm>
            <a:prstGeom prst="straightConnector1">
              <a:avLst/>
            </a:prstGeom>
            <a:noFill/>
            <a:ln cap="flat" cmpd="sng" w="12700">
              <a:solidFill>
                <a:srgbClr val="FF0000"/>
              </a:solidFill>
              <a:prstDash val="solid"/>
              <a:miter lim="800000"/>
              <a:headEnd len="sm" w="sm" type="none"/>
              <a:tailEnd len="sm" w="sm" type="none"/>
            </a:ln>
          </p:spPr>
        </p:cxnSp>
        <p:grpSp>
          <p:nvGrpSpPr>
            <p:cNvPr id="283" name="Google Shape;283;p10"/>
            <p:cNvGrpSpPr/>
            <p:nvPr/>
          </p:nvGrpSpPr>
          <p:grpSpPr>
            <a:xfrm>
              <a:off x="6159507" y="1497996"/>
              <a:ext cx="1428648" cy="780186"/>
              <a:chOff x="2605202" y="1589088"/>
              <a:chExt cx="1315486" cy="585583"/>
            </a:xfrm>
          </p:grpSpPr>
          <p:sp>
            <p:nvSpPr>
              <p:cNvPr id="284" name="Google Shape;284;p10"/>
              <p:cNvSpPr/>
              <p:nvPr/>
            </p:nvSpPr>
            <p:spPr>
              <a:xfrm>
                <a:off x="2605202" y="1589088"/>
                <a:ext cx="1315486" cy="585583"/>
              </a:xfrm>
              <a:prstGeom prst="flowChartInputOutput">
                <a:avLst/>
              </a:prstGeom>
              <a:solidFill>
                <a:srgbClr val="78C9BA"/>
              </a:solidFill>
              <a:ln cap="flat" cmpd="sng" w="9525">
                <a:solidFill>
                  <a:srgbClr val="FFFFFF"/>
                </a:solidFill>
                <a:prstDash val="solid"/>
                <a:miter lim="800000"/>
                <a:headEnd len="sm" w="sm" type="none"/>
                <a:tailEnd len="sm" w="sm" type="none"/>
              </a:ln>
              <a:effectLst>
                <a:outerShdw blurRad="41275" rotWithShape="0" dir="5400000" dist="25400">
                  <a:srgbClr val="68686D">
                    <a:alpha val="3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285" name="Google Shape;285;p10"/>
              <p:cNvSpPr txBox="1"/>
              <p:nvPr/>
            </p:nvSpPr>
            <p:spPr>
              <a:xfrm>
                <a:off x="2684907" y="1766729"/>
                <a:ext cx="1122748" cy="2310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lt1"/>
                    </a:solidFill>
                    <a:latin typeface="Times New Roman"/>
                    <a:ea typeface="Times New Roman"/>
                    <a:cs typeface="Times New Roman"/>
                    <a:sym typeface="Times New Roman"/>
                  </a:rPr>
                  <a:t>Add Filter</a:t>
                </a:r>
                <a:endParaRPr/>
              </a:p>
            </p:txBody>
          </p:sp>
        </p:grpSp>
        <p:cxnSp>
          <p:nvCxnSpPr>
            <p:cNvPr id="286" name="Google Shape;286;p10"/>
            <p:cNvCxnSpPr>
              <a:endCxn id="285" idx="1"/>
            </p:cNvCxnSpPr>
            <p:nvPr/>
          </p:nvCxnSpPr>
          <p:spPr>
            <a:xfrm flipH="1" rot="10800000">
              <a:off x="5649968" y="1888560"/>
              <a:ext cx="596100" cy="2400"/>
            </a:xfrm>
            <a:prstGeom prst="straightConnector1">
              <a:avLst/>
            </a:prstGeom>
            <a:noFill/>
            <a:ln cap="flat" cmpd="sng" w="12700">
              <a:solidFill>
                <a:srgbClr val="FF0000"/>
              </a:solidFill>
              <a:prstDash val="solid"/>
              <a:miter lim="800000"/>
              <a:headEnd len="sm" w="sm" type="none"/>
              <a:tailEnd len="med" w="med" type="triangle"/>
            </a:ln>
          </p:spPr>
        </p:cxnSp>
        <p:grpSp>
          <p:nvGrpSpPr>
            <p:cNvPr id="287" name="Google Shape;287;p10"/>
            <p:cNvGrpSpPr/>
            <p:nvPr/>
          </p:nvGrpSpPr>
          <p:grpSpPr>
            <a:xfrm>
              <a:off x="7489974" y="2033215"/>
              <a:ext cx="1558775" cy="734023"/>
              <a:chOff x="2605202" y="1636054"/>
              <a:chExt cx="1351787" cy="630114"/>
            </a:xfrm>
          </p:grpSpPr>
          <p:sp>
            <p:nvSpPr>
              <p:cNvPr id="281" name="Google Shape;281;p10"/>
              <p:cNvSpPr/>
              <p:nvPr/>
            </p:nvSpPr>
            <p:spPr>
              <a:xfrm>
                <a:off x="2605202" y="1636054"/>
                <a:ext cx="1351787" cy="630114"/>
              </a:xfrm>
              <a:prstGeom prst="flowChartInputOutput">
                <a:avLst/>
              </a:prstGeom>
              <a:solidFill>
                <a:srgbClr val="78C9BA"/>
              </a:solidFill>
              <a:ln cap="flat" cmpd="sng" w="9525">
                <a:solidFill>
                  <a:srgbClr val="FFFFFF"/>
                </a:solidFill>
                <a:prstDash val="solid"/>
                <a:miter lim="800000"/>
                <a:headEnd len="sm" w="sm" type="none"/>
                <a:tailEnd len="sm" w="sm" type="none"/>
              </a:ln>
              <a:effectLst>
                <a:outerShdw blurRad="41275" rotWithShape="0" dir="5400000" dist="25400">
                  <a:srgbClr val="68686D">
                    <a:alpha val="3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288" name="Google Shape;288;p10"/>
              <p:cNvSpPr txBox="1"/>
              <p:nvPr/>
            </p:nvSpPr>
            <p:spPr>
              <a:xfrm>
                <a:off x="2749874" y="1835704"/>
                <a:ext cx="1122748" cy="26420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lt1"/>
                    </a:solidFill>
                    <a:latin typeface="Times New Roman"/>
                    <a:ea typeface="Times New Roman"/>
                    <a:cs typeface="Times New Roman"/>
                    <a:sym typeface="Times New Roman"/>
                  </a:rPr>
                  <a:t>Add Coffee</a:t>
                </a:r>
                <a:endParaRPr/>
              </a:p>
            </p:txBody>
          </p:sp>
        </p:grpSp>
        <p:grpSp>
          <p:nvGrpSpPr>
            <p:cNvPr id="289" name="Google Shape;289;p10"/>
            <p:cNvGrpSpPr/>
            <p:nvPr/>
          </p:nvGrpSpPr>
          <p:grpSpPr>
            <a:xfrm>
              <a:off x="5776442" y="2668749"/>
              <a:ext cx="1603752" cy="703342"/>
              <a:chOff x="2605202" y="1660022"/>
              <a:chExt cx="1315486" cy="514649"/>
            </a:xfrm>
          </p:grpSpPr>
          <p:sp>
            <p:nvSpPr>
              <p:cNvPr id="290" name="Google Shape;290;p10"/>
              <p:cNvSpPr/>
              <p:nvPr/>
            </p:nvSpPr>
            <p:spPr>
              <a:xfrm>
                <a:off x="2605202" y="1660022"/>
                <a:ext cx="1315486" cy="514649"/>
              </a:xfrm>
              <a:prstGeom prst="flowChartInputOutput">
                <a:avLst/>
              </a:prstGeom>
              <a:solidFill>
                <a:srgbClr val="78C9BA"/>
              </a:solidFill>
              <a:ln cap="flat" cmpd="sng" w="9525">
                <a:solidFill>
                  <a:srgbClr val="FFFFFF"/>
                </a:solidFill>
                <a:prstDash val="solid"/>
                <a:miter lim="800000"/>
                <a:headEnd len="sm" w="sm" type="none"/>
                <a:tailEnd len="sm" w="sm" type="none"/>
              </a:ln>
              <a:effectLst>
                <a:outerShdw blurRad="41275" rotWithShape="0" dir="5400000" dist="25400">
                  <a:srgbClr val="68686D">
                    <a:alpha val="3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291" name="Google Shape;291;p10"/>
              <p:cNvSpPr txBox="1"/>
              <p:nvPr/>
            </p:nvSpPr>
            <p:spPr>
              <a:xfrm>
                <a:off x="2693274" y="1778231"/>
                <a:ext cx="1120877" cy="23068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chemeClr val="lt1"/>
                    </a:solidFill>
                    <a:latin typeface="Times New Roman"/>
                    <a:ea typeface="Times New Roman"/>
                    <a:cs typeface="Times New Roman"/>
                    <a:sym typeface="Times New Roman"/>
                  </a:rPr>
                  <a:t>Add Water</a:t>
                </a:r>
                <a:endParaRPr/>
              </a:p>
            </p:txBody>
          </p:sp>
        </p:grpSp>
        <p:sp>
          <p:nvSpPr>
            <p:cNvPr id="292" name="Google Shape;292;p10"/>
            <p:cNvSpPr/>
            <p:nvPr/>
          </p:nvSpPr>
          <p:spPr>
            <a:xfrm>
              <a:off x="7582080" y="1480462"/>
              <a:ext cx="68320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BFBFBF"/>
                </a:buClr>
                <a:buSzPts val="1400"/>
                <a:buFont typeface="Arial"/>
                <a:buNone/>
              </a:pPr>
              <a:r>
                <a:rPr b="1" lang="en-US" sz="1400">
                  <a:solidFill>
                    <a:srgbClr val="BFBFBF"/>
                  </a:solidFill>
                  <a:latin typeface="Times New Roman"/>
                  <a:ea typeface="Times New Roman"/>
                  <a:cs typeface="Times New Roman"/>
                  <a:sym typeface="Times New Roman"/>
                </a:rPr>
                <a:t>Inputs</a:t>
              </a:r>
              <a:endParaRPr/>
            </a:p>
          </p:txBody>
        </p:sp>
        <p:sp>
          <p:nvSpPr>
            <p:cNvPr id="293" name="Google Shape;293;p10"/>
            <p:cNvSpPr/>
            <p:nvPr/>
          </p:nvSpPr>
          <p:spPr>
            <a:xfrm>
              <a:off x="7193150" y="3075977"/>
              <a:ext cx="68320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BFBFBF"/>
                  </a:solidFill>
                  <a:latin typeface="Times New Roman"/>
                  <a:ea typeface="Times New Roman"/>
                  <a:cs typeface="Times New Roman"/>
                  <a:sym typeface="Times New Roman"/>
                </a:rPr>
                <a:t>Inputs</a:t>
              </a:r>
              <a:endParaRPr/>
            </a:p>
          </p:txBody>
        </p:sp>
        <p:cxnSp>
          <p:nvCxnSpPr>
            <p:cNvPr id="294" name="Google Shape;294;p10"/>
            <p:cNvCxnSpPr/>
            <p:nvPr/>
          </p:nvCxnSpPr>
          <p:spPr>
            <a:xfrm>
              <a:off x="9256712" y="1803103"/>
              <a:ext cx="0" cy="1296898"/>
            </a:xfrm>
            <a:prstGeom prst="straightConnector1">
              <a:avLst/>
            </a:prstGeom>
            <a:noFill/>
            <a:ln cap="flat" cmpd="sng" w="12700">
              <a:solidFill>
                <a:srgbClr val="FF0000"/>
              </a:solidFill>
              <a:prstDash val="solid"/>
              <a:miter lim="800000"/>
              <a:headEnd len="sm" w="sm" type="none"/>
              <a:tailEnd len="sm" w="sm" type="none"/>
            </a:ln>
          </p:spPr>
        </p:cxnSp>
        <p:cxnSp>
          <p:nvCxnSpPr>
            <p:cNvPr id="295" name="Google Shape;295;p10"/>
            <p:cNvCxnSpPr/>
            <p:nvPr/>
          </p:nvCxnSpPr>
          <p:spPr>
            <a:xfrm>
              <a:off x="7483261" y="1803103"/>
              <a:ext cx="1773451" cy="0"/>
            </a:xfrm>
            <a:prstGeom prst="straightConnector1">
              <a:avLst/>
            </a:prstGeom>
            <a:noFill/>
            <a:ln cap="flat" cmpd="sng" w="12700">
              <a:solidFill>
                <a:srgbClr val="FF0000"/>
              </a:solidFill>
              <a:prstDash val="solid"/>
              <a:miter lim="800000"/>
              <a:headEnd len="sm" w="sm" type="none"/>
              <a:tailEnd len="sm" w="sm" type="none"/>
            </a:ln>
          </p:spPr>
        </p:cxnSp>
      </p:grpSp>
      <p:grpSp>
        <p:nvGrpSpPr>
          <p:cNvPr id="296" name="Google Shape;296;p10"/>
          <p:cNvGrpSpPr/>
          <p:nvPr/>
        </p:nvGrpSpPr>
        <p:grpSpPr>
          <a:xfrm>
            <a:off x="6603333" y="3622099"/>
            <a:ext cx="2135422" cy="1018548"/>
            <a:chOff x="6603333" y="3622099"/>
            <a:chExt cx="2135422" cy="1018548"/>
          </a:xfrm>
        </p:grpSpPr>
        <p:sp>
          <p:nvSpPr>
            <p:cNvPr id="297" name="Google Shape;297;p10"/>
            <p:cNvSpPr/>
            <p:nvPr/>
          </p:nvSpPr>
          <p:spPr>
            <a:xfrm>
              <a:off x="6603333" y="3659356"/>
              <a:ext cx="92685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BFBFBF"/>
                  </a:solidFill>
                  <a:latin typeface="Times New Roman"/>
                  <a:ea typeface="Times New Roman"/>
                  <a:cs typeface="Times New Roman"/>
                  <a:sym typeface="Times New Roman"/>
                </a:rPr>
                <a:t>Decision</a:t>
              </a:r>
              <a:endParaRPr/>
            </a:p>
          </p:txBody>
        </p:sp>
        <p:grpSp>
          <p:nvGrpSpPr>
            <p:cNvPr id="298" name="Google Shape;298;p10"/>
            <p:cNvGrpSpPr/>
            <p:nvPr/>
          </p:nvGrpSpPr>
          <p:grpSpPr>
            <a:xfrm>
              <a:off x="7301928" y="3622099"/>
              <a:ext cx="1436827" cy="1018548"/>
              <a:chOff x="7301928" y="3622099"/>
              <a:chExt cx="1436827" cy="1018548"/>
            </a:xfrm>
          </p:grpSpPr>
          <p:grpSp>
            <p:nvGrpSpPr>
              <p:cNvPr id="299" name="Google Shape;299;p10"/>
              <p:cNvGrpSpPr/>
              <p:nvPr/>
            </p:nvGrpSpPr>
            <p:grpSpPr>
              <a:xfrm>
                <a:off x="7301928" y="3622099"/>
                <a:ext cx="1100188" cy="1018548"/>
                <a:chOff x="5847090" y="1304054"/>
                <a:chExt cx="1163752" cy="1147920"/>
              </a:xfrm>
            </p:grpSpPr>
            <p:sp>
              <p:nvSpPr>
                <p:cNvPr id="300" name="Google Shape;300;p10"/>
                <p:cNvSpPr/>
                <p:nvPr/>
              </p:nvSpPr>
              <p:spPr>
                <a:xfrm>
                  <a:off x="5847090" y="1304054"/>
                  <a:ext cx="1150088" cy="1147920"/>
                </a:xfrm>
                <a:prstGeom prst="flowChartDecision">
                  <a:avLst/>
                </a:prstGeom>
                <a:solidFill>
                  <a:srgbClr val="C25552"/>
                </a:solidFill>
                <a:ln cap="flat" cmpd="sng" w="9525">
                  <a:solidFill>
                    <a:srgbClr val="FFFFFF"/>
                  </a:solidFill>
                  <a:prstDash val="solid"/>
                  <a:miter lim="800000"/>
                  <a:headEnd len="sm" w="sm" type="none"/>
                  <a:tailEnd len="sm" w="sm" type="none"/>
                </a:ln>
                <a:effectLst>
                  <a:outerShdw blurRad="41275" rotWithShape="0" algn="tl" dir="5400000" dist="25400">
                    <a:srgbClr val="68686D">
                      <a:alpha val="34901"/>
                    </a:srgbClr>
                  </a:outerShdw>
                </a:effectLst>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301" name="Google Shape;301;p10"/>
                <p:cNvSpPr txBox="1"/>
                <p:nvPr/>
              </p:nvSpPr>
              <p:spPr>
                <a:xfrm>
                  <a:off x="5860754" y="1661642"/>
                  <a:ext cx="1150088" cy="3815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lt1"/>
                      </a:solidFill>
                      <a:latin typeface="Times New Roman"/>
                      <a:ea typeface="Times New Roman"/>
                      <a:cs typeface="Times New Roman"/>
                      <a:sym typeface="Times New Roman"/>
                    </a:rPr>
                    <a:t>Cream</a:t>
                  </a:r>
                  <a:endParaRPr/>
                </a:p>
              </p:txBody>
            </p:sp>
          </p:grpSp>
          <p:sp>
            <p:nvSpPr>
              <p:cNvPr id="302" name="Google Shape;302;p10"/>
              <p:cNvSpPr/>
              <p:nvPr/>
            </p:nvSpPr>
            <p:spPr>
              <a:xfrm>
                <a:off x="8293440" y="3718452"/>
                <a:ext cx="44531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BFBFBF"/>
                    </a:solidFill>
                    <a:latin typeface="Times New Roman"/>
                    <a:ea typeface="Times New Roman"/>
                    <a:cs typeface="Times New Roman"/>
                    <a:sym typeface="Times New Roman"/>
                  </a:rPr>
                  <a:t>Yes</a:t>
                </a:r>
                <a:endParaRPr/>
              </a:p>
            </p:txBody>
          </p:sp>
          <p:cxnSp>
            <p:nvCxnSpPr>
              <p:cNvPr id="303" name="Google Shape;303;p10"/>
              <p:cNvCxnSpPr/>
              <p:nvPr/>
            </p:nvCxnSpPr>
            <p:spPr>
              <a:xfrm rot="10800000">
                <a:off x="8385015" y="4116907"/>
                <a:ext cx="323977" cy="1041"/>
              </a:xfrm>
              <a:prstGeom prst="straightConnector1">
                <a:avLst/>
              </a:prstGeom>
              <a:noFill/>
              <a:ln cap="flat" cmpd="sng" w="12700">
                <a:solidFill>
                  <a:srgbClr val="FF0000"/>
                </a:solidFill>
                <a:prstDash val="solid"/>
                <a:miter lim="800000"/>
                <a:headEnd len="sm" w="sm" type="none"/>
                <a:tailEnd len="med" w="med" type="triangle"/>
              </a:ln>
            </p:spPr>
          </p:cxnSp>
        </p:grpSp>
      </p:grpSp>
      <p:grpSp>
        <p:nvGrpSpPr>
          <p:cNvPr id="304" name="Google Shape;304;p10"/>
          <p:cNvGrpSpPr/>
          <p:nvPr/>
        </p:nvGrpSpPr>
        <p:grpSpPr>
          <a:xfrm>
            <a:off x="6558922" y="4108663"/>
            <a:ext cx="755924" cy="536307"/>
            <a:chOff x="6558922" y="4108663"/>
            <a:chExt cx="755924" cy="536307"/>
          </a:xfrm>
        </p:grpSpPr>
        <p:cxnSp>
          <p:nvCxnSpPr>
            <p:cNvPr id="305" name="Google Shape;305;p10"/>
            <p:cNvCxnSpPr/>
            <p:nvPr/>
          </p:nvCxnSpPr>
          <p:spPr>
            <a:xfrm flipH="1">
              <a:off x="6558922" y="4116907"/>
              <a:ext cx="8140" cy="528063"/>
            </a:xfrm>
            <a:prstGeom prst="straightConnector1">
              <a:avLst/>
            </a:prstGeom>
            <a:noFill/>
            <a:ln cap="flat" cmpd="sng" w="12700">
              <a:solidFill>
                <a:srgbClr val="FF0000"/>
              </a:solidFill>
              <a:prstDash val="solid"/>
              <a:miter lim="800000"/>
              <a:headEnd len="sm" w="sm" type="none"/>
              <a:tailEnd len="med" w="med" type="triangle"/>
            </a:ln>
          </p:spPr>
        </p:cxnSp>
        <p:cxnSp>
          <p:nvCxnSpPr>
            <p:cNvPr id="306" name="Google Shape;306;p10"/>
            <p:cNvCxnSpPr>
              <a:stCxn id="301" idx="1"/>
            </p:cNvCxnSpPr>
            <p:nvPr/>
          </p:nvCxnSpPr>
          <p:spPr>
            <a:xfrm rot="10800000">
              <a:off x="6566946" y="4108663"/>
              <a:ext cx="747900" cy="0"/>
            </a:xfrm>
            <a:prstGeom prst="straightConnector1">
              <a:avLst/>
            </a:prstGeom>
            <a:noFill/>
            <a:ln cap="flat" cmpd="sng" w="9525">
              <a:solidFill>
                <a:srgbClr val="FF0000"/>
              </a:solidFill>
              <a:prstDash val="solid"/>
              <a:miter lim="800000"/>
              <a:headEnd len="sm" w="sm" type="none"/>
              <a:tailEnd len="sm" w="sm" type="none"/>
            </a:ln>
          </p:spPr>
        </p:cxnSp>
      </p:grpSp>
      <p:grpSp>
        <p:nvGrpSpPr>
          <p:cNvPr id="307" name="Google Shape;307;p10"/>
          <p:cNvGrpSpPr/>
          <p:nvPr/>
        </p:nvGrpSpPr>
        <p:grpSpPr>
          <a:xfrm>
            <a:off x="3619597" y="300311"/>
            <a:ext cx="8280304" cy="5186089"/>
            <a:chOff x="3619597" y="300311"/>
            <a:chExt cx="8280304" cy="5186089"/>
          </a:xfrm>
        </p:grpSpPr>
        <p:cxnSp>
          <p:nvCxnSpPr>
            <p:cNvPr id="308" name="Google Shape;308;p10"/>
            <p:cNvCxnSpPr/>
            <p:nvPr/>
          </p:nvCxnSpPr>
          <p:spPr>
            <a:xfrm>
              <a:off x="3905250" y="3513197"/>
              <a:ext cx="7994650" cy="0"/>
            </a:xfrm>
            <a:prstGeom prst="straightConnector1">
              <a:avLst/>
            </a:prstGeom>
            <a:noFill/>
            <a:ln cap="flat" cmpd="sng" w="12700">
              <a:solidFill>
                <a:srgbClr val="002060"/>
              </a:solidFill>
              <a:prstDash val="solid"/>
              <a:miter lim="800000"/>
              <a:headEnd len="sm" w="sm" type="none"/>
              <a:tailEnd len="sm" w="sm" type="none"/>
            </a:ln>
          </p:spPr>
        </p:cxnSp>
        <p:sp>
          <p:nvSpPr>
            <p:cNvPr id="309" name="Google Shape;309;p10"/>
            <p:cNvSpPr/>
            <p:nvPr/>
          </p:nvSpPr>
          <p:spPr>
            <a:xfrm rot="5400000">
              <a:off x="1174496" y="2781430"/>
              <a:ext cx="5181540" cy="219302"/>
            </a:xfrm>
            <a:prstGeom prst="rect">
              <a:avLst/>
            </a:prstGeom>
            <a:solidFill>
              <a:srgbClr val="002060"/>
            </a:solidFill>
            <a:ln>
              <a:noFill/>
            </a:ln>
          </p:spPr>
          <p:txBody>
            <a:bodyPr anchorCtr="0" anchor="ctr" bIns="32000" lIns="64000" spcFirstLastPara="1" rIns="16000" wrap="square" tIns="32000">
              <a:noAutofit/>
            </a:bodyPr>
            <a:lstStyle/>
            <a:p>
              <a:pPr indent="0" lvl="0" marL="0" marR="0" rtl="0" algn="ctr">
                <a:lnSpc>
                  <a:spcPct val="90000"/>
                </a:lnSpc>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310" name="Google Shape;310;p10"/>
            <p:cNvSpPr/>
            <p:nvPr/>
          </p:nvSpPr>
          <p:spPr>
            <a:xfrm>
              <a:off x="3657600" y="304859"/>
              <a:ext cx="8242300" cy="5181541"/>
            </a:xfrm>
            <a:prstGeom prst="rect">
              <a:avLst/>
            </a:prstGeom>
            <a:no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311" name="Google Shape;311;p10"/>
            <p:cNvSpPr/>
            <p:nvPr/>
          </p:nvSpPr>
          <p:spPr>
            <a:xfrm rot="5400000">
              <a:off x="3664047" y="1458912"/>
              <a:ext cx="173037" cy="261938"/>
            </a:xfrm>
            <a:prstGeom prst="homePlat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cxnSp>
          <p:nvCxnSpPr>
            <p:cNvPr id="312" name="Google Shape;312;p10"/>
            <p:cNvCxnSpPr/>
            <p:nvPr/>
          </p:nvCxnSpPr>
          <p:spPr>
            <a:xfrm>
              <a:off x="3905250" y="1447800"/>
              <a:ext cx="7994650" cy="0"/>
            </a:xfrm>
            <a:prstGeom prst="straightConnector1">
              <a:avLst/>
            </a:prstGeom>
            <a:noFill/>
            <a:ln cap="flat" cmpd="sng" w="12700">
              <a:solidFill>
                <a:srgbClr val="002060"/>
              </a:solidFill>
              <a:prstDash val="solid"/>
              <a:miter lim="800000"/>
              <a:headEnd len="sm" w="sm" type="none"/>
              <a:tailEnd len="sm" w="sm" type="none"/>
            </a:ln>
          </p:spPr>
        </p:cxnSp>
        <p:sp>
          <p:nvSpPr>
            <p:cNvPr id="313" name="Google Shape;313;p10"/>
            <p:cNvSpPr/>
            <p:nvPr/>
          </p:nvSpPr>
          <p:spPr>
            <a:xfrm rot="5400000">
              <a:off x="3668712" y="3516312"/>
              <a:ext cx="173037" cy="261938"/>
            </a:xfrm>
            <a:prstGeom prst="homePlate">
              <a:avLst>
                <a:gd fmla="val 5000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grpSp>
      <p:sp>
        <p:nvSpPr>
          <p:cNvPr id="314" name="Google Shape;314;p10"/>
          <p:cNvSpPr txBox="1"/>
          <p:nvPr/>
        </p:nvSpPr>
        <p:spPr>
          <a:xfrm rot="5400000">
            <a:off x="3144022" y="758438"/>
            <a:ext cx="1254125"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Coffee Grinder</a:t>
            </a:r>
            <a:endParaRPr/>
          </a:p>
        </p:txBody>
      </p:sp>
      <p:sp>
        <p:nvSpPr>
          <p:cNvPr id="315" name="Google Shape;315;p10"/>
          <p:cNvSpPr txBox="1"/>
          <p:nvPr/>
        </p:nvSpPr>
        <p:spPr>
          <a:xfrm rot="5400000">
            <a:off x="2800796" y="2391620"/>
            <a:ext cx="1962150"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Coffee Pot</a:t>
            </a:r>
            <a:endParaRPr/>
          </a:p>
        </p:txBody>
      </p:sp>
      <p:sp>
        <p:nvSpPr>
          <p:cNvPr id="316" name="Google Shape;316;p10"/>
          <p:cNvSpPr txBox="1"/>
          <p:nvPr/>
        </p:nvSpPr>
        <p:spPr>
          <a:xfrm rot="5400000">
            <a:off x="2859845" y="4535751"/>
            <a:ext cx="1817688"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lt1"/>
                </a:solidFill>
                <a:latin typeface="Times New Roman"/>
                <a:ea typeface="Times New Roman"/>
                <a:cs typeface="Times New Roman"/>
                <a:sym typeface="Times New Roman"/>
              </a:rPr>
              <a:t>Coffee Mug</a:t>
            </a:r>
            <a:endParaRPr/>
          </a:p>
        </p:txBody>
      </p:sp>
      <p:grpSp>
        <p:nvGrpSpPr>
          <p:cNvPr id="317" name="Google Shape;317;p10"/>
          <p:cNvGrpSpPr/>
          <p:nvPr/>
        </p:nvGrpSpPr>
        <p:grpSpPr>
          <a:xfrm>
            <a:off x="8951464" y="1605323"/>
            <a:ext cx="2394328" cy="1513072"/>
            <a:chOff x="8951464" y="1605323"/>
            <a:chExt cx="2394328" cy="1513072"/>
          </a:xfrm>
        </p:grpSpPr>
        <p:grpSp>
          <p:nvGrpSpPr>
            <p:cNvPr id="318" name="Google Shape;318;p10"/>
            <p:cNvGrpSpPr/>
            <p:nvPr/>
          </p:nvGrpSpPr>
          <p:grpSpPr>
            <a:xfrm>
              <a:off x="9805450" y="1970276"/>
              <a:ext cx="1540342" cy="1148119"/>
              <a:chOff x="4360901" y="5526437"/>
              <a:chExt cx="1133551" cy="953578"/>
            </a:xfrm>
          </p:grpSpPr>
          <p:sp>
            <p:nvSpPr>
              <p:cNvPr id="259" name="Google Shape;259;p10"/>
              <p:cNvSpPr/>
              <p:nvPr/>
            </p:nvSpPr>
            <p:spPr>
              <a:xfrm rot="10800000">
                <a:off x="4360901" y="5526437"/>
                <a:ext cx="1133551" cy="953578"/>
              </a:xfrm>
              <a:prstGeom prst="flowChartExtract">
                <a:avLst/>
              </a:prstGeom>
              <a:solidFill>
                <a:srgbClr val="E8A26C"/>
              </a:solidFill>
              <a:ln cap="flat" cmpd="sng" w="9525">
                <a:solidFill>
                  <a:srgbClr val="FFFFFF"/>
                </a:solidFill>
                <a:prstDash val="solid"/>
                <a:miter lim="800000"/>
                <a:headEnd len="sm" w="sm" type="none"/>
                <a:tailEnd len="sm" w="sm" type="none"/>
              </a:ln>
              <a:effectLst>
                <a:outerShdw blurRad="41275" rotWithShape="0" dir="5400000" dist="25400">
                  <a:srgbClr val="68686D">
                    <a:alpha val="3490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lt1"/>
                  </a:solidFill>
                  <a:latin typeface="Times New Roman"/>
                  <a:ea typeface="Times New Roman"/>
                  <a:cs typeface="Times New Roman"/>
                  <a:sym typeface="Times New Roman"/>
                </a:endParaRPr>
              </a:p>
            </p:txBody>
          </p:sp>
          <p:sp>
            <p:nvSpPr>
              <p:cNvPr id="319" name="Google Shape;319;p10"/>
              <p:cNvSpPr txBox="1"/>
              <p:nvPr/>
            </p:nvSpPr>
            <p:spPr>
              <a:xfrm>
                <a:off x="4440474" y="5788037"/>
                <a:ext cx="1031245" cy="240288"/>
              </a:xfrm>
              <a:prstGeom prst="rect">
                <a:avLst/>
              </a:prstGeom>
              <a:noFill/>
              <a:ln>
                <a:noFill/>
              </a:ln>
            </p:spPr>
            <p:txBody>
              <a:bodyPr anchorCtr="0" anchor="t" bIns="45700" lIns="91425" spcFirstLastPara="1" rIns="91425" wrap="square" tIns="45700">
                <a:spAutoFit/>
              </a:bodyPr>
              <a:lstStyle/>
              <a:p>
                <a:pPr indent="0" lvl="0" marL="0" marR="0" rtl="0" algn="ctr">
                  <a:lnSpc>
                    <a:spcPct val="80000"/>
                  </a:lnSpc>
                  <a:spcBef>
                    <a:spcPts val="0"/>
                  </a:spcBef>
                  <a:spcAft>
                    <a:spcPts val="0"/>
                  </a:spcAft>
                  <a:buNone/>
                </a:pPr>
                <a:r>
                  <a:rPr b="1" lang="en-US" sz="1600">
                    <a:solidFill>
                      <a:schemeClr val="lt1"/>
                    </a:solidFill>
                    <a:latin typeface="Times New Roman"/>
                    <a:ea typeface="Times New Roman"/>
                    <a:cs typeface="Times New Roman"/>
                    <a:sym typeface="Times New Roman"/>
                  </a:rPr>
                  <a:t>Brew</a:t>
                </a:r>
                <a:endParaRPr/>
              </a:p>
            </p:txBody>
          </p:sp>
        </p:grpSp>
        <p:sp>
          <p:nvSpPr>
            <p:cNvPr id="320" name="Google Shape;320;p10"/>
            <p:cNvSpPr/>
            <p:nvPr/>
          </p:nvSpPr>
          <p:spPr>
            <a:xfrm>
              <a:off x="10233219" y="1605323"/>
              <a:ext cx="68480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BFBFBF"/>
                  </a:solidFill>
                  <a:latin typeface="Times New Roman"/>
                  <a:ea typeface="Times New Roman"/>
                  <a:cs typeface="Times New Roman"/>
                  <a:sym typeface="Times New Roman"/>
                </a:rPr>
                <a:t>Merge</a:t>
              </a:r>
              <a:endParaRPr/>
            </a:p>
          </p:txBody>
        </p:sp>
        <p:cxnSp>
          <p:nvCxnSpPr>
            <p:cNvPr id="321" name="Google Shape;321;p10"/>
            <p:cNvCxnSpPr>
              <a:stCxn id="288" idx="3"/>
              <a:endCxn id="319" idx="1"/>
            </p:cNvCxnSpPr>
            <p:nvPr/>
          </p:nvCxnSpPr>
          <p:spPr>
            <a:xfrm>
              <a:off x="8951464" y="2419677"/>
              <a:ext cx="962100" cy="10200"/>
            </a:xfrm>
            <a:prstGeom prst="straightConnector1">
              <a:avLst/>
            </a:prstGeom>
            <a:noFill/>
            <a:ln cap="flat" cmpd="sng" w="12700">
              <a:solidFill>
                <a:srgbClr val="FF0000"/>
              </a:solidFill>
              <a:prstDash val="solid"/>
              <a:miter lim="800000"/>
              <a:headEnd len="sm" w="sm" type="none"/>
              <a:tailEnd len="med" w="med" type="triangle"/>
            </a:ln>
          </p:spPr>
        </p:cxnSp>
      </p:grpSp>
      <p:sp>
        <p:nvSpPr>
          <p:cNvPr id="322" name="Google Shape;32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par>
                                <p:cTn fill="hold" nodeType="with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par>
                                <p:cTn fill="hold" nodeType="with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par>
                                <p:cTn fill="hold" nodeType="with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1"/>
          <p:cNvSpPr txBox="1"/>
          <p:nvPr>
            <p:ph type="title"/>
          </p:nvPr>
        </p:nvSpPr>
        <p:spPr>
          <a:xfrm>
            <a:off x="1600200" y="785542"/>
            <a:ext cx="3962400" cy="646331"/>
          </a:xfrm>
          <a:prstGeom prst="rect">
            <a:avLst/>
          </a:prstGeom>
          <a:noFill/>
          <a:ln cap="flat" cmpd="sng" w="19050">
            <a:solidFill>
              <a:srgbClr val="FF0000"/>
            </a:solidFill>
            <a:prstDash val="solid"/>
            <a:round/>
            <a:headEnd len="sm" w="sm" type="none"/>
            <a:tailEnd len="sm" w="sm" type="none"/>
          </a:ln>
        </p:spPr>
        <p:txBody>
          <a:bodyPr anchorCtr="0" anchor="ctr" bIns="45700" lIns="91425" spcFirstLastPara="1" rIns="91425" wrap="square" tIns="45700">
            <a:spAutoFit/>
          </a:bodyPr>
          <a:lstStyle/>
          <a:p>
            <a:pPr indent="0" lvl="0" marL="0" rtl="0" algn="ctr">
              <a:lnSpc>
                <a:spcPct val="90000"/>
              </a:lnSpc>
              <a:spcBef>
                <a:spcPts val="0"/>
              </a:spcBef>
              <a:spcAft>
                <a:spcPts val="0"/>
              </a:spcAft>
              <a:buNone/>
            </a:pPr>
            <a:r>
              <a:rPr lang="en-US" sz="2000">
                <a:latin typeface="Times New Roman"/>
                <a:ea typeface="Times New Roman"/>
                <a:cs typeface="Times New Roman"/>
                <a:sym typeface="Times New Roman"/>
              </a:rPr>
              <a:t>Flowchart to find the largest of three numbers A,B, and C: </a:t>
            </a:r>
            <a:endParaRPr/>
          </a:p>
        </p:txBody>
      </p:sp>
      <p:grpSp>
        <p:nvGrpSpPr>
          <p:cNvPr id="328" name="Google Shape;328;p11"/>
          <p:cNvGrpSpPr/>
          <p:nvPr/>
        </p:nvGrpSpPr>
        <p:grpSpPr>
          <a:xfrm>
            <a:off x="6320051" y="381000"/>
            <a:ext cx="5638800" cy="4377423"/>
            <a:chOff x="2743200" y="1828800"/>
            <a:chExt cx="6400800" cy="4067175"/>
          </a:xfrm>
        </p:grpSpPr>
        <p:grpSp>
          <p:nvGrpSpPr>
            <p:cNvPr id="329" name="Google Shape;329;p11"/>
            <p:cNvGrpSpPr/>
            <p:nvPr/>
          </p:nvGrpSpPr>
          <p:grpSpPr>
            <a:xfrm>
              <a:off x="2743200" y="1828800"/>
              <a:ext cx="6400800" cy="4067175"/>
              <a:chOff x="2743200" y="1828800"/>
              <a:chExt cx="6400800" cy="4067175"/>
            </a:xfrm>
          </p:grpSpPr>
          <p:pic>
            <p:nvPicPr>
              <p:cNvPr id="330" name="Google Shape;330;p11"/>
              <p:cNvPicPr preferRelativeResize="0"/>
              <p:nvPr/>
            </p:nvPicPr>
            <p:blipFill rotWithShape="1">
              <a:blip r:embed="rId3">
                <a:alphaModFix/>
              </a:blip>
              <a:srcRect b="0" l="0" r="0" t="0"/>
              <a:stretch/>
            </p:blipFill>
            <p:spPr>
              <a:xfrm>
                <a:off x="2743200" y="1828800"/>
                <a:ext cx="6400800" cy="4067175"/>
              </a:xfrm>
              <a:prstGeom prst="rect">
                <a:avLst/>
              </a:prstGeom>
              <a:noFill/>
              <a:ln cap="flat" cmpd="sng" w="9525">
                <a:solidFill>
                  <a:srgbClr val="00B050"/>
                </a:solidFill>
                <a:prstDash val="solid"/>
                <a:miter lim="800000"/>
                <a:headEnd len="sm" w="sm" type="none"/>
                <a:tailEnd len="sm" w="sm" type="none"/>
              </a:ln>
            </p:spPr>
          </p:pic>
          <p:cxnSp>
            <p:nvCxnSpPr>
              <p:cNvPr id="331" name="Google Shape;331;p11"/>
              <p:cNvCxnSpPr/>
              <p:nvPr/>
            </p:nvCxnSpPr>
            <p:spPr>
              <a:xfrm>
                <a:off x="3962400" y="4114800"/>
                <a:ext cx="0" cy="228600"/>
              </a:xfrm>
              <a:prstGeom prst="straightConnector1">
                <a:avLst/>
              </a:prstGeom>
              <a:noFill/>
              <a:ln cap="flat" cmpd="sng" w="9525">
                <a:solidFill>
                  <a:srgbClr val="7F7F7F"/>
                </a:solidFill>
                <a:prstDash val="solid"/>
                <a:round/>
                <a:headEnd len="med" w="med" type="none"/>
                <a:tailEnd len="med" w="med" type="none"/>
              </a:ln>
            </p:spPr>
          </p:cxnSp>
          <p:cxnSp>
            <p:nvCxnSpPr>
              <p:cNvPr id="332" name="Google Shape;332;p11"/>
              <p:cNvCxnSpPr/>
              <p:nvPr/>
            </p:nvCxnSpPr>
            <p:spPr>
              <a:xfrm>
                <a:off x="3962400" y="4343400"/>
                <a:ext cx="1371600" cy="0"/>
              </a:xfrm>
              <a:prstGeom prst="straightConnector1">
                <a:avLst/>
              </a:prstGeom>
              <a:noFill/>
              <a:ln cap="flat" cmpd="sng" w="9525">
                <a:solidFill>
                  <a:srgbClr val="7F7F7F"/>
                </a:solidFill>
                <a:prstDash val="solid"/>
                <a:round/>
                <a:headEnd len="med" w="med" type="none"/>
                <a:tailEnd len="med" w="med" type="none"/>
              </a:ln>
            </p:spPr>
          </p:cxnSp>
          <p:cxnSp>
            <p:nvCxnSpPr>
              <p:cNvPr id="333" name="Google Shape;333;p11"/>
              <p:cNvCxnSpPr/>
              <p:nvPr/>
            </p:nvCxnSpPr>
            <p:spPr>
              <a:xfrm>
                <a:off x="5334000" y="4343400"/>
                <a:ext cx="0" cy="152400"/>
              </a:xfrm>
              <a:prstGeom prst="straightConnector1">
                <a:avLst/>
              </a:prstGeom>
              <a:noFill/>
              <a:ln cap="flat" cmpd="sng" w="9525">
                <a:solidFill>
                  <a:schemeClr val="dk1"/>
                </a:solidFill>
                <a:prstDash val="solid"/>
                <a:round/>
                <a:headEnd len="med" w="med" type="none"/>
                <a:tailEnd len="med" w="med" type="triangle"/>
              </a:ln>
            </p:spPr>
          </p:cxnSp>
        </p:grpSp>
        <p:sp>
          <p:nvSpPr>
            <p:cNvPr id="334" name="Google Shape;334;p11"/>
            <p:cNvSpPr txBox="1"/>
            <p:nvPr/>
          </p:nvSpPr>
          <p:spPr>
            <a:xfrm>
              <a:off x="4495800" y="4094379"/>
              <a:ext cx="581810" cy="3145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95959"/>
                </a:buClr>
                <a:buSzPts val="1600"/>
                <a:buFont typeface="Arial"/>
                <a:buNone/>
              </a:pPr>
              <a:r>
                <a:rPr b="1" lang="en-US" sz="1600">
                  <a:solidFill>
                    <a:srgbClr val="595959"/>
                  </a:solidFill>
                  <a:latin typeface="Calibri"/>
                  <a:ea typeface="Calibri"/>
                  <a:cs typeface="Calibri"/>
                  <a:sym typeface="Calibri"/>
                </a:rPr>
                <a:t>NO</a:t>
              </a:r>
              <a:endParaRPr/>
            </a:p>
          </p:txBody>
        </p:sp>
      </p:grpSp>
      <p:cxnSp>
        <p:nvCxnSpPr>
          <p:cNvPr id="335" name="Google Shape;335;p11"/>
          <p:cNvCxnSpPr/>
          <p:nvPr/>
        </p:nvCxnSpPr>
        <p:spPr>
          <a:xfrm>
            <a:off x="5562600" y="1108707"/>
            <a:ext cx="762000" cy="0"/>
          </a:xfrm>
          <a:prstGeom prst="straightConnector1">
            <a:avLst/>
          </a:prstGeom>
          <a:noFill/>
          <a:ln cap="flat" cmpd="sng" w="28575">
            <a:solidFill>
              <a:srgbClr val="00B050"/>
            </a:solidFill>
            <a:prstDash val="solid"/>
            <a:miter lim="800000"/>
            <a:headEnd len="sm" w="sm" type="none"/>
            <a:tailEnd len="med" w="med" type="triangle"/>
          </a:ln>
        </p:spPr>
      </p:cxnSp>
      <p:sp>
        <p:nvSpPr>
          <p:cNvPr id="336" name="Google Shape;336;p11"/>
          <p:cNvSpPr/>
          <p:nvPr/>
        </p:nvSpPr>
        <p:spPr>
          <a:xfrm>
            <a:off x="2390633" y="199509"/>
            <a:ext cx="1276311" cy="461665"/>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Example</a:t>
            </a:r>
            <a:endParaRPr sz="2400">
              <a:solidFill>
                <a:srgbClr val="FF0000"/>
              </a:solidFill>
              <a:latin typeface="Times New Roman"/>
              <a:ea typeface="Times New Roman"/>
              <a:cs typeface="Times New Roman"/>
              <a:sym typeface="Times New Roman"/>
            </a:endParaRPr>
          </a:p>
        </p:txBody>
      </p:sp>
      <p:sp>
        <p:nvSpPr>
          <p:cNvPr id="337" name="Google Shape;337;p11"/>
          <p:cNvSpPr txBox="1"/>
          <p:nvPr/>
        </p:nvSpPr>
        <p:spPr>
          <a:xfrm>
            <a:off x="390525" y="158750"/>
            <a:ext cx="1971675" cy="45085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Flowchart</a:t>
            </a:r>
            <a:endParaRPr b="1" sz="3000">
              <a:solidFill>
                <a:srgbClr val="002060"/>
              </a:solidFill>
              <a:latin typeface="Times New Roman"/>
              <a:ea typeface="Times New Roman"/>
              <a:cs typeface="Times New Roman"/>
              <a:sym typeface="Times New Roman"/>
            </a:endParaRPr>
          </a:p>
        </p:txBody>
      </p:sp>
      <p:sp>
        <p:nvSpPr>
          <p:cNvPr id="338" name="Google Shape;33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9" name="Google Shape;339;p11"/>
          <p:cNvSpPr/>
          <p:nvPr/>
        </p:nvSpPr>
        <p:spPr>
          <a:xfrm>
            <a:off x="390525" y="2438400"/>
            <a:ext cx="5703659" cy="1015663"/>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3C3C3C"/>
                </a:solidFill>
                <a:latin typeface="Times New Roman"/>
                <a:ea typeface="Times New Roman"/>
                <a:cs typeface="Times New Roman"/>
                <a:sym typeface="Times New Roman"/>
              </a:rPr>
              <a:t>Q1. Accept the length of two different line segments and check whether they are equal or unequal. Display the message accordingly.</a:t>
            </a:r>
            <a:endParaRPr sz="2000">
              <a:solidFill>
                <a:schemeClr val="dk1"/>
              </a:solidFill>
              <a:latin typeface="Times New Roman"/>
              <a:ea typeface="Times New Roman"/>
              <a:cs typeface="Times New Roman"/>
              <a:sym typeface="Times New Roman"/>
            </a:endParaRPr>
          </a:p>
        </p:txBody>
      </p:sp>
      <p:sp>
        <p:nvSpPr>
          <p:cNvPr id="340" name="Google Shape;340;p11"/>
          <p:cNvSpPr/>
          <p:nvPr/>
        </p:nvSpPr>
        <p:spPr>
          <a:xfrm>
            <a:off x="390525" y="3473440"/>
            <a:ext cx="5703659" cy="1708160"/>
          </a:xfrm>
          <a:prstGeom prst="rect">
            <a:avLst/>
          </a:prstGeom>
          <a:noFill/>
          <a:ln cap="flat" cmpd="sng" w="9525">
            <a:solidFill>
              <a:srgbClr val="FF0000"/>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3C3C3C"/>
                </a:solidFill>
                <a:latin typeface="Times New Roman"/>
                <a:ea typeface="Times New Roman"/>
                <a:cs typeface="Times New Roman"/>
                <a:sym typeface="Times New Roman"/>
              </a:rPr>
              <a:t>Q2. Accept three numbers and check whether they are 'Pythagorean Triplets' or not. Display the message accordingly.</a:t>
            </a:r>
            <a:endParaRPr/>
          </a:p>
          <a:p>
            <a:pPr indent="0" lvl="0" marL="0" marR="0" rtl="0" algn="l">
              <a:spcBef>
                <a:spcPts val="600"/>
              </a:spcBef>
              <a:spcAft>
                <a:spcPts val="0"/>
              </a:spcAft>
              <a:buNone/>
            </a:pPr>
            <a:r>
              <a:rPr lang="en-US" sz="2000">
                <a:solidFill>
                  <a:srgbClr val="3C3C3C"/>
                </a:solidFill>
                <a:latin typeface="Times New Roman"/>
                <a:ea typeface="Times New Roman"/>
                <a:cs typeface="Times New Roman"/>
                <a:sym typeface="Times New Roman"/>
              </a:rPr>
              <a:t>(</a:t>
            </a:r>
            <a:r>
              <a:rPr b="1" lang="en-US" sz="2000">
                <a:solidFill>
                  <a:srgbClr val="3C3C3C"/>
                </a:solidFill>
                <a:latin typeface="Times New Roman"/>
                <a:ea typeface="Times New Roman"/>
                <a:cs typeface="Times New Roman"/>
                <a:sym typeface="Times New Roman"/>
              </a:rPr>
              <a:t>Hint</a:t>
            </a:r>
            <a:r>
              <a:rPr lang="en-US" sz="2000">
                <a:solidFill>
                  <a:srgbClr val="3C3C3C"/>
                </a:solidFill>
                <a:latin typeface="Times New Roman"/>
                <a:ea typeface="Times New Roman"/>
                <a:cs typeface="Times New Roman"/>
                <a:sym typeface="Times New Roman"/>
              </a:rPr>
              <a:t>: Use Pythagoras Formula for a Right-angled Triangle: h = p2+b2)</a:t>
            </a:r>
            <a:endParaRPr sz="2000">
              <a:solidFill>
                <a:schemeClr val="dk1"/>
              </a:solidFill>
              <a:latin typeface="Times New Roman"/>
              <a:ea typeface="Times New Roman"/>
              <a:cs typeface="Times New Roman"/>
              <a:sym typeface="Times New Roman"/>
            </a:endParaRPr>
          </a:p>
        </p:txBody>
      </p:sp>
      <p:sp>
        <p:nvSpPr>
          <p:cNvPr id="341" name="Google Shape;341;p11"/>
          <p:cNvSpPr/>
          <p:nvPr/>
        </p:nvSpPr>
        <p:spPr>
          <a:xfrm>
            <a:off x="370053" y="1939292"/>
            <a:ext cx="1191352" cy="461665"/>
          </a:xfrm>
          <a:prstGeom prst="rect">
            <a:avLst/>
          </a:prstGeom>
          <a:noFill/>
          <a:ln cap="flat" cmpd="sng" w="9525">
            <a:solidFill>
              <a:srgbClr val="FF0000"/>
            </a:solidFill>
            <a:prstDash val="solid"/>
            <a:round/>
            <a:headEnd len="sm" w="sm" type="none"/>
            <a:tailEnd len="sm" w="sm" type="none"/>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Activity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par>
                                <p:cTn fill="hold" nodeType="with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par>
                                <p:cTn fill="hold" nodeType="with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par>
                                <p:cTn fill="hold" nodeType="with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12"/>
          <p:cNvSpPr txBox="1"/>
          <p:nvPr>
            <p:ph type="title"/>
          </p:nvPr>
        </p:nvSpPr>
        <p:spPr>
          <a:xfrm>
            <a:off x="304800" y="152401"/>
            <a:ext cx="6400800"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Computer Programming Languages</a:t>
            </a:r>
            <a:endParaRPr b="1" sz="3000">
              <a:solidFill>
                <a:srgbClr val="002060"/>
              </a:solidFill>
              <a:latin typeface="Times New Roman"/>
              <a:ea typeface="Times New Roman"/>
              <a:cs typeface="Times New Roman"/>
              <a:sym typeface="Times New Roman"/>
            </a:endParaRPr>
          </a:p>
        </p:txBody>
      </p:sp>
      <p:sp>
        <p:nvSpPr>
          <p:cNvPr id="347" name="Google Shape;347;p12"/>
          <p:cNvSpPr txBox="1"/>
          <p:nvPr>
            <p:ph idx="1" type="body"/>
          </p:nvPr>
        </p:nvSpPr>
        <p:spPr>
          <a:xfrm>
            <a:off x="304800" y="685801"/>
            <a:ext cx="11430000" cy="4572000"/>
          </a:xfrm>
          <a:prstGeom prst="rect">
            <a:avLst/>
          </a:prstGeom>
          <a:noFill/>
          <a:ln>
            <a:noFill/>
          </a:ln>
        </p:spPr>
        <p:txBody>
          <a:bodyPr anchorCtr="0" anchor="t" bIns="45700" lIns="91425" spcFirstLastPara="1" rIns="91425" wrap="square" tIns="45700">
            <a:noAutofit/>
          </a:bodyPr>
          <a:lstStyle/>
          <a:p>
            <a:pPr indent="-228600" lvl="0" marL="228600" rtl="0" algn="just">
              <a:lnSpc>
                <a:spcPct val="150000"/>
              </a:lnSpc>
              <a:spcBef>
                <a:spcPts val="0"/>
              </a:spcBef>
              <a:spcAft>
                <a:spcPts val="0"/>
              </a:spcAft>
              <a:buClr>
                <a:schemeClr val="dk1"/>
              </a:buClr>
              <a:buSzPts val="2200"/>
              <a:buChar char="•"/>
            </a:pPr>
            <a:r>
              <a:rPr lang="en-US" sz="2200">
                <a:latin typeface="Times New Roman"/>
                <a:ea typeface="Times New Roman"/>
                <a:cs typeface="Times New Roman"/>
                <a:sym typeface="Times New Roman"/>
              </a:rPr>
              <a:t>A </a:t>
            </a:r>
            <a:r>
              <a:rPr b="1" lang="en-US" sz="2200">
                <a:latin typeface="Times New Roman"/>
                <a:ea typeface="Times New Roman"/>
                <a:cs typeface="Times New Roman"/>
                <a:sym typeface="Times New Roman"/>
              </a:rPr>
              <a:t>programming language</a:t>
            </a:r>
            <a:r>
              <a:rPr lang="en-US" sz="2200">
                <a:latin typeface="Times New Roman"/>
                <a:ea typeface="Times New Roman"/>
                <a:cs typeface="Times New Roman"/>
                <a:sym typeface="Times New Roman"/>
              </a:rPr>
              <a:t> is an artificial language that can be used to control the behavior of a machine, particularly a computer </a:t>
            </a:r>
            <a:endParaRPr/>
          </a:p>
          <a:p>
            <a:pPr indent="-228600" lvl="0" marL="228600" rtl="0" algn="just">
              <a:lnSpc>
                <a:spcPct val="150000"/>
              </a:lnSpc>
              <a:spcBef>
                <a:spcPts val="0"/>
              </a:spcBef>
              <a:spcAft>
                <a:spcPts val="0"/>
              </a:spcAft>
              <a:buClr>
                <a:schemeClr val="dk1"/>
              </a:buClr>
              <a:buSzPts val="2200"/>
              <a:buChar char="•"/>
            </a:pPr>
            <a:r>
              <a:rPr lang="en-US" sz="2200">
                <a:latin typeface="Times New Roman"/>
                <a:ea typeface="Times New Roman"/>
                <a:cs typeface="Times New Roman"/>
                <a:sym typeface="Times New Roman"/>
              </a:rPr>
              <a:t>Programming languages, like human languages, are defined through the use of syntactic and semantic rules, to determine structure and meaning respectively.</a:t>
            </a:r>
            <a:endParaRPr/>
          </a:p>
          <a:p>
            <a:pPr indent="-228600" lvl="0" marL="228600" rtl="0" algn="just">
              <a:lnSpc>
                <a:spcPct val="150000"/>
              </a:lnSpc>
              <a:spcBef>
                <a:spcPts val="0"/>
              </a:spcBef>
              <a:spcAft>
                <a:spcPts val="0"/>
              </a:spcAft>
              <a:buClr>
                <a:schemeClr val="dk1"/>
              </a:buClr>
              <a:buSzPts val="2200"/>
              <a:buChar char="•"/>
            </a:pPr>
            <a:r>
              <a:rPr lang="en-US" sz="2200">
                <a:latin typeface="Times New Roman"/>
                <a:ea typeface="Times New Roman"/>
                <a:cs typeface="Times New Roman"/>
                <a:sym typeface="Times New Roman"/>
              </a:rPr>
              <a:t>Programming languages are used to facilitate communication about the task of organizing and manipulating information, and to express algorithms precisely. </a:t>
            </a:r>
            <a:endParaRPr/>
          </a:p>
          <a:p>
            <a:pPr indent="-228600" lvl="0" marL="228600" rtl="0" algn="just">
              <a:lnSpc>
                <a:spcPct val="150000"/>
              </a:lnSpc>
              <a:spcBef>
                <a:spcPts val="0"/>
              </a:spcBef>
              <a:spcAft>
                <a:spcPts val="0"/>
              </a:spcAft>
              <a:buClr>
                <a:schemeClr val="dk1"/>
              </a:buClr>
              <a:buSzPts val="2200"/>
              <a:buChar char="•"/>
            </a:pPr>
            <a:r>
              <a:rPr lang="en-US" sz="2200">
                <a:latin typeface="Times New Roman"/>
                <a:ea typeface="Times New Roman"/>
                <a:cs typeface="Times New Roman"/>
                <a:sym typeface="Times New Roman"/>
              </a:rPr>
              <a:t>For 50 years, computer programmers have been writing code. New technologies continue to emerge, develop, and mature at a rapid pace. Now there are more than 2,500 documented programming languages! </a:t>
            </a:r>
            <a:endParaRPr sz="2200">
              <a:latin typeface="Times New Roman"/>
              <a:ea typeface="Times New Roman"/>
              <a:cs typeface="Times New Roman"/>
              <a:sym typeface="Times New Roman"/>
            </a:endParaRPr>
          </a:p>
        </p:txBody>
      </p:sp>
      <p:sp>
        <p:nvSpPr>
          <p:cNvPr id="348" name="Google Shape;34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xEl>
                                              <p:pRg end="0" st="0"/>
                                            </p:txEl>
                                          </p:spTgt>
                                        </p:tgtEl>
                                        <p:attrNameLst>
                                          <p:attrName>style.visibility</p:attrName>
                                        </p:attrNameLst>
                                      </p:cBhvr>
                                      <p:to>
                                        <p:strVal val="visible"/>
                                      </p:to>
                                    </p:set>
                                    <p:animEffect filter="fade" transition="in">
                                      <p:cBhvr>
                                        <p:cTn dur="500"/>
                                        <p:tgtEl>
                                          <p:spTgt spid="3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xEl>
                                              <p:pRg end="1" st="1"/>
                                            </p:txEl>
                                          </p:spTgt>
                                        </p:tgtEl>
                                        <p:attrNameLst>
                                          <p:attrName>style.visibility</p:attrName>
                                        </p:attrNameLst>
                                      </p:cBhvr>
                                      <p:to>
                                        <p:strVal val="visible"/>
                                      </p:to>
                                    </p:set>
                                    <p:animEffect filter="fade" transition="in">
                                      <p:cBhvr>
                                        <p:cTn dur="500"/>
                                        <p:tgtEl>
                                          <p:spTgt spid="3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xEl>
                                              <p:pRg end="2" st="2"/>
                                            </p:txEl>
                                          </p:spTgt>
                                        </p:tgtEl>
                                        <p:attrNameLst>
                                          <p:attrName>style.visibility</p:attrName>
                                        </p:attrNameLst>
                                      </p:cBhvr>
                                      <p:to>
                                        <p:strVal val="visible"/>
                                      </p:to>
                                    </p:set>
                                    <p:animEffect filter="fade" transition="in">
                                      <p:cBhvr>
                                        <p:cTn dur="500"/>
                                        <p:tgtEl>
                                          <p:spTgt spid="3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7">
                                            <p:txEl>
                                              <p:pRg end="3" st="3"/>
                                            </p:txEl>
                                          </p:spTgt>
                                        </p:tgtEl>
                                        <p:attrNameLst>
                                          <p:attrName>style.visibility</p:attrName>
                                        </p:attrNameLst>
                                      </p:cBhvr>
                                      <p:to>
                                        <p:strVal val="visible"/>
                                      </p:to>
                                    </p:set>
                                    <p:animEffect filter="fade" transition="in">
                                      <p:cBhvr>
                                        <p:cTn dur="500"/>
                                        <p:tgtEl>
                                          <p:spTgt spid="34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3"/>
          <p:cNvSpPr txBox="1"/>
          <p:nvPr>
            <p:ph type="title"/>
          </p:nvPr>
        </p:nvSpPr>
        <p:spPr>
          <a:xfrm>
            <a:off x="304800" y="152401"/>
            <a:ext cx="6400800"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Types of Programming Languages</a:t>
            </a:r>
            <a:endParaRPr b="1" sz="3000">
              <a:solidFill>
                <a:srgbClr val="002060"/>
              </a:solidFill>
              <a:latin typeface="Times New Roman"/>
              <a:ea typeface="Times New Roman"/>
              <a:cs typeface="Times New Roman"/>
              <a:sym typeface="Times New Roman"/>
            </a:endParaRPr>
          </a:p>
        </p:txBody>
      </p:sp>
      <p:sp>
        <p:nvSpPr>
          <p:cNvPr id="354" name="Google Shape;354;p13"/>
          <p:cNvSpPr/>
          <p:nvPr/>
        </p:nvSpPr>
        <p:spPr>
          <a:xfrm>
            <a:off x="4343400" y="838201"/>
            <a:ext cx="3124200" cy="457200"/>
          </a:xfrm>
          <a:prstGeom prst="flowChartProcess">
            <a:avLst/>
          </a:prstGeom>
          <a:solidFill>
            <a:srgbClr val="FF0000"/>
          </a:solidFill>
          <a:ln>
            <a:noFill/>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Programming Languages</a:t>
            </a:r>
            <a:endParaRPr b="1" sz="2000">
              <a:solidFill>
                <a:schemeClr val="lt1"/>
              </a:solidFill>
              <a:latin typeface="Times New Roman"/>
              <a:ea typeface="Times New Roman"/>
              <a:cs typeface="Times New Roman"/>
              <a:sym typeface="Times New Roman"/>
            </a:endParaRPr>
          </a:p>
        </p:txBody>
      </p:sp>
      <p:sp>
        <p:nvSpPr>
          <p:cNvPr id="355" name="Google Shape;355;p13"/>
          <p:cNvSpPr/>
          <p:nvPr/>
        </p:nvSpPr>
        <p:spPr>
          <a:xfrm>
            <a:off x="1294831" y="2133600"/>
            <a:ext cx="2590800" cy="457200"/>
          </a:xfrm>
          <a:prstGeom prst="flowChartProcess">
            <a:avLst/>
          </a:prstGeom>
          <a:solidFill>
            <a:srgbClr val="002060"/>
          </a:solidFill>
          <a:ln cap="flat" cmpd="sng" w="12700">
            <a:solidFill>
              <a:srgbClr val="00206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Low Level Languages</a:t>
            </a:r>
            <a:endParaRPr b="1" sz="2000">
              <a:solidFill>
                <a:schemeClr val="lt1"/>
              </a:solidFill>
              <a:latin typeface="Times New Roman"/>
              <a:ea typeface="Times New Roman"/>
              <a:cs typeface="Times New Roman"/>
              <a:sym typeface="Times New Roman"/>
            </a:endParaRPr>
          </a:p>
        </p:txBody>
      </p:sp>
      <p:sp>
        <p:nvSpPr>
          <p:cNvPr id="356" name="Google Shape;356;p13"/>
          <p:cNvSpPr/>
          <p:nvPr/>
        </p:nvSpPr>
        <p:spPr>
          <a:xfrm>
            <a:off x="7467600" y="2133600"/>
            <a:ext cx="2743200" cy="45720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High Level Languages</a:t>
            </a:r>
            <a:endParaRPr b="1" sz="2000">
              <a:solidFill>
                <a:schemeClr val="lt1"/>
              </a:solidFill>
              <a:latin typeface="Times New Roman"/>
              <a:ea typeface="Times New Roman"/>
              <a:cs typeface="Times New Roman"/>
              <a:sym typeface="Times New Roman"/>
            </a:endParaRPr>
          </a:p>
        </p:txBody>
      </p:sp>
      <p:sp>
        <p:nvSpPr>
          <p:cNvPr id="357" name="Google Shape;357;p13"/>
          <p:cNvSpPr/>
          <p:nvPr/>
        </p:nvSpPr>
        <p:spPr>
          <a:xfrm>
            <a:off x="685800" y="3352798"/>
            <a:ext cx="1447800" cy="685801"/>
          </a:xfrm>
          <a:prstGeom prst="flowChartProcess">
            <a:avLst/>
          </a:prstGeom>
          <a:solidFill>
            <a:srgbClr val="002060"/>
          </a:solidFill>
          <a:ln cap="flat" cmpd="sng" w="12700">
            <a:solidFill>
              <a:srgbClr val="00206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Machine Language</a:t>
            </a:r>
            <a:endParaRPr/>
          </a:p>
        </p:txBody>
      </p:sp>
      <p:sp>
        <p:nvSpPr>
          <p:cNvPr id="358" name="Google Shape;358;p13"/>
          <p:cNvSpPr/>
          <p:nvPr/>
        </p:nvSpPr>
        <p:spPr>
          <a:xfrm>
            <a:off x="3048000" y="3352799"/>
            <a:ext cx="1600200" cy="685800"/>
          </a:xfrm>
          <a:prstGeom prst="flowChartProcess">
            <a:avLst/>
          </a:prstGeom>
          <a:solidFill>
            <a:srgbClr val="002060"/>
          </a:solidFill>
          <a:ln cap="flat" cmpd="sng" w="12700">
            <a:solidFill>
              <a:srgbClr val="00206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Assembly Language</a:t>
            </a:r>
            <a:endParaRPr/>
          </a:p>
        </p:txBody>
      </p:sp>
      <p:sp>
        <p:nvSpPr>
          <p:cNvPr id="359" name="Google Shape;359;p13"/>
          <p:cNvSpPr/>
          <p:nvPr/>
        </p:nvSpPr>
        <p:spPr>
          <a:xfrm>
            <a:off x="9677400" y="3047998"/>
            <a:ext cx="2133600" cy="762002"/>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Object Oriented Languages</a:t>
            </a:r>
            <a:endParaRPr b="1" sz="2000">
              <a:solidFill>
                <a:schemeClr val="lt1"/>
              </a:solidFill>
              <a:latin typeface="Times New Roman"/>
              <a:ea typeface="Times New Roman"/>
              <a:cs typeface="Times New Roman"/>
              <a:sym typeface="Times New Roman"/>
            </a:endParaRPr>
          </a:p>
        </p:txBody>
      </p:sp>
      <p:sp>
        <p:nvSpPr>
          <p:cNvPr id="360" name="Google Shape;360;p13"/>
          <p:cNvSpPr/>
          <p:nvPr/>
        </p:nvSpPr>
        <p:spPr>
          <a:xfrm>
            <a:off x="4800600" y="4569107"/>
            <a:ext cx="1676400" cy="762002"/>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Imperative Languages</a:t>
            </a:r>
            <a:endParaRPr b="1" sz="2000">
              <a:solidFill>
                <a:schemeClr val="lt1"/>
              </a:solidFill>
              <a:latin typeface="Times New Roman"/>
              <a:ea typeface="Times New Roman"/>
              <a:cs typeface="Times New Roman"/>
              <a:sym typeface="Times New Roman"/>
            </a:endParaRPr>
          </a:p>
        </p:txBody>
      </p:sp>
      <p:sp>
        <p:nvSpPr>
          <p:cNvPr id="361" name="Google Shape;361;p13"/>
          <p:cNvSpPr/>
          <p:nvPr/>
        </p:nvSpPr>
        <p:spPr>
          <a:xfrm>
            <a:off x="6781800" y="4569107"/>
            <a:ext cx="1600200" cy="762002"/>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Functional Languages</a:t>
            </a:r>
            <a:endParaRPr b="1" sz="2000">
              <a:solidFill>
                <a:schemeClr val="lt1"/>
              </a:solidFill>
              <a:latin typeface="Times New Roman"/>
              <a:ea typeface="Times New Roman"/>
              <a:cs typeface="Times New Roman"/>
              <a:sym typeface="Times New Roman"/>
            </a:endParaRPr>
          </a:p>
        </p:txBody>
      </p:sp>
      <p:sp>
        <p:nvSpPr>
          <p:cNvPr id="362" name="Google Shape;362;p13"/>
          <p:cNvSpPr/>
          <p:nvPr/>
        </p:nvSpPr>
        <p:spPr>
          <a:xfrm>
            <a:off x="8686800" y="4538918"/>
            <a:ext cx="1676400" cy="762002"/>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Declarative Languages</a:t>
            </a:r>
            <a:endParaRPr b="1" sz="2000">
              <a:solidFill>
                <a:schemeClr val="lt1"/>
              </a:solidFill>
              <a:latin typeface="Times New Roman"/>
              <a:ea typeface="Times New Roman"/>
              <a:cs typeface="Times New Roman"/>
              <a:sym typeface="Times New Roman"/>
            </a:endParaRPr>
          </a:p>
        </p:txBody>
      </p:sp>
      <p:grpSp>
        <p:nvGrpSpPr>
          <p:cNvPr id="363" name="Google Shape;363;p13"/>
          <p:cNvGrpSpPr/>
          <p:nvPr/>
        </p:nvGrpSpPr>
        <p:grpSpPr>
          <a:xfrm>
            <a:off x="2590231" y="1295401"/>
            <a:ext cx="6248400" cy="838199"/>
            <a:chOff x="2590231" y="1295401"/>
            <a:chExt cx="6248400" cy="838199"/>
          </a:xfrm>
        </p:grpSpPr>
        <p:cxnSp>
          <p:nvCxnSpPr>
            <p:cNvPr id="364" name="Google Shape;364;p13"/>
            <p:cNvCxnSpPr/>
            <p:nvPr/>
          </p:nvCxnSpPr>
          <p:spPr>
            <a:xfrm rot="10800000">
              <a:off x="2590231" y="1828800"/>
              <a:ext cx="0" cy="304800"/>
            </a:xfrm>
            <a:prstGeom prst="straightConnector1">
              <a:avLst/>
            </a:prstGeom>
            <a:noFill/>
            <a:ln cap="flat" cmpd="sng" w="28575">
              <a:solidFill>
                <a:srgbClr val="C55A11"/>
              </a:solidFill>
              <a:prstDash val="solid"/>
              <a:miter lim="800000"/>
              <a:headEnd len="sm" w="sm" type="none"/>
              <a:tailEnd len="sm" w="sm" type="none"/>
            </a:ln>
          </p:spPr>
        </p:cxnSp>
        <p:cxnSp>
          <p:nvCxnSpPr>
            <p:cNvPr id="365" name="Google Shape;365;p13"/>
            <p:cNvCxnSpPr/>
            <p:nvPr/>
          </p:nvCxnSpPr>
          <p:spPr>
            <a:xfrm rot="10800000">
              <a:off x="8819865" y="1828800"/>
              <a:ext cx="0" cy="304800"/>
            </a:xfrm>
            <a:prstGeom prst="straightConnector1">
              <a:avLst/>
            </a:prstGeom>
            <a:noFill/>
            <a:ln cap="flat" cmpd="sng" w="28575">
              <a:solidFill>
                <a:srgbClr val="C55A11"/>
              </a:solidFill>
              <a:prstDash val="solid"/>
              <a:miter lim="800000"/>
              <a:headEnd len="sm" w="sm" type="none"/>
              <a:tailEnd len="sm" w="sm" type="none"/>
            </a:ln>
          </p:spPr>
        </p:cxnSp>
        <p:cxnSp>
          <p:nvCxnSpPr>
            <p:cNvPr id="366" name="Google Shape;366;p13"/>
            <p:cNvCxnSpPr/>
            <p:nvPr/>
          </p:nvCxnSpPr>
          <p:spPr>
            <a:xfrm>
              <a:off x="2590231" y="1828800"/>
              <a:ext cx="6248400" cy="0"/>
            </a:xfrm>
            <a:prstGeom prst="straightConnector1">
              <a:avLst/>
            </a:prstGeom>
            <a:noFill/>
            <a:ln cap="flat" cmpd="sng" w="28575">
              <a:solidFill>
                <a:srgbClr val="C55A11"/>
              </a:solidFill>
              <a:prstDash val="solid"/>
              <a:miter lim="800000"/>
              <a:headEnd len="sm" w="sm" type="none"/>
              <a:tailEnd len="sm" w="sm" type="none"/>
            </a:ln>
          </p:spPr>
        </p:cxnSp>
        <p:cxnSp>
          <p:nvCxnSpPr>
            <p:cNvPr id="367" name="Google Shape;367;p13"/>
            <p:cNvCxnSpPr/>
            <p:nvPr/>
          </p:nvCxnSpPr>
          <p:spPr>
            <a:xfrm rot="10800000">
              <a:off x="5905500" y="1295401"/>
              <a:ext cx="0" cy="533399"/>
            </a:xfrm>
            <a:prstGeom prst="straightConnector1">
              <a:avLst/>
            </a:prstGeom>
            <a:noFill/>
            <a:ln cap="flat" cmpd="sng" w="28575">
              <a:solidFill>
                <a:srgbClr val="C55A11"/>
              </a:solidFill>
              <a:prstDash val="solid"/>
              <a:miter lim="800000"/>
              <a:headEnd len="sm" w="sm" type="none"/>
              <a:tailEnd len="sm" w="sm" type="none"/>
            </a:ln>
          </p:spPr>
        </p:cxnSp>
      </p:grpSp>
      <p:grpSp>
        <p:nvGrpSpPr>
          <p:cNvPr id="368" name="Google Shape;368;p13"/>
          <p:cNvGrpSpPr/>
          <p:nvPr/>
        </p:nvGrpSpPr>
        <p:grpSpPr>
          <a:xfrm>
            <a:off x="5105400" y="4226206"/>
            <a:ext cx="4495800" cy="342902"/>
            <a:chOff x="2590231" y="1828800"/>
            <a:chExt cx="6248400" cy="342902"/>
          </a:xfrm>
        </p:grpSpPr>
        <p:cxnSp>
          <p:nvCxnSpPr>
            <p:cNvPr id="369" name="Google Shape;369;p13"/>
            <p:cNvCxnSpPr/>
            <p:nvPr/>
          </p:nvCxnSpPr>
          <p:spPr>
            <a:xfrm rot="10800000">
              <a:off x="2590231" y="1828800"/>
              <a:ext cx="0" cy="304800"/>
            </a:xfrm>
            <a:prstGeom prst="straightConnector1">
              <a:avLst/>
            </a:prstGeom>
            <a:noFill/>
            <a:ln cap="flat" cmpd="sng" w="28575">
              <a:solidFill>
                <a:srgbClr val="C55A11"/>
              </a:solidFill>
              <a:prstDash val="solid"/>
              <a:miter lim="800000"/>
              <a:headEnd len="sm" w="sm" type="none"/>
              <a:tailEnd len="sm" w="sm" type="none"/>
            </a:ln>
          </p:spPr>
        </p:cxnSp>
        <p:cxnSp>
          <p:nvCxnSpPr>
            <p:cNvPr id="370" name="Google Shape;370;p13"/>
            <p:cNvCxnSpPr/>
            <p:nvPr/>
          </p:nvCxnSpPr>
          <p:spPr>
            <a:xfrm rot="10800000">
              <a:off x="8819865" y="1828800"/>
              <a:ext cx="0" cy="304800"/>
            </a:xfrm>
            <a:prstGeom prst="straightConnector1">
              <a:avLst/>
            </a:prstGeom>
            <a:noFill/>
            <a:ln cap="flat" cmpd="sng" w="28575">
              <a:solidFill>
                <a:srgbClr val="C55A11"/>
              </a:solidFill>
              <a:prstDash val="solid"/>
              <a:miter lim="800000"/>
              <a:headEnd len="sm" w="sm" type="none"/>
              <a:tailEnd len="sm" w="sm" type="none"/>
            </a:ln>
          </p:spPr>
        </p:cxnSp>
        <p:cxnSp>
          <p:nvCxnSpPr>
            <p:cNvPr id="371" name="Google Shape;371;p13"/>
            <p:cNvCxnSpPr/>
            <p:nvPr/>
          </p:nvCxnSpPr>
          <p:spPr>
            <a:xfrm>
              <a:off x="2590231" y="1828800"/>
              <a:ext cx="6248400" cy="0"/>
            </a:xfrm>
            <a:prstGeom prst="straightConnector1">
              <a:avLst/>
            </a:prstGeom>
            <a:noFill/>
            <a:ln cap="flat" cmpd="sng" w="28575">
              <a:solidFill>
                <a:srgbClr val="C55A11"/>
              </a:solidFill>
              <a:prstDash val="solid"/>
              <a:miter lim="800000"/>
              <a:headEnd len="sm" w="sm" type="none"/>
              <a:tailEnd len="sm" w="sm" type="none"/>
            </a:ln>
          </p:spPr>
        </p:cxnSp>
        <p:cxnSp>
          <p:nvCxnSpPr>
            <p:cNvPr id="372" name="Google Shape;372;p13"/>
            <p:cNvCxnSpPr/>
            <p:nvPr/>
          </p:nvCxnSpPr>
          <p:spPr>
            <a:xfrm rot="10800000">
              <a:off x="5873289" y="1828800"/>
              <a:ext cx="0" cy="342902"/>
            </a:xfrm>
            <a:prstGeom prst="straightConnector1">
              <a:avLst/>
            </a:prstGeom>
            <a:noFill/>
            <a:ln cap="flat" cmpd="sng" w="28575">
              <a:solidFill>
                <a:srgbClr val="C55A11"/>
              </a:solidFill>
              <a:prstDash val="solid"/>
              <a:miter lim="800000"/>
              <a:headEnd len="sm" w="sm" type="none"/>
              <a:tailEnd len="sm" w="sm" type="none"/>
            </a:ln>
          </p:spPr>
        </p:cxnSp>
      </p:grpSp>
      <p:cxnSp>
        <p:nvCxnSpPr>
          <p:cNvPr id="373" name="Google Shape;373;p13"/>
          <p:cNvCxnSpPr/>
          <p:nvPr/>
        </p:nvCxnSpPr>
        <p:spPr>
          <a:xfrm rot="5400000">
            <a:off x="7335482" y="2722951"/>
            <a:ext cx="1635300" cy="1371000"/>
          </a:xfrm>
          <a:prstGeom prst="bentConnector3">
            <a:avLst>
              <a:gd fmla="val 50000" name="adj1"/>
            </a:avLst>
          </a:prstGeom>
          <a:noFill/>
          <a:ln cap="flat" cmpd="sng" w="28575">
            <a:solidFill>
              <a:srgbClr val="C55A11"/>
            </a:solidFill>
            <a:prstDash val="solid"/>
            <a:miter lim="800000"/>
            <a:headEnd len="sm" w="sm" type="none"/>
            <a:tailEnd len="sm" w="sm" type="none"/>
          </a:ln>
        </p:spPr>
      </p:cxnSp>
      <p:cxnSp>
        <p:nvCxnSpPr>
          <p:cNvPr id="374" name="Google Shape;374;p13"/>
          <p:cNvCxnSpPr/>
          <p:nvPr/>
        </p:nvCxnSpPr>
        <p:spPr>
          <a:xfrm>
            <a:off x="8819865" y="2576557"/>
            <a:ext cx="838800" cy="838200"/>
          </a:xfrm>
          <a:prstGeom prst="bentConnector3">
            <a:avLst>
              <a:gd fmla="val 1187" name="adj1"/>
            </a:avLst>
          </a:prstGeom>
          <a:noFill/>
          <a:ln cap="flat" cmpd="sng" w="28575">
            <a:solidFill>
              <a:srgbClr val="C55A11"/>
            </a:solidFill>
            <a:prstDash val="solid"/>
            <a:miter lim="800000"/>
            <a:headEnd len="sm" w="sm" type="none"/>
            <a:tailEnd len="sm" w="sm" type="none"/>
          </a:ln>
        </p:spPr>
      </p:cxnSp>
      <p:grpSp>
        <p:nvGrpSpPr>
          <p:cNvPr id="375" name="Google Shape;375;p13"/>
          <p:cNvGrpSpPr/>
          <p:nvPr/>
        </p:nvGrpSpPr>
        <p:grpSpPr>
          <a:xfrm>
            <a:off x="1257300" y="2590800"/>
            <a:ext cx="2628331" cy="773348"/>
            <a:chOff x="2590231" y="1360252"/>
            <a:chExt cx="6248400" cy="773348"/>
          </a:xfrm>
        </p:grpSpPr>
        <p:cxnSp>
          <p:nvCxnSpPr>
            <p:cNvPr id="376" name="Google Shape;376;p13"/>
            <p:cNvCxnSpPr/>
            <p:nvPr/>
          </p:nvCxnSpPr>
          <p:spPr>
            <a:xfrm rot="10800000">
              <a:off x="2590231" y="1828800"/>
              <a:ext cx="0" cy="304800"/>
            </a:xfrm>
            <a:prstGeom prst="straightConnector1">
              <a:avLst/>
            </a:prstGeom>
            <a:noFill/>
            <a:ln cap="flat" cmpd="sng" w="28575">
              <a:solidFill>
                <a:srgbClr val="C55A11"/>
              </a:solidFill>
              <a:prstDash val="solid"/>
              <a:miter lim="800000"/>
              <a:headEnd len="sm" w="sm" type="none"/>
              <a:tailEnd len="sm" w="sm" type="none"/>
            </a:ln>
          </p:spPr>
        </p:cxnSp>
        <p:cxnSp>
          <p:nvCxnSpPr>
            <p:cNvPr id="377" name="Google Shape;377;p13"/>
            <p:cNvCxnSpPr/>
            <p:nvPr/>
          </p:nvCxnSpPr>
          <p:spPr>
            <a:xfrm rot="10800000">
              <a:off x="8819865" y="1828800"/>
              <a:ext cx="0" cy="304800"/>
            </a:xfrm>
            <a:prstGeom prst="straightConnector1">
              <a:avLst/>
            </a:prstGeom>
            <a:noFill/>
            <a:ln cap="flat" cmpd="sng" w="28575">
              <a:solidFill>
                <a:srgbClr val="C55A11"/>
              </a:solidFill>
              <a:prstDash val="solid"/>
              <a:miter lim="800000"/>
              <a:headEnd len="sm" w="sm" type="none"/>
              <a:tailEnd len="sm" w="sm" type="none"/>
            </a:ln>
          </p:spPr>
        </p:cxnSp>
        <p:cxnSp>
          <p:nvCxnSpPr>
            <p:cNvPr id="378" name="Google Shape;378;p13"/>
            <p:cNvCxnSpPr/>
            <p:nvPr/>
          </p:nvCxnSpPr>
          <p:spPr>
            <a:xfrm>
              <a:off x="2590231" y="1828800"/>
              <a:ext cx="6248400" cy="0"/>
            </a:xfrm>
            <a:prstGeom prst="straightConnector1">
              <a:avLst/>
            </a:prstGeom>
            <a:noFill/>
            <a:ln cap="flat" cmpd="sng" w="28575">
              <a:solidFill>
                <a:srgbClr val="C55A11"/>
              </a:solidFill>
              <a:prstDash val="solid"/>
              <a:miter lim="800000"/>
              <a:headEnd len="sm" w="sm" type="none"/>
              <a:tailEnd len="sm" w="sm" type="none"/>
            </a:ln>
          </p:spPr>
        </p:cxnSp>
        <p:cxnSp>
          <p:nvCxnSpPr>
            <p:cNvPr id="379" name="Google Shape;379;p13"/>
            <p:cNvCxnSpPr/>
            <p:nvPr/>
          </p:nvCxnSpPr>
          <p:spPr>
            <a:xfrm rot="10800000">
              <a:off x="5759043" y="1360252"/>
              <a:ext cx="0" cy="457198"/>
            </a:xfrm>
            <a:prstGeom prst="straightConnector1">
              <a:avLst/>
            </a:prstGeom>
            <a:noFill/>
            <a:ln cap="flat" cmpd="sng" w="28575">
              <a:solidFill>
                <a:srgbClr val="C55A11"/>
              </a:solidFill>
              <a:prstDash val="solid"/>
              <a:miter lim="800000"/>
              <a:headEnd len="sm" w="sm" type="none"/>
              <a:tailEnd len="sm" w="sm" type="none"/>
            </a:ln>
          </p:spPr>
        </p:cxnSp>
      </p:grpSp>
      <p:sp>
        <p:nvSpPr>
          <p:cNvPr id="380" name="Google Shape;380;p13"/>
          <p:cNvSpPr txBox="1"/>
          <p:nvPr/>
        </p:nvSpPr>
        <p:spPr>
          <a:xfrm>
            <a:off x="590405" y="4114799"/>
            <a:ext cx="15840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C55A11"/>
                </a:solidFill>
                <a:latin typeface="Times New Roman"/>
                <a:ea typeface="Times New Roman"/>
                <a:cs typeface="Times New Roman"/>
                <a:sym typeface="Times New Roman"/>
              </a:rPr>
              <a:t>1</a:t>
            </a:r>
            <a:r>
              <a:rPr b="1" baseline="30000" lang="en-US" sz="1800">
                <a:solidFill>
                  <a:srgbClr val="C55A11"/>
                </a:solidFill>
                <a:latin typeface="Times New Roman"/>
                <a:ea typeface="Times New Roman"/>
                <a:cs typeface="Times New Roman"/>
                <a:sym typeface="Times New Roman"/>
              </a:rPr>
              <a:t>st</a:t>
            </a:r>
            <a:r>
              <a:rPr b="1" lang="en-US" sz="1800">
                <a:solidFill>
                  <a:srgbClr val="C55A11"/>
                </a:solidFill>
                <a:latin typeface="Times New Roman"/>
                <a:ea typeface="Times New Roman"/>
                <a:cs typeface="Times New Roman"/>
                <a:sym typeface="Times New Roman"/>
              </a:rPr>
              <a:t> Generation</a:t>
            </a:r>
            <a:endParaRPr b="1" sz="1800">
              <a:solidFill>
                <a:srgbClr val="C55A11"/>
              </a:solidFill>
              <a:latin typeface="Times New Roman"/>
              <a:ea typeface="Times New Roman"/>
              <a:cs typeface="Times New Roman"/>
              <a:sym typeface="Times New Roman"/>
            </a:endParaRPr>
          </a:p>
        </p:txBody>
      </p:sp>
      <p:sp>
        <p:nvSpPr>
          <p:cNvPr id="381" name="Google Shape;381;p13"/>
          <p:cNvSpPr txBox="1"/>
          <p:nvPr/>
        </p:nvSpPr>
        <p:spPr>
          <a:xfrm>
            <a:off x="3110553" y="4114799"/>
            <a:ext cx="170110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C55A11"/>
                </a:solidFill>
                <a:latin typeface="Times New Roman"/>
                <a:ea typeface="Times New Roman"/>
                <a:cs typeface="Times New Roman"/>
                <a:sym typeface="Times New Roman"/>
              </a:rPr>
              <a:t>2</a:t>
            </a:r>
            <a:r>
              <a:rPr b="1" baseline="30000" lang="en-US" sz="1800">
                <a:solidFill>
                  <a:srgbClr val="C55A11"/>
                </a:solidFill>
                <a:latin typeface="Times New Roman"/>
                <a:ea typeface="Times New Roman"/>
                <a:cs typeface="Times New Roman"/>
                <a:sym typeface="Times New Roman"/>
              </a:rPr>
              <a:t>nd</a:t>
            </a:r>
            <a:r>
              <a:rPr b="1" lang="en-US" sz="1800">
                <a:solidFill>
                  <a:srgbClr val="C55A11"/>
                </a:solidFill>
                <a:latin typeface="Times New Roman"/>
                <a:ea typeface="Times New Roman"/>
                <a:cs typeface="Times New Roman"/>
                <a:sym typeface="Times New Roman"/>
              </a:rPr>
              <a:t> Generation</a:t>
            </a:r>
            <a:endParaRPr b="1" sz="1800">
              <a:solidFill>
                <a:srgbClr val="C55A11"/>
              </a:solidFill>
              <a:latin typeface="Times New Roman"/>
              <a:ea typeface="Times New Roman"/>
              <a:cs typeface="Times New Roman"/>
              <a:sym typeface="Times New Roman"/>
            </a:endParaRPr>
          </a:p>
        </p:txBody>
      </p:sp>
      <p:sp>
        <p:nvSpPr>
          <p:cNvPr id="382" name="Google Shape;382;p13"/>
          <p:cNvSpPr txBox="1"/>
          <p:nvPr/>
        </p:nvSpPr>
        <p:spPr>
          <a:xfrm>
            <a:off x="10020190" y="3856874"/>
            <a:ext cx="16097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C55A11"/>
                </a:solidFill>
                <a:latin typeface="Times New Roman"/>
                <a:ea typeface="Times New Roman"/>
                <a:cs typeface="Times New Roman"/>
                <a:sym typeface="Times New Roman"/>
              </a:rPr>
              <a:t>4</a:t>
            </a:r>
            <a:r>
              <a:rPr b="1" baseline="30000" lang="en-US" sz="1800">
                <a:solidFill>
                  <a:srgbClr val="C55A11"/>
                </a:solidFill>
                <a:latin typeface="Times New Roman"/>
                <a:ea typeface="Times New Roman"/>
                <a:cs typeface="Times New Roman"/>
                <a:sym typeface="Times New Roman"/>
              </a:rPr>
              <a:t>th</a:t>
            </a:r>
            <a:r>
              <a:rPr b="1" lang="en-US" sz="1800">
                <a:solidFill>
                  <a:srgbClr val="C55A11"/>
                </a:solidFill>
                <a:latin typeface="Times New Roman"/>
                <a:ea typeface="Times New Roman"/>
                <a:cs typeface="Times New Roman"/>
                <a:sym typeface="Times New Roman"/>
              </a:rPr>
              <a:t> Generation</a:t>
            </a:r>
            <a:endParaRPr b="1" sz="1800">
              <a:solidFill>
                <a:srgbClr val="C55A11"/>
              </a:solidFill>
              <a:latin typeface="Times New Roman"/>
              <a:ea typeface="Times New Roman"/>
              <a:cs typeface="Times New Roman"/>
              <a:sym typeface="Times New Roman"/>
            </a:endParaRPr>
          </a:p>
        </p:txBody>
      </p:sp>
      <p:sp>
        <p:nvSpPr>
          <p:cNvPr id="383" name="Google Shape;383;p13"/>
          <p:cNvSpPr txBox="1"/>
          <p:nvPr/>
        </p:nvSpPr>
        <p:spPr>
          <a:xfrm>
            <a:off x="6954489" y="5481711"/>
            <a:ext cx="162736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C55A11"/>
                </a:solidFill>
                <a:latin typeface="Times New Roman"/>
                <a:ea typeface="Times New Roman"/>
                <a:cs typeface="Times New Roman"/>
                <a:sym typeface="Times New Roman"/>
              </a:rPr>
              <a:t>3</a:t>
            </a:r>
            <a:r>
              <a:rPr b="1" baseline="30000" lang="en-US" sz="1800">
                <a:solidFill>
                  <a:srgbClr val="C55A11"/>
                </a:solidFill>
                <a:latin typeface="Times New Roman"/>
                <a:ea typeface="Times New Roman"/>
                <a:cs typeface="Times New Roman"/>
                <a:sym typeface="Times New Roman"/>
              </a:rPr>
              <a:t>rd</a:t>
            </a:r>
            <a:r>
              <a:rPr b="1" lang="en-US" sz="1800">
                <a:solidFill>
                  <a:srgbClr val="C55A11"/>
                </a:solidFill>
                <a:latin typeface="Times New Roman"/>
                <a:ea typeface="Times New Roman"/>
                <a:cs typeface="Times New Roman"/>
                <a:sym typeface="Times New Roman"/>
              </a:rPr>
              <a:t> Generation</a:t>
            </a:r>
            <a:endParaRPr b="1" sz="1800">
              <a:solidFill>
                <a:srgbClr val="C55A11"/>
              </a:solidFill>
              <a:latin typeface="Times New Roman"/>
              <a:ea typeface="Times New Roman"/>
              <a:cs typeface="Times New Roman"/>
              <a:sym typeface="Times New Roman"/>
            </a:endParaRPr>
          </a:p>
        </p:txBody>
      </p:sp>
      <p:sp>
        <p:nvSpPr>
          <p:cNvPr id="384" name="Google Shape;38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5"/>
                                        </p:tgtEl>
                                        <p:attrNameLst>
                                          <p:attrName>style.visibility</p:attrName>
                                        </p:attrNameLst>
                                      </p:cBhvr>
                                      <p:to>
                                        <p:strVal val="visible"/>
                                      </p:to>
                                    </p:set>
                                    <p:animEffect filter="fade" transition="in">
                                      <p:cBhvr>
                                        <p:cTn dur="500"/>
                                        <p:tgtEl>
                                          <p:spTgt spid="355"/>
                                        </p:tgtEl>
                                      </p:cBhvr>
                                    </p:animEffect>
                                  </p:childTnLst>
                                </p:cTn>
                              </p:par>
                              <p:par>
                                <p:cTn fill="hold" nodeType="withEffect" presetClass="entr" presetID="10" presetSubtype="0">
                                  <p:stCondLst>
                                    <p:cond delay="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par>
                                <p:cTn fill="hold" nodeType="with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500"/>
                                        <p:tgtEl>
                                          <p:spTgt spid="3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gtEl>
                                        <p:attrNameLst>
                                          <p:attrName>style.visibility</p:attrName>
                                        </p:attrNameLst>
                                      </p:cBhvr>
                                      <p:to>
                                        <p:strVal val="visible"/>
                                      </p:to>
                                    </p:set>
                                    <p:animEffect filter="fade" transition="in">
                                      <p:cBhvr>
                                        <p:cTn dur="500"/>
                                        <p:tgtEl>
                                          <p:spTgt spid="358"/>
                                        </p:tgtEl>
                                      </p:cBhvr>
                                    </p:animEffect>
                                  </p:childTnLst>
                                </p:cTn>
                              </p:par>
                              <p:par>
                                <p:cTn fill="hold" nodeType="with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par>
                                <p:cTn fill="hold" nodeType="with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par>
                                <p:cTn fill="hold" nodeType="with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par>
                                <p:cTn fill="hold" nodeType="with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500"/>
                                        <p:tgtEl>
                                          <p:spTgt spid="361"/>
                                        </p:tgtEl>
                                      </p:cBhvr>
                                    </p:animEffect>
                                  </p:childTnLst>
                                </p:cTn>
                              </p:par>
                              <p:par>
                                <p:cTn fill="hold" nodeType="with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par>
                                <p:cTn fill="hold" nodeType="withEffect" presetClass="entr" presetID="10" presetSubtype="0">
                                  <p:stCondLst>
                                    <p:cond delay="0"/>
                                  </p:stCondLst>
                                  <p:childTnLst>
                                    <p:set>
                                      <p:cBhvr>
                                        <p:cTn dur="1" fill="hold">
                                          <p:stCondLst>
                                            <p:cond delay="0"/>
                                          </p:stCondLst>
                                        </p:cTn>
                                        <p:tgtEl>
                                          <p:spTgt spid="383"/>
                                        </p:tgtEl>
                                        <p:attrNameLst>
                                          <p:attrName>style.visibility</p:attrName>
                                        </p:attrNameLst>
                                      </p:cBhvr>
                                      <p:to>
                                        <p:strVal val="visible"/>
                                      </p:to>
                                    </p:set>
                                    <p:animEffect filter="fade" transition="in">
                                      <p:cBhvr>
                                        <p:cTn dur="500"/>
                                        <p:tgtEl>
                                          <p:spTgt spid="3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par>
                                <p:cTn fill="hold" nodeType="withEffect" presetClass="entr" presetID="10" presetSubtype="0">
                                  <p:stCondLst>
                                    <p:cond delay="0"/>
                                  </p:stCondLst>
                                  <p:childTnLst>
                                    <p:set>
                                      <p:cBhvr>
                                        <p:cTn dur="1" fill="hold">
                                          <p:stCondLst>
                                            <p:cond delay="0"/>
                                          </p:stCondLst>
                                        </p:cTn>
                                        <p:tgtEl>
                                          <p:spTgt spid="382"/>
                                        </p:tgtEl>
                                        <p:attrNameLst>
                                          <p:attrName>style.visibility</p:attrName>
                                        </p:attrNameLst>
                                      </p:cBhvr>
                                      <p:to>
                                        <p:strVal val="visible"/>
                                      </p:to>
                                    </p:set>
                                    <p:animEffect filter="fade" transition="in">
                                      <p:cBhvr>
                                        <p:cTn dur="500"/>
                                        <p:tgtEl>
                                          <p:spTgt spid="3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14"/>
          <p:cNvSpPr txBox="1"/>
          <p:nvPr/>
        </p:nvSpPr>
        <p:spPr>
          <a:xfrm>
            <a:off x="304799" y="249408"/>
            <a:ext cx="3657600"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Introduction To Java</a:t>
            </a:r>
            <a:endParaRPr b="1" sz="3000">
              <a:solidFill>
                <a:srgbClr val="002060"/>
              </a:solidFill>
              <a:latin typeface="Times New Roman"/>
              <a:ea typeface="Times New Roman"/>
              <a:cs typeface="Times New Roman"/>
              <a:sym typeface="Times New Roman"/>
            </a:endParaRPr>
          </a:p>
        </p:txBody>
      </p:sp>
      <p:sp>
        <p:nvSpPr>
          <p:cNvPr id="394" name="Google Shape;394;p14"/>
          <p:cNvSpPr/>
          <p:nvPr/>
        </p:nvSpPr>
        <p:spPr>
          <a:xfrm>
            <a:off x="1676400" y="2246829"/>
            <a:ext cx="100584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395" name="Google Shape;395;p14"/>
          <p:cNvGrpSpPr/>
          <p:nvPr/>
        </p:nvGrpSpPr>
        <p:grpSpPr>
          <a:xfrm>
            <a:off x="448989" y="751931"/>
            <a:ext cx="11273095" cy="1456246"/>
            <a:chOff x="448989" y="751931"/>
            <a:chExt cx="11273095" cy="1456246"/>
          </a:xfrm>
        </p:grpSpPr>
        <p:sp>
          <p:nvSpPr>
            <p:cNvPr id="396" name="Google Shape;396;p14"/>
            <p:cNvSpPr/>
            <p:nvPr/>
          </p:nvSpPr>
          <p:spPr>
            <a:xfrm>
              <a:off x="1229594" y="947075"/>
              <a:ext cx="10492490" cy="1071511"/>
            </a:xfrm>
            <a:prstGeom prst="roundRect">
              <a:avLst>
                <a:gd fmla="val 16667" name="adj"/>
              </a:avLst>
            </a:prstGeom>
            <a:gradFill>
              <a:gsLst>
                <a:gs pos="0">
                  <a:srgbClr val="FFC9A4"/>
                </a:gs>
                <a:gs pos="50000">
                  <a:srgbClr val="FFDCC5"/>
                </a:gs>
                <a:gs pos="100000">
                  <a:srgbClr val="FFECE3"/>
                </a:gs>
              </a:gsLst>
              <a:lin ang="5400000" scaled="0"/>
            </a:gradFill>
            <a:ln>
              <a:noFill/>
            </a:ln>
          </p:spPr>
          <p:txBody>
            <a:bodyPr anchorCtr="0" anchor="ctr" bIns="45700" lIns="91425" spcFirstLastPara="1" rIns="91425" wrap="square" tIns="45700">
              <a:noAutofit/>
            </a:bodyPr>
            <a:lstStyle/>
            <a:p>
              <a:pPr indent="0" lvl="2" marL="914400" marR="0" rtl="0" algn="just">
                <a:spcBef>
                  <a:spcPts val="0"/>
                </a:spcBef>
                <a:spcAft>
                  <a:spcPts val="0"/>
                </a:spcAft>
                <a:buNone/>
              </a:pPr>
              <a:r>
                <a:rPr b="1" i="0" lang="en-US" sz="2000" u="none" cap="none" strike="noStrike">
                  <a:solidFill>
                    <a:srgbClr val="333333"/>
                  </a:solidFill>
                  <a:latin typeface="Times New Roman"/>
                  <a:ea typeface="Times New Roman"/>
                  <a:cs typeface="Times New Roman"/>
                  <a:sym typeface="Times New Roman"/>
                </a:rPr>
                <a:t>James Arthur Gosling</a:t>
              </a:r>
              <a:r>
                <a:rPr b="0" i="0" lang="en-US" sz="2000" u="none" cap="none" strike="noStrike">
                  <a:solidFill>
                    <a:srgbClr val="333333"/>
                  </a:solidFill>
                  <a:latin typeface="Times New Roman"/>
                  <a:ea typeface="Times New Roman"/>
                  <a:cs typeface="Times New Roman"/>
                  <a:sym typeface="Times New Roman"/>
                </a:rPr>
                <a:t> often referred to as </a:t>
              </a:r>
              <a:r>
                <a:rPr b="1" i="0" lang="en-US" sz="2000" u="none" cap="none" strike="noStrike">
                  <a:solidFill>
                    <a:srgbClr val="333333"/>
                  </a:solidFill>
                  <a:latin typeface="Times New Roman"/>
                  <a:ea typeface="Times New Roman"/>
                  <a:cs typeface="Times New Roman"/>
                  <a:sym typeface="Times New Roman"/>
                </a:rPr>
                <a:t>Dr. Java,</a:t>
              </a:r>
              <a:r>
                <a:rPr b="0" i="0" lang="en-US" sz="2000" u="none" cap="none" strike="noStrike">
                  <a:solidFill>
                    <a:srgbClr val="333333"/>
                  </a:solidFill>
                  <a:latin typeface="Times New Roman"/>
                  <a:ea typeface="Times New Roman"/>
                  <a:cs typeface="Times New Roman"/>
                  <a:sym typeface="Times New Roman"/>
                </a:rPr>
                <a:t> OC is a Canadian computer scientist, best known as the founder and lead designer behind the Java programming language.</a:t>
              </a:r>
              <a:endParaRPr b="0" i="0" sz="2000" u="none" cap="none" strike="noStrike">
                <a:solidFill>
                  <a:schemeClr val="lt1"/>
                </a:solidFill>
                <a:latin typeface="Times New Roman"/>
                <a:ea typeface="Times New Roman"/>
                <a:cs typeface="Times New Roman"/>
                <a:sym typeface="Times New Roman"/>
              </a:endParaRPr>
            </a:p>
          </p:txBody>
        </p:sp>
        <p:sp>
          <p:nvSpPr>
            <p:cNvPr id="397" name="Google Shape;397;p14"/>
            <p:cNvSpPr/>
            <p:nvPr/>
          </p:nvSpPr>
          <p:spPr>
            <a:xfrm>
              <a:off x="448989" y="751931"/>
              <a:ext cx="1561212" cy="1456246"/>
            </a:xfrm>
            <a:prstGeom prst="ellipse">
              <a:avLst/>
            </a:prstGeom>
            <a:solidFill>
              <a:schemeClr val="lt1"/>
            </a:solidFill>
            <a:ln cap="flat" cmpd="sng" w="571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98" name="Google Shape;398;p14"/>
            <p:cNvPicPr preferRelativeResize="0"/>
            <p:nvPr/>
          </p:nvPicPr>
          <p:blipFill rotWithShape="1">
            <a:blip r:embed="rId3">
              <a:alphaModFix/>
            </a:blip>
            <a:srcRect b="0" l="0" r="0" t="0"/>
            <a:stretch/>
          </p:blipFill>
          <p:spPr>
            <a:xfrm>
              <a:off x="574370" y="828976"/>
              <a:ext cx="1310448" cy="1304624"/>
            </a:xfrm>
            <a:prstGeom prst="rect">
              <a:avLst/>
            </a:prstGeom>
            <a:noFill/>
            <a:ln cap="flat" cmpd="sng" w="9525">
              <a:solidFill>
                <a:schemeClr val="accent1"/>
              </a:solidFill>
              <a:prstDash val="solid"/>
              <a:round/>
              <a:headEnd len="sm" w="sm" type="none"/>
              <a:tailEnd len="sm" w="sm" type="none"/>
            </a:ln>
          </p:spPr>
        </p:pic>
      </p:grpSp>
      <p:grpSp>
        <p:nvGrpSpPr>
          <p:cNvPr id="399" name="Google Shape;399;p14"/>
          <p:cNvGrpSpPr/>
          <p:nvPr/>
        </p:nvGrpSpPr>
        <p:grpSpPr>
          <a:xfrm>
            <a:off x="457200" y="2252787"/>
            <a:ext cx="11264884" cy="1356904"/>
            <a:chOff x="457200" y="2252787"/>
            <a:chExt cx="11264884" cy="1356904"/>
          </a:xfrm>
        </p:grpSpPr>
        <p:sp>
          <p:nvSpPr>
            <p:cNvPr id="400" name="Google Shape;400;p14"/>
            <p:cNvSpPr/>
            <p:nvPr/>
          </p:nvSpPr>
          <p:spPr>
            <a:xfrm>
              <a:off x="1676400" y="2484094"/>
              <a:ext cx="10045684" cy="875157"/>
            </a:xfrm>
            <a:prstGeom prst="roundRect">
              <a:avLst>
                <a:gd fmla="val 16667" name="adj"/>
              </a:avLst>
            </a:prstGeom>
            <a:gradFill>
              <a:gsLst>
                <a:gs pos="0">
                  <a:srgbClr val="FFC9A4"/>
                </a:gs>
                <a:gs pos="50000">
                  <a:srgbClr val="FFDCC5"/>
                </a:gs>
                <a:gs pos="100000">
                  <a:srgbClr val="FFECE3"/>
                </a:gs>
              </a:gsLst>
              <a:lin ang="5400000" scaled="0"/>
            </a:gradFill>
            <a:ln>
              <a:noFill/>
            </a:ln>
          </p:spPr>
          <p:txBody>
            <a:bodyPr anchorCtr="0" anchor="ctr" bIns="45700" lIns="91425" spcFirstLastPara="1" rIns="91425" wrap="square" tIns="45700">
              <a:noAutofit/>
            </a:bodyPr>
            <a:lstStyle/>
            <a:p>
              <a:pPr indent="0" lvl="1" marL="457200" marR="0" rtl="0" algn="just">
                <a:spcBef>
                  <a:spcPts val="0"/>
                </a:spcBef>
                <a:spcAft>
                  <a:spcPts val="0"/>
                </a:spcAft>
                <a:buNone/>
              </a:pPr>
              <a:r>
                <a:rPr b="0" i="0" lang="en-US" sz="2000" u="none" cap="none" strike="noStrike">
                  <a:solidFill>
                    <a:srgbClr val="333333"/>
                  </a:solidFill>
                  <a:latin typeface="Times New Roman"/>
                  <a:ea typeface="Times New Roman"/>
                  <a:cs typeface="Times New Roman"/>
                  <a:sym typeface="Times New Roman"/>
                </a:rPr>
                <a:t>Java is a famous and widely used </a:t>
              </a:r>
              <a:r>
                <a:rPr b="1" i="0" lang="en-US" sz="2000" u="none" cap="none" strike="noStrike">
                  <a:solidFill>
                    <a:srgbClr val="333333"/>
                  </a:solidFill>
                  <a:latin typeface="Times New Roman"/>
                  <a:ea typeface="Times New Roman"/>
                  <a:cs typeface="Times New Roman"/>
                  <a:sym typeface="Times New Roman"/>
                </a:rPr>
                <a:t>object-oriented programming language</a:t>
              </a:r>
              <a:r>
                <a:rPr b="0" i="0" lang="en-US" sz="2000" u="none" cap="none" strike="noStrike">
                  <a:solidFill>
                    <a:srgbClr val="333333"/>
                  </a:solidFill>
                  <a:latin typeface="Times New Roman"/>
                  <a:ea typeface="Times New Roman"/>
                  <a:cs typeface="Times New Roman"/>
                  <a:sym typeface="Times New Roman"/>
                </a:rPr>
                <a:t>. It was developed by </a:t>
              </a:r>
              <a:r>
                <a:rPr b="1" i="0" lang="en-US" sz="2000" u="none" cap="none" strike="noStrike">
                  <a:solidFill>
                    <a:srgbClr val="333333"/>
                  </a:solidFill>
                  <a:latin typeface="Times New Roman"/>
                  <a:ea typeface="Times New Roman"/>
                  <a:cs typeface="Times New Roman"/>
                  <a:sym typeface="Times New Roman"/>
                </a:rPr>
                <a:t>Sun Microsystems in 1995</a:t>
              </a:r>
              <a:r>
                <a:rPr b="0" i="0" lang="en-US" sz="2000" u="none" cap="none" strike="noStrike">
                  <a:solidFill>
                    <a:srgbClr val="333333"/>
                  </a:solidFill>
                  <a:latin typeface="Times New Roman"/>
                  <a:ea typeface="Times New Roman"/>
                  <a:cs typeface="Times New Roman"/>
                  <a:sym typeface="Times New Roman"/>
                </a:rPr>
                <a:t>. Later in </a:t>
              </a:r>
              <a:r>
                <a:rPr b="1" i="0" lang="en-US" sz="2000" u="none" cap="none" strike="noStrike">
                  <a:solidFill>
                    <a:srgbClr val="333333"/>
                  </a:solidFill>
                  <a:latin typeface="Times New Roman"/>
                  <a:ea typeface="Times New Roman"/>
                  <a:cs typeface="Times New Roman"/>
                  <a:sym typeface="Times New Roman"/>
                </a:rPr>
                <a:t>2009, Oracle Corp. acquired Java</a:t>
              </a:r>
              <a:r>
                <a:rPr b="0" i="0" lang="en-US" sz="2000" u="none" cap="none" strike="noStrike">
                  <a:solidFill>
                    <a:srgbClr val="333333"/>
                  </a:solidFill>
                  <a:latin typeface="Times New Roman"/>
                  <a:ea typeface="Times New Roman"/>
                  <a:cs typeface="Times New Roman"/>
                  <a:sym typeface="Times New Roman"/>
                </a:rPr>
                <a:t>.</a:t>
              </a:r>
              <a:endParaRPr/>
            </a:p>
          </p:txBody>
        </p:sp>
        <p:sp>
          <p:nvSpPr>
            <p:cNvPr id="401" name="Google Shape;401;p14"/>
            <p:cNvSpPr/>
            <p:nvPr/>
          </p:nvSpPr>
          <p:spPr>
            <a:xfrm>
              <a:off x="457200" y="2252787"/>
              <a:ext cx="1556570" cy="1356904"/>
            </a:xfrm>
            <a:prstGeom prst="ellipse">
              <a:avLst/>
            </a:prstGeom>
            <a:solidFill>
              <a:schemeClr val="lt1"/>
            </a:solidFill>
            <a:ln cap="flat" cmpd="sng" w="571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02" name="Google Shape;402;p14"/>
            <p:cNvPicPr preferRelativeResize="0"/>
            <p:nvPr/>
          </p:nvPicPr>
          <p:blipFill rotWithShape="1">
            <a:blip r:embed="rId4">
              <a:alphaModFix/>
            </a:blip>
            <a:srcRect b="0" l="0" r="0" t="0"/>
            <a:stretch/>
          </p:blipFill>
          <p:spPr>
            <a:xfrm>
              <a:off x="510688" y="2471752"/>
              <a:ext cx="1374130" cy="937642"/>
            </a:xfrm>
            <a:prstGeom prst="rect">
              <a:avLst/>
            </a:prstGeom>
            <a:noFill/>
            <a:ln>
              <a:noFill/>
            </a:ln>
          </p:spPr>
        </p:pic>
      </p:grpSp>
      <p:grpSp>
        <p:nvGrpSpPr>
          <p:cNvPr id="403" name="Google Shape;403;p14"/>
          <p:cNvGrpSpPr/>
          <p:nvPr/>
        </p:nvGrpSpPr>
        <p:grpSpPr>
          <a:xfrm>
            <a:off x="389610" y="3628458"/>
            <a:ext cx="11332474" cy="1680293"/>
            <a:chOff x="389610" y="3628458"/>
            <a:chExt cx="11332474" cy="1680293"/>
          </a:xfrm>
        </p:grpSpPr>
        <p:sp>
          <p:nvSpPr>
            <p:cNvPr id="404" name="Google Shape;404;p14"/>
            <p:cNvSpPr/>
            <p:nvPr/>
          </p:nvSpPr>
          <p:spPr>
            <a:xfrm>
              <a:off x="1531622" y="3628458"/>
              <a:ext cx="10190462" cy="1680293"/>
            </a:xfrm>
            <a:prstGeom prst="roundRect">
              <a:avLst>
                <a:gd fmla="val 16667" name="adj"/>
              </a:avLst>
            </a:prstGeom>
            <a:gradFill>
              <a:gsLst>
                <a:gs pos="0">
                  <a:srgbClr val="FFC9A4"/>
                </a:gs>
                <a:gs pos="50000">
                  <a:srgbClr val="FFDCC5"/>
                </a:gs>
                <a:gs pos="100000">
                  <a:srgbClr val="FFECE3"/>
                </a:gs>
              </a:gsLst>
              <a:lin ang="5400000" scaled="0"/>
            </a:gradFill>
            <a:ln>
              <a:noFill/>
            </a:ln>
          </p:spPr>
          <p:txBody>
            <a:bodyPr anchorCtr="0" anchor="ctr" bIns="45700" lIns="91425" spcFirstLastPara="1" rIns="91425" wrap="square" tIns="45700">
              <a:noAutofit/>
            </a:bodyPr>
            <a:lstStyle/>
            <a:p>
              <a:pPr indent="-342900" lvl="1" marL="800100" marR="0" rtl="0" algn="just">
                <a:spcBef>
                  <a:spcPts val="0"/>
                </a:spcBef>
                <a:spcAft>
                  <a:spcPts val="0"/>
                </a:spcAft>
                <a:buClr>
                  <a:srgbClr val="333333"/>
                </a:buClr>
                <a:buSzPts val="2000"/>
                <a:buFont typeface="Arial"/>
                <a:buChar char="•"/>
              </a:pPr>
              <a:r>
                <a:rPr b="0" i="0" lang="en-US" sz="2000" u="none" cap="none" strike="noStrike">
                  <a:solidFill>
                    <a:srgbClr val="333333"/>
                  </a:solidFill>
                  <a:latin typeface="Times New Roman"/>
                  <a:ea typeface="Times New Roman"/>
                  <a:cs typeface="Times New Roman"/>
                  <a:sym typeface="Times New Roman"/>
                </a:rPr>
                <a:t>Initially Java called as </a:t>
              </a:r>
              <a:r>
                <a:rPr b="1" i="0" lang="en-US" sz="2000" u="none" cap="none" strike="noStrike">
                  <a:solidFill>
                    <a:srgbClr val="333333"/>
                  </a:solidFill>
                  <a:latin typeface="Times New Roman"/>
                  <a:ea typeface="Times New Roman"/>
                  <a:cs typeface="Times New Roman"/>
                  <a:sym typeface="Times New Roman"/>
                </a:rPr>
                <a:t>OAK</a:t>
              </a:r>
              <a:r>
                <a:rPr b="0" i="0" lang="en-US" sz="2000" u="none" cap="none" strike="noStrike">
                  <a:solidFill>
                    <a:srgbClr val="333333"/>
                  </a:solidFill>
                  <a:latin typeface="Times New Roman"/>
                  <a:ea typeface="Times New Roman"/>
                  <a:cs typeface="Times New Roman"/>
                  <a:sym typeface="Times New Roman"/>
                </a:rPr>
                <a:t>, Later it is termed as </a:t>
              </a:r>
              <a:r>
                <a:rPr b="1" i="0" lang="en-US" sz="2000" u="none" cap="none" strike="noStrike">
                  <a:solidFill>
                    <a:srgbClr val="333333"/>
                  </a:solidFill>
                  <a:latin typeface="Times New Roman"/>
                  <a:ea typeface="Times New Roman"/>
                  <a:cs typeface="Times New Roman"/>
                  <a:sym typeface="Times New Roman"/>
                </a:rPr>
                <a:t>Java</a:t>
              </a:r>
              <a:r>
                <a:rPr b="0" i="0" lang="en-US" sz="2000" u="none" cap="none" strike="noStrike">
                  <a:solidFill>
                    <a:srgbClr val="333333"/>
                  </a:solidFill>
                  <a:latin typeface="Times New Roman"/>
                  <a:ea typeface="Times New Roman"/>
                  <a:cs typeface="Times New Roman"/>
                  <a:sym typeface="Times New Roman"/>
                </a:rPr>
                <a:t> ( a name given to coffee bean)</a:t>
              </a:r>
              <a:endParaRPr/>
            </a:p>
            <a:p>
              <a:pPr indent="-342900" lvl="1" marL="800100" marR="0" rtl="0" algn="just">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Java is modelled after C++, Java language was designed to be small, simple, and portable across platforms and operating systems, both at the source and at the binary level.</a:t>
              </a:r>
              <a:endParaRPr/>
            </a:p>
            <a:p>
              <a:pPr indent="-342900" lvl="1" marL="800100" marR="0" rtl="0" algn="just">
                <a:spcBef>
                  <a:spcPts val="0"/>
                </a:spcBef>
                <a:spcAft>
                  <a:spcPts val="0"/>
                </a:spcAft>
                <a:buClr>
                  <a:srgbClr val="000000"/>
                </a:buClr>
                <a:buSzPts val="2000"/>
                <a:buFont typeface="Arial"/>
                <a:buChar char="•"/>
              </a:pPr>
              <a:r>
                <a:rPr b="0" i="0" lang="en-US" sz="2000" u="none" cap="none" strike="noStrike">
                  <a:solidFill>
                    <a:srgbClr val="000000"/>
                  </a:solidFill>
                  <a:latin typeface="Times New Roman"/>
                  <a:ea typeface="Times New Roman"/>
                  <a:cs typeface="Times New Roman"/>
                  <a:sym typeface="Times New Roman"/>
                </a:rPr>
                <a:t>Java also provides for portable programming with </a:t>
              </a:r>
              <a:r>
                <a:rPr b="1" i="0" lang="en-US" sz="2000" u="none" cap="none" strike="noStrike">
                  <a:solidFill>
                    <a:srgbClr val="000000"/>
                  </a:solidFill>
                  <a:latin typeface="Times New Roman"/>
                  <a:ea typeface="Times New Roman"/>
                  <a:cs typeface="Times New Roman"/>
                  <a:sym typeface="Times New Roman"/>
                </a:rPr>
                <a:t>AWT</a:t>
              </a:r>
              <a:r>
                <a:rPr b="0" i="0" lang="en-US" sz="2000" u="none" cap="none" strike="noStrike">
                  <a:solidFill>
                    <a:srgbClr val="000000"/>
                  </a:solidFill>
                  <a:latin typeface="Times New Roman"/>
                  <a:ea typeface="Times New Roman"/>
                  <a:cs typeface="Times New Roman"/>
                  <a:sym typeface="Times New Roman"/>
                </a:rPr>
                <a:t>.</a:t>
              </a:r>
              <a:endParaRPr b="0" i="0" sz="2000" u="none" cap="none" strike="noStrike">
                <a:solidFill>
                  <a:srgbClr val="000000"/>
                </a:solidFill>
                <a:latin typeface="Times New Roman"/>
                <a:ea typeface="Times New Roman"/>
                <a:cs typeface="Times New Roman"/>
                <a:sym typeface="Times New Roman"/>
              </a:endParaRPr>
            </a:p>
          </p:txBody>
        </p:sp>
        <p:sp>
          <p:nvSpPr>
            <p:cNvPr id="405" name="Google Shape;405;p14"/>
            <p:cNvSpPr/>
            <p:nvPr/>
          </p:nvSpPr>
          <p:spPr>
            <a:xfrm>
              <a:off x="389610" y="3687323"/>
              <a:ext cx="1679968" cy="1547037"/>
            </a:xfrm>
            <a:prstGeom prst="ellipse">
              <a:avLst/>
            </a:prstGeom>
            <a:solidFill>
              <a:schemeClr val="lt1"/>
            </a:solidFill>
            <a:ln cap="flat" cmpd="sng" w="5715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06" name="Google Shape;406;p14"/>
            <p:cNvPicPr preferRelativeResize="0"/>
            <p:nvPr/>
          </p:nvPicPr>
          <p:blipFill rotWithShape="1">
            <a:blip r:embed="rId5">
              <a:alphaModFix/>
            </a:blip>
            <a:srcRect b="0" l="0" r="0" t="0"/>
            <a:stretch/>
          </p:blipFill>
          <p:spPr>
            <a:xfrm>
              <a:off x="810494" y="3693010"/>
              <a:ext cx="838200" cy="1406122"/>
            </a:xfrm>
            <a:prstGeom prst="rect">
              <a:avLst/>
            </a:prstGeom>
            <a:noFill/>
            <a:ln>
              <a:noFill/>
            </a:ln>
          </p:spPr>
        </p:pic>
      </p:grpSp>
      <p:sp>
        <p:nvSpPr>
          <p:cNvPr id="407" name="Google Shape;40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15"/>
          <p:cNvSpPr txBox="1"/>
          <p:nvPr>
            <p:ph type="title"/>
          </p:nvPr>
        </p:nvSpPr>
        <p:spPr>
          <a:xfrm>
            <a:off x="3980596" y="249408"/>
            <a:ext cx="2521844" cy="480131"/>
          </a:xfrm>
          <a:prstGeom prst="rect">
            <a:avLst/>
          </a:prstGeom>
          <a:noFill/>
          <a:ln>
            <a:noFill/>
          </a:ln>
          <a:effectLst>
            <a:outerShdw blurRad="50800" rotWithShape="0" algn="l" dist="38100">
              <a:srgbClr val="000000">
                <a:alpha val="40000"/>
              </a:srgbClr>
            </a:outerShdw>
          </a:effectLst>
        </p:spPr>
        <p:txBody>
          <a:bodyPr anchorCtr="0" anchor="ctr" bIns="45700" lIns="91425" spcFirstLastPara="1" rIns="91425" wrap="square" tIns="45700">
            <a:spAutoFit/>
          </a:bodyPr>
          <a:lstStyle/>
          <a:p>
            <a:pPr indent="0" lvl="0" marL="0" rtl="0" algn="l">
              <a:lnSpc>
                <a:spcPct val="90000"/>
              </a:lnSpc>
              <a:spcBef>
                <a:spcPts val="0"/>
              </a:spcBef>
              <a:spcAft>
                <a:spcPts val="0"/>
              </a:spcAft>
              <a:buNone/>
            </a:pPr>
            <a:r>
              <a:rPr lang="en-US" sz="2800">
                <a:solidFill>
                  <a:srgbClr val="FF0000"/>
                </a:solidFill>
                <a:latin typeface="Times New Roman"/>
                <a:ea typeface="Times New Roman"/>
                <a:cs typeface="Times New Roman"/>
                <a:sym typeface="Times New Roman"/>
              </a:rPr>
              <a:t>Flavor's Of Java</a:t>
            </a:r>
            <a:endParaRPr sz="2800">
              <a:solidFill>
                <a:srgbClr val="FF0000"/>
              </a:solidFill>
              <a:latin typeface="Times New Roman"/>
              <a:ea typeface="Times New Roman"/>
              <a:cs typeface="Times New Roman"/>
              <a:sym typeface="Times New Roman"/>
            </a:endParaRPr>
          </a:p>
        </p:txBody>
      </p:sp>
      <p:sp>
        <p:nvSpPr>
          <p:cNvPr id="415" name="Google Shape;415;p15"/>
          <p:cNvSpPr txBox="1"/>
          <p:nvPr/>
        </p:nvSpPr>
        <p:spPr>
          <a:xfrm>
            <a:off x="304799" y="249408"/>
            <a:ext cx="3657600"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Introduction To Java</a:t>
            </a:r>
            <a:endParaRPr b="1" sz="3000">
              <a:solidFill>
                <a:srgbClr val="002060"/>
              </a:solidFill>
              <a:latin typeface="Times New Roman"/>
              <a:ea typeface="Times New Roman"/>
              <a:cs typeface="Times New Roman"/>
              <a:sym typeface="Times New Roman"/>
            </a:endParaRPr>
          </a:p>
        </p:txBody>
      </p:sp>
      <p:sp>
        <p:nvSpPr>
          <p:cNvPr id="416" name="Google Shape;416;p15"/>
          <p:cNvSpPr/>
          <p:nvPr/>
        </p:nvSpPr>
        <p:spPr>
          <a:xfrm>
            <a:off x="304799" y="838200"/>
            <a:ext cx="11430001" cy="4524315"/>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FF0000"/>
              </a:buClr>
              <a:buSzPts val="2400"/>
              <a:buFont typeface="Noto Sans Symbols"/>
              <a:buChar char="❑"/>
            </a:pPr>
            <a:r>
              <a:rPr b="1" lang="en-US" sz="2400">
                <a:solidFill>
                  <a:srgbClr val="FF0000"/>
                </a:solidFill>
                <a:latin typeface="Times New Roman"/>
                <a:ea typeface="Times New Roman"/>
                <a:cs typeface="Times New Roman"/>
                <a:sym typeface="Times New Roman"/>
              </a:rPr>
              <a:t>JSE</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Java  Standard Edition formerly known as </a:t>
            </a:r>
            <a:r>
              <a:rPr b="1" i="0" lang="en-US" sz="2400" u="none" cap="none" strike="noStrike">
                <a:solidFill>
                  <a:schemeClr val="dk1"/>
                </a:solidFill>
                <a:latin typeface="Times New Roman"/>
                <a:ea typeface="Times New Roman"/>
                <a:cs typeface="Times New Roman"/>
                <a:sym typeface="Times New Roman"/>
              </a:rPr>
              <a:t>J2SE</a:t>
            </a:r>
            <a:r>
              <a:rPr b="0" i="0" lang="en-US" sz="2400" u="none" cap="none" strike="noStrike">
                <a:solidFill>
                  <a:schemeClr val="dk1"/>
                </a:solidFill>
                <a:latin typeface="Times New Roman"/>
                <a:ea typeface="Times New Roman"/>
                <a:cs typeface="Times New Roman"/>
                <a:sym typeface="Times New Roman"/>
              </a:rPr>
              <a:t>.</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This forms the core part of Java language.</a:t>
            </a:r>
            <a:endParaRPr/>
          </a:p>
          <a:p>
            <a:pPr indent="-342900" lvl="0" marL="342900" marR="0" rtl="0" algn="l">
              <a:spcBef>
                <a:spcPts val="0"/>
              </a:spcBef>
              <a:spcAft>
                <a:spcPts val="0"/>
              </a:spcAft>
              <a:buClr>
                <a:srgbClr val="FF0000"/>
              </a:buClr>
              <a:buSzPts val="2400"/>
              <a:buFont typeface="Noto Sans Symbols"/>
              <a:buChar char="❑"/>
            </a:pPr>
            <a:r>
              <a:rPr b="1" lang="en-US" sz="2400">
                <a:solidFill>
                  <a:srgbClr val="FF0000"/>
                </a:solidFill>
                <a:latin typeface="Times New Roman"/>
                <a:ea typeface="Times New Roman"/>
                <a:cs typeface="Times New Roman"/>
                <a:sym typeface="Times New Roman"/>
              </a:rPr>
              <a:t>JEE</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Java Enterprise Edition formerly known as </a:t>
            </a:r>
            <a:r>
              <a:rPr b="1" i="0" lang="en-US" sz="2400" u="none" cap="none" strike="noStrike">
                <a:solidFill>
                  <a:schemeClr val="dk1"/>
                </a:solidFill>
                <a:latin typeface="Times New Roman"/>
                <a:ea typeface="Times New Roman"/>
                <a:cs typeface="Times New Roman"/>
                <a:sym typeface="Times New Roman"/>
              </a:rPr>
              <a:t>J2EE</a:t>
            </a:r>
            <a:r>
              <a:rPr b="0" i="0" lang="en-US" sz="2400" u="none" cap="none" strike="noStrike">
                <a:solidFill>
                  <a:schemeClr val="dk1"/>
                </a:solidFill>
                <a:latin typeface="Times New Roman"/>
                <a:ea typeface="Times New Roman"/>
                <a:cs typeface="Times New Roman"/>
                <a:sym typeface="Times New Roman"/>
              </a:rPr>
              <a:t>.</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These are the set of packages that are used to develop distributed enterprise-scale applications.</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These applications are deployed on JEE application servers.</a:t>
            </a:r>
            <a:endParaRPr/>
          </a:p>
          <a:p>
            <a:pPr indent="-342900" lvl="0" marL="342900" marR="0" rtl="0" algn="l">
              <a:spcBef>
                <a:spcPts val="0"/>
              </a:spcBef>
              <a:spcAft>
                <a:spcPts val="0"/>
              </a:spcAft>
              <a:buClr>
                <a:srgbClr val="FF0000"/>
              </a:buClr>
              <a:buSzPts val="2400"/>
              <a:buFont typeface="Noto Sans Symbols"/>
              <a:buChar char="❑"/>
            </a:pPr>
            <a:r>
              <a:rPr b="1" lang="en-US" sz="2400">
                <a:solidFill>
                  <a:srgbClr val="FF0000"/>
                </a:solidFill>
                <a:latin typeface="Times New Roman"/>
                <a:ea typeface="Times New Roman"/>
                <a:cs typeface="Times New Roman"/>
                <a:sym typeface="Times New Roman"/>
              </a:rPr>
              <a:t>JME</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Java Micro Edition formerly known as </a:t>
            </a:r>
            <a:r>
              <a:rPr b="1" i="0" lang="en-US" sz="2400" u="none" cap="none" strike="noStrike">
                <a:solidFill>
                  <a:schemeClr val="dk1"/>
                </a:solidFill>
                <a:latin typeface="Times New Roman"/>
                <a:ea typeface="Times New Roman"/>
                <a:cs typeface="Times New Roman"/>
                <a:sym typeface="Times New Roman"/>
              </a:rPr>
              <a:t>J2ME</a:t>
            </a:r>
            <a:r>
              <a:rPr b="0" i="0" lang="en-US" sz="2400" u="none" cap="none" strike="noStrike">
                <a:solidFill>
                  <a:schemeClr val="dk1"/>
                </a:solidFill>
                <a:latin typeface="Times New Roman"/>
                <a:ea typeface="Times New Roman"/>
                <a:cs typeface="Times New Roman"/>
                <a:sym typeface="Times New Roman"/>
              </a:rPr>
              <a:t>.</a:t>
            </a:r>
            <a:endParaRPr/>
          </a:p>
          <a:p>
            <a:pPr indent="-342900" lvl="1" marL="800100" marR="0" rtl="0" algn="l">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These are the set of packages used to develop application for mobile devices and embedded systems. </a:t>
            </a:r>
            <a:endParaRPr/>
          </a:p>
        </p:txBody>
      </p:sp>
      <p:sp>
        <p:nvSpPr>
          <p:cNvPr id="417" name="Google Shape;41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xEl>
                                              <p:pRg end="0" st="0"/>
                                            </p:txEl>
                                          </p:spTgt>
                                        </p:tgtEl>
                                        <p:attrNameLst>
                                          <p:attrName>style.visibility</p:attrName>
                                        </p:attrNameLst>
                                      </p:cBhvr>
                                      <p:to>
                                        <p:strVal val="visible"/>
                                      </p:to>
                                    </p:set>
                                    <p:animEffect filter="fade" transition="in">
                                      <p:cBhvr>
                                        <p:cTn dur="500"/>
                                        <p:tgtEl>
                                          <p:spTgt spid="4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xEl>
                                              <p:pRg end="1" st="1"/>
                                            </p:txEl>
                                          </p:spTgt>
                                        </p:tgtEl>
                                        <p:attrNameLst>
                                          <p:attrName>style.visibility</p:attrName>
                                        </p:attrNameLst>
                                      </p:cBhvr>
                                      <p:to>
                                        <p:strVal val="visible"/>
                                      </p:to>
                                    </p:set>
                                    <p:animEffect filter="fade" transition="in">
                                      <p:cBhvr>
                                        <p:cTn dur="500"/>
                                        <p:tgtEl>
                                          <p:spTgt spid="4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xEl>
                                              <p:pRg end="2" st="2"/>
                                            </p:txEl>
                                          </p:spTgt>
                                        </p:tgtEl>
                                        <p:attrNameLst>
                                          <p:attrName>style.visibility</p:attrName>
                                        </p:attrNameLst>
                                      </p:cBhvr>
                                      <p:to>
                                        <p:strVal val="visible"/>
                                      </p:to>
                                    </p:set>
                                    <p:animEffect filter="fade" transition="in">
                                      <p:cBhvr>
                                        <p:cTn dur="500"/>
                                        <p:tgtEl>
                                          <p:spTgt spid="4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xEl>
                                              <p:pRg end="3" st="3"/>
                                            </p:txEl>
                                          </p:spTgt>
                                        </p:tgtEl>
                                        <p:attrNameLst>
                                          <p:attrName>style.visibility</p:attrName>
                                        </p:attrNameLst>
                                      </p:cBhvr>
                                      <p:to>
                                        <p:strVal val="visible"/>
                                      </p:to>
                                    </p:set>
                                    <p:animEffect filter="fade" transition="in">
                                      <p:cBhvr>
                                        <p:cTn dur="500"/>
                                        <p:tgtEl>
                                          <p:spTgt spid="4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xEl>
                                              <p:pRg end="4" st="4"/>
                                            </p:txEl>
                                          </p:spTgt>
                                        </p:tgtEl>
                                        <p:attrNameLst>
                                          <p:attrName>style.visibility</p:attrName>
                                        </p:attrNameLst>
                                      </p:cBhvr>
                                      <p:to>
                                        <p:strVal val="visible"/>
                                      </p:to>
                                    </p:set>
                                    <p:animEffect filter="fade" transition="in">
                                      <p:cBhvr>
                                        <p:cTn dur="500"/>
                                        <p:tgtEl>
                                          <p:spTgt spid="4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xEl>
                                              <p:pRg end="5" st="5"/>
                                            </p:txEl>
                                          </p:spTgt>
                                        </p:tgtEl>
                                        <p:attrNameLst>
                                          <p:attrName>style.visibility</p:attrName>
                                        </p:attrNameLst>
                                      </p:cBhvr>
                                      <p:to>
                                        <p:strVal val="visible"/>
                                      </p:to>
                                    </p:set>
                                    <p:animEffect filter="fade" transition="in">
                                      <p:cBhvr>
                                        <p:cTn dur="500"/>
                                        <p:tgtEl>
                                          <p:spTgt spid="4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xEl>
                                              <p:pRg end="6" st="6"/>
                                            </p:txEl>
                                          </p:spTgt>
                                        </p:tgtEl>
                                        <p:attrNameLst>
                                          <p:attrName>style.visibility</p:attrName>
                                        </p:attrNameLst>
                                      </p:cBhvr>
                                      <p:to>
                                        <p:strVal val="visible"/>
                                      </p:to>
                                    </p:set>
                                    <p:animEffect filter="fade" transition="in">
                                      <p:cBhvr>
                                        <p:cTn dur="500"/>
                                        <p:tgtEl>
                                          <p:spTgt spid="41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xEl>
                                              <p:pRg end="7" st="7"/>
                                            </p:txEl>
                                          </p:spTgt>
                                        </p:tgtEl>
                                        <p:attrNameLst>
                                          <p:attrName>style.visibility</p:attrName>
                                        </p:attrNameLst>
                                      </p:cBhvr>
                                      <p:to>
                                        <p:strVal val="visible"/>
                                      </p:to>
                                    </p:set>
                                    <p:animEffect filter="fade" transition="in">
                                      <p:cBhvr>
                                        <p:cTn dur="500"/>
                                        <p:tgtEl>
                                          <p:spTgt spid="41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xEl>
                                              <p:pRg end="8" st="8"/>
                                            </p:txEl>
                                          </p:spTgt>
                                        </p:tgtEl>
                                        <p:attrNameLst>
                                          <p:attrName>style.visibility</p:attrName>
                                        </p:attrNameLst>
                                      </p:cBhvr>
                                      <p:to>
                                        <p:strVal val="visible"/>
                                      </p:to>
                                    </p:set>
                                    <p:animEffect filter="fade" transition="in">
                                      <p:cBhvr>
                                        <p:cTn dur="500"/>
                                        <p:tgtEl>
                                          <p:spTgt spid="41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xEl>
                                              <p:pRg end="9" st="9"/>
                                            </p:txEl>
                                          </p:spTgt>
                                        </p:tgtEl>
                                        <p:attrNameLst>
                                          <p:attrName>style.visibility</p:attrName>
                                        </p:attrNameLst>
                                      </p:cBhvr>
                                      <p:to>
                                        <p:strVal val="visible"/>
                                      </p:to>
                                    </p:set>
                                    <p:animEffect filter="fade" transition="in">
                                      <p:cBhvr>
                                        <p:cTn dur="500"/>
                                        <p:tgtEl>
                                          <p:spTgt spid="416">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6"/>
          <p:cNvSpPr txBox="1"/>
          <p:nvPr>
            <p:ph idx="1" type="body"/>
          </p:nvPr>
        </p:nvSpPr>
        <p:spPr>
          <a:xfrm>
            <a:off x="419100" y="914400"/>
            <a:ext cx="10096500" cy="32766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Installation and Demonstration to run a program </a:t>
            </a:r>
            <a:endParaRPr sz="2400">
              <a:latin typeface="Times New Roman"/>
              <a:ea typeface="Times New Roman"/>
              <a:cs typeface="Times New Roman"/>
              <a:sym typeface="Times New Roman"/>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Fundamentals</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Java Programming - Editing, Compiling and Running a ‘Java’ Program</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Integrated Development Environments</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Basic Input / Output Stream</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Practical exercise</a:t>
            </a:r>
            <a:endParaRPr/>
          </a:p>
          <a:p>
            <a:pPr indent="-76200" lvl="0" marL="228600" rtl="0" algn="l">
              <a:lnSpc>
                <a:spcPct val="100000"/>
              </a:lnSpc>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423" name="Google Shape;42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4" name="Google Shape;424;p16"/>
          <p:cNvSpPr txBox="1"/>
          <p:nvPr>
            <p:ph type="title"/>
          </p:nvPr>
        </p:nvSpPr>
        <p:spPr>
          <a:xfrm>
            <a:off x="419100" y="154723"/>
            <a:ext cx="2247900" cy="454878"/>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Contents</a:t>
            </a:r>
            <a:endParaRPr b="1" sz="3000">
              <a:solidFill>
                <a:srgbClr val="00206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17"/>
          <p:cNvSpPr txBox="1"/>
          <p:nvPr>
            <p:ph idx="1" type="body"/>
          </p:nvPr>
        </p:nvSpPr>
        <p:spPr>
          <a:xfrm>
            <a:off x="368490" y="806250"/>
            <a:ext cx="8775510" cy="1295400"/>
          </a:xfrm>
          <a:prstGeom prst="rect">
            <a:avLst/>
          </a:prstGeom>
          <a:noFill/>
          <a:ln>
            <a:noFill/>
          </a:ln>
        </p:spPr>
        <p:txBody>
          <a:bodyPr anchorCtr="0" anchor="t" bIns="45700" lIns="91425" spcFirstLastPara="1" rIns="91425" wrap="square" tIns="45700">
            <a:normAutofit fontScale="92500"/>
          </a:bodyPr>
          <a:lstStyle/>
          <a:p>
            <a:pPr indent="0" lvl="0" marL="0" rtl="0" algn="l">
              <a:lnSpc>
                <a:spcPct val="90000"/>
              </a:lnSpc>
              <a:spcBef>
                <a:spcPts val="0"/>
              </a:spcBef>
              <a:spcAft>
                <a:spcPts val="0"/>
              </a:spcAft>
              <a:buClr>
                <a:srgbClr val="FF0000"/>
              </a:buClr>
              <a:buSzPct val="100000"/>
              <a:buFont typeface="Arial"/>
              <a:buNone/>
            </a:pPr>
            <a:r>
              <a:rPr b="1" lang="en-US" sz="2400">
                <a:solidFill>
                  <a:srgbClr val="FF0000"/>
                </a:solidFill>
                <a:latin typeface="Times New Roman"/>
                <a:ea typeface="Times New Roman"/>
                <a:cs typeface="Times New Roman"/>
                <a:sym typeface="Times New Roman"/>
              </a:rPr>
              <a:t>How To Install JDK on Windows</a:t>
            </a:r>
            <a:endParaRPr/>
          </a:p>
          <a:p>
            <a:pPr indent="-228600" lvl="0" marL="228600" rtl="0" algn="l">
              <a:lnSpc>
                <a:spcPct val="90000"/>
              </a:lnSpc>
              <a:spcBef>
                <a:spcPts val="1000"/>
              </a:spcBef>
              <a:spcAft>
                <a:spcPts val="0"/>
              </a:spcAft>
              <a:buClr>
                <a:schemeClr val="dk1"/>
              </a:buClr>
              <a:buSzPct val="100000"/>
              <a:buChar char="•"/>
            </a:pPr>
            <a:r>
              <a:rPr lang="en-US" sz="2000">
                <a:latin typeface="Times New Roman"/>
                <a:ea typeface="Times New Roman"/>
                <a:cs typeface="Times New Roman"/>
                <a:sym typeface="Times New Roman"/>
              </a:rPr>
              <a:t>Download JDK@</a:t>
            </a:r>
            <a:r>
              <a:rPr lang="en-US" sz="1800">
                <a:latin typeface="Times New Roman"/>
                <a:ea typeface="Times New Roman"/>
                <a:cs typeface="Times New Roman"/>
                <a:sym typeface="Times New Roman"/>
              </a:rPr>
              <a:t> </a:t>
            </a:r>
            <a:r>
              <a:rPr b="1" lang="en-US" sz="1800" u="sng">
                <a:solidFill>
                  <a:srgbClr val="FF0000"/>
                </a:solidFill>
                <a:latin typeface="Times New Roman"/>
                <a:ea typeface="Times New Roman"/>
                <a:cs typeface="Times New Roman"/>
                <a:sym typeface="Times New Roman"/>
                <a:hlinkClick r:id="rId3">
                  <a:extLst>
                    <a:ext uri="{A12FA001-AC4F-418D-AE19-62706E023703}">
                      <ahyp:hlinkClr val="tx"/>
                    </a:ext>
                  </a:extLst>
                </a:hlinkClick>
              </a:rPr>
              <a:t>https://www.oracle.com/in/java/technologies/javase-downloads.html</a:t>
            </a:r>
            <a:endParaRPr b="1" sz="1600">
              <a:solidFill>
                <a:srgbClr val="FF0000"/>
              </a:solidFill>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2000">
                <a:latin typeface="Times New Roman"/>
                <a:ea typeface="Times New Roman"/>
                <a:cs typeface="Times New Roman"/>
                <a:sym typeface="Times New Roman"/>
              </a:rPr>
              <a:t>Install JDK </a:t>
            </a:r>
            <a:endParaRPr/>
          </a:p>
        </p:txBody>
      </p:sp>
      <p:sp>
        <p:nvSpPr>
          <p:cNvPr id="430" name="Google Shape;430;p17"/>
          <p:cNvSpPr txBox="1"/>
          <p:nvPr/>
        </p:nvSpPr>
        <p:spPr>
          <a:xfrm>
            <a:off x="304800" y="223837"/>
            <a:ext cx="7010400" cy="473076"/>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JDK Installation – Java Development Kit</a:t>
            </a:r>
            <a:endParaRPr/>
          </a:p>
        </p:txBody>
      </p:sp>
      <p:pic>
        <p:nvPicPr>
          <p:cNvPr id="431" name="Google Shape;431;p17"/>
          <p:cNvPicPr preferRelativeResize="0"/>
          <p:nvPr/>
        </p:nvPicPr>
        <p:blipFill rotWithShape="1">
          <a:blip r:embed="rId4">
            <a:alphaModFix/>
          </a:blip>
          <a:srcRect b="0" l="0" r="0" t="0"/>
          <a:stretch/>
        </p:blipFill>
        <p:spPr>
          <a:xfrm>
            <a:off x="5029200" y="1676400"/>
            <a:ext cx="6934200" cy="4304361"/>
          </a:xfrm>
          <a:prstGeom prst="rect">
            <a:avLst/>
          </a:prstGeom>
          <a:noFill/>
          <a:ln>
            <a:noFill/>
          </a:ln>
        </p:spPr>
      </p:pic>
      <p:sp>
        <p:nvSpPr>
          <p:cNvPr id="432" name="Google Shape;432;p17"/>
          <p:cNvSpPr/>
          <p:nvPr/>
        </p:nvSpPr>
        <p:spPr>
          <a:xfrm>
            <a:off x="7332260" y="4298950"/>
            <a:ext cx="914400" cy="45720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33" name="Google Shape;433;p17"/>
          <p:cNvCxnSpPr>
            <a:stCxn id="432" idx="6"/>
          </p:cNvCxnSpPr>
          <p:nvPr/>
        </p:nvCxnSpPr>
        <p:spPr>
          <a:xfrm>
            <a:off x="8246660" y="4527550"/>
            <a:ext cx="533400" cy="0"/>
          </a:xfrm>
          <a:prstGeom prst="straightConnector1">
            <a:avLst/>
          </a:prstGeom>
          <a:noFill/>
          <a:ln cap="flat" cmpd="sng" w="38100">
            <a:solidFill>
              <a:srgbClr val="FF0000"/>
            </a:solidFill>
            <a:prstDash val="solid"/>
            <a:miter lim="800000"/>
            <a:headEnd len="sm" w="sm" type="none"/>
            <a:tailEnd len="med" w="med" type="triangle"/>
          </a:ln>
        </p:spPr>
      </p:cxnSp>
      <p:sp>
        <p:nvSpPr>
          <p:cNvPr id="434" name="Google Shape;434;p17"/>
          <p:cNvSpPr txBox="1"/>
          <p:nvPr/>
        </p:nvSpPr>
        <p:spPr>
          <a:xfrm>
            <a:off x="8686398" y="4343400"/>
            <a:ext cx="1312862"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0000"/>
              </a:buClr>
              <a:buSzPts val="1800"/>
              <a:buFont typeface="Arial"/>
              <a:buNone/>
            </a:pPr>
            <a:r>
              <a:rPr b="1" lang="en-US" sz="1800">
                <a:solidFill>
                  <a:srgbClr val="FF0000"/>
                </a:solidFill>
                <a:latin typeface="Arial"/>
                <a:ea typeface="Arial"/>
                <a:cs typeface="Arial"/>
                <a:sym typeface="Arial"/>
              </a:rPr>
              <a:t>Click Here</a:t>
            </a:r>
            <a:endParaRPr/>
          </a:p>
        </p:txBody>
      </p:sp>
      <p:sp>
        <p:nvSpPr>
          <p:cNvPr id="435" name="Google Shape;435;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par>
                                <p:cTn fill="hold" nodeType="with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500"/>
                                        <p:tgtEl>
                                          <p:spTgt spid="433"/>
                                        </p:tgtEl>
                                      </p:cBhvr>
                                    </p:animEffect>
                                  </p:childTnLst>
                                </p:cTn>
                              </p:par>
                              <p:par>
                                <p:cTn fill="hold" nodeType="with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500"/>
                                        <p:tgtEl>
                                          <p:spTgt spid="4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18"/>
          <p:cNvSpPr/>
          <p:nvPr/>
        </p:nvSpPr>
        <p:spPr>
          <a:xfrm>
            <a:off x="304800" y="643732"/>
            <a:ext cx="4267200" cy="457048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800">
                <a:solidFill>
                  <a:srgbClr val="FF0000"/>
                </a:solidFill>
                <a:latin typeface="Times New Roman"/>
                <a:ea typeface="Times New Roman"/>
                <a:cs typeface="Times New Roman"/>
                <a:sym typeface="Times New Roman"/>
              </a:rPr>
              <a:t>Environment Setup</a:t>
            </a:r>
            <a:endParaRPr/>
          </a:p>
          <a:p>
            <a:pPr indent="-285750" lvl="0" marL="285750" marR="0" rtl="0" algn="l">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Include JDK's "bin" Directory in the PATH </a:t>
            </a:r>
            <a:endParaRPr/>
          </a:p>
          <a:p>
            <a:pPr indent="0" lvl="0" marL="0" marR="0" rtl="0" algn="l">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Right click mycomputer-&gt;Properties</a:t>
            </a:r>
            <a:endParaRPr/>
          </a:p>
          <a:p>
            <a:pPr indent="0" lvl="0" marL="0" marR="0" rtl="0" algn="l">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--&gt;Advance Setting</a:t>
            </a:r>
            <a:endParaRPr/>
          </a:p>
          <a:p>
            <a:pPr indent="0" lvl="0" marL="0" marR="0" rtl="0" algn="l">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-&gt;Click Environment Variable</a:t>
            </a:r>
            <a:endParaRPr/>
          </a:p>
          <a:p>
            <a:pPr indent="0" lvl="0" marL="0" marR="0" rtl="0" algn="l">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-&gt; Under System variables </a:t>
            </a:r>
            <a:endParaRPr/>
          </a:p>
          <a:p>
            <a:pPr indent="0" lvl="0" marL="0" marR="0" rtl="0" algn="l">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-&gt;Select Path and click Edit</a:t>
            </a:r>
            <a:endParaRPr/>
          </a:p>
          <a:p>
            <a:pPr indent="0" lvl="0" marL="0" marR="0" rtl="0" algn="l">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-&gt;Under Edit menu Click New</a:t>
            </a:r>
            <a:endParaRPr/>
          </a:p>
          <a:p>
            <a:pPr indent="0" lvl="0" marL="0" marR="0" rtl="0" algn="l">
              <a:lnSpc>
                <a:spcPct val="150000"/>
              </a:lnSpc>
              <a:spcBef>
                <a:spcPts val="0"/>
              </a:spcBef>
              <a:spcAft>
                <a:spcPts val="0"/>
              </a:spcAft>
              <a:buNone/>
            </a:pPr>
            <a:r>
              <a:rPr lang="en-US" sz="1800">
                <a:solidFill>
                  <a:schemeClr val="dk1"/>
                </a:solidFill>
                <a:latin typeface="Times New Roman"/>
                <a:ea typeface="Times New Roman"/>
                <a:cs typeface="Times New Roman"/>
                <a:sym typeface="Times New Roman"/>
              </a:rPr>
              <a:t>-&gt;Paste the path of “bin”-&gt;ok -&gt;ok</a:t>
            </a:r>
            <a:endParaRPr/>
          </a:p>
        </p:txBody>
      </p:sp>
      <p:sp>
        <p:nvSpPr>
          <p:cNvPr id="445" name="Google Shape;445;p18"/>
          <p:cNvSpPr txBox="1"/>
          <p:nvPr/>
        </p:nvSpPr>
        <p:spPr>
          <a:xfrm>
            <a:off x="304800" y="193415"/>
            <a:ext cx="7086600" cy="5334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JDK Installation – Java Development Kit</a:t>
            </a:r>
            <a:endParaRPr/>
          </a:p>
        </p:txBody>
      </p:sp>
      <p:pic>
        <p:nvPicPr>
          <p:cNvPr id="446" name="Google Shape;446;p18"/>
          <p:cNvPicPr preferRelativeResize="0"/>
          <p:nvPr/>
        </p:nvPicPr>
        <p:blipFill rotWithShape="1">
          <a:blip r:embed="rId3">
            <a:alphaModFix/>
          </a:blip>
          <a:srcRect b="0" l="0" r="0" t="0"/>
          <a:stretch/>
        </p:blipFill>
        <p:spPr>
          <a:xfrm>
            <a:off x="4229100" y="791713"/>
            <a:ext cx="7848600" cy="5334000"/>
          </a:xfrm>
          <a:prstGeom prst="rect">
            <a:avLst/>
          </a:prstGeom>
          <a:noFill/>
          <a:ln>
            <a:noFill/>
          </a:ln>
        </p:spPr>
      </p:pic>
      <p:grpSp>
        <p:nvGrpSpPr>
          <p:cNvPr id="447" name="Google Shape;447;p18"/>
          <p:cNvGrpSpPr/>
          <p:nvPr/>
        </p:nvGrpSpPr>
        <p:grpSpPr>
          <a:xfrm>
            <a:off x="4274593" y="2209800"/>
            <a:ext cx="1371600" cy="457200"/>
            <a:chOff x="2514600" y="3810000"/>
            <a:chExt cx="1371600" cy="457200"/>
          </a:xfrm>
        </p:grpSpPr>
        <p:sp>
          <p:nvSpPr>
            <p:cNvPr id="448" name="Google Shape;448;p18"/>
            <p:cNvSpPr/>
            <p:nvPr/>
          </p:nvSpPr>
          <p:spPr>
            <a:xfrm>
              <a:off x="2514600" y="3810000"/>
              <a:ext cx="1143000" cy="228600"/>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9" name="Google Shape;449;p18"/>
            <p:cNvSpPr/>
            <p:nvPr/>
          </p:nvSpPr>
          <p:spPr>
            <a:xfrm>
              <a:off x="3352800" y="3886200"/>
              <a:ext cx="533400" cy="381000"/>
            </a:xfrm>
            <a:prstGeom prst="arc">
              <a:avLst>
                <a:gd fmla="val 16200000" name="adj1"/>
                <a:gd fmla="val 0" name="adj2"/>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grpSp>
        <p:nvGrpSpPr>
          <p:cNvPr id="450" name="Google Shape;450;p18"/>
          <p:cNvGrpSpPr/>
          <p:nvPr/>
        </p:nvGrpSpPr>
        <p:grpSpPr>
          <a:xfrm>
            <a:off x="5638800" y="3810000"/>
            <a:ext cx="4038600" cy="457200"/>
            <a:chOff x="3733800" y="4937125"/>
            <a:chExt cx="4038600" cy="457200"/>
          </a:xfrm>
        </p:grpSpPr>
        <p:sp>
          <p:nvSpPr>
            <p:cNvPr id="451" name="Google Shape;451;p18"/>
            <p:cNvSpPr/>
            <p:nvPr/>
          </p:nvSpPr>
          <p:spPr>
            <a:xfrm flipH="1" rot="10800000">
              <a:off x="3733800" y="4937125"/>
              <a:ext cx="4038600" cy="320675"/>
            </a:xfrm>
            <a:prstGeom prst="arc">
              <a:avLst>
                <a:gd fmla="val 16200000" name="adj1"/>
                <a:gd fmla="val 0" name="adj2"/>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452" name="Google Shape;452;p18"/>
            <p:cNvSpPr/>
            <p:nvPr/>
          </p:nvSpPr>
          <p:spPr>
            <a:xfrm>
              <a:off x="5106988" y="5105400"/>
              <a:ext cx="684212" cy="288925"/>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grpSp>
        <p:nvGrpSpPr>
          <p:cNvPr id="453" name="Google Shape;453;p18"/>
          <p:cNvGrpSpPr/>
          <p:nvPr/>
        </p:nvGrpSpPr>
        <p:grpSpPr>
          <a:xfrm>
            <a:off x="5715000" y="4927600"/>
            <a:ext cx="1676400" cy="711200"/>
            <a:chOff x="3733800" y="5715000"/>
            <a:chExt cx="1676400" cy="711200"/>
          </a:xfrm>
        </p:grpSpPr>
        <p:sp>
          <p:nvSpPr>
            <p:cNvPr id="454" name="Google Shape;454;p18"/>
            <p:cNvSpPr/>
            <p:nvPr/>
          </p:nvSpPr>
          <p:spPr>
            <a:xfrm>
              <a:off x="3733800" y="6197600"/>
              <a:ext cx="1143000" cy="228600"/>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5" name="Google Shape;455;p18"/>
            <p:cNvSpPr/>
            <p:nvPr/>
          </p:nvSpPr>
          <p:spPr>
            <a:xfrm flipH="1" rot="10800000">
              <a:off x="4267200" y="5715000"/>
              <a:ext cx="1143000" cy="619125"/>
            </a:xfrm>
            <a:prstGeom prst="arc">
              <a:avLst>
                <a:gd fmla="val 16200000" name="adj1"/>
                <a:gd fmla="val 0" name="adj2"/>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pSp>
      <p:sp>
        <p:nvSpPr>
          <p:cNvPr id="456" name="Google Shape;456;p18"/>
          <p:cNvSpPr/>
          <p:nvPr/>
        </p:nvSpPr>
        <p:spPr>
          <a:xfrm>
            <a:off x="11353800" y="1066800"/>
            <a:ext cx="684212" cy="288925"/>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57" name="Google Shape;457;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id="462" name="Google Shape;462;p19"/>
          <p:cNvPicPr preferRelativeResize="0"/>
          <p:nvPr/>
        </p:nvPicPr>
        <p:blipFill rotWithShape="1">
          <a:blip r:embed="rId3">
            <a:alphaModFix/>
          </a:blip>
          <a:srcRect b="0" l="0" r="0" t="0"/>
          <a:stretch/>
        </p:blipFill>
        <p:spPr>
          <a:xfrm>
            <a:off x="2362200" y="914400"/>
            <a:ext cx="8458200" cy="4464050"/>
          </a:xfrm>
          <a:prstGeom prst="rect">
            <a:avLst/>
          </a:prstGeom>
          <a:noFill/>
          <a:ln>
            <a:noFill/>
          </a:ln>
        </p:spPr>
      </p:pic>
      <p:sp>
        <p:nvSpPr>
          <p:cNvPr id="463" name="Google Shape;463;p19"/>
          <p:cNvSpPr txBox="1"/>
          <p:nvPr/>
        </p:nvSpPr>
        <p:spPr>
          <a:xfrm>
            <a:off x="304800" y="152400"/>
            <a:ext cx="5486400" cy="6096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JDK Installation - Confirmation</a:t>
            </a:r>
            <a:endParaRPr/>
          </a:p>
        </p:txBody>
      </p:sp>
      <p:sp>
        <p:nvSpPr>
          <p:cNvPr id="464" name="Google Shape;46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20"/>
          <p:cNvSpPr/>
          <p:nvPr/>
        </p:nvSpPr>
        <p:spPr>
          <a:xfrm>
            <a:off x="330958" y="990600"/>
            <a:ext cx="11099042" cy="4154984"/>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rgbClr val="FF0000"/>
              </a:buClr>
              <a:buSzPts val="2400"/>
              <a:buFont typeface="Noto Sans Symbols"/>
              <a:buChar char="❑"/>
            </a:pPr>
            <a:r>
              <a:rPr b="1" lang="en-US" sz="2400">
                <a:solidFill>
                  <a:srgbClr val="FF0000"/>
                </a:solidFill>
                <a:latin typeface="Times New Roman"/>
                <a:ea typeface="Times New Roman"/>
                <a:cs typeface="Times New Roman"/>
                <a:sym typeface="Times New Roman"/>
              </a:rPr>
              <a:t>JVM</a:t>
            </a: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indent="0" lvl="1" marL="40005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stands for Java Virtual Machine which provides the runtime environment for Java bytecodes to be executed.</a:t>
            </a:r>
            <a:endParaRPr/>
          </a:p>
          <a:p>
            <a:pPr indent="0" lvl="0" marL="0" marR="0" rtl="0" algn="just">
              <a:lnSpc>
                <a:spcPct val="100000"/>
              </a:lnSpc>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FF0000"/>
              </a:buClr>
              <a:buSzPts val="2400"/>
              <a:buFont typeface="Noto Sans Symbols"/>
              <a:buChar char="❑"/>
            </a:pPr>
            <a:r>
              <a:rPr b="1" lang="en-US" sz="2400">
                <a:solidFill>
                  <a:srgbClr val="FF0000"/>
                </a:solidFill>
                <a:latin typeface="Times New Roman"/>
                <a:ea typeface="Times New Roman"/>
                <a:cs typeface="Times New Roman"/>
                <a:sym typeface="Times New Roman"/>
              </a:rPr>
              <a:t>JRE</a:t>
            </a:r>
            <a:r>
              <a:rPr lang="en-US" sz="2400">
                <a:solidFill>
                  <a:schemeClr val="dk1"/>
                </a:solidFill>
                <a:latin typeface="Times New Roman"/>
                <a:ea typeface="Times New Roman"/>
                <a:cs typeface="Times New Roman"/>
                <a:sym typeface="Times New Roman"/>
              </a:rPr>
              <a:t> (Java Runtime Environment) </a:t>
            </a:r>
            <a:endParaRPr sz="2400">
              <a:solidFill>
                <a:schemeClr val="dk1"/>
              </a:solidFill>
              <a:latin typeface="Times New Roman"/>
              <a:ea typeface="Times New Roman"/>
              <a:cs typeface="Times New Roman"/>
              <a:sym typeface="Times New Roman"/>
            </a:endParaRPr>
          </a:p>
          <a:p>
            <a:pPr indent="0" lvl="1" marL="40005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includes the sets of files required by JVM during runtime.</a:t>
            </a:r>
            <a:endParaRPr/>
          </a:p>
          <a:p>
            <a:pPr indent="0" lvl="0" marL="0" marR="0" rtl="0" algn="just">
              <a:lnSpc>
                <a:spcPct val="100000"/>
              </a:lnSpc>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0"/>
              </a:spcBef>
              <a:spcAft>
                <a:spcPts val="0"/>
              </a:spcAft>
              <a:buClr>
                <a:srgbClr val="FF0000"/>
              </a:buClr>
              <a:buSzPts val="2400"/>
              <a:buFont typeface="Noto Sans Symbols"/>
              <a:buChar char="❑"/>
            </a:pPr>
            <a:r>
              <a:rPr b="1" lang="en-US" sz="2400">
                <a:solidFill>
                  <a:srgbClr val="FF0000"/>
                </a:solidFill>
                <a:latin typeface="Times New Roman"/>
                <a:ea typeface="Times New Roman"/>
                <a:cs typeface="Times New Roman"/>
                <a:sym typeface="Times New Roman"/>
              </a:rPr>
              <a:t>JDK</a:t>
            </a:r>
            <a:r>
              <a:rPr lang="en-US" sz="2400">
                <a:solidFill>
                  <a:schemeClr val="dk1"/>
                </a:solidFill>
                <a:latin typeface="Times New Roman"/>
                <a:ea typeface="Times New Roman"/>
                <a:cs typeface="Times New Roman"/>
                <a:sym typeface="Times New Roman"/>
              </a:rPr>
              <a:t> (Java Development Kit) </a:t>
            </a:r>
            <a:endParaRPr sz="2400">
              <a:solidFill>
                <a:schemeClr val="dk1"/>
              </a:solidFill>
              <a:latin typeface="Times New Roman"/>
              <a:ea typeface="Times New Roman"/>
              <a:cs typeface="Times New Roman"/>
              <a:sym typeface="Times New Roman"/>
            </a:endParaRPr>
          </a:p>
          <a:p>
            <a:pPr indent="0" lvl="1" marL="400050" marR="0" rtl="0" algn="just">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consists of JRE along with the development tools required to write and execute a program.</a:t>
            </a:r>
            <a:endParaRPr/>
          </a:p>
          <a:p>
            <a:pPr indent="-190500" lvl="0" marL="342900" marR="0" rtl="0" algn="just">
              <a:lnSpc>
                <a:spcPct val="100000"/>
              </a:lnSpc>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p:txBody>
      </p:sp>
      <p:sp>
        <p:nvSpPr>
          <p:cNvPr id="470" name="Google Shape;470;p20"/>
          <p:cNvSpPr txBox="1"/>
          <p:nvPr/>
        </p:nvSpPr>
        <p:spPr>
          <a:xfrm>
            <a:off x="304800" y="228600"/>
            <a:ext cx="3886200" cy="519808"/>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After JDK Installation</a:t>
            </a:r>
            <a:endParaRPr b="1" sz="3000">
              <a:solidFill>
                <a:srgbClr val="002060"/>
              </a:solidFill>
              <a:latin typeface="Times New Roman"/>
              <a:ea typeface="Times New Roman"/>
              <a:cs typeface="Times New Roman"/>
              <a:sym typeface="Times New Roman"/>
            </a:endParaRPr>
          </a:p>
        </p:txBody>
      </p:sp>
      <p:sp>
        <p:nvSpPr>
          <p:cNvPr id="471" name="Google Shape;471;p20"/>
          <p:cNvSpPr/>
          <p:nvPr/>
        </p:nvSpPr>
        <p:spPr>
          <a:xfrm>
            <a:off x="4267200" y="238836"/>
            <a:ext cx="5597430" cy="523220"/>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JVM, JRE &amp; JDK – After Installation</a:t>
            </a:r>
            <a:endParaRPr sz="2800">
              <a:solidFill>
                <a:srgbClr val="FF0000"/>
              </a:solidFill>
              <a:latin typeface="Times New Roman"/>
              <a:ea typeface="Times New Roman"/>
              <a:cs typeface="Times New Roman"/>
              <a:sym typeface="Times New Roman"/>
            </a:endParaRPr>
          </a:p>
        </p:txBody>
      </p:sp>
      <p:sp>
        <p:nvSpPr>
          <p:cNvPr id="472" name="Google Shape;47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0" st="0"/>
                                            </p:txEl>
                                          </p:spTgt>
                                        </p:tgtEl>
                                        <p:attrNameLst>
                                          <p:attrName>style.visibility</p:attrName>
                                        </p:attrNameLst>
                                      </p:cBhvr>
                                      <p:to>
                                        <p:strVal val="visible"/>
                                      </p:to>
                                    </p:set>
                                    <p:animEffect filter="fade" transition="in">
                                      <p:cBhvr>
                                        <p:cTn dur="500"/>
                                        <p:tgtEl>
                                          <p:spTgt spid="4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1" st="1"/>
                                            </p:txEl>
                                          </p:spTgt>
                                        </p:tgtEl>
                                        <p:attrNameLst>
                                          <p:attrName>style.visibility</p:attrName>
                                        </p:attrNameLst>
                                      </p:cBhvr>
                                      <p:to>
                                        <p:strVal val="visible"/>
                                      </p:to>
                                    </p:set>
                                    <p:animEffect filter="fade" transition="in">
                                      <p:cBhvr>
                                        <p:cTn dur="500"/>
                                        <p:tgtEl>
                                          <p:spTgt spid="4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2" st="2"/>
                                            </p:txEl>
                                          </p:spTgt>
                                        </p:tgtEl>
                                        <p:attrNameLst>
                                          <p:attrName>style.visibility</p:attrName>
                                        </p:attrNameLst>
                                      </p:cBhvr>
                                      <p:to>
                                        <p:strVal val="visible"/>
                                      </p:to>
                                    </p:set>
                                    <p:animEffect filter="fade" transition="in">
                                      <p:cBhvr>
                                        <p:cTn dur="500"/>
                                        <p:tgtEl>
                                          <p:spTgt spid="4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3" st="3"/>
                                            </p:txEl>
                                          </p:spTgt>
                                        </p:tgtEl>
                                        <p:attrNameLst>
                                          <p:attrName>style.visibility</p:attrName>
                                        </p:attrNameLst>
                                      </p:cBhvr>
                                      <p:to>
                                        <p:strVal val="visible"/>
                                      </p:to>
                                    </p:set>
                                    <p:animEffect filter="fade" transition="in">
                                      <p:cBhvr>
                                        <p:cTn dur="500"/>
                                        <p:tgtEl>
                                          <p:spTgt spid="4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4" st="4"/>
                                            </p:txEl>
                                          </p:spTgt>
                                        </p:tgtEl>
                                        <p:attrNameLst>
                                          <p:attrName>style.visibility</p:attrName>
                                        </p:attrNameLst>
                                      </p:cBhvr>
                                      <p:to>
                                        <p:strVal val="visible"/>
                                      </p:to>
                                    </p:set>
                                    <p:animEffect filter="fade" transition="in">
                                      <p:cBhvr>
                                        <p:cTn dur="500"/>
                                        <p:tgtEl>
                                          <p:spTgt spid="4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5" st="5"/>
                                            </p:txEl>
                                          </p:spTgt>
                                        </p:tgtEl>
                                        <p:attrNameLst>
                                          <p:attrName>style.visibility</p:attrName>
                                        </p:attrNameLst>
                                      </p:cBhvr>
                                      <p:to>
                                        <p:strVal val="visible"/>
                                      </p:to>
                                    </p:set>
                                    <p:animEffect filter="fade" transition="in">
                                      <p:cBhvr>
                                        <p:cTn dur="500"/>
                                        <p:tgtEl>
                                          <p:spTgt spid="4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6" st="6"/>
                                            </p:txEl>
                                          </p:spTgt>
                                        </p:tgtEl>
                                        <p:attrNameLst>
                                          <p:attrName>style.visibility</p:attrName>
                                        </p:attrNameLst>
                                      </p:cBhvr>
                                      <p:to>
                                        <p:strVal val="visible"/>
                                      </p:to>
                                    </p:set>
                                    <p:animEffect filter="fade" transition="in">
                                      <p:cBhvr>
                                        <p:cTn dur="500"/>
                                        <p:tgtEl>
                                          <p:spTgt spid="4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7" st="7"/>
                                            </p:txEl>
                                          </p:spTgt>
                                        </p:tgtEl>
                                        <p:attrNameLst>
                                          <p:attrName>style.visibility</p:attrName>
                                        </p:attrNameLst>
                                      </p:cBhvr>
                                      <p:to>
                                        <p:strVal val="visible"/>
                                      </p:to>
                                    </p:set>
                                    <p:animEffect filter="fade" transition="in">
                                      <p:cBhvr>
                                        <p:cTn dur="500"/>
                                        <p:tgtEl>
                                          <p:spTgt spid="4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xEl>
                                              <p:pRg end="8" st="8"/>
                                            </p:txEl>
                                          </p:spTgt>
                                        </p:tgtEl>
                                        <p:attrNameLst>
                                          <p:attrName>style.visibility</p:attrName>
                                        </p:attrNameLst>
                                      </p:cBhvr>
                                      <p:to>
                                        <p:strVal val="visible"/>
                                      </p:to>
                                    </p:set>
                                    <p:animEffect filter="fade" transition="in">
                                      <p:cBhvr>
                                        <p:cTn dur="500"/>
                                        <p:tgtEl>
                                          <p:spTgt spid="46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21"/>
          <p:cNvSpPr/>
          <p:nvPr/>
        </p:nvSpPr>
        <p:spPr>
          <a:xfrm>
            <a:off x="1905000" y="1038484"/>
            <a:ext cx="1905000" cy="4572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SOURCE CODE</a:t>
            </a:r>
            <a:endParaRPr/>
          </a:p>
        </p:txBody>
      </p:sp>
      <p:sp>
        <p:nvSpPr>
          <p:cNvPr id="478" name="Google Shape;478;p21"/>
          <p:cNvSpPr/>
          <p:nvPr/>
        </p:nvSpPr>
        <p:spPr>
          <a:xfrm>
            <a:off x="8439150" y="1002113"/>
            <a:ext cx="1600200" cy="4572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BYTE CODE</a:t>
            </a:r>
            <a:endParaRPr/>
          </a:p>
        </p:txBody>
      </p:sp>
      <p:sp>
        <p:nvSpPr>
          <p:cNvPr id="479" name="Google Shape;479;p21"/>
          <p:cNvSpPr/>
          <p:nvPr/>
        </p:nvSpPr>
        <p:spPr>
          <a:xfrm>
            <a:off x="2063262" y="4486854"/>
            <a:ext cx="2362200" cy="620973"/>
          </a:xfrm>
          <a:prstGeom prst="rect">
            <a:avLst/>
          </a:prstGeom>
          <a:solidFill>
            <a:srgbClr val="BF9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HARDWARE</a:t>
            </a:r>
            <a:endParaRPr/>
          </a:p>
        </p:txBody>
      </p:sp>
      <p:sp>
        <p:nvSpPr>
          <p:cNvPr id="480" name="Google Shape;480;p21"/>
          <p:cNvSpPr/>
          <p:nvPr/>
        </p:nvSpPr>
        <p:spPr>
          <a:xfrm>
            <a:off x="2063262" y="3910236"/>
            <a:ext cx="2362200" cy="620973"/>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Times New Roman"/>
                <a:ea typeface="Times New Roman"/>
                <a:cs typeface="Times New Roman"/>
                <a:sym typeface="Times New Roman"/>
              </a:rPr>
              <a:t>OPERATING SYSTEM</a:t>
            </a:r>
            <a:endParaRPr/>
          </a:p>
        </p:txBody>
      </p:sp>
      <p:sp>
        <p:nvSpPr>
          <p:cNvPr id="481" name="Google Shape;481;p21"/>
          <p:cNvSpPr/>
          <p:nvPr/>
        </p:nvSpPr>
        <p:spPr>
          <a:xfrm>
            <a:off x="2063262" y="3343854"/>
            <a:ext cx="2362200" cy="620973"/>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JVM</a:t>
            </a:r>
            <a:endParaRPr b="1" sz="1400">
              <a:solidFill>
                <a:schemeClr val="lt1"/>
              </a:solidFill>
              <a:latin typeface="Times New Roman"/>
              <a:ea typeface="Times New Roman"/>
              <a:cs typeface="Times New Roman"/>
              <a:sym typeface="Times New Roman"/>
            </a:endParaRPr>
          </a:p>
        </p:txBody>
      </p:sp>
      <p:grpSp>
        <p:nvGrpSpPr>
          <p:cNvPr id="482" name="Google Shape;482;p21"/>
          <p:cNvGrpSpPr/>
          <p:nvPr/>
        </p:nvGrpSpPr>
        <p:grpSpPr>
          <a:xfrm>
            <a:off x="3810000" y="920750"/>
            <a:ext cx="4629150" cy="560388"/>
            <a:chOff x="2286000" y="750628"/>
            <a:chExt cx="4629150" cy="560520"/>
          </a:xfrm>
        </p:grpSpPr>
        <p:cxnSp>
          <p:nvCxnSpPr>
            <p:cNvPr id="483" name="Google Shape;483;p21"/>
            <p:cNvCxnSpPr/>
            <p:nvPr/>
          </p:nvCxnSpPr>
          <p:spPr>
            <a:xfrm>
              <a:off x="2286000" y="1060264"/>
              <a:ext cx="4629150" cy="0"/>
            </a:xfrm>
            <a:prstGeom prst="straightConnector1">
              <a:avLst/>
            </a:prstGeom>
            <a:noFill/>
            <a:ln cap="flat" cmpd="sng" w="38100">
              <a:solidFill>
                <a:srgbClr val="7F6000"/>
              </a:solidFill>
              <a:prstDash val="solid"/>
              <a:miter lim="800000"/>
              <a:headEnd len="sm" w="sm" type="none"/>
              <a:tailEnd len="med" w="med" type="triangle"/>
            </a:ln>
          </p:spPr>
        </p:cxnSp>
        <p:sp>
          <p:nvSpPr>
            <p:cNvPr id="484" name="Google Shape;484;p21"/>
            <p:cNvSpPr/>
            <p:nvPr/>
          </p:nvSpPr>
          <p:spPr>
            <a:xfrm>
              <a:off x="3948113" y="750628"/>
              <a:ext cx="1781175" cy="560520"/>
            </a:xfrm>
            <a:prstGeom prst="ellipse">
              <a:avLst/>
            </a:prstGeom>
            <a:solidFill>
              <a:srgbClr val="FFD966"/>
            </a:solidFill>
            <a:ln cap="flat" cmpd="sng" w="28575">
              <a:solidFill>
                <a:srgbClr val="7F6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rgbClr val="FF0000"/>
                  </a:solidFill>
                  <a:latin typeface="Arial"/>
                  <a:ea typeface="Arial"/>
                  <a:cs typeface="Arial"/>
                  <a:sym typeface="Arial"/>
                </a:rPr>
                <a:t>Compiler</a:t>
              </a:r>
              <a:endParaRPr/>
            </a:p>
          </p:txBody>
        </p:sp>
      </p:grpSp>
      <p:sp>
        <p:nvSpPr>
          <p:cNvPr id="485" name="Google Shape;485;p21"/>
          <p:cNvSpPr/>
          <p:nvPr/>
        </p:nvSpPr>
        <p:spPr>
          <a:xfrm>
            <a:off x="2444262" y="2242144"/>
            <a:ext cx="1600200" cy="4572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OUTPUT</a:t>
            </a:r>
            <a:endParaRPr/>
          </a:p>
        </p:txBody>
      </p:sp>
      <p:grpSp>
        <p:nvGrpSpPr>
          <p:cNvPr id="486" name="Google Shape;486;p21"/>
          <p:cNvGrpSpPr/>
          <p:nvPr/>
        </p:nvGrpSpPr>
        <p:grpSpPr>
          <a:xfrm rot="5400000">
            <a:off x="8576395" y="1137370"/>
            <a:ext cx="1363811" cy="2000250"/>
            <a:chOff x="2292977" y="52021"/>
            <a:chExt cx="981520" cy="2000250"/>
          </a:xfrm>
        </p:grpSpPr>
        <p:cxnSp>
          <p:nvCxnSpPr>
            <p:cNvPr id="487" name="Google Shape;487;p21"/>
            <p:cNvCxnSpPr>
              <a:endCxn id="488" idx="0"/>
            </p:cNvCxnSpPr>
            <p:nvPr/>
          </p:nvCxnSpPr>
          <p:spPr>
            <a:xfrm rot="-5400000">
              <a:off x="2509877" y="835246"/>
              <a:ext cx="9600" cy="443400"/>
            </a:xfrm>
            <a:prstGeom prst="straightConnector1">
              <a:avLst/>
            </a:prstGeom>
            <a:noFill/>
            <a:ln cap="flat" cmpd="sng" w="38100">
              <a:solidFill>
                <a:srgbClr val="7F6000"/>
              </a:solidFill>
              <a:prstDash val="solid"/>
              <a:miter lim="800000"/>
              <a:headEnd len="sm" w="sm" type="none"/>
              <a:tailEnd len="med" w="med" type="triangle"/>
            </a:ln>
          </p:spPr>
        </p:cxnSp>
        <p:sp>
          <p:nvSpPr>
            <p:cNvPr id="488" name="Google Shape;488;p21"/>
            <p:cNvSpPr/>
            <p:nvPr/>
          </p:nvSpPr>
          <p:spPr>
            <a:xfrm rot="-5400000">
              <a:off x="2005312" y="783086"/>
              <a:ext cx="2000250" cy="538120"/>
            </a:xfrm>
            <a:prstGeom prst="ellipse">
              <a:avLst/>
            </a:prstGeom>
            <a:solidFill>
              <a:srgbClr val="FFD966"/>
            </a:solidFill>
            <a:ln cap="flat" cmpd="sng" w="28575">
              <a:solidFill>
                <a:srgbClr val="7F6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rgbClr val="FF0000"/>
                  </a:solidFill>
                  <a:latin typeface="Arial"/>
                  <a:ea typeface="Arial"/>
                  <a:cs typeface="Arial"/>
                  <a:sym typeface="Arial"/>
                </a:rPr>
                <a:t>Interpreter</a:t>
              </a:r>
              <a:endParaRPr b="1" sz="1600">
                <a:solidFill>
                  <a:srgbClr val="FF0000"/>
                </a:solidFill>
                <a:latin typeface="Arial"/>
                <a:ea typeface="Arial"/>
                <a:cs typeface="Arial"/>
                <a:sym typeface="Arial"/>
              </a:endParaRPr>
            </a:p>
          </p:txBody>
        </p:sp>
      </p:grpSp>
      <p:grpSp>
        <p:nvGrpSpPr>
          <p:cNvPr id="489" name="Google Shape;489;p21"/>
          <p:cNvGrpSpPr/>
          <p:nvPr/>
        </p:nvGrpSpPr>
        <p:grpSpPr>
          <a:xfrm>
            <a:off x="5124450" y="3346450"/>
            <a:ext cx="2300288" cy="1770063"/>
            <a:chOff x="6153150" y="3810001"/>
            <a:chExt cx="2362200" cy="1763972"/>
          </a:xfrm>
        </p:grpSpPr>
        <p:sp>
          <p:nvSpPr>
            <p:cNvPr id="490" name="Google Shape;490;p21"/>
            <p:cNvSpPr/>
            <p:nvPr/>
          </p:nvSpPr>
          <p:spPr>
            <a:xfrm>
              <a:off x="6153150" y="4953000"/>
              <a:ext cx="1162050" cy="620973"/>
            </a:xfrm>
            <a:prstGeom prst="rect">
              <a:avLst/>
            </a:prstGeom>
            <a:solidFill>
              <a:srgbClr val="75707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200">
                  <a:solidFill>
                    <a:schemeClr val="lt1"/>
                  </a:solidFill>
                  <a:latin typeface="Times New Roman"/>
                  <a:ea typeface="Times New Roman"/>
                  <a:cs typeface="Times New Roman"/>
                  <a:sym typeface="Times New Roman"/>
                </a:rPr>
                <a:t>JIT/Compiler</a:t>
              </a:r>
              <a:endParaRPr/>
            </a:p>
          </p:txBody>
        </p:sp>
        <p:sp>
          <p:nvSpPr>
            <p:cNvPr id="491" name="Google Shape;491;p21"/>
            <p:cNvSpPr/>
            <p:nvPr/>
          </p:nvSpPr>
          <p:spPr>
            <a:xfrm>
              <a:off x="6153150" y="4376382"/>
              <a:ext cx="1162050" cy="620973"/>
            </a:xfrm>
            <a:prstGeom prst="rect">
              <a:avLst/>
            </a:prstGeom>
            <a:solidFill>
              <a:srgbClr val="2E75B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400">
                  <a:solidFill>
                    <a:schemeClr val="lt1"/>
                  </a:solidFill>
                  <a:latin typeface="Times New Roman"/>
                  <a:ea typeface="Times New Roman"/>
                  <a:cs typeface="Times New Roman"/>
                  <a:sym typeface="Times New Roman"/>
                </a:rPr>
                <a:t>Interpreter</a:t>
              </a:r>
              <a:endParaRPr/>
            </a:p>
          </p:txBody>
        </p:sp>
        <p:sp>
          <p:nvSpPr>
            <p:cNvPr id="492" name="Google Shape;492;p21"/>
            <p:cNvSpPr/>
            <p:nvPr/>
          </p:nvSpPr>
          <p:spPr>
            <a:xfrm>
              <a:off x="6153150" y="3810001"/>
              <a:ext cx="2362200" cy="566382"/>
            </a:xfrm>
            <a:prstGeom prst="rect">
              <a:avLst/>
            </a:prstGeom>
            <a:solidFill>
              <a:srgbClr val="00B05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lt1"/>
                  </a:solidFill>
                  <a:latin typeface="Times New Roman"/>
                  <a:ea typeface="Times New Roman"/>
                  <a:cs typeface="Times New Roman"/>
                  <a:sym typeface="Times New Roman"/>
                </a:rPr>
                <a:t>JVM + JRE</a:t>
              </a:r>
              <a:endParaRPr b="1" sz="1400">
                <a:solidFill>
                  <a:schemeClr val="lt1"/>
                </a:solidFill>
                <a:latin typeface="Times New Roman"/>
                <a:ea typeface="Times New Roman"/>
                <a:cs typeface="Times New Roman"/>
                <a:sym typeface="Times New Roman"/>
              </a:endParaRPr>
            </a:p>
          </p:txBody>
        </p:sp>
        <p:sp>
          <p:nvSpPr>
            <p:cNvPr id="493" name="Google Shape;493;p21"/>
            <p:cNvSpPr/>
            <p:nvPr/>
          </p:nvSpPr>
          <p:spPr>
            <a:xfrm>
              <a:off x="7315200" y="4376381"/>
              <a:ext cx="1200150" cy="1192474"/>
            </a:xfrm>
            <a:prstGeom prst="rect">
              <a:avLst/>
            </a:prstGeom>
            <a:solidFill>
              <a:srgbClr val="8296B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lt1"/>
                  </a:solidFill>
                  <a:latin typeface="Times New Roman"/>
                  <a:ea typeface="Times New Roman"/>
                  <a:cs typeface="Times New Roman"/>
                  <a:sym typeface="Times New Roman"/>
                </a:rPr>
                <a:t>Memory </a:t>
              </a:r>
              <a:r>
                <a:rPr b="1" lang="en-US" sz="1200">
                  <a:solidFill>
                    <a:schemeClr val="lt1"/>
                  </a:solidFill>
                  <a:latin typeface="Times New Roman"/>
                  <a:ea typeface="Times New Roman"/>
                  <a:cs typeface="Times New Roman"/>
                  <a:sym typeface="Times New Roman"/>
                </a:rPr>
                <a:t>Management</a:t>
              </a:r>
              <a:endParaRPr b="1" sz="1000">
                <a:solidFill>
                  <a:schemeClr val="lt1"/>
                </a:solidFill>
                <a:latin typeface="Times New Roman"/>
                <a:ea typeface="Times New Roman"/>
                <a:cs typeface="Times New Roman"/>
                <a:sym typeface="Times New Roman"/>
              </a:endParaRPr>
            </a:p>
          </p:txBody>
        </p:sp>
      </p:grpSp>
      <p:sp>
        <p:nvSpPr>
          <p:cNvPr id="494" name="Google Shape;494;p21"/>
          <p:cNvSpPr/>
          <p:nvPr/>
        </p:nvSpPr>
        <p:spPr>
          <a:xfrm>
            <a:off x="8168513" y="4526792"/>
            <a:ext cx="2045679" cy="457200"/>
          </a:xfrm>
          <a:prstGeom prst="rect">
            <a:avLst/>
          </a:prstGeom>
          <a:solidFill>
            <a:srgbClr val="F4B0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FF0000"/>
                </a:solidFill>
                <a:latin typeface="Times New Roman"/>
                <a:ea typeface="Times New Roman"/>
                <a:cs typeface="Times New Roman"/>
                <a:sym typeface="Times New Roman"/>
              </a:rPr>
              <a:t>MACHINE CODE</a:t>
            </a:r>
            <a:endParaRPr/>
          </a:p>
        </p:txBody>
      </p:sp>
      <p:sp>
        <p:nvSpPr>
          <p:cNvPr id="495" name="Google Shape;495;p21"/>
          <p:cNvSpPr/>
          <p:nvPr/>
        </p:nvSpPr>
        <p:spPr>
          <a:xfrm>
            <a:off x="8391251" y="3402042"/>
            <a:ext cx="1600200" cy="4572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MACHINE</a:t>
            </a:r>
            <a:endParaRPr/>
          </a:p>
        </p:txBody>
      </p:sp>
      <p:cxnSp>
        <p:nvCxnSpPr>
          <p:cNvPr id="496" name="Google Shape;496;p21"/>
          <p:cNvCxnSpPr>
            <a:stCxn id="488" idx="2"/>
          </p:cNvCxnSpPr>
          <p:nvPr/>
        </p:nvCxnSpPr>
        <p:spPr>
          <a:xfrm flipH="1">
            <a:off x="4044975" y="2445544"/>
            <a:ext cx="4213200" cy="25500"/>
          </a:xfrm>
          <a:prstGeom prst="straightConnector1">
            <a:avLst/>
          </a:prstGeom>
          <a:noFill/>
          <a:ln cap="flat" cmpd="sng" w="38100">
            <a:solidFill>
              <a:srgbClr val="7F6000"/>
            </a:solidFill>
            <a:prstDash val="solid"/>
            <a:miter lim="800000"/>
            <a:headEnd len="sm" w="sm" type="none"/>
            <a:tailEnd len="med" w="med" type="triangle"/>
          </a:ln>
        </p:spPr>
      </p:cxnSp>
      <p:cxnSp>
        <p:nvCxnSpPr>
          <p:cNvPr id="497" name="Google Shape;497;p21"/>
          <p:cNvCxnSpPr/>
          <p:nvPr/>
        </p:nvCxnSpPr>
        <p:spPr>
          <a:xfrm flipH="1">
            <a:off x="3752850" y="2420938"/>
            <a:ext cx="4505325" cy="860425"/>
          </a:xfrm>
          <a:prstGeom prst="straightConnector1">
            <a:avLst/>
          </a:prstGeom>
          <a:noFill/>
          <a:ln cap="flat" cmpd="sng" w="38100">
            <a:solidFill>
              <a:srgbClr val="7F6000"/>
            </a:solidFill>
            <a:prstDash val="solid"/>
            <a:miter lim="800000"/>
            <a:headEnd len="sm" w="sm" type="none"/>
            <a:tailEnd len="med" w="med" type="triangle"/>
          </a:ln>
        </p:spPr>
      </p:cxnSp>
      <p:cxnSp>
        <p:nvCxnSpPr>
          <p:cNvPr id="498" name="Google Shape;498;p21"/>
          <p:cNvCxnSpPr/>
          <p:nvPr/>
        </p:nvCxnSpPr>
        <p:spPr>
          <a:xfrm flipH="1" rot="10800000">
            <a:off x="4419600" y="3649663"/>
            <a:ext cx="647700" cy="1587"/>
          </a:xfrm>
          <a:prstGeom prst="straightConnector1">
            <a:avLst/>
          </a:prstGeom>
          <a:noFill/>
          <a:ln cap="flat" cmpd="sng" w="38100">
            <a:solidFill>
              <a:srgbClr val="7F6000"/>
            </a:solidFill>
            <a:prstDash val="solid"/>
            <a:miter lim="800000"/>
            <a:headEnd len="sm" w="sm" type="none"/>
            <a:tailEnd len="med" w="med" type="triangle"/>
          </a:ln>
        </p:spPr>
      </p:cxnSp>
      <p:cxnSp>
        <p:nvCxnSpPr>
          <p:cNvPr id="499" name="Google Shape;499;p21"/>
          <p:cNvCxnSpPr/>
          <p:nvPr/>
        </p:nvCxnSpPr>
        <p:spPr>
          <a:xfrm flipH="1" rot="10800000">
            <a:off x="7472363" y="4786313"/>
            <a:ext cx="647700" cy="3175"/>
          </a:xfrm>
          <a:prstGeom prst="straightConnector1">
            <a:avLst/>
          </a:prstGeom>
          <a:noFill/>
          <a:ln cap="flat" cmpd="sng" w="38100">
            <a:solidFill>
              <a:srgbClr val="7F6000"/>
            </a:solidFill>
            <a:prstDash val="solid"/>
            <a:miter lim="800000"/>
            <a:headEnd len="sm" w="sm" type="none"/>
            <a:tailEnd len="med" w="med" type="triangle"/>
          </a:ln>
        </p:spPr>
      </p:cxnSp>
      <p:cxnSp>
        <p:nvCxnSpPr>
          <p:cNvPr id="500" name="Google Shape;500;p21"/>
          <p:cNvCxnSpPr/>
          <p:nvPr/>
        </p:nvCxnSpPr>
        <p:spPr>
          <a:xfrm rot="10800000">
            <a:off x="9191625" y="3859213"/>
            <a:ext cx="0" cy="668337"/>
          </a:xfrm>
          <a:prstGeom prst="straightConnector1">
            <a:avLst/>
          </a:prstGeom>
          <a:noFill/>
          <a:ln cap="flat" cmpd="sng" w="38100">
            <a:solidFill>
              <a:srgbClr val="7F6000"/>
            </a:solidFill>
            <a:prstDash val="solid"/>
            <a:miter lim="800000"/>
            <a:headEnd len="sm" w="sm" type="none"/>
            <a:tailEnd len="med" w="med" type="triangle"/>
          </a:ln>
        </p:spPr>
      </p:cxnSp>
      <p:cxnSp>
        <p:nvCxnSpPr>
          <p:cNvPr id="501" name="Google Shape;501;p21"/>
          <p:cNvCxnSpPr/>
          <p:nvPr/>
        </p:nvCxnSpPr>
        <p:spPr>
          <a:xfrm rot="10800000">
            <a:off x="7424738" y="3630613"/>
            <a:ext cx="966787" cy="0"/>
          </a:xfrm>
          <a:prstGeom prst="straightConnector1">
            <a:avLst/>
          </a:prstGeom>
          <a:noFill/>
          <a:ln cap="flat" cmpd="sng" w="38100">
            <a:solidFill>
              <a:srgbClr val="7F6000"/>
            </a:solidFill>
            <a:prstDash val="solid"/>
            <a:miter lim="800000"/>
            <a:headEnd len="sm" w="sm" type="none"/>
            <a:tailEnd len="med" w="med" type="triangle"/>
          </a:ln>
        </p:spPr>
      </p:cxnSp>
      <p:cxnSp>
        <p:nvCxnSpPr>
          <p:cNvPr id="502" name="Google Shape;502;p21"/>
          <p:cNvCxnSpPr/>
          <p:nvPr/>
        </p:nvCxnSpPr>
        <p:spPr>
          <a:xfrm rot="10800000">
            <a:off x="3244850" y="2698750"/>
            <a:ext cx="0" cy="644525"/>
          </a:xfrm>
          <a:prstGeom prst="straightConnector1">
            <a:avLst/>
          </a:prstGeom>
          <a:noFill/>
          <a:ln cap="flat" cmpd="sng" w="38100">
            <a:solidFill>
              <a:srgbClr val="7F6000"/>
            </a:solidFill>
            <a:prstDash val="solid"/>
            <a:miter lim="800000"/>
            <a:headEnd len="sm" w="sm" type="none"/>
            <a:tailEnd len="med" w="med" type="triangle"/>
          </a:ln>
        </p:spPr>
      </p:cxnSp>
      <p:sp>
        <p:nvSpPr>
          <p:cNvPr id="503" name="Google Shape;503;p21"/>
          <p:cNvSpPr txBox="1"/>
          <p:nvPr/>
        </p:nvSpPr>
        <p:spPr>
          <a:xfrm>
            <a:off x="304800" y="228600"/>
            <a:ext cx="3886200" cy="479685"/>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After JDK Installation</a:t>
            </a:r>
            <a:endParaRPr b="1" sz="3000">
              <a:solidFill>
                <a:srgbClr val="002060"/>
              </a:solidFill>
              <a:latin typeface="Times New Roman"/>
              <a:ea typeface="Times New Roman"/>
              <a:cs typeface="Times New Roman"/>
              <a:sym typeface="Times New Roman"/>
            </a:endParaRPr>
          </a:p>
        </p:txBody>
      </p:sp>
      <p:sp>
        <p:nvSpPr>
          <p:cNvPr id="504" name="Google Shape;504;p21"/>
          <p:cNvSpPr/>
          <p:nvPr/>
        </p:nvSpPr>
        <p:spPr>
          <a:xfrm>
            <a:off x="4278255" y="209714"/>
            <a:ext cx="5597430" cy="523220"/>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JVM, JRE &amp; JDK – After Installation</a:t>
            </a:r>
            <a:endParaRPr sz="2800">
              <a:solidFill>
                <a:srgbClr val="FF0000"/>
              </a:solidFill>
              <a:latin typeface="Times New Roman"/>
              <a:ea typeface="Times New Roman"/>
              <a:cs typeface="Times New Roman"/>
              <a:sym typeface="Times New Roman"/>
            </a:endParaRPr>
          </a:p>
        </p:txBody>
      </p:sp>
      <p:sp>
        <p:nvSpPr>
          <p:cNvPr id="505" name="Google Shape;50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9"/>
                                        </p:tgtEl>
                                        <p:attrNameLst>
                                          <p:attrName>style.visibility</p:attrName>
                                        </p:attrNameLst>
                                      </p:cBhvr>
                                      <p:to>
                                        <p:strVal val="visible"/>
                                      </p:to>
                                    </p:set>
                                    <p:animEffect filter="fade" transition="in">
                                      <p:cBhvr>
                                        <p:cTn dur="500"/>
                                        <p:tgtEl>
                                          <p:spTgt spid="4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0"/>
                                        </p:tgtEl>
                                        <p:attrNameLst>
                                          <p:attrName>style.visibility</p:attrName>
                                        </p:attrNameLst>
                                      </p:cBhvr>
                                      <p:to>
                                        <p:strVal val="visible"/>
                                      </p:to>
                                    </p:set>
                                    <p:animEffect filter="fade" transition="in">
                                      <p:cBhvr>
                                        <p:cTn dur="500"/>
                                        <p:tgtEl>
                                          <p:spTgt spid="4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1"/>
                                        </p:tgtEl>
                                        <p:attrNameLst>
                                          <p:attrName>style.visibility</p:attrName>
                                        </p:attrNameLst>
                                      </p:cBhvr>
                                      <p:to>
                                        <p:strVal val="visible"/>
                                      </p:to>
                                    </p:set>
                                    <p:animEffect filter="fade" transition="in">
                                      <p:cBhvr>
                                        <p:cTn dur="500"/>
                                        <p:tgtEl>
                                          <p:spTgt spid="4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500"/>
                                        <p:tgtEl>
                                          <p:spTgt spid="498"/>
                                        </p:tgtEl>
                                      </p:cBhvr>
                                    </p:animEffect>
                                  </p:childTnLst>
                                </p:cTn>
                              </p:par>
                              <p:par>
                                <p:cTn fill="hold" nodeType="with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500"/>
                                        <p:tgtEl>
                                          <p:spTgt spid="4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500"/>
                                        <p:tgtEl>
                                          <p:spTgt spid="499"/>
                                        </p:tgtEl>
                                      </p:cBhvr>
                                    </p:animEffect>
                                  </p:childTnLst>
                                </p:cTn>
                              </p:par>
                              <p:par>
                                <p:cTn fill="hold" nodeType="withEffect" presetClass="entr" presetID="10" presetSubtype="0">
                                  <p:stCondLst>
                                    <p:cond delay="0"/>
                                  </p:stCondLst>
                                  <p:childTnLst>
                                    <p:set>
                                      <p:cBhvr>
                                        <p:cTn dur="1" fill="hold">
                                          <p:stCondLst>
                                            <p:cond delay="0"/>
                                          </p:stCondLst>
                                        </p:cTn>
                                        <p:tgtEl>
                                          <p:spTgt spid="494"/>
                                        </p:tgtEl>
                                        <p:attrNameLst>
                                          <p:attrName>style.visibility</p:attrName>
                                        </p:attrNameLst>
                                      </p:cBhvr>
                                      <p:to>
                                        <p:strVal val="visible"/>
                                      </p:to>
                                    </p:set>
                                    <p:animEffect filter="fade" transition="in">
                                      <p:cBhvr>
                                        <p:cTn dur="500"/>
                                        <p:tgtEl>
                                          <p:spTgt spid="4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500"/>
                                        <p:tgtEl>
                                          <p:spTgt spid="500"/>
                                        </p:tgtEl>
                                      </p:cBhvr>
                                    </p:animEffect>
                                  </p:childTnLst>
                                </p:cTn>
                              </p:par>
                              <p:par>
                                <p:cTn fill="hold" nodeType="withEffect" presetClass="entr" presetID="10" presetSubtype="0">
                                  <p:stCondLst>
                                    <p:cond delay="0"/>
                                  </p:stCondLst>
                                  <p:childTnLst>
                                    <p:set>
                                      <p:cBhvr>
                                        <p:cTn dur="1" fill="hold">
                                          <p:stCondLst>
                                            <p:cond delay="0"/>
                                          </p:stCondLst>
                                        </p:cTn>
                                        <p:tgtEl>
                                          <p:spTgt spid="495"/>
                                        </p:tgtEl>
                                        <p:attrNameLst>
                                          <p:attrName>style.visibility</p:attrName>
                                        </p:attrNameLst>
                                      </p:cBhvr>
                                      <p:to>
                                        <p:strVal val="visible"/>
                                      </p:to>
                                    </p:set>
                                    <p:animEffect filter="fade" transition="in">
                                      <p:cBhvr>
                                        <p:cTn dur="500"/>
                                        <p:tgtEl>
                                          <p:spTgt spid="4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500"/>
                                        <p:tgtEl>
                                          <p:spTgt spid="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500"/>
                                        <p:tgtEl>
                                          <p:spTgt spid="4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par>
                                <p:cTn fill="hold" nodeType="withEffect" presetClass="entr" presetID="10" presetSubtype="0">
                                  <p:stCondLst>
                                    <p:cond delay="0"/>
                                  </p:stCondLst>
                                  <p:childTnLst>
                                    <p:set>
                                      <p:cBhvr>
                                        <p:cTn dur="1" fill="hold">
                                          <p:stCondLst>
                                            <p:cond delay="0"/>
                                          </p:stCondLst>
                                        </p:cTn>
                                        <p:tgtEl>
                                          <p:spTgt spid="496"/>
                                        </p:tgtEl>
                                        <p:attrNameLst>
                                          <p:attrName>style.visibility</p:attrName>
                                        </p:attrNameLst>
                                      </p:cBhvr>
                                      <p:to>
                                        <p:strVal val="visible"/>
                                      </p:to>
                                    </p:set>
                                    <p:animEffect filter="fade" transition="in">
                                      <p:cBhvr>
                                        <p:cTn dur="500"/>
                                        <p:tgtEl>
                                          <p:spTgt spid="496"/>
                                        </p:tgtEl>
                                      </p:cBhvr>
                                    </p:animEffect>
                                  </p:childTnLst>
                                </p:cTn>
                              </p:par>
                              <p:par>
                                <p:cTn fill="hold" nodeType="with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49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48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500"/>
                                        <p:tgtEl>
                                          <p:spTgt spid="4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500"/>
                                        <p:tgtEl>
                                          <p:spTgt spid="5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22"/>
          <p:cNvSpPr txBox="1"/>
          <p:nvPr>
            <p:ph type="title"/>
          </p:nvPr>
        </p:nvSpPr>
        <p:spPr>
          <a:xfrm>
            <a:off x="2152650" y="312738"/>
            <a:ext cx="7886700" cy="83185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a:t> </a:t>
            </a:r>
            <a:endParaRPr/>
          </a:p>
        </p:txBody>
      </p:sp>
      <p:sp>
        <p:nvSpPr>
          <p:cNvPr id="511" name="Google Shape;511;p22"/>
          <p:cNvSpPr/>
          <p:nvPr/>
        </p:nvSpPr>
        <p:spPr>
          <a:xfrm>
            <a:off x="304800" y="769937"/>
            <a:ext cx="11201400" cy="3693319"/>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To execute Java program, JRE must be installed in the system</a:t>
            </a:r>
            <a:endParaRPr/>
          </a:p>
          <a:p>
            <a:pPr indent="-342900" lvl="0" marL="342900" marR="0" rtl="0" algn="just">
              <a:lnSpc>
                <a:spcPct val="100000"/>
              </a:lnSpc>
              <a:spcBef>
                <a:spcPts val="6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JRE or Java Runtime environment contains </a:t>
            </a:r>
            <a:endParaRPr/>
          </a:p>
          <a:p>
            <a:pPr indent="-285750" lvl="1" marL="742950" marR="0" rtl="0" algn="just">
              <a:lnSpc>
                <a:spcPct val="100000"/>
              </a:lnSpc>
              <a:spcBef>
                <a:spcPts val="600"/>
              </a:spcBef>
              <a:spcAft>
                <a:spcPts val="0"/>
              </a:spcAft>
              <a:buClr>
                <a:schemeClr val="dk1"/>
              </a:buClr>
              <a:buSzPts val="2000"/>
              <a:buFont typeface="Courier New"/>
              <a:buChar char="o"/>
            </a:pPr>
            <a:r>
              <a:rPr b="0" i="0" lang="en-US" sz="2000" u="none" cap="none" strike="noStrike">
                <a:solidFill>
                  <a:schemeClr val="dk1"/>
                </a:solidFill>
                <a:latin typeface="Times New Roman"/>
                <a:ea typeface="Times New Roman"/>
                <a:cs typeface="Times New Roman"/>
                <a:sym typeface="Times New Roman"/>
              </a:rPr>
              <a:t>Java Virtual Machine</a:t>
            </a:r>
            <a:endParaRPr/>
          </a:p>
          <a:p>
            <a:pPr indent="-285750" lvl="1" marL="742950" marR="0" rtl="0" algn="just">
              <a:lnSpc>
                <a:spcPct val="100000"/>
              </a:lnSpc>
              <a:spcBef>
                <a:spcPts val="600"/>
              </a:spcBef>
              <a:spcAft>
                <a:spcPts val="0"/>
              </a:spcAft>
              <a:buClr>
                <a:schemeClr val="dk1"/>
              </a:buClr>
              <a:buSzPts val="2000"/>
              <a:buFont typeface="Courier New"/>
              <a:buChar char="o"/>
            </a:pPr>
            <a:r>
              <a:rPr b="0" i="0" lang="en-US" sz="2000" u="none" cap="none" strike="noStrike">
                <a:solidFill>
                  <a:schemeClr val="dk1"/>
                </a:solidFill>
                <a:latin typeface="Times New Roman"/>
                <a:ea typeface="Times New Roman"/>
                <a:cs typeface="Times New Roman"/>
                <a:sym typeface="Times New Roman"/>
              </a:rPr>
              <a:t>Standard class libraries (APIs)</a:t>
            </a:r>
            <a:endParaRPr/>
          </a:p>
          <a:p>
            <a:pPr indent="-285750" lvl="1" marL="742950" marR="0" rtl="0" algn="just">
              <a:lnSpc>
                <a:spcPct val="100000"/>
              </a:lnSpc>
              <a:spcBef>
                <a:spcPts val="600"/>
              </a:spcBef>
              <a:spcAft>
                <a:spcPts val="0"/>
              </a:spcAft>
              <a:buClr>
                <a:schemeClr val="dk1"/>
              </a:buClr>
              <a:buSzPts val="2000"/>
              <a:buFont typeface="Courier New"/>
              <a:buChar char="o"/>
            </a:pPr>
            <a:r>
              <a:rPr b="0" i="0" lang="en-US" sz="2000" u="none" cap="none" strike="noStrike">
                <a:solidFill>
                  <a:schemeClr val="dk1"/>
                </a:solidFill>
                <a:latin typeface="Times New Roman"/>
                <a:ea typeface="Times New Roman"/>
                <a:cs typeface="Times New Roman"/>
                <a:sym typeface="Times New Roman"/>
              </a:rPr>
              <a:t>Java Plug-in</a:t>
            </a:r>
            <a:endParaRPr/>
          </a:p>
          <a:p>
            <a:pPr indent="-285750" lvl="1" marL="742950" marR="0" rtl="0" algn="just">
              <a:lnSpc>
                <a:spcPct val="100000"/>
              </a:lnSpc>
              <a:spcBef>
                <a:spcPts val="600"/>
              </a:spcBef>
              <a:spcAft>
                <a:spcPts val="0"/>
              </a:spcAft>
              <a:buClr>
                <a:schemeClr val="dk1"/>
              </a:buClr>
              <a:buSzPts val="2000"/>
              <a:buFont typeface="Courier New"/>
              <a:buChar char="o"/>
            </a:pPr>
            <a:r>
              <a:rPr b="0" i="0" lang="en-US" sz="2000" u="none" cap="none" strike="noStrike">
                <a:solidFill>
                  <a:schemeClr val="dk1"/>
                </a:solidFill>
                <a:latin typeface="Times New Roman"/>
                <a:ea typeface="Times New Roman"/>
                <a:cs typeface="Times New Roman"/>
                <a:sym typeface="Times New Roman"/>
              </a:rPr>
              <a:t>Java Webstart</a:t>
            </a:r>
            <a:endParaRPr b="0" i="0" sz="20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6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JRE gets installed automatically when JDK is installed. JRE can be installed independent of JDK as well. This will mean that Java programs can be executed in that system.</a:t>
            </a:r>
            <a:endParaRPr/>
          </a:p>
        </p:txBody>
      </p:sp>
      <p:sp>
        <p:nvSpPr>
          <p:cNvPr id="512" name="Google Shape;512;p22"/>
          <p:cNvSpPr/>
          <p:nvPr/>
        </p:nvSpPr>
        <p:spPr>
          <a:xfrm>
            <a:off x="1629770" y="4255545"/>
            <a:ext cx="1875430" cy="7620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SOURCE CODE</a:t>
            </a:r>
            <a:endParaRPr/>
          </a:p>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(filename.java)</a:t>
            </a:r>
            <a:endParaRPr b="1" sz="1800">
              <a:solidFill>
                <a:srgbClr val="FFFF00"/>
              </a:solidFill>
              <a:latin typeface="Times New Roman"/>
              <a:ea typeface="Times New Roman"/>
              <a:cs typeface="Times New Roman"/>
              <a:sym typeface="Times New Roman"/>
            </a:endParaRPr>
          </a:p>
        </p:txBody>
      </p:sp>
      <p:sp>
        <p:nvSpPr>
          <p:cNvPr id="513" name="Google Shape;513;p22"/>
          <p:cNvSpPr/>
          <p:nvPr/>
        </p:nvSpPr>
        <p:spPr>
          <a:xfrm>
            <a:off x="3505201" y="4255545"/>
            <a:ext cx="1248770" cy="742699"/>
          </a:xfrm>
          <a:prstGeom prst="rightArrow">
            <a:avLst>
              <a:gd fmla="val 50000" name="adj1"/>
              <a:gd fmla="val 50000" name="adj2"/>
            </a:avLst>
          </a:prstGeom>
          <a:solidFill>
            <a:srgbClr val="FFD966"/>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C00000"/>
                </a:solidFill>
                <a:latin typeface="Times New Roman"/>
                <a:ea typeface="Times New Roman"/>
                <a:cs typeface="Times New Roman"/>
                <a:sym typeface="Times New Roman"/>
              </a:rPr>
              <a:t>Compile</a:t>
            </a:r>
            <a:endParaRPr b="1" sz="2000">
              <a:solidFill>
                <a:srgbClr val="C00000"/>
              </a:solidFill>
              <a:latin typeface="Times New Roman"/>
              <a:ea typeface="Times New Roman"/>
              <a:cs typeface="Times New Roman"/>
              <a:sym typeface="Times New Roman"/>
            </a:endParaRPr>
          </a:p>
        </p:txBody>
      </p:sp>
      <p:sp>
        <p:nvSpPr>
          <p:cNvPr id="514" name="Google Shape;514;p22"/>
          <p:cNvSpPr/>
          <p:nvPr/>
        </p:nvSpPr>
        <p:spPr>
          <a:xfrm>
            <a:off x="4648200" y="4245894"/>
            <a:ext cx="1723030" cy="7620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BYTE CODE</a:t>
            </a:r>
            <a:endParaRPr/>
          </a:p>
          <a:p>
            <a:pPr indent="0" lvl="0" marL="0" marR="0" rtl="0" algn="ctr">
              <a:spcBef>
                <a:spcPts val="0"/>
              </a:spcBef>
              <a:spcAft>
                <a:spcPts val="0"/>
              </a:spcAft>
              <a:buNone/>
            </a:pPr>
            <a:r>
              <a:rPr b="1" lang="en-US" sz="1800">
                <a:solidFill>
                  <a:srgbClr val="FFFF00"/>
                </a:solidFill>
                <a:latin typeface="Times New Roman"/>
                <a:ea typeface="Times New Roman"/>
                <a:cs typeface="Times New Roman"/>
                <a:sym typeface="Times New Roman"/>
              </a:rPr>
              <a:t>(filename.class)</a:t>
            </a:r>
            <a:endParaRPr b="1" sz="1800">
              <a:solidFill>
                <a:srgbClr val="FFFF00"/>
              </a:solidFill>
              <a:latin typeface="Times New Roman"/>
              <a:ea typeface="Times New Roman"/>
              <a:cs typeface="Times New Roman"/>
              <a:sym typeface="Times New Roman"/>
            </a:endParaRPr>
          </a:p>
        </p:txBody>
      </p:sp>
      <p:sp>
        <p:nvSpPr>
          <p:cNvPr id="515" name="Google Shape;515;p22"/>
          <p:cNvSpPr/>
          <p:nvPr/>
        </p:nvSpPr>
        <p:spPr>
          <a:xfrm>
            <a:off x="6371230" y="4245894"/>
            <a:ext cx="1479645" cy="762000"/>
          </a:xfrm>
          <a:prstGeom prst="rightArrow">
            <a:avLst>
              <a:gd fmla="val 50000" name="adj1"/>
              <a:gd fmla="val 50000" name="adj2"/>
            </a:avLst>
          </a:prstGeom>
          <a:solidFill>
            <a:srgbClr val="FFD966"/>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C00000"/>
                </a:solidFill>
                <a:latin typeface="Times New Roman"/>
                <a:ea typeface="Times New Roman"/>
                <a:cs typeface="Times New Roman"/>
                <a:sym typeface="Times New Roman"/>
              </a:rPr>
              <a:t>Interpreter</a:t>
            </a:r>
            <a:endParaRPr b="1" sz="2000">
              <a:solidFill>
                <a:srgbClr val="C00000"/>
              </a:solidFill>
              <a:latin typeface="Times New Roman"/>
              <a:ea typeface="Times New Roman"/>
              <a:cs typeface="Times New Roman"/>
              <a:sym typeface="Times New Roman"/>
            </a:endParaRPr>
          </a:p>
        </p:txBody>
      </p:sp>
      <p:sp>
        <p:nvSpPr>
          <p:cNvPr id="516" name="Google Shape;516;p22"/>
          <p:cNvSpPr/>
          <p:nvPr/>
        </p:nvSpPr>
        <p:spPr>
          <a:xfrm>
            <a:off x="7792304" y="4216651"/>
            <a:ext cx="878006" cy="7620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JVM</a:t>
            </a:r>
            <a:endParaRPr b="1" sz="1800">
              <a:solidFill>
                <a:srgbClr val="FFFF00"/>
              </a:solidFill>
              <a:latin typeface="Times New Roman"/>
              <a:ea typeface="Times New Roman"/>
              <a:cs typeface="Times New Roman"/>
              <a:sym typeface="Times New Roman"/>
            </a:endParaRPr>
          </a:p>
        </p:txBody>
      </p:sp>
      <p:sp>
        <p:nvSpPr>
          <p:cNvPr id="517" name="Google Shape;517;p22"/>
          <p:cNvSpPr/>
          <p:nvPr/>
        </p:nvSpPr>
        <p:spPr>
          <a:xfrm>
            <a:off x="8664056" y="4226024"/>
            <a:ext cx="1859507" cy="762556"/>
          </a:xfrm>
          <a:prstGeom prst="rightArrow">
            <a:avLst>
              <a:gd fmla="val 50000" name="adj1"/>
              <a:gd fmla="val 50000" name="adj2"/>
            </a:avLst>
          </a:prstGeom>
          <a:solidFill>
            <a:srgbClr val="FFD966"/>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rgbClr val="C00000"/>
                </a:solidFill>
                <a:latin typeface="Times New Roman"/>
                <a:ea typeface="Times New Roman"/>
                <a:cs typeface="Times New Roman"/>
                <a:sym typeface="Times New Roman"/>
              </a:rPr>
              <a:t>Machine Code</a:t>
            </a:r>
            <a:endParaRPr b="1" sz="1800">
              <a:solidFill>
                <a:srgbClr val="C00000"/>
              </a:solidFill>
              <a:latin typeface="Times New Roman"/>
              <a:ea typeface="Times New Roman"/>
              <a:cs typeface="Times New Roman"/>
              <a:sym typeface="Times New Roman"/>
            </a:endParaRPr>
          </a:p>
        </p:txBody>
      </p:sp>
      <p:sp>
        <p:nvSpPr>
          <p:cNvPr id="518" name="Google Shape;518;p22"/>
          <p:cNvSpPr/>
          <p:nvPr/>
        </p:nvSpPr>
        <p:spPr>
          <a:xfrm>
            <a:off x="10429734" y="4226024"/>
            <a:ext cx="1359090" cy="762000"/>
          </a:xfrm>
          <a:prstGeom prst="rect">
            <a:avLst/>
          </a:prstGeom>
          <a:solidFill>
            <a:srgbClr val="2F549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MACHINE</a:t>
            </a:r>
            <a:endParaRPr b="1" sz="1800">
              <a:solidFill>
                <a:srgbClr val="FFFF00"/>
              </a:solidFill>
              <a:latin typeface="Times New Roman"/>
              <a:ea typeface="Times New Roman"/>
              <a:cs typeface="Times New Roman"/>
              <a:sym typeface="Times New Roman"/>
            </a:endParaRPr>
          </a:p>
        </p:txBody>
      </p:sp>
      <p:grpSp>
        <p:nvGrpSpPr>
          <p:cNvPr id="519" name="Google Shape;519;p22"/>
          <p:cNvGrpSpPr/>
          <p:nvPr/>
        </p:nvGrpSpPr>
        <p:grpSpPr>
          <a:xfrm>
            <a:off x="1629770" y="5037137"/>
            <a:ext cx="4741460" cy="228600"/>
            <a:chOff x="1629770" y="5105400"/>
            <a:chExt cx="4741460" cy="228600"/>
          </a:xfrm>
        </p:grpSpPr>
        <p:sp>
          <p:nvSpPr>
            <p:cNvPr id="520" name="Google Shape;520;p22"/>
            <p:cNvSpPr/>
            <p:nvPr/>
          </p:nvSpPr>
          <p:spPr>
            <a:xfrm>
              <a:off x="1629770" y="5105400"/>
              <a:ext cx="199030" cy="228600"/>
            </a:xfrm>
            <a:prstGeom prst="rect">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21" name="Google Shape;521;p22"/>
            <p:cNvCxnSpPr>
              <a:stCxn id="520" idx="3"/>
              <a:endCxn id="522" idx="1"/>
            </p:cNvCxnSpPr>
            <p:nvPr/>
          </p:nvCxnSpPr>
          <p:spPr>
            <a:xfrm>
              <a:off x="1828800" y="5219700"/>
              <a:ext cx="4343400" cy="0"/>
            </a:xfrm>
            <a:prstGeom prst="straightConnector1">
              <a:avLst/>
            </a:prstGeom>
            <a:noFill/>
            <a:ln cap="flat" cmpd="sng" w="38100">
              <a:solidFill>
                <a:srgbClr val="FF0000"/>
              </a:solidFill>
              <a:prstDash val="solid"/>
              <a:miter lim="800000"/>
              <a:headEnd len="sm" w="sm" type="none"/>
              <a:tailEnd len="sm" w="sm" type="none"/>
            </a:ln>
          </p:spPr>
        </p:cxnSp>
        <p:sp>
          <p:nvSpPr>
            <p:cNvPr id="522" name="Google Shape;522;p22"/>
            <p:cNvSpPr/>
            <p:nvPr/>
          </p:nvSpPr>
          <p:spPr>
            <a:xfrm>
              <a:off x="6172200" y="5105400"/>
              <a:ext cx="199030" cy="228600"/>
            </a:xfrm>
            <a:prstGeom prst="rect">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523" name="Google Shape;523;p22"/>
          <p:cNvSpPr txBox="1"/>
          <p:nvPr/>
        </p:nvSpPr>
        <p:spPr>
          <a:xfrm>
            <a:off x="2895600" y="5105400"/>
            <a:ext cx="261161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Platform Independent</a:t>
            </a:r>
            <a:endParaRPr b="1" sz="2000">
              <a:solidFill>
                <a:srgbClr val="FF0000"/>
              </a:solidFill>
              <a:latin typeface="Times New Roman"/>
              <a:ea typeface="Times New Roman"/>
              <a:cs typeface="Times New Roman"/>
              <a:sym typeface="Times New Roman"/>
            </a:endParaRPr>
          </a:p>
        </p:txBody>
      </p:sp>
      <p:grpSp>
        <p:nvGrpSpPr>
          <p:cNvPr id="524" name="Google Shape;524;p22"/>
          <p:cNvGrpSpPr/>
          <p:nvPr/>
        </p:nvGrpSpPr>
        <p:grpSpPr>
          <a:xfrm>
            <a:off x="6371230" y="5037137"/>
            <a:ext cx="5417593" cy="228600"/>
            <a:chOff x="1629770" y="5105400"/>
            <a:chExt cx="4741460" cy="228600"/>
          </a:xfrm>
        </p:grpSpPr>
        <p:sp>
          <p:nvSpPr>
            <p:cNvPr id="525" name="Google Shape;525;p22"/>
            <p:cNvSpPr/>
            <p:nvPr/>
          </p:nvSpPr>
          <p:spPr>
            <a:xfrm>
              <a:off x="1629770" y="5105400"/>
              <a:ext cx="199030" cy="228600"/>
            </a:xfrm>
            <a:prstGeom prst="rect">
              <a:avLst/>
            </a:prstGeom>
            <a:solidFill>
              <a:srgbClr val="00B0F0"/>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526" name="Google Shape;526;p22"/>
            <p:cNvCxnSpPr>
              <a:stCxn id="525" idx="3"/>
              <a:endCxn id="527" idx="1"/>
            </p:cNvCxnSpPr>
            <p:nvPr/>
          </p:nvCxnSpPr>
          <p:spPr>
            <a:xfrm>
              <a:off x="1828800" y="5219700"/>
              <a:ext cx="4343400" cy="0"/>
            </a:xfrm>
            <a:prstGeom prst="straightConnector1">
              <a:avLst/>
            </a:prstGeom>
            <a:noFill/>
            <a:ln cap="flat" cmpd="sng" w="38100">
              <a:solidFill>
                <a:srgbClr val="00B0F0"/>
              </a:solidFill>
              <a:prstDash val="solid"/>
              <a:miter lim="800000"/>
              <a:headEnd len="sm" w="sm" type="none"/>
              <a:tailEnd len="sm" w="sm" type="none"/>
            </a:ln>
          </p:spPr>
        </p:cxnSp>
        <p:sp>
          <p:nvSpPr>
            <p:cNvPr id="527" name="Google Shape;527;p22"/>
            <p:cNvSpPr/>
            <p:nvPr/>
          </p:nvSpPr>
          <p:spPr>
            <a:xfrm>
              <a:off x="6172200" y="5105400"/>
              <a:ext cx="199030" cy="228600"/>
            </a:xfrm>
            <a:prstGeom prst="rect">
              <a:avLst/>
            </a:prstGeom>
            <a:solidFill>
              <a:srgbClr val="00B0F0"/>
            </a:solidFill>
            <a:ln cap="flat" cmpd="sng" w="12700">
              <a:solidFill>
                <a:srgbClr val="00B0F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528" name="Google Shape;528;p22"/>
          <p:cNvSpPr txBox="1"/>
          <p:nvPr/>
        </p:nvSpPr>
        <p:spPr>
          <a:xfrm>
            <a:off x="7711546" y="5105400"/>
            <a:ext cx="298402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B0F0"/>
                </a:solidFill>
                <a:latin typeface="Times New Roman"/>
                <a:ea typeface="Times New Roman"/>
                <a:cs typeface="Times New Roman"/>
                <a:sym typeface="Times New Roman"/>
              </a:rPr>
              <a:t>Platform Dependent</a:t>
            </a:r>
            <a:endParaRPr b="1" sz="2000">
              <a:solidFill>
                <a:srgbClr val="00B0F0"/>
              </a:solidFill>
              <a:latin typeface="Times New Roman"/>
              <a:ea typeface="Times New Roman"/>
              <a:cs typeface="Times New Roman"/>
              <a:sym typeface="Times New Roman"/>
            </a:endParaRPr>
          </a:p>
        </p:txBody>
      </p:sp>
      <p:sp>
        <p:nvSpPr>
          <p:cNvPr id="529" name="Google Shape;529;p22"/>
          <p:cNvSpPr txBox="1"/>
          <p:nvPr/>
        </p:nvSpPr>
        <p:spPr>
          <a:xfrm>
            <a:off x="304800" y="228600"/>
            <a:ext cx="3886200" cy="457199"/>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After JDK Installation</a:t>
            </a:r>
            <a:endParaRPr b="1" sz="3000">
              <a:solidFill>
                <a:srgbClr val="002060"/>
              </a:solidFill>
              <a:latin typeface="Times New Roman"/>
              <a:ea typeface="Times New Roman"/>
              <a:cs typeface="Times New Roman"/>
              <a:sym typeface="Times New Roman"/>
            </a:endParaRPr>
          </a:p>
        </p:txBody>
      </p:sp>
      <p:sp>
        <p:nvSpPr>
          <p:cNvPr id="530" name="Google Shape;530;p22"/>
          <p:cNvSpPr/>
          <p:nvPr/>
        </p:nvSpPr>
        <p:spPr>
          <a:xfrm>
            <a:off x="4247202" y="162580"/>
            <a:ext cx="5597430" cy="523220"/>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JVM, JRE &amp; JDK – After Installation</a:t>
            </a:r>
            <a:endParaRPr sz="2800">
              <a:solidFill>
                <a:srgbClr val="FF0000"/>
              </a:solidFill>
              <a:latin typeface="Times New Roman"/>
              <a:ea typeface="Times New Roman"/>
              <a:cs typeface="Times New Roman"/>
              <a:sym typeface="Times New Roman"/>
            </a:endParaRPr>
          </a:p>
        </p:txBody>
      </p:sp>
      <p:sp>
        <p:nvSpPr>
          <p:cNvPr id="531" name="Google Shape;53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500"/>
                                        <p:tgtEl>
                                          <p:spTgt spid="512"/>
                                        </p:tgtEl>
                                      </p:cBhvr>
                                    </p:animEffect>
                                  </p:childTnLst>
                                </p:cTn>
                              </p:par>
                              <p:par>
                                <p:cTn fill="hold" nodeType="withEffect" presetClass="entr" presetID="10" presetSubtype="0">
                                  <p:stCondLst>
                                    <p:cond delay="0"/>
                                  </p:stCondLst>
                                  <p:childTnLst>
                                    <p:set>
                                      <p:cBhvr>
                                        <p:cTn dur="1" fill="hold">
                                          <p:stCondLst>
                                            <p:cond delay="0"/>
                                          </p:stCondLst>
                                        </p:cTn>
                                        <p:tgtEl>
                                          <p:spTgt spid="514"/>
                                        </p:tgtEl>
                                        <p:attrNameLst>
                                          <p:attrName>style.visibility</p:attrName>
                                        </p:attrNameLst>
                                      </p:cBhvr>
                                      <p:to>
                                        <p:strVal val="visible"/>
                                      </p:to>
                                    </p:set>
                                    <p:animEffect filter="fade" transition="in">
                                      <p:cBhvr>
                                        <p:cTn dur="500"/>
                                        <p:tgtEl>
                                          <p:spTgt spid="514"/>
                                        </p:tgtEl>
                                      </p:cBhvr>
                                    </p:animEffect>
                                  </p:childTnLst>
                                </p:cTn>
                              </p:par>
                              <p:par>
                                <p:cTn fill="hold" nodeType="with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par>
                                <p:cTn fill="hold" nodeType="with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500"/>
                                        <p:tgtEl>
                                          <p:spTgt spid="518"/>
                                        </p:tgtEl>
                                      </p:cBhvr>
                                    </p:animEffect>
                                  </p:childTnLst>
                                </p:cTn>
                              </p:par>
                              <p:par>
                                <p:cTn fill="hold" nodeType="with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500"/>
                                        <p:tgtEl>
                                          <p:spTgt spid="513"/>
                                        </p:tgtEl>
                                      </p:cBhvr>
                                    </p:animEffect>
                                  </p:childTnLst>
                                </p:cTn>
                              </p:par>
                              <p:par>
                                <p:cTn fill="hold" nodeType="withEffect" presetClass="entr" presetID="10" presetSubtype="0">
                                  <p:stCondLst>
                                    <p:cond delay="0"/>
                                  </p:stCondLst>
                                  <p:childTnLst>
                                    <p:set>
                                      <p:cBhvr>
                                        <p:cTn dur="1" fill="hold">
                                          <p:stCondLst>
                                            <p:cond delay="0"/>
                                          </p:stCondLst>
                                        </p:cTn>
                                        <p:tgtEl>
                                          <p:spTgt spid="515"/>
                                        </p:tgtEl>
                                        <p:attrNameLst>
                                          <p:attrName>style.visibility</p:attrName>
                                        </p:attrNameLst>
                                      </p:cBhvr>
                                      <p:to>
                                        <p:strVal val="visible"/>
                                      </p:to>
                                    </p:set>
                                    <p:animEffect filter="fade" transition="in">
                                      <p:cBhvr>
                                        <p:cTn dur="500"/>
                                        <p:tgtEl>
                                          <p:spTgt spid="515"/>
                                        </p:tgtEl>
                                      </p:cBhvr>
                                    </p:animEffect>
                                  </p:childTnLst>
                                </p:cTn>
                              </p:par>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1000"/>
                                        <p:tgtEl>
                                          <p:spTgt spid="523"/>
                                        </p:tgtEl>
                                      </p:cBhvr>
                                    </p:animEffect>
                                  </p:childTnLst>
                                </p:cTn>
                              </p:par>
                              <p:par>
                                <p:cTn fill="hold" nodeType="withEffect" presetClass="entr" presetID="10" presetSubtype="0">
                                  <p:stCondLst>
                                    <p:cond delay="0"/>
                                  </p:stCondLst>
                                  <p:childTnLst>
                                    <p:set>
                                      <p:cBhvr>
                                        <p:cTn dur="1" fill="hold">
                                          <p:stCondLst>
                                            <p:cond delay="0"/>
                                          </p:stCondLst>
                                        </p:cTn>
                                        <p:tgtEl>
                                          <p:spTgt spid="519"/>
                                        </p:tgtEl>
                                        <p:attrNameLst>
                                          <p:attrName>style.visibility</p:attrName>
                                        </p:attrNameLst>
                                      </p:cBhvr>
                                      <p:to>
                                        <p:strVal val="visible"/>
                                      </p:to>
                                    </p:set>
                                    <p:animEffect filter="fade" transition="in">
                                      <p:cBhvr>
                                        <p:cTn dur="1000"/>
                                        <p:tgtEl>
                                          <p:spTgt spid="5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1000"/>
                                        <p:tgtEl>
                                          <p:spTgt spid="524"/>
                                        </p:tgtEl>
                                      </p:cBhvr>
                                    </p:animEffect>
                                  </p:childTnLst>
                                </p:cTn>
                              </p:par>
                              <p:par>
                                <p:cTn fill="hold" nodeType="withEffect" presetClass="entr" presetID="10" presetSubtype="0">
                                  <p:stCondLst>
                                    <p:cond delay="0"/>
                                  </p:stCondLst>
                                  <p:childTnLst>
                                    <p:set>
                                      <p:cBhvr>
                                        <p:cTn dur="1" fill="hold">
                                          <p:stCondLst>
                                            <p:cond delay="0"/>
                                          </p:stCondLst>
                                        </p:cTn>
                                        <p:tgtEl>
                                          <p:spTgt spid="528"/>
                                        </p:tgtEl>
                                        <p:attrNameLst>
                                          <p:attrName>style.visibility</p:attrName>
                                        </p:attrNameLst>
                                      </p:cBhvr>
                                      <p:to>
                                        <p:strVal val="visible"/>
                                      </p:to>
                                    </p:set>
                                    <p:animEffect filter="fade" transition="in">
                                      <p:cBhvr>
                                        <p:cTn dur="1000"/>
                                        <p:tgtEl>
                                          <p:spTgt spid="5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id="536" name="Google Shape;536;p23"/>
          <p:cNvPicPr preferRelativeResize="0"/>
          <p:nvPr/>
        </p:nvPicPr>
        <p:blipFill rotWithShape="1">
          <a:blip r:embed="rId3">
            <a:alphaModFix/>
          </a:blip>
          <a:srcRect b="0" l="0" r="0" t="0"/>
          <a:stretch/>
        </p:blipFill>
        <p:spPr>
          <a:xfrm>
            <a:off x="2572649" y="1655302"/>
            <a:ext cx="7543800" cy="745482"/>
          </a:xfrm>
          <a:prstGeom prst="rect">
            <a:avLst/>
          </a:prstGeom>
          <a:noFill/>
          <a:ln>
            <a:noFill/>
          </a:ln>
        </p:spPr>
      </p:pic>
      <p:pic>
        <p:nvPicPr>
          <p:cNvPr id="537" name="Google Shape;537;p23"/>
          <p:cNvPicPr preferRelativeResize="0"/>
          <p:nvPr/>
        </p:nvPicPr>
        <p:blipFill rotWithShape="1">
          <a:blip r:embed="rId4">
            <a:alphaModFix/>
          </a:blip>
          <a:srcRect b="0" l="0" r="0" t="0"/>
          <a:stretch/>
        </p:blipFill>
        <p:spPr>
          <a:xfrm>
            <a:off x="2572648" y="2362200"/>
            <a:ext cx="7866752" cy="698798"/>
          </a:xfrm>
          <a:prstGeom prst="rect">
            <a:avLst/>
          </a:prstGeom>
          <a:noFill/>
          <a:ln>
            <a:noFill/>
          </a:ln>
        </p:spPr>
      </p:pic>
      <p:pic>
        <p:nvPicPr>
          <p:cNvPr id="538" name="Google Shape;538;p23"/>
          <p:cNvPicPr preferRelativeResize="0"/>
          <p:nvPr/>
        </p:nvPicPr>
        <p:blipFill rotWithShape="1">
          <a:blip r:embed="rId5">
            <a:alphaModFix/>
          </a:blip>
          <a:srcRect b="0" l="0" r="0" t="0"/>
          <a:stretch/>
        </p:blipFill>
        <p:spPr>
          <a:xfrm>
            <a:off x="2635199" y="3048000"/>
            <a:ext cx="7804201" cy="753428"/>
          </a:xfrm>
          <a:prstGeom prst="rect">
            <a:avLst/>
          </a:prstGeom>
          <a:noFill/>
          <a:ln>
            <a:noFill/>
          </a:ln>
        </p:spPr>
      </p:pic>
      <p:pic>
        <p:nvPicPr>
          <p:cNvPr id="539" name="Google Shape;539;p23"/>
          <p:cNvPicPr preferRelativeResize="0"/>
          <p:nvPr/>
        </p:nvPicPr>
        <p:blipFill rotWithShape="1">
          <a:blip r:embed="rId6">
            <a:alphaModFix/>
          </a:blip>
          <a:srcRect b="0" l="0" r="0" t="0"/>
          <a:stretch/>
        </p:blipFill>
        <p:spPr>
          <a:xfrm>
            <a:off x="2635199" y="3828817"/>
            <a:ext cx="7665448" cy="619827"/>
          </a:xfrm>
          <a:prstGeom prst="rect">
            <a:avLst/>
          </a:prstGeom>
          <a:noFill/>
          <a:ln>
            <a:noFill/>
          </a:ln>
        </p:spPr>
      </p:pic>
      <p:pic>
        <p:nvPicPr>
          <p:cNvPr id="540" name="Google Shape;540;p23"/>
          <p:cNvPicPr preferRelativeResize="0"/>
          <p:nvPr/>
        </p:nvPicPr>
        <p:blipFill rotWithShape="1">
          <a:blip r:embed="rId7">
            <a:alphaModFix/>
          </a:blip>
          <a:srcRect b="0" l="0" r="0" t="0"/>
          <a:stretch/>
        </p:blipFill>
        <p:spPr>
          <a:xfrm>
            <a:off x="2598851" y="4495800"/>
            <a:ext cx="7718901" cy="739617"/>
          </a:xfrm>
          <a:prstGeom prst="rect">
            <a:avLst/>
          </a:prstGeom>
          <a:noFill/>
          <a:ln>
            <a:noFill/>
          </a:ln>
        </p:spPr>
      </p:pic>
      <p:pic>
        <p:nvPicPr>
          <p:cNvPr id="541" name="Google Shape;541;p23"/>
          <p:cNvPicPr preferRelativeResize="0"/>
          <p:nvPr/>
        </p:nvPicPr>
        <p:blipFill rotWithShape="1">
          <a:blip r:embed="rId8">
            <a:alphaModFix/>
          </a:blip>
          <a:srcRect b="0" l="0" r="0" t="0"/>
          <a:stretch/>
        </p:blipFill>
        <p:spPr>
          <a:xfrm>
            <a:off x="2572647" y="894715"/>
            <a:ext cx="7543801" cy="807270"/>
          </a:xfrm>
          <a:prstGeom prst="rect">
            <a:avLst/>
          </a:prstGeom>
          <a:noFill/>
          <a:ln>
            <a:noFill/>
          </a:ln>
        </p:spPr>
      </p:pic>
      <p:pic>
        <p:nvPicPr>
          <p:cNvPr id="542" name="Google Shape;542;p23"/>
          <p:cNvPicPr preferRelativeResize="0"/>
          <p:nvPr/>
        </p:nvPicPr>
        <p:blipFill rotWithShape="1">
          <a:blip r:embed="rId9">
            <a:alphaModFix/>
          </a:blip>
          <a:srcRect b="0" l="0" r="0" t="0"/>
          <a:stretch/>
        </p:blipFill>
        <p:spPr>
          <a:xfrm>
            <a:off x="952676" y="1100810"/>
            <a:ext cx="1619970" cy="353943"/>
          </a:xfrm>
          <a:prstGeom prst="rect">
            <a:avLst/>
          </a:prstGeom>
          <a:noFill/>
          <a:ln>
            <a:noFill/>
          </a:ln>
        </p:spPr>
      </p:pic>
      <p:pic>
        <p:nvPicPr>
          <p:cNvPr id="543" name="Google Shape;543;p23"/>
          <p:cNvPicPr preferRelativeResize="0"/>
          <p:nvPr/>
        </p:nvPicPr>
        <p:blipFill rotWithShape="1">
          <a:blip r:embed="rId10">
            <a:alphaModFix/>
          </a:blip>
          <a:srcRect b="0" l="0" r="0" t="0"/>
          <a:stretch/>
        </p:blipFill>
        <p:spPr>
          <a:xfrm>
            <a:off x="1472437" y="1981201"/>
            <a:ext cx="1082012" cy="2286000"/>
          </a:xfrm>
          <a:prstGeom prst="rect">
            <a:avLst/>
          </a:prstGeom>
          <a:noFill/>
          <a:ln>
            <a:noFill/>
          </a:ln>
        </p:spPr>
      </p:pic>
      <p:pic>
        <p:nvPicPr>
          <p:cNvPr id="544" name="Google Shape;544;p23"/>
          <p:cNvPicPr preferRelativeResize="0"/>
          <p:nvPr/>
        </p:nvPicPr>
        <p:blipFill rotWithShape="1">
          <a:blip r:embed="rId11">
            <a:alphaModFix/>
          </a:blip>
          <a:srcRect b="0" l="0" r="0" t="0"/>
          <a:stretch/>
        </p:blipFill>
        <p:spPr>
          <a:xfrm>
            <a:off x="974044" y="4713208"/>
            <a:ext cx="1661155" cy="304799"/>
          </a:xfrm>
          <a:prstGeom prst="rect">
            <a:avLst/>
          </a:prstGeom>
          <a:noFill/>
          <a:ln>
            <a:noFill/>
          </a:ln>
        </p:spPr>
      </p:pic>
      <p:sp>
        <p:nvSpPr>
          <p:cNvPr id="545" name="Google Shape;545;p23"/>
          <p:cNvSpPr txBox="1"/>
          <p:nvPr/>
        </p:nvSpPr>
        <p:spPr>
          <a:xfrm>
            <a:off x="3810000" y="157696"/>
            <a:ext cx="3554178" cy="523220"/>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Java Program Structure</a:t>
            </a:r>
            <a:endParaRPr sz="2800">
              <a:solidFill>
                <a:srgbClr val="FF0000"/>
              </a:solidFill>
              <a:latin typeface="Times New Roman"/>
              <a:ea typeface="Times New Roman"/>
              <a:cs typeface="Times New Roman"/>
              <a:sym typeface="Times New Roman"/>
            </a:endParaRPr>
          </a:p>
        </p:txBody>
      </p:sp>
      <p:sp>
        <p:nvSpPr>
          <p:cNvPr id="546" name="Google Shape;546;p23"/>
          <p:cNvSpPr txBox="1"/>
          <p:nvPr/>
        </p:nvSpPr>
        <p:spPr>
          <a:xfrm>
            <a:off x="304800" y="194480"/>
            <a:ext cx="3352800"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Fundamentals</a:t>
            </a:r>
            <a:endParaRPr b="1" sz="3000">
              <a:solidFill>
                <a:srgbClr val="002060"/>
              </a:solidFill>
              <a:latin typeface="Times New Roman"/>
              <a:ea typeface="Times New Roman"/>
              <a:cs typeface="Times New Roman"/>
              <a:sym typeface="Times New Roman"/>
            </a:endParaRPr>
          </a:p>
        </p:txBody>
      </p:sp>
      <p:sp>
        <p:nvSpPr>
          <p:cNvPr id="547" name="Google Shape;547;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500"/>
                                        <p:tgtEl>
                                          <p:spTgt spid="5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500"/>
                                        <p:tgtEl>
                                          <p:spTgt spid="5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500"/>
                                        <p:tgtEl>
                                          <p:spTgt spid="5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500"/>
                                        <p:tgtEl>
                                          <p:spTgt spid="5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500"/>
                                        <p:tgtEl>
                                          <p:spTgt spid="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500"/>
                                        <p:tgtEl>
                                          <p:spTgt spid="5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24"/>
          <p:cNvSpPr txBox="1"/>
          <p:nvPr/>
        </p:nvSpPr>
        <p:spPr>
          <a:xfrm>
            <a:off x="1981200" y="838200"/>
            <a:ext cx="8229600" cy="5410200"/>
          </a:xfrm>
          <a:prstGeom prst="rect">
            <a:avLst/>
          </a:prstGeom>
          <a:noFill/>
          <a:ln>
            <a:noFill/>
          </a:ln>
        </p:spPr>
        <p:txBody>
          <a:bodyPr anchorCtr="0" anchor="t" bIns="46800" lIns="90000" spcFirstLastPara="1" rIns="90000" wrap="square" tIns="46800">
            <a:noAutofit/>
          </a:bodyPr>
          <a:lstStyle/>
          <a:p>
            <a:pPr indent="0" lvl="0" marL="0" marR="0" rtl="0" algn="l">
              <a:lnSpc>
                <a:spcPct val="100000"/>
              </a:lnSpc>
              <a:spcBef>
                <a:spcPts val="0"/>
              </a:spcBef>
              <a:spcAft>
                <a:spcPts val="0"/>
              </a:spcAft>
              <a:buClr>
                <a:srgbClr val="000000"/>
              </a:buClr>
              <a:buSzPts val="3200"/>
              <a:buFont typeface="Arial"/>
              <a:buNone/>
            </a:pPr>
            <a:r>
              <a:rPr lang="en-US" sz="3200">
                <a:solidFill>
                  <a:srgbClr val="000000"/>
                </a:solidFill>
                <a:latin typeface="Times New Roman"/>
                <a:ea typeface="Times New Roman"/>
                <a:cs typeface="Times New Roman"/>
                <a:sym typeface="Times New Roman"/>
              </a:rPr>
              <a:t> </a:t>
            </a:r>
            <a:endParaRPr/>
          </a:p>
        </p:txBody>
      </p:sp>
      <p:graphicFrame>
        <p:nvGraphicFramePr>
          <p:cNvPr id="557" name="Google Shape;557;p24"/>
          <p:cNvGraphicFramePr/>
          <p:nvPr/>
        </p:nvGraphicFramePr>
        <p:xfrm>
          <a:off x="1981199" y="946150"/>
          <a:ext cx="3000000" cy="3000000"/>
        </p:xfrm>
        <a:graphic>
          <a:graphicData uri="http://schemas.openxmlformats.org/drawingml/2006/table">
            <a:tbl>
              <a:tblPr bandRow="1" firstCol="1" firstRow="1">
                <a:noFill/>
                <a:tableStyleId>{F82F93AE-635C-42B7-8E95-DCFE6EE2B501}</a:tableStyleId>
              </a:tblPr>
              <a:tblGrid>
                <a:gridCol w="392725"/>
                <a:gridCol w="261625"/>
                <a:gridCol w="1364025"/>
                <a:gridCol w="115200"/>
                <a:gridCol w="2971800"/>
                <a:gridCol w="3733800"/>
              </a:tblGrid>
              <a:tr h="377300">
                <a:tc gridSpan="2">
                  <a:txBody>
                    <a:bodyPr/>
                    <a:lstStyle/>
                    <a:p>
                      <a:pPr indent="0" lvl="0" marL="0" marR="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Step</a:t>
                      </a:r>
                      <a:endParaRPr sz="1800">
                        <a:solidFill>
                          <a:schemeClr val="dk1"/>
                        </a:solidFill>
                        <a:latin typeface="Times New Roman"/>
                        <a:ea typeface="Times New Roman"/>
                        <a:cs typeface="Times New Roman"/>
                        <a:sym typeface="Times New Roman"/>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What is done</a:t>
                      </a:r>
                      <a:endParaRPr sz="1800">
                        <a:solidFill>
                          <a:schemeClr val="dk1"/>
                        </a:solidFill>
                        <a:latin typeface="Times New Roman"/>
                        <a:ea typeface="Times New Roman"/>
                        <a:cs typeface="Times New Roman"/>
                        <a:sym typeface="Times New Roman"/>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Command</a:t>
                      </a:r>
                      <a:endParaRPr sz="1800">
                        <a:solidFill>
                          <a:schemeClr val="dk1"/>
                        </a:solidFill>
                        <a:latin typeface="Times New Roman"/>
                        <a:ea typeface="Times New Roman"/>
                        <a:cs typeface="Times New Roman"/>
                        <a:sym typeface="Times New Roman"/>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Comments</a:t>
                      </a:r>
                      <a:endParaRPr sz="1800">
                        <a:solidFill>
                          <a:schemeClr val="dk1"/>
                        </a:solidFill>
                        <a:latin typeface="Times New Roman"/>
                        <a:ea typeface="Times New Roman"/>
                        <a:cs typeface="Times New Roman"/>
                        <a:sym typeface="Times New Roman"/>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525225">
                <a:tc gridSpan="2">
                  <a:txBody>
                    <a:bodyPr/>
                    <a:lstStyle/>
                    <a:p>
                      <a:pPr indent="0" lvl="0" marL="0" marR="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1</a:t>
                      </a:r>
                      <a:endParaRPr sz="18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Editing </a:t>
                      </a:r>
                      <a:endParaRPr sz="18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C:&gt;</a:t>
                      </a:r>
                      <a:r>
                        <a:rPr lang="en-US" sz="1800">
                          <a:solidFill>
                            <a:srgbClr val="FF0000"/>
                          </a:solidFill>
                          <a:latin typeface="Times New Roman"/>
                          <a:ea typeface="Times New Roman"/>
                          <a:cs typeface="Times New Roman"/>
                          <a:sym typeface="Times New Roman"/>
                        </a:rPr>
                        <a:t>notepad</a:t>
                      </a:r>
                      <a:r>
                        <a:rPr lang="en-US" sz="1800">
                          <a:solidFill>
                            <a:srgbClr val="FF0000"/>
                          </a:solidFill>
                          <a:latin typeface="Times New Roman"/>
                          <a:ea typeface="Times New Roman"/>
                          <a:cs typeface="Times New Roman"/>
                          <a:sym typeface="Times New Roman"/>
                        </a:rPr>
                        <a:t> </a:t>
                      </a:r>
                      <a:r>
                        <a:rPr lang="en-US" sz="1800">
                          <a:solidFill>
                            <a:srgbClr val="FF0000"/>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HelloWorld.java</a:t>
                      </a:r>
                      <a:endParaRPr sz="18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just">
                        <a:lnSpc>
                          <a:spcPct val="115000"/>
                        </a:lnSpc>
                        <a:spcBef>
                          <a:spcPts val="0"/>
                        </a:spcBef>
                        <a:spcAft>
                          <a:spcPts val="0"/>
                        </a:spcAft>
                        <a:buNone/>
                      </a:pPr>
                      <a:r>
                        <a:rPr lang="en-US" sz="1600">
                          <a:solidFill>
                            <a:schemeClr val="dk1"/>
                          </a:solidFill>
                          <a:latin typeface="Times New Roman"/>
                          <a:ea typeface="Times New Roman"/>
                          <a:cs typeface="Times New Roman"/>
                          <a:sym typeface="Times New Roman"/>
                        </a:rPr>
                        <a:t> </a:t>
                      </a:r>
                      <a:endParaRPr sz="1600">
                        <a:solidFill>
                          <a:schemeClr val="dk1"/>
                        </a:solidFill>
                        <a:latin typeface="Times New Roman"/>
                        <a:ea typeface="Times New Roman"/>
                        <a:cs typeface="Times New Roman"/>
                        <a:sym typeface="Times New Roman"/>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721375">
                <a:tc gridSpan="6">
                  <a:txBody>
                    <a:bodyPr/>
                    <a:lstStyle/>
                    <a:p>
                      <a:pPr indent="0" lvl="0" marL="0" marR="0" rtl="0" algn="l">
                        <a:lnSpc>
                          <a:spcPct val="100000"/>
                        </a:lnSpc>
                        <a:spcBef>
                          <a:spcPts val="0"/>
                        </a:spcBef>
                        <a:spcAft>
                          <a:spcPts val="0"/>
                        </a:spcAft>
                        <a:buClr>
                          <a:srgbClr val="FF0000"/>
                        </a:buClr>
                        <a:buSzPts val="2000"/>
                        <a:buFont typeface="Times New Roman"/>
                        <a:buNone/>
                      </a:pPr>
                      <a:r>
                        <a:rPr b="1" lang="en-US" sz="2000">
                          <a:solidFill>
                            <a:srgbClr val="FF0000"/>
                          </a:solidFill>
                          <a:latin typeface="Times New Roman"/>
                          <a:ea typeface="Times New Roman"/>
                          <a:cs typeface="Times New Roman"/>
                          <a:sym typeface="Times New Roman"/>
                        </a:rPr>
                        <a:t>class </a:t>
                      </a:r>
                      <a:r>
                        <a:rPr b="1" lang="en-US" sz="2000">
                          <a:solidFill>
                            <a:srgbClr val="000000"/>
                          </a:solidFill>
                          <a:latin typeface="Times New Roman"/>
                          <a:ea typeface="Times New Roman"/>
                          <a:cs typeface="Times New Roman"/>
                          <a:sym typeface="Times New Roman"/>
                        </a:rPr>
                        <a:t>HelloWorld {            //Note: class name is same as the filename</a:t>
                      </a:r>
                      <a:endParaRPr/>
                    </a:p>
                    <a:p>
                      <a:pPr indent="0" lvl="0" marL="0" marR="0" rtl="0" algn="l">
                        <a:lnSpc>
                          <a:spcPct val="100000"/>
                        </a:lnSpc>
                        <a:spcBef>
                          <a:spcPts val="0"/>
                        </a:spcBef>
                        <a:spcAft>
                          <a:spcPts val="0"/>
                        </a:spcAft>
                        <a:buClr>
                          <a:srgbClr val="000000"/>
                        </a:buClr>
                        <a:buSzPts val="2000"/>
                        <a:buFont typeface="Times New Roman"/>
                        <a:buNone/>
                      </a:pPr>
                      <a:r>
                        <a:rPr b="1" lang="en-US" sz="2000">
                          <a:solidFill>
                            <a:srgbClr val="000000"/>
                          </a:solidFill>
                          <a:latin typeface="Times New Roman"/>
                          <a:ea typeface="Times New Roman"/>
                          <a:cs typeface="Times New Roman"/>
                          <a:sym typeface="Times New Roman"/>
                        </a:rPr>
                        <a:t>     </a:t>
                      </a:r>
                      <a:r>
                        <a:rPr b="1" lang="en-US" sz="2000">
                          <a:solidFill>
                            <a:srgbClr val="FF0000"/>
                          </a:solidFill>
                          <a:latin typeface="Times New Roman"/>
                          <a:ea typeface="Times New Roman"/>
                          <a:cs typeface="Times New Roman"/>
                          <a:sym typeface="Times New Roman"/>
                        </a:rPr>
                        <a:t>public static void</a:t>
                      </a:r>
                      <a:r>
                        <a:rPr b="1" lang="en-US" sz="2000">
                          <a:solidFill>
                            <a:srgbClr val="000000"/>
                          </a:solidFill>
                          <a:latin typeface="Times New Roman"/>
                          <a:ea typeface="Times New Roman"/>
                          <a:cs typeface="Times New Roman"/>
                          <a:sym typeface="Times New Roman"/>
                        </a:rPr>
                        <a:t> main(String[] args) {</a:t>
                      </a:r>
                      <a:endParaRPr/>
                    </a:p>
                    <a:p>
                      <a:pPr indent="0" lvl="0" marL="0" marR="0" rtl="0" algn="l">
                        <a:lnSpc>
                          <a:spcPct val="100000"/>
                        </a:lnSpc>
                        <a:spcBef>
                          <a:spcPts val="0"/>
                        </a:spcBef>
                        <a:spcAft>
                          <a:spcPts val="0"/>
                        </a:spcAft>
                        <a:buClr>
                          <a:srgbClr val="000000"/>
                        </a:buClr>
                        <a:buSzPts val="2000"/>
                        <a:buFont typeface="Times New Roman"/>
                        <a:buNone/>
                      </a:pPr>
                      <a:r>
                        <a:rPr b="1" lang="en-US" sz="2000">
                          <a:solidFill>
                            <a:srgbClr val="000000"/>
                          </a:solidFill>
                          <a:latin typeface="Times New Roman"/>
                          <a:ea typeface="Times New Roman"/>
                          <a:cs typeface="Times New Roman"/>
                          <a:sym typeface="Times New Roman"/>
                        </a:rPr>
                        <a:t>        System.out.println("Hello, World");</a:t>
                      </a:r>
                      <a:endParaRPr/>
                    </a:p>
                    <a:p>
                      <a:pPr indent="0" lvl="0" marL="0" marR="0" rtl="0" algn="l">
                        <a:lnSpc>
                          <a:spcPct val="100000"/>
                        </a:lnSpc>
                        <a:spcBef>
                          <a:spcPts val="0"/>
                        </a:spcBef>
                        <a:spcAft>
                          <a:spcPts val="0"/>
                        </a:spcAft>
                        <a:buClr>
                          <a:srgbClr val="000000"/>
                        </a:buClr>
                        <a:buSzPts val="2000"/>
                        <a:buFont typeface="Times New Roman"/>
                        <a:buNone/>
                      </a:pPr>
                      <a:r>
                        <a:rPr b="1" lang="en-US" sz="2000">
                          <a:solidFill>
                            <a:srgbClr val="000000"/>
                          </a:solidFill>
                          <a:latin typeface="Times New Roman"/>
                          <a:ea typeface="Times New Roman"/>
                          <a:cs typeface="Times New Roman"/>
                          <a:sym typeface="Times New Roman"/>
                        </a:rPr>
                        <a:t>    }</a:t>
                      </a:r>
                      <a:endParaRPr/>
                    </a:p>
                    <a:p>
                      <a:pPr indent="0" lvl="0" marL="0" marR="0" rtl="0" algn="l">
                        <a:lnSpc>
                          <a:spcPct val="100000"/>
                        </a:lnSpc>
                        <a:spcBef>
                          <a:spcPts val="0"/>
                        </a:spcBef>
                        <a:spcAft>
                          <a:spcPts val="0"/>
                        </a:spcAft>
                        <a:buClr>
                          <a:srgbClr val="000000"/>
                        </a:buClr>
                        <a:buSzPts val="2000"/>
                        <a:buFont typeface="Times New Roman"/>
                        <a:buNone/>
                      </a:pPr>
                      <a:r>
                        <a:rPr b="1" lang="en-US" sz="2000">
                          <a:solidFill>
                            <a:srgbClr val="000000"/>
                          </a:solidFill>
                          <a:latin typeface="Times New Roman"/>
                          <a:ea typeface="Times New Roman"/>
                          <a:cs typeface="Times New Roman"/>
                          <a:sym typeface="Times New Roman"/>
                        </a:rPr>
                        <a:t>}</a:t>
                      </a:r>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hMerge="1"/>
                <a:tc hMerge="1"/>
                <a:tc hMerge="1"/>
                <a:tc hMerge="1"/>
              </a:tr>
              <a:tr h="789325">
                <a:tc>
                  <a:txBody>
                    <a:bodyPr/>
                    <a:lstStyle/>
                    <a:p>
                      <a:pPr indent="0" lvl="0" marL="0" marR="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2</a:t>
                      </a:r>
                      <a:endParaRPr sz="18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Compiling</a:t>
                      </a:r>
                      <a:endParaRPr sz="18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C:&gt; </a:t>
                      </a:r>
                      <a:r>
                        <a:rPr lang="en-US" sz="1800">
                          <a:solidFill>
                            <a:srgbClr val="FF0000"/>
                          </a:solidFill>
                          <a:latin typeface="Times New Roman"/>
                          <a:ea typeface="Times New Roman"/>
                          <a:cs typeface="Times New Roman"/>
                          <a:sym typeface="Times New Roman"/>
                        </a:rPr>
                        <a:t>javac</a:t>
                      </a:r>
                      <a:r>
                        <a:rPr lang="en-US" sz="1800">
                          <a:solidFill>
                            <a:schemeClr val="dk1"/>
                          </a:solidFill>
                          <a:latin typeface="Times New Roman"/>
                          <a:ea typeface="Times New Roman"/>
                          <a:cs typeface="Times New Roman"/>
                          <a:sym typeface="Times New Roman"/>
                        </a:rPr>
                        <a:t> HelloWorld.java</a:t>
                      </a:r>
                      <a:endParaRPr sz="18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The class file “HelloWorld.class” is generated</a:t>
                      </a:r>
                      <a:endParaRPr sz="1800">
                        <a:solidFill>
                          <a:schemeClr val="dk1"/>
                        </a:solidFill>
                        <a:latin typeface="Times New Roman"/>
                        <a:ea typeface="Times New Roman"/>
                        <a:cs typeface="Times New Roman"/>
                        <a:sym typeface="Times New Roman"/>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746025">
                <a:tc>
                  <a:txBody>
                    <a:bodyPr/>
                    <a:lstStyle/>
                    <a:p>
                      <a:pPr indent="0" lvl="0" marL="0" marR="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3</a:t>
                      </a:r>
                      <a:endParaRPr sz="18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gridSpan="2">
                  <a:txBody>
                    <a:bodyPr/>
                    <a:lstStyle/>
                    <a:p>
                      <a:pPr indent="0" lvl="0" marL="0" marR="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Executing</a:t>
                      </a:r>
                      <a:endParaRPr sz="18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gridSpan="2">
                  <a:txBody>
                    <a:bodyPr/>
                    <a:lstStyle/>
                    <a:p>
                      <a:pPr indent="0" lvl="0" marL="0" marR="0" rtl="0" algn="l">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C:&gt;</a:t>
                      </a:r>
                      <a:r>
                        <a:rPr lang="en-US" sz="1800">
                          <a:solidFill>
                            <a:schemeClr val="dk1"/>
                          </a:solidFill>
                          <a:latin typeface="Times New Roman"/>
                          <a:ea typeface="Times New Roman"/>
                          <a:cs typeface="Times New Roman"/>
                          <a:sym typeface="Times New Roman"/>
                        </a:rPr>
                        <a:t> </a:t>
                      </a:r>
                      <a:r>
                        <a:rPr lang="en-US" sz="1800">
                          <a:solidFill>
                            <a:srgbClr val="FF0000"/>
                          </a:solidFill>
                          <a:latin typeface="Times New Roman"/>
                          <a:ea typeface="Times New Roman"/>
                          <a:cs typeface="Times New Roman"/>
                          <a:sym typeface="Times New Roman"/>
                        </a:rPr>
                        <a:t>java</a:t>
                      </a:r>
                      <a:r>
                        <a:rPr lang="en-US" sz="1800">
                          <a:solidFill>
                            <a:schemeClr val="dk1"/>
                          </a:solidFill>
                          <a:latin typeface="Times New Roman"/>
                          <a:ea typeface="Times New Roman"/>
                          <a:cs typeface="Times New Roman"/>
                          <a:sym typeface="Times New Roman"/>
                        </a:rPr>
                        <a:t> </a:t>
                      </a:r>
                      <a:r>
                        <a:rPr lang="en-US" sz="1800">
                          <a:solidFill>
                            <a:schemeClr val="dk1"/>
                          </a:solidFill>
                          <a:latin typeface="Times New Roman"/>
                          <a:ea typeface="Times New Roman"/>
                          <a:cs typeface="Times New Roman"/>
                          <a:sym typeface="Times New Roman"/>
                        </a:rPr>
                        <a:t>HelloWorld</a:t>
                      </a:r>
                      <a:endParaRPr sz="1800">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hMerge="1"/>
                <a:tc>
                  <a:txBody>
                    <a:bodyPr/>
                    <a:lstStyle/>
                    <a:p>
                      <a:pPr indent="0" lvl="0" marL="0" marR="0" rtl="0" algn="just">
                        <a:lnSpc>
                          <a:spcPct val="115000"/>
                        </a:lnSpc>
                        <a:spcBef>
                          <a:spcPts val="0"/>
                        </a:spcBef>
                        <a:spcAft>
                          <a:spcPts val="0"/>
                        </a:spcAft>
                        <a:buNone/>
                      </a:pPr>
                      <a:r>
                        <a:t/>
                      </a:r>
                      <a:endParaRPr sz="1800">
                        <a:solidFill>
                          <a:schemeClr val="dk1"/>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None/>
                      </a:pPr>
                      <a:r>
                        <a:rPr lang="en-US" sz="1800">
                          <a:solidFill>
                            <a:schemeClr val="dk1"/>
                          </a:solidFill>
                          <a:latin typeface="Times New Roman"/>
                          <a:ea typeface="Times New Roman"/>
                          <a:cs typeface="Times New Roman"/>
                          <a:sym typeface="Times New Roman"/>
                        </a:rPr>
                        <a:t>Output: Hello World</a:t>
                      </a:r>
                      <a:endParaRPr sz="1800">
                        <a:solidFill>
                          <a:schemeClr val="dk1"/>
                        </a:solidFill>
                        <a:latin typeface="Times New Roman"/>
                        <a:ea typeface="Times New Roman"/>
                        <a:cs typeface="Times New Roman"/>
                        <a:sym typeface="Times New Roman"/>
                      </a:endParaRPr>
                    </a:p>
                  </a:txBody>
                  <a:tcPr marT="0" marB="0" marR="68575" marL="68575">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558" name="Google Shape;558;p24"/>
          <p:cNvSpPr txBox="1"/>
          <p:nvPr/>
        </p:nvSpPr>
        <p:spPr>
          <a:xfrm>
            <a:off x="3721635" y="152400"/>
            <a:ext cx="7403565" cy="523220"/>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Editing, Compiling and Running a ‘Java’ Program</a:t>
            </a:r>
            <a:endParaRPr/>
          </a:p>
        </p:txBody>
      </p:sp>
      <p:sp>
        <p:nvSpPr>
          <p:cNvPr id="559" name="Google Shape;55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60" name="Google Shape;560;p24"/>
          <p:cNvSpPr txBox="1"/>
          <p:nvPr/>
        </p:nvSpPr>
        <p:spPr>
          <a:xfrm>
            <a:off x="304800" y="194480"/>
            <a:ext cx="3352800"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Fundamentals</a:t>
            </a:r>
            <a:endParaRPr b="1" sz="3000">
              <a:solidFill>
                <a:srgbClr val="002060"/>
              </a:solidFill>
              <a:latin typeface="Times New Roman"/>
              <a:ea typeface="Times New Roman"/>
              <a:cs typeface="Times New Roman"/>
              <a:sym typeface="Times New Roman"/>
            </a:endParaRPr>
          </a:p>
        </p:txBody>
      </p:sp>
      <p:sp>
        <p:nvSpPr>
          <p:cNvPr id="561" name="Google Shape;561;p24"/>
          <p:cNvSpPr txBox="1"/>
          <p:nvPr/>
        </p:nvSpPr>
        <p:spPr>
          <a:xfrm>
            <a:off x="304800" y="194480"/>
            <a:ext cx="3352800"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Java Programming</a:t>
            </a:r>
            <a:endParaRPr b="1" sz="3000">
              <a:solidFill>
                <a:srgbClr val="002060"/>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pic>
        <p:nvPicPr>
          <p:cNvPr id="566" name="Google Shape;566;p25"/>
          <p:cNvPicPr preferRelativeResize="0"/>
          <p:nvPr/>
        </p:nvPicPr>
        <p:blipFill rotWithShape="1">
          <a:blip r:embed="rId3">
            <a:alphaModFix/>
          </a:blip>
          <a:srcRect b="0" l="0" r="0" t="0"/>
          <a:stretch/>
        </p:blipFill>
        <p:spPr>
          <a:xfrm>
            <a:off x="1295400" y="1219200"/>
            <a:ext cx="4953000" cy="2736742"/>
          </a:xfrm>
          <a:prstGeom prst="rect">
            <a:avLst/>
          </a:prstGeom>
          <a:noFill/>
          <a:ln>
            <a:noFill/>
          </a:ln>
        </p:spPr>
      </p:pic>
      <p:pic>
        <p:nvPicPr>
          <p:cNvPr id="567" name="Google Shape;567;p25"/>
          <p:cNvPicPr preferRelativeResize="0"/>
          <p:nvPr/>
        </p:nvPicPr>
        <p:blipFill rotWithShape="1">
          <a:blip r:embed="rId4">
            <a:alphaModFix/>
          </a:blip>
          <a:srcRect b="0" l="0" r="0" t="0"/>
          <a:stretch/>
        </p:blipFill>
        <p:spPr>
          <a:xfrm>
            <a:off x="5043332" y="2915059"/>
            <a:ext cx="3110068" cy="2418941"/>
          </a:xfrm>
          <a:prstGeom prst="rect">
            <a:avLst/>
          </a:prstGeom>
          <a:noFill/>
          <a:ln>
            <a:noFill/>
          </a:ln>
        </p:spPr>
      </p:pic>
      <p:pic>
        <p:nvPicPr>
          <p:cNvPr id="568" name="Google Shape;568;p25"/>
          <p:cNvPicPr preferRelativeResize="0"/>
          <p:nvPr/>
        </p:nvPicPr>
        <p:blipFill rotWithShape="1">
          <a:blip r:embed="rId5">
            <a:alphaModFix/>
          </a:blip>
          <a:srcRect b="0" l="0" r="0" t="0"/>
          <a:stretch/>
        </p:blipFill>
        <p:spPr>
          <a:xfrm>
            <a:off x="304800" y="2905866"/>
            <a:ext cx="2650110" cy="2266541"/>
          </a:xfrm>
          <a:prstGeom prst="rect">
            <a:avLst/>
          </a:prstGeom>
          <a:noFill/>
          <a:ln>
            <a:noFill/>
          </a:ln>
        </p:spPr>
      </p:pic>
      <p:pic>
        <p:nvPicPr>
          <p:cNvPr id="569" name="Google Shape;569;p25"/>
          <p:cNvPicPr preferRelativeResize="0"/>
          <p:nvPr/>
        </p:nvPicPr>
        <p:blipFill rotWithShape="1">
          <a:blip r:embed="rId6">
            <a:alphaModFix/>
          </a:blip>
          <a:srcRect b="0" l="0" r="0" t="0"/>
          <a:stretch/>
        </p:blipFill>
        <p:spPr>
          <a:xfrm>
            <a:off x="7711972" y="1495438"/>
            <a:ext cx="3946628" cy="4344606"/>
          </a:xfrm>
          <a:prstGeom prst="rect">
            <a:avLst/>
          </a:prstGeom>
          <a:noFill/>
          <a:ln>
            <a:noFill/>
          </a:ln>
        </p:spPr>
      </p:pic>
      <p:sp>
        <p:nvSpPr>
          <p:cNvPr id="570" name="Google Shape;570;p25"/>
          <p:cNvSpPr/>
          <p:nvPr/>
        </p:nvSpPr>
        <p:spPr>
          <a:xfrm>
            <a:off x="3776449" y="109661"/>
            <a:ext cx="5500160" cy="523220"/>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public static void main(String[] args)</a:t>
            </a:r>
            <a:endParaRPr sz="2800">
              <a:solidFill>
                <a:srgbClr val="FF0000"/>
              </a:solidFill>
              <a:latin typeface="Times New Roman"/>
              <a:ea typeface="Times New Roman"/>
              <a:cs typeface="Times New Roman"/>
              <a:sym typeface="Times New Roman"/>
            </a:endParaRPr>
          </a:p>
        </p:txBody>
      </p:sp>
      <p:sp>
        <p:nvSpPr>
          <p:cNvPr id="571" name="Google Shape;571;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72" name="Google Shape;572;p25"/>
          <p:cNvSpPr txBox="1"/>
          <p:nvPr/>
        </p:nvSpPr>
        <p:spPr>
          <a:xfrm>
            <a:off x="304800" y="194480"/>
            <a:ext cx="3429000"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Java Programming</a:t>
            </a:r>
            <a:endParaRPr b="1" sz="3000">
              <a:solidFill>
                <a:srgbClr val="00206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68"/>
                                        </p:tgtEl>
                                        <p:attrNameLst>
                                          <p:attrName>style.visibility</p:attrName>
                                        </p:attrNameLst>
                                      </p:cBhvr>
                                      <p:to>
                                        <p:strVal val="visible"/>
                                      </p:to>
                                    </p:set>
                                    <p:anim calcmode="lin" valueType="num">
                                      <p:cBhvr additive="base">
                                        <p:cTn dur="500"/>
                                        <p:tgtEl>
                                          <p:spTgt spid="568"/>
                                        </p:tgtEl>
                                        <p:attrNameLst>
                                          <p:attrName>ppt_w</p:attrName>
                                        </p:attrNameLst>
                                      </p:cBhvr>
                                      <p:tavLst>
                                        <p:tav fmla="" tm="0">
                                          <p:val>
                                            <p:strVal val="0"/>
                                          </p:val>
                                        </p:tav>
                                        <p:tav fmla="" tm="100000">
                                          <p:val>
                                            <p:strVal val="#ppt_w"/>
                                          </p:val>
                                        </p:tav>
                                      </p:tavLst>
                                    </p:anim>
                                    <p:anim calcmode="lin" valueType="num">
                                      <p:cBhvr additive="base">
                                        <p:cTn dur="500"/>
                                        <p:tgtEl>
                                          <p:spTgt spid="56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66"/>
                                        </p:tgtEl>
                                        <p:attrNameLst>
                                          <p:attrName>style.visibility</p:attrName>
                                        </p:attrNameLst>
                                      </p:cBhvr>
                                      <p:to>
                                        <p:strVal val="visible"/>
                                      </p:to>
                                    </p:set>
                                    <p:anim calcmode="lin" valueType="num">
                                      <p:cBhvr additive="base">
                                        <p:cTn dur="500"/>
                                        <p:tgtEl>
                                          <p:spTgt spid="566"/>
                                        </p:tgtEl>
                                        <p:attrNameLst>
                                          <p:attrName>ppt_w</p:attrName>
                                        </p:attrNameLst>
                                      </p:cBhvr>
                                      <p:tavLst>
                                        <p:tav fmla="" tm="0">
                                          <p:val>
                                            <p:strVal val="0"/>
                                          </p:val>
                                        </p:tav>
                                        <p:tav fmla="" tm="100000">
                                          <p:val>
                                            <p:strVal val="#ppt_w"/>
                                          </p:val>
                                        </p:tav>
                                      </p:tavLst>
                                    </p:anim>
                                    <p:anim calcmode="lin" valueType="num">
                                      <p:cBhvr additive="base">
                                        <p:cTn dur="500"/>
                                        <p:tgtEl>
                                          <p:spTgt spid="56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67"/>
                                        </p:tgtEl>
                                        <p:attrNameLst>
                                          <p:attrName>style.visibility</p:attrName>
                                        </p:attrNameLst>
                                      </p:cBhvr>
                                      <p:to>
                                        <p:strVal val="visible"/>
                                      </p:to>
                                    </p:set>
                                    <p:anim calcmode="lin" valueType="num">
                                      <p:cBhvr additive="base">
                                        <p:cTn dur="500"/>
                                        <p:tgtEl>
                                          <p:spTgt spid="567"/>
                                        </p:tgtEl>
                                        <p:attrNameLst>
                                          <p:attrName>ppt_w</p:attrName>
                                        </p:attrNameLst>
                                      </p:cBhvr>
                                      <p:tavLst>
                                        <p:tav fmla="" tm="0">
                                          <p:val>
                                            <p:strVal val="0"/>
                                          </p:val>
                                        </p:tav>
                                        <p:tav fmla="" tm="100000">
                                          <p:val>
                                            <p:strVal val="#ppt_w"/>
                                          </p:val>
                                        </p:tav>
                                      </p:tavLst>
                                    </p:anim>
                                    <p:anim calcmode="lin" valueType="num">
                                      <p:cBhvr additive="base">
                                        <p:cTn dur="500"/>
                                        <p:tgtEl>
                                          <p:spTgt spid="56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69"/>
                                        </p:tgtEl>
                                        <p:attrNameLst>
                                          <p:attrName>style.visibility</p:attrName>
                                        </p:attrNameLst>
                                      </p:cBhvr>
                                      <p:to>
                                        <p:strVal val="visible"/>
                                      </p:to>
                                    </p:set>
                                    <p:anim calcmode="lin" valueType="num">
                                      <p:cBhvr additive="base">
                                        <p:cTn dur="500"/>
                                        <p:tgtEl>
                                          <p:spTgt spid="569"/>
                                        </p:tgtEl>
                                        <p:attrNameLst>
                                          <p:attrName>ppt_w</p:attrName>
                                        </p:attrNameLst>
                                      </p:cBhvr>
                                      <p:tavLst>
                                        <p:tav fmla="" tm="0">
                                          <p:val>
                                            <p:strVal val="0"/>
                                          </p:val>
                                        </p:tav>
                                        <p:tav fmla="" tm="100000">
                                          <p:val>
                                            <p:strVal val="#ppt_w"/>
                                          </p:val>
                                        </p:tav>
                                      </p:tavLst>
                                    </p:anim>
                                    <p:anim calcmode="lin" valueType="num">
                                      <p:cBhvr additive="base">
                                        <p:cTn dur="500"/>
                                        <p:tgtEl>
                                          <p:spTgt spid="56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80" name="Google Shape;580;p26"/>
          <p:cNvSpPr txBox="1"/>
          <p:nvPr>
            <p:ph type="title"/>
          </p:nvPr>
        </p:nvSpPr>
        <p:spPr>
          <a:xfrm>
            <a:off x="419100" y="154723"/>
            <a:ext cx="2019300" cy="454878"/>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Basic I / O</a:t>
            </a:r>
            <a:endParaRPr b="1" sz="3000">
              <a:solidFill>
                <a:srgbClr val="002060"/>
              </a:solidFill>
              <a:latin typeface="Times New Roman"/>
              <a:ea typeface="Times New Roman"/>
              <a:cs typeface="Times New Roman"/>
              <a:sym typeface="Times New Roman"/>
            </a:endParaRPr>
          </a:p>
        </p:txBody>
      </p:sp>
      <p:sp>
        <p:nvSpPr>
          <p:cNvPr id="581" name="Google Shape;581;p26"/>
          <p:cNvSpPr/>
          <p:nvPr/>
        </p:nvSpPr>
        <p:spPr>
          <a:xfrm>
            <a:off x="533400" y="1219200"/>
            <a:ext cx="1524000" cy="3962400"/>
          </a:xfrm>
          <a:prstGeom prst="roundRect">
            <a:avLst>
              <a:gd fmla="val 16667" name="adj"/>
            </a:avLst>
          </a:prstGeom>
          <a:solidFill>
            <a:schemeClr val="lt1"/>
          </a:solidFill>
          <a:ln cap="flat" cmpd="sng" w="38100">
            <a:solidFill>
              <a:srgbClr val="92D05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582" name="Google Shape;582;p26"/>
          <p:cNvGraphicFramePr/>
          <p:nvPr/>
        </p:nvGraphicFramePr>
        <p:xfrm>
          <a:off x="838200" y="1447800"/>
          <a:ext cx="922283" cy="990600"/>
        </p:xfrm>
        <a:graphic>
          <a:graphicData uri="http://schemas.openxmlformats.org/presentationml/2006/ole">
            <mc:AlternateContent>
              <mc:Choice Requires="v">
                <p:oleObj r:id="rId4" imgH="990600" imgW="922283" progId="Paint.Picture" spid="_x0000_s1">
                  <p:embed/>
                </p:oleObj>
              </mc:Choice>
              <mc:Fallback>
                <p:oleObj r:id="rId5" imgH="990600" imgW="922283" progId="Paint.Picture">
                  <p:embed/>
                  <p:pic>
                    <p:nvPicPr>
                      <p:cNvPr id="582" name="Google Shape;582;p26"/>
                      <p:cNvPicPr preferRelativeResize="0"/>
                      <p:nvPr/>
                    </p:nvPicPr>
                    <p:blipFill rotWithShape="1">
                      <a:blip r:embed="rId6">
                        <a:alphaModFix/>
                      </a:blip>
                      <a:srcRect b="0" l="0" r="0" t="0"/>
                      <a:stretch/>
                    </p:blipFill>
                    <p:spPr>
                      <a:xfrm>
                        <a:off x="838200" y="1447800"/>
                        <a:ext cx="922283" cy="990600"/>
                      </a:xfrm>
                      <a:prstGeom prst="rect">
                        <a:avLst/>
                      </a:prstGeom>
                      <a:noFill/>
                      <a:ln>
                        <a:noFill/>
                      </a:ln>
                    </p:spPr>
                  </p:pic>
                </p:oleObj>
              </mc:Fallback>
            </mc:AlternateContent>
          </a:graphicData>
        </a:graphic>
      </p:graphicFrame>
      <p:pic>
        <p:nvPicPr>
          <p:cNvPr id="583" name="Google Shape;583;p26"/>
          <p:cNvPicPr preferRelativeResize="0"/>
          <p:nvPr/>
        </p:nvPicPr>
        <p:blipFill rotWithShape="1">
          <a:blip r:embed="rId7">
            <a:alphaModFix/>
          </a:blip>
          <a:srcRect b="0" l="0" r="0" t="0"/>
          <a:stretch/>
        </p:blipFill>
        <p:spPr>
          <a:xfrm>
            <a:off x="799532" y="2662948"/>
            <a:ext cx="985943" cy="965307"/>
          </a:xfrm>
          <a:prstGeom prst="rect">
            <a:avLst/>
          </a:prstGeom>
          <a:noFill/>
          <a:ln>
            <a:noFill/>
          </a:ln>
        </p:spPr>
      </p:pic>
      <p:pic>
        <p:nvPicPr>
          <p:cNvPr id="584" name="Google Shape;584;p26"/>
          <p:cNvPicPr preferRelativeResize="0"/>
          <p:nvPr/>
        </p:nvPicPr>
        <p:blipFill rotWithShape="1">
          <a:blip r:embed="rId8">
            <a:alphaModFix/>
          </a:blip>
          <a:srcRect b="0" l="0" r="0" t="0"/>
          <a:stretch/>
        </p:blipFill>
        <p:spPr>
          <a:xfrm>
            <a:off x="874143" y="3852803"/>
            <a:ext cx="923842" cy="1133591"/>
          </a:xfrm>
          <a:prstGeom prst="rect">
            <a:avLst/>
          </a:prstGeom>
          <a:noFill/>
          <a:ln>
            <a:noFill/>
          </a:ln>
        </p:spPr>
      </p:pic>
      <p:sp>
        <p:nvSpPr>
          <p:cNvPr id="585" name="Google Shape;585;p26"/>
          <p:cNvSpPr txBox="1"/>
          <p:nvPr/>
        </p:nvSpPr>
        <p:spPr>
          <a:xfrm>
            <a:off x="792423" y="684748"/>
            <a:ext cx="108478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F2E"/>
                </a:solidFill>
                <a:latin typeface="Times New Roman"/>
                <a:ea typeface="Times New Roman"/>
                <a:cs typeface="Times New Roman"/>
                <a:sym typeface="Times New Roman"/>
              </a:rPr>
              <a:t>Source</a:t>
            </a:r>
            <a:endParaRPr b="1" sz="2400">
              <a:solidFill>
                <a:srgbClr val="000F2E"/>
              </a:solidFill>
              <a:latin typeface="Times New Roman"/>
              <a:ea typeface="Times New Roman"/>
              <a:cs typeface="Times New Roman"/>
              <a:sym typeface="Times New Roman"/>
            </a:endParaRPr>
          </a:p>
        </p:txBody>
      </p:sp>
      <p:cxnSp>
        <p:nvCxnSpPr>
          <p:cNvPr id="586" name="Google Shape;586;p26"/>
          <p:cNvCxnSpPr>
            <a:endCxn id="587" idx="2"/>
          </p:cNvCxnSpPr>
          <p:nvPr/>
        </p:nvCxnSpPr>
        <p:spPr>
          <a:xfrm>
            <a:off x="1637818" y="1943071"/>
            <a:ext cx="1544100" cy="1207800"/>
          </a:xfrm>
          <a:prstGeom prst="straightConnector1">
            <a:avLst/>
          </a:prstGeom>
          <a:noFill/>
          <a:ln cap="flat" cmpd="sng" w="44450">
            <a:solidFill>
              <a:srgbClr val="7030A0"/>
            </a:solidFill>
            <a:prstDash val="solid"/>
            <a:miter lim="800000"/>
            <a:headEnd len="sm" w="sm" type="none"/>
            <a:tailEnd len="med" w="med" type="triangle"/>
          </a:ln>
        </p:spPr>
      </p:cxnSp>
      <p:cxnSp>
        <p:nvCxnSpPr>
          <p:cNvPr id="588" name="Google Shape;588;p26"/>
          <p:cNvCxnSpPr>
            <a:stCxn id="583" idx="3"/>
            <a:endCxn id="587" idx="2"/>
          </p:cNvCxnSpPr>
          <p:nvPr/>
        </p:nvCxnSpPr>
        <p:spPr>
          <a:xfrm>
            <a:off x="1785475" y="3145602"/>
            <a:ext cx="1396500" cy="5400"/>
          </a:xfrm>
          <a:prstGeom prst="straightConnector1">
            <a:avLst/>
          </a:prstGeom>
          <a:noFill/>
          <a:ln cap="flat" cmpd="sng" w="44450">
            <a:solidFill>
              <a:srgbClr val="7030A0"/>
            </a:solidFill>
            <a:prstDash val="solid"/>
            <a:miter lim="800000"/>
            <a:headEnd len="sm" w="sm" type="none"/>
            <a:tailEnd len="med" w="med" type="triangle"/>
          </a:ln>
        </p:spPr>
      </p:cxnSp>
      <p:cxnSp>
        <p:nvCxnSpPr>
          <p:cNvPr id="589" name="Google Shape;589;p26"/>
          <p:cNvCxnSpPr>
            <a:stCxn id="584" idx="3"/>
            <a:endCxn id="587" idx="2"/>
          </p:cNvCxnSpPr>
          <p:nvPr/>
        </p:nvCxnSpPr>
        <p:spPr>
          <a:xfrm flipH="1" rot="10800000">
            <a:off x="1797985" y="3150899"/>
            <a:ext cx="1383900" cy="1268700"/>
          </a:xfrm>
          <a:prstGeom prst="straightConnector1">
            <a:avLst/>
          </a:prstGeom>
          <a:noFill/>
          <a:ln cap="flat" cmpd="sng" w="44450">
            <a:solidFill>
              <a:srgbClr val="7030A0"/>
            </a:solidFill>
            <a:prstDash val="solid"/>
            <a:miter lim="800000"/>
            <a:headEnd len="sm" w="sm" type="none"/>
            <a:tailEnd len="med" w="med" type="triangle"/>
          </a:ln>
        </p:spPr>
      </p:cxnSp>
      <p:grpSp>
        <p:nvGrpSpPr>
          <p:cNvPr id="590" name="Google Shape;590;p26"/>
          <p:cNvGrpSpPr/>
          <p:nvPr/>
        </p:nvGrpSpPr>
        <p:grpSpPr>
          <a:xfrm>
            <a:off x="3181918" y="2862201"/>
            <a:ext cx="1542482" cy="566799"/>
            <a:chOff x="3181918" y="2862201"/>
            <a:chExt cx="1542482" cy="566799"/>
          </a:xfrm>
        </p:grpSpPr>
        <p:sp>
          <p:nvSpPr>
            <p:cNvPr id="591" name="Google Shape;591;p26"/>
            <p:cNvSpPr/>
            <p:nvPr/>
          </p:nvSpPr>
          <p:spPr>
            <a:xfrm>
              <a:off x="3200400" y="2872741"/>
              <a:ext cx="1524000" cy="545719"/>
            </a:xfrm>
            <a:prstGeom prst="roundRect">
              <a:avLst>
                <a:gd fmla="val 16667" name="adj"/>
              </a:avLst>
            </a:prstGeom>
            <a:gradFill>
              <a:gsLst>
                <a:gs pos="0">
                  <a:srgbClr val="002060"/>
                </a:gs>
                <a:gs pos="50000">
                  <a:srgbClr val="5D218B"/>
                </a:gs>
                <a:gs pos="100000">
                  <a:srgbClr val="7127A8"/>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101010001</a:t>
              </a:r>
              <a:endParaRPr sz="1800">
                <a:solidFill>
                  <a:schemeClr val="lt1"/>
                </a:solidFill>
                <a:latin typeface="Times New Roman"/>
                <a:ea typeface="Times New Roman"/>
                <a:cs typeface="Times New Roman"/>
                <a:sym typeface="Times New Roman"/>
              </a:endParaRPr>
            </a:p>
          </p:txBody>
        </p:sp>
        <p:sp>
          <p:nvSpPr>
            <p:cNvPr id="587" name="Google Shape;587;p26"/>
            <p:cNvSpPr/>
            <p:nvPr/>
          </p:nvSpPr>
          <p:spPr>
            <a:xfrm>
              <a:off x="3181918" y="2872741"/>
              <a:ext cx="170882" cy="556259"/>
            </a:xfrm>
            <a:prstGeom prst="ellipse">
              <a:avLst/>
            </a:prstGeom>
            <a:gradFill>
              <a:gsLst>
                <a:gs pos="0">
                  <a:srgbClr val="002060"/>
                </a:gs>
                <a:gs pos="50000">
                  <a:srgbClr val="5D218B"/>
                </a:gs>
                <a:gs pos="100000">
                  <a:srgbClr val="7127A8"/>
                </a:gs>
              </a:gsLst>
              <a:lin ang="8100000" scaled="0"/>
            </a:gra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2" name="Google Shape;592;p26"/>
            <p:cNvSpPr/>
            <p:nvPr/>
          </p:nvSpPr>
          <p:spPr>
            <a:xfrm>
              <a:off x="4553518" y="2862201"/>
              <a:ext cx="170882" cy="556259"/>
            </a:xfrm>
            <a:prstGeom prst="ellipse">
              <a:avLst/>
            </a:prstGeom>
            <a:gradFill>
              <a:gsLst>
                <a:gs pos="0">
                  <a:srgbClr val="002060"/>
                </a:gs>
                <a:gs pos="50000">
                  <a:srgbClr val="5D218B"/>
                </a:gs>
                <a:gs pos="100000">
                  <a:srgbClr val="7127A8"/>
                </a:gs>
              </a:gsLst>
              <a:lin ang="8100000" scaled="0"/>
            </a:gra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593" name="Google Shape;593;p26"/>
          <p:cNvSpPr/>
          <p:nvPr/>
        </p:nvSpPr>
        <p:spPr>
          <a:xfrm>
            <a:off x="5410200" y="2862201"/>
            <a:ext cx="1447800" cy="545719"/>
          </a:xfrm>
          <a:prstGeom prst="roundRect">
            <a:avLst>
              <a:gd fmla="val 16667" name="adj"/>
            </a:avLst>
          </a:prstGeom>
          <a:gradFill>
            <a:gsLst>
              <a:gs pos="0">
                <a:srgbClr val="5D218B"/>
              </a:gs>
              <a:gs pos="34000">
                <a:srgbClr val="002060"/>
              </a:gs>
              <a:gs pos="96000">
                <a:srgbClr val="7127A8"/>
              </a:gs>
              <a:gs pos="100000">
                <a:srgbClr val="7127A8"/>
              </a:gs>
            </a:gsLst>
            <a:path path="circle">
              <a:fillToRect l="100%" t="100%"/>
            </a:path>
            <a:tileRect b="-100%" r="-100%"/>
          </a:gradFill>
          <a:ln cap="flat" cmpd="sng" w="12700">
            <a:solidFill>
              <a:srgbClr val="FEB29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Program</a:t>
            </a:r>
            <a:endParaRPr b="1" sz="1800">
              <a:solidFill>
                <a:schemeClr val="lt1"/>
              </a:solidFill>
              <a:latin typeface="Times New Roman"/>
              <a:ea typeface="Times New Roman"/>
              <a:cs typeface="Times New Roman"/>
              <a:sym typeface="Times New Roman"/>
            </a:endParaRPr>
          </a:p>
        </p:txBody>
      </p:sp>
      <p:grpSp>
        <p:nvGrpSpPr>
          <p:cNvPr id="594" name="Google Shape;594;p26"/>
          <p:cNvGrpSpPr/>
          <p:nvPr/>
        </p:nvGrpSpPr>
        <p:grpSpPr>
          <a:xfrm>
            <a:off x="7543800" y="2862201"/>
            <a:ext cx="1542482" cy="566799"/>
            <a:chOff x="3181918" y="2862201"/>
            <a:chExt cx="1542482" cy="566799"/>
          </a:xfrm>
        </p:grpSpPr>
        <p:sp>
          <p:nvSpPr>
            <p:cNvPr id="595" name="Google Shape;595;p26"/>
            <p:cNvSpPr/>
            <p:nvPr/>
          </p:nvSpPr>
          <p:spPr>
            <a:xfrm>
              <a:off x="3200400" y="2872741"/>
              <a:ext cx="1524000" cy="545719"/>
            </a:xfrm>
            <a:prstGeom prst="roundRect">
              <a:avLst>
                <a:gd fmla="val 16667" name="adj"/>
              </a:avLst>
            </a:prstGeom>
            <a:gradFill>
              <a:gsLst>
                <a:gs pos="0">
                  <a:srgbClr val="002060"/>
                </a:gs>
                <a:gs pos="50000">
                  <a:srgbClr val="5D218B"/>
                </a:gs>
                <a:gs pos="100000">
                  <a:srgbClr val="7127A8"/>
                </a:gs>
              </a:gsLst>
              <a:lin ang="81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101010001</a:t>
              </a:r>
              <a:endParaRPr sz="1800">
                <a:solidFill>
                  <a:schemeClr val="lt1"/>
                </a:solidFill>
                <a:latin typeface="Times New Roman"/>
                <a:ea typeface="Times New Roman"/>
                <a:cs typeface="Times New Roman"/>
                <a:sym typeface="Times New Roman"/>
              </a:endParaRPr>
            </a:p>
          </p:txBody>
        </p:sp>
        <p:sp>
          <p:nvSpPr>
            <p:cNvPr id="596" name="Google Shape;596;p26"/>
            <p:cNvSpPr/>
            <p:nvPr/>
          </p:nvSpPr>
          <p:spPr>
            <a:xfrm>
              <a:off x="3181918" y="2872741"/>
              <a:ext cx="170882" cy="556259"/>
            </a:xfrm>
            <a:prstGeom prst="ellipse">
              <a:avLst/>
            </a:prstGeom>
            <a:gradFill>
              <a:gsLst>
                <a:gs pos="0">
                  <a:srgbClr val="002060"/>
                </a:gs>
                <a:gs pos="50000">
                  <a:srgbClr val="5D218B"/>
                </a:gs>
                <a:gs pos="100000">
                  <a:srgbClr val="7127A8"/>
                </a:gs>
              </a:gsLst>
              <a:lin ang="8100000" scaled="0"/>
            </a:gra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7" name="Google Shape;597;p26"/>
            <p:cNvSpPr/>
            <p:nvPr/>
          </p:nvSpPr>
          <p:spPr>
            <a:xfrm>
              <a:off x="4553518" y="2862201"/>
              <a:ext cx="170882" cy="556259"/>
            </a:xfrm>
            <a:prstGeom prst="ellipse">
              <a:avLst/>
            </a:prstGeom>
            <a:gradFill>
              <a:gsLst>
                <a:gs pos="0">
                  <a:srgbClr val="002060"/>
                </a:gs>
                <a:gs pos="50000">
                  <a:srgbClr val="5D218B"/>
                </a:gs>
                <a:gs pos="100000">
                  <a:srgbClr val="7127A8"/>
                </a:gs>
              </a:gsLst>
              <a:lin ang="8100000" scaled="0"/>
            </a:gra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sp>
        <p:nvSpPr>
          <p:cNvPr id="598" name="Google Shape;598;p26"/>
          <p:cNvSpPr/>
          <p:nvPr/>
        </p:nvSpPr>
        <p:spPr>
          <a:xfrm>
            <a:off x="10134600" y="1219200"/>
            <a:ext cx="1524000" cy="3962400"/>
          </a:xfrm>
          <a:prstGeom prst="roundRect">
            <a:avLst>
              <a:gd fmla="val 16667" name="adj"/>
            </a:avLst>
          </a:prstGeom>
          <a:solidFill>
            <a:schemeClr val="lt1"/>
          </a:solidFill>
          <a:ln cap="flat" cmpd="sng" w="38100">
            <a:solidFill>
              <a:srgbClr val="92D05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graphicFrame>
        <p:nvGraphicFramePr>
          <p:cNvPr id="599" name="Google Shape;599;p26"/>
          <p:cNvGraphicFramePr/>
          <p:nvPr/>
        </p:nvGraphicFramePr>
        <p:xfrm>
          <a:off x="10439400" y="1447800"/>
          <a:ext cx="922283" cy="990600"/>
        </p:xfrm>
        <a:graphic>
          <a:graphicData uri="http://schemas.openxmlformats.org/presentationml/2006/ole">
            <mc:AlternateContent>
              <mc:Choice Requires="v">
                <p:oleObj r:id="rId9" imgH="990600" imgW="922283" progId="Paint.Picture" spid="_x0000_s2">
                  <p:embed/>
                </p:oleObj>
              </mc:Choice>
              <mc:Fallback>
                <p:oleObj r:id="rId10" imgH="990600" imgW="922283" progId="Paint.Picture">
                  <p:embed/>
                  <p:pic>
                    <p:nvPicPr>
                      <p:cNvPr id="599" name="Google Shape;599;p26"/>
                      <p:cNvPicPr preferRelativeResize="0"/>
                      <p:nvPr/>
                    </p:nvPicPr>
                    <p:blipFill rotWithShape="1">
                      <a:blip r:embed="rId6">
                        <a:alphaModFix/>
                      </a:blip>
                      <a:srcRect b="0" l="0" r="0" t="0"/>
                      <a:stretch/>
                    </p:blipFill>
                    <p:spPr>
                      <a:xfrm>
                        <a:off x="10439400" y="1447800"/>
                        <a:ext cx="922283" cy="990600"/>
                      </a:xfrm>
                      <a:prstGeom prst="rect">
                        <a:avLst/>
                      </a:prstGeom>
                      <a:noFill/>
                      <a:ln>
                        <a:noFill/>
                      </a:ln>
                    </p:spPr>
                  </p:pic>
                </p:oleObj>
              </mc:Fallback>
            </mc:AlternateContent>
          </a:graphicData>
        </a:graphic>
      </p:graphicFrame>
      <p:pic>
        <p:nvPicPr>
          <p:cNvPr id="600" name="Google Shape;600;p26"/>
          <p:cNvPicPr preferRelativeResize="0"/>
          <p:nvPr/>
        </p:nvPicPr>
        <p:blipFill rotWithShape="1">
          <a:blip r:embed="rId7">
            <a:alphaModFix/>
          </a:blip>
          <a:srcRect b="0" l="0" r="0" t="0"/>
          <a:stretch/>
        </p:blipFill>
        <p:spPr>
          <a:xfrm>
            <a:off x="10400732" y="2662948"/>
            <a:ext cx="985943" cy="965307"/>
          </a:xfrm>
          <a:prstGeom prst="rect">
            <a:avLst/>
          </a:prstGeom>
          <a:noFill/>
          <a:ln>
            <a:noFill/>
          </a:ln>
        </p:spPr>
      </p:pic>
      <p:pic>
        <p:nvPicPr>
          <p:cNvPr id="601" name="Google Shape;601;p26"/>
          <p:cNvPicPr preferRelativeResize="0"/>
          <p:nvPr/>
        </p:nvPicPr>
        <p:blipFill rotWithShape="1">
          <a:blip r:embed="rId8">
            <a:alphaModFix/>
          </a:blip>
          <a:srcRect b="0" l="0" r="0" t="0"/>
          <a:stretch/>
        </p:blipFill>
        <p:spPr>
          <a:xfrm>
            <a:off x="10475343" y="3852803"/>
            <a:ext cx="923842" cy="1133591"/>
          </a:xfrm>
          <a:prstGeom prst="rect">
            <a:avLst/>
          </a:prstGeom>
          <a:noFill/>
          <a:ln>
            <a:noFill/>
          </a:ln>
        </p:spPr>
      </p:pic>
      <p:sp>
        <p:nvSpPr>
          <p:cNvPr id="602" name="Google Shape;602;p26"/>
          <p:cNvSpPr txBox="1"/>
          <p:nvPr/>
        </p:nvSpPr>
        <p:spPr>
          <a:xfrm>
            <a:off x="10048760" y="659248"/>
            <a:ext cx="168988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F2E"/>
                </a:solidFill>
                <a:latin typeface="Times New Roman"/>
                <a:ea typeface="Times New Roman"/>
                <a:cs typeface="Times New Roman"/>
                <a:sym typeface="Times New Roman"/>
              </a:rPr>
              <a:t>Destination</a:t>
            </a:r>
            <a:endParaRPr b="1" sz="2400">
              <a:solidFill>
                <a:srgbClr val="000F2E"/>
              </a:solidFill>
              <a:latin typeface="Times New Roman"/>
              <a:ea typeface="Times New Roman"/>
              <a:cs typeface="Times New Roman"/>
              <a:sym typeface="Times New Roman"/>
            </a:endParaRPr>
          </a:p>
        </p:txBody>
      </p:sp>
      <p:sp>
        <p:nvSpPr>
          <p:cNvPr id="603" name="Google Shape;603;p26"/>
          <p:cNvSpPr txBox="1"/>
          <p:nvPr/>
        </p:nvSpPr>
        <p:spPr>
          <a:xfrm>
            <a:off x="3131480" y="2438400"/>
            <a:ext cx="165320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Input Stream</a:t>
            </a:r>
            <a:endParaRPr b="1" sz="2000">
              <a:solidFill>
                <a:srgbClr val="FF0000"/>
              </a:solidFill>
              <a:latin typeface="Times New Roman"/>
              <a:ea typeface="Times New Roman"/>
              <a:cs typeface="Times New Roman"/>
              <a:sym typeface="Times New Roman"/>
            </a:endParaRPr>
          </a:p>
        </p:txBody>
      </p:sp>
      <p:sp>
        <p:nvSpPr>
          <p:cNvPr id="604" name="Google Shape;604;p26"/>
          <p:cNvSpPr txBox="1"/>
          <p:nvPr/>
        </p:nvSpPr>
        <p:spPr>
          <a:xfrm>
            <a:off x="7407311" y="2438400"/>
            <a:ext cx="1837554"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FF0000"/>
                </a:solidFill>
                <a:latin typeface="Times New Roman"/>
                <a:ea typeface="Times New Roman"/>
                <a:cs typeface="Times New Roman"/>
                <a:sym typeface="Times New Roman"/>
              </a:rPr>
              <a:t>Output Stream</a:t>
            </a:r>
            <a:endParaRPr b="1" sz="2000">
              <a:solidFill>
                <a:srgbClr val="FF0000"/>
              </a:solidFill>
              <a:latin typeface="Times New Roman"/>
              <a:ea typeface="Times New Roman"/>
              <a:cs typeface="Times New Roman"/>
              <a:sym typeface="Times New Roman"/>
            </a:endParaRPr>
          </a:p>
        </p:txBody>
      </p:sp>
      <p:cxnSp>
        <p:nvCxnSpPr>
          <p:cNvPr id="605" name="Google Shape;605;p26"/>
          <p:cNvCxnSpPr>
            <a:stCxn id="592" idx="6"/>
            <a:endCxn id="593" idx="1"/>
          </p:cNvCxnSpPr>
          <p:nvPr/>
        </p:nvCxnSpPr>
        <p:spPr>
          <a:xfrm flipH="1" rot="10800000">
            <a:off x="4724400" y="3134931"/>
            <a:ext cx="685800" cy="5400"/>
          </a:xfrm>
          <a:prstGeom prst="straightConnector1">
            <a:avLst/>
          </a:prstGeom>
          <a:noFill/>
          <a:ln cap="flat" cmpd="sng" w="44450">
            <a:solidFill>
              <a:srgbClr val="7030A0"/>
            </a:solidFill>
            <a:prstDash val="solid"/>
            <a:miter lim="800000"/>
            <a:headEnd len="sm" w="sm" type="none"/>
            <a:tailEnd len="med" w="med" type="triangle"/>
          </a:ln>
        </p:spPr>
      </p:cxnSp>
      <p:cxnSp>
        <p:nvCxnSpPr>
          <p:cNvPr id="606" name="Google Shape;606;p26"/>
          <p:cNvCxnSpPr/>
          <p:nvPr/>
        </p:nvCxnSpPr>
        <p:spPr>
          <a:xfrm flipH="1" rot="10800000">
            <a:off x="6867241" y="3135060"/>
            <a:ext cx="685800" cy="5270"/>
          </a:xfrm>
          <a:prstGeom prst="straightConnector1">
            <a:avLst/>
          </a:prstGeom>
          <a:noFill/>
          <a:ln cap="flat" cmpd="sng" w="44450">
            <a:solidFill>
              <a:srgbClr val="7030A0"/>
            </a:solidFill>
            <a:prstDash val="solid"/>
            <a:miter lim="800000"/>
            <a:headEnd len="sm" w="sm" type="none"/>
            <a:tailEnd len="med" w="med" type="triangle"/>
          </a:ln>
        </p:spPr>
      </p:cxnSp>
      <p:cxnSp>
        <p:nvCxnSpPr>
          <p:cNvPr id="607" name="Google Shape;607;p26"/>
          <p:cNvCxnSpPr>
            <a:stCxn id="597" idx="6"/>
          </p:cNvCxnSpPr>
          <p:nvPr/>
        </p:nvCxnSpPr>
        <p:spPr>
          <a:xfrm flipH="1" rot="10800000">
            <a:off x="9086282" y="1943031"/>
            <a:ext cx="1353000" cy="1197300"/>
          </a:xfrm>
          <a:prstGeom prst="straightConnector1">
            <a:avLst/>
          </a:prstGeom>
          <a:noFill/>
          <a:ln cap="flat" cmpd="sng" w="44450">
            <a:solidFill>
              <a:srgbClr val="7030A0"/>
            </a:solidFill>
            <a:prstDash val="solid"/>
            <a:miter lim="800000"/>
            <a:headEnd len="sm" w="sm" type="none"/>
            <a:tailEnd len="med" w="med" type="triangle"/>
          </a:ln>
        </p:spPr>
      </p:cxnSp>
      <p:cxnSp>
        <p:nvCxnSpPr>
          <p:cNvPr id="608" name="Google Shape;608;p26"/>
          <p:cNvCxnSpPr>
            <a:stCxn id="597" idx="6"/>
            <a:endCxn id="600" idx="1"/>
          </p:cNvCxnSpPr>
          <p:nvPr/>
        </p:nvCxnSpPr>
        <p:spPr>
          <a:xfrm>
            <a:off x="9086282" y="3140331"/>
            <a:ext cx="1314600" cy="5400"/>
          </a:xfrm>
          <a:prstGeom prst="straightConnector1">
            <a:avLst/>
          </a:prstGeom>
          <a:noFill/>
          <a:ln cap="flat" cmpd="sng" w="44450">
            <a:solidFill>
              <a:srgbClr val="7030A0"/>
            </a:solidFill>
            <a:prstDash val="solid"/>
            <a:miter lim="800000"/>
            <a:headEnd len="sm" w="sm" type="none"/>
            <a:tailEnd len="med" w="med" type="triangle"/>
          </a:ln>
        </p:spPr>
      </p:cxnSp>
      <p:cxnSp>
        <p:nvCxnSpPr>
          <p:cNvPr id="609" name="Google Shape;609;p26"/>
          <p:cNvCxnSpPr>
            <a:stCxn id="597" idx="6"/>
            <a:endCxn id="601" idx="1"/>
          </p:cNvCxnSpPr>
          <p:nvPr/>
        </p:nvCxnSpPr>
        <p:spPr>
          <a:xfrm>
            <a:off x="9086282" y="3140331"/>
            <a:ext cx="1389000" cy="1279200"/>
          </a:xfrm>
          <a:prstGeom prst="straightConnector1">
            <a:avLst/>
          </a:prstGeom>
          <a:noFill/>
          <a:ln cap="flat" cmpd="sng" w="44450">
            <a:solidFill>
              <a:srgbClr val="7030A0"/>
            </a:solidFill>
            <a:prstDash val="solid"/>
            <a:miter lim="800000"/>
            <a:headEnd len="sm" w="sm" type="none"/>
            <a:tailEnd len="med" w="med" type="triangle"/>
          </a:ln>
        </p:spPr>
      </p:cxnSp>
      <p:sp>
        <p:nvSpPr>
          <p:cNvPr id="610" name="Google Shape;610;p26"/>
          <p:cNvSpPr txBox="1"/>
          <p:nvPr/>
        </p:nvSpPr>
        <p:spPr>
          <a:xfrm>
            <a:off x="5502310" y="273061"/>
            <a:ext cx="1125629" cy="461665"/>
          </a:xfrm>
          <a:prstGeom prst="rect">
            <a:avLst/>
          </a:prstGeom>
          <a:noFill/>
          <a:ln cap="flat" cmpd="sng" w="44450">
            <a:solidFill>
              <a:srgbClr val="7030A0"/>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rgbClr val="000F2E"/>
                </a:solidFill>
                <a:latin typeface="Times New Roman"/>
                <a:ea typeface="Times New Roman"/>
                <a:cs typeface="Times New Roman"/>
                <a:sym typeface="Times New Roman"/>
              </a:rPr>
              <a:t>System</a:t>
            </a:r>
            <a:endParaRPr b="1" sz="2400">
              <a:solidFill>
                <a:srgbClr val="000F2E"/>
              </a:solidFill>
              <a:latin typeface="Times New Roman"/>
              <a:ea typeface="Times New Roman"/>
              <a:cs typeface="Times New Roman"/>
              <a:sym typeface="Times New Roman"/>
            </a:endParaRPr>
          </a:p>
        </p:txBody>
      </p:sp>
      <p:sp>
        <p:nvSpPr>
          <p:cNvPr id="611" name="Google Shape;611;p26"/>
          <p:cNvSpPr/>
          <p:nvPr/>
        </p:nvSpPr>
        <p:spPr>
          <a:xfrm>
            <a:off x="4369675" y="1015591"/>
            <a:ext cx="3390900" cy="766873"/>
          </a:xfrm>
          <a:prstGeom prst="rect">
            <a:avLst/>
          </a:prstGeom>
          <a:gradFill>
            <a:gsLst>
              <a:gs pos="0">
                <a:srgbClr val="979AAF"/>
              </a:gs>
              <a:gs pos="50000">
                <a:srgbClr val="C0C2CD"/>
              </a:gs>
              <a:gs pos="100000">
                <a:srgbClr val="E1E1E5"/>
              </a:gs>
            </a:gsLst>
            <a:path path="circle">
              <a:fillToRect b="50%" l="50%" r="50%" t="50%"/>
            </a:path>
            <a:tileRect/>
          </a:gradFill>
          <a:ln cap="flat" cmpd="sng" w="38100">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612" name="Google Shape;612;p26"/>
          <p:cNvCxnSpPr>
            <a:stCxn id="603" idx="0"/>
            <a:endCxn id="613" idx="2"/>
          </p:cNvCxnSpPr>
          <p:nvPr/>
        </p:nvCxnSpPr>
        <p:spPr>
          <a:xfrm flipH="1" rot="10800000">
            <a:off x="3958085" y="1653000"/>
            <a:ext cx="1213800" cy="785400"/>
          </a:xfrm>
          <a:prstGeom prst="straightConnector1">
            <a:avLst/>
          </a:prstGeom>
          <a:noFill/>
          <a:ln cap="flat" cmpd="sng" w="44450">
            <a:solidFill>
              <a:srgbClr val="00B0F0"/>
            </a:solidFill>
            <a:prstDash val="solid"/>
            <a:miter lim="800000"/>
            <a:headEnd len="sm" w="sm" type="none"/>
            <a:tailEnd len="med" w="med" type="triangle"/>
          </a:ln>
        </p:spPr>
      </p:cxnSp>
      <p:sp>
        <p:nvSpPr>
          <p:cNvPr id="613" name="Google Shape;613;p26"/>
          <p:cNvSpPr/>
          <p:nvPr/>
        </p:nvSpPr>
        <p:spPr>
          <a:xfrm>
            <a:off x="4569426" y="1149444"/>
            <a:ext cx="1204913" cy="503436"/>
          </a:xfrm>
          <a:prstGeom prst="rect">
            <a:avLst/>
          </a:prstGeom>
          <a:solidFill>
            <a:srgbClr val="FEB29A"/>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000F2E"/>
                </a:solidFill>
                <a:latin typeface="Times New Roman"/>
                <a:ea typeface="Times New Roman"/>
                <a:cs typeface="Times New Roman"/>
                <a:sym typeface="Times New Roman"/>
              </a:rPr>
              <a:t>in</a:t>
            </a:r>
            <a:endParaRPr b="1" sz="1800">
              <a:solidFill>
                <a:srgbClr val="000F2E"/>
              </a:solidFill>
              <a:latin typeface="Times New Roman"/>
              <a:ea typeface="Times New Roman"/>
              <a:cs typeface="Times New Roman"/>
              <a:sym typeface="Times New Roman"/>
            </a:endParaRPr>
          </a:p>
        </p:txBody>
      </p:sp>
      <p:sp>
        <p:nvSpPr>
          <p:cNvPr id="614" name="Google Shape;614;p26"/>
          <p:cNvSpPr/>
          <p:nvPr/>
        </p:nvSpPr>
        <p:spPr>
          <a:xfrm>
            <a:off x="6447240" y="1146412"/>
            <a:ext cx="1085281" cy="503791"/>
          </a:xfrm>
          <a:prstGeom prst="rect">
            <a:avLst/>
          </a:prstGeom>
          <a:solidFill>
            <a:srgbClr val="FEB29A"/>
          </a:solidFill>
          <a:ln cap="flat" cmpd="sng" w="381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000F2E"/>
                </a:solidFill>
                <a:latin typeface="Times New Roman"/>
                <a:ea typeface="Times New Roman"/>
                <a:cs typeface="Times New Roman"/>
                <a:sym typeface="Times New Roman"/>
              </a:rPr>
              <a:t>out</a:t>
            </a:r>
            <a:endParaRPr b="1" sz="1800">
              <a:solidFill>
                <a:srgbClr val="000F2E"/>
              </a:solidFill>
              <a:latin typeface="Times New Roman"/>
              <a:ea typeface="Times New Roman"/>
              <a:cs typeface="Times New Roman"/>
              <a:sym typeface="Times New Roman"/>
            </a:endParaRPr>
          </a:p>
        </p:txBody>
      </p:sp>
      <p:cxnSp>
        <p:nvCxnSpPr>
          <p:cNvPr id="615" name="Google Shape;615;p26"/>
          <p:cNvCxnSpPr>
            <a:stCxn id="604" idx="0"/>
            <a:endCxn id="614" idx="2"/>
          </p:cNvCxnSpPr>
          <p:nvPr/>
        </p:nvCxnSpPr>
        <p:spPr>
          <a:xfrm rot="10800000">
            <a:off x="6989888" y="1650300"/>
            <a:ext cx="1336200" cy="788100"/>
          </a:xfrm>
          <a:prstGeom prst="straightConnector1">
            <a:avLst/>
          </a:prstGeom>
          <a:noFill/>
          <a:ln cap="flat" cmpd="sng" w="44450">
            <a:solidFill>
              <a:srgbClr val="00B0F0"/>
            </a:solidFill>
            <a:prstDash val="solid"/>
            <a:miter lim="800000"/>
            <a:headEnd len="sm" w="sm" type="none"/>
            <a:tailEnd len="med" w="med" type="triangle"/>
          </a:ln>
        </p:spPr>
      </p:cxnSp>
      <p:cxnSp>
        <p:nvCxnSpPr>
          <p:cNvPr id="616" name="Google Shape;616;p26"/>
          <p:cNvCxnSpPr/>
          <p:nvPr/>
        </p:nvCxnSpPr>
        <p:spPr>
          <a:xfrm flipH="1" rot="-5400000">
            <a:off x="5105188" y="2023927"/>
            <a:ext cx="1507500" cy="169200"/>
          </a:xfrm>
          <a:prstGeom prst="bentConnector3">
            <a:avLst>
              <a:gd fmla="val 2015" name="adj1"/>
            </a:avLst>
          </a:prstGeom>
          <a:noFill/>
          <a:ln cap="flat" cmpd="sng" w="44450">
            <a:solidFill>
              <a:srgbClr val="00B0F0"/>
            </a:solidFill>
            <a:prstDash val="solid"/>
            <a:miter lim="800000"/>
            <a:headEnd len="sm" w="sm" type="none"/>
            <a:tailEnd len="med" w="med" type="triangle"/>
          </a:ln>
        </p:spPr>
      </p:cxnSp>
      <p:cxnSp>
        <p:nvCxnSpPr>
          <p:cNvPr id="617" name="Google Shape;617;p26"/>
          <p:cNvCxnSpPr>
            <a:stCxn id="614" idx="1"/>
          </p:cNvCxnSpPr>
          <p:nvPr/>
        </p:nvCxnSpPr>
        <p:spPr>
          <a:xfrm flipH="1">
            <a:off x="6324540" y="1398308"/>
            <a:ext cx="122700" cy="1464000"/>
          </a:xfrm>
          <a:prstGeom prst="bentConnector2">
            <a:avLst/>
          </a:prstGeom>
          <a:noFill/>
          <a:ln cap="flat" cmpd="sng" w="44450">
            <a:solidFill>
              <a:srgbClr val="00B0F0"/>
            </a:solidFill>
            <a:prstDash val="solid"/>
            <a:miter lim="800000"/>
            <a:headEnd len="sm" w="sm" type="none"/>
            <a:tailEnd len="med" w="med" type="triangle"/>
          </a:ln>
        </p:spPr>
      </p:cxnSp>
      <p:sp>
        <p:nvSpPr>
          <p:cNvPr id="618" name="Google Shape;618;p26"/>
          <p:cNvSpPr txBox="1"/>
          <p:nvPr/>
        </p:nvSpPr>
        <p:spPr>
          <a:xfrm>
            <a:off x="4743408" y="2186566"/>
            <a:ext cx="124425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7030A0"/>
                </a:solidFill>
                <a:latin typeface="Times New Roman"/>
                <a:ea typeface="Times New Roman"/>
                <a:cs typeface="Times New Roman"/>
                <a:sym typeface="Times New Roman"/>
              </a:rPr>
              <a:t>System.in</a:t>
            </a:r>
            <a:endParaRPr b="1" sz="2000">
              <a:solidFill>
                <a:srgbClr val="7030A0"/>
              </a:solidFill>
              <a:latin typeface="Times New Roman"/>
              <a:ea typeface="Times New Roman"/>
              <a:cs typeface="Times New Roman"/>
              <a:sym typeface="Times New Roman"/>
            </a:endParaRPr>
          </a:p>
        </p:txBody>
      </p:sp>
      <p:sp>
        <p:nvSpPr>
          <p:cNvPr id="619" name="Google Shape;619;p26"/>
          <p:cNvSpPr txBox="1"/>
          <p:nvPr/>
        </p:nvSpPr>
        <p:spPr>
          <a:xfrm>
            <a:off x="6296421" y="2162256"/>
            <a:ext cx="138691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7030A0"/>
                </a:solidFill>
                <a:latin typeface="Times New Roman"/>
                <a:ea typeface="Times New Roman"/>
                <a:cs typeface="Times New Roman"/>
                <a:sym typeface="Times New Roman"/>
              </a:rPr>
              <a:t>System.out</a:t>
            </a:r>
            <a:endParaRPr b="1" sz="2000">
              <a:solidFill>
                <a:srgbClr val="7030A0"/>
              </a:solidFill>
              <a:latin typeface="Times New Roman"/>
              <a:ea typeface="Times New Roman"/>
              <a:cs typeface="Times New Roman"/>
              <a:sym typeface="Times New Roman"/>
            </a:endParaRPr>
          </a:p>
        </p:txBody>
      </p:sp>
      <p:cxnSp>
        <p:nvCxnSpPr>
          <p:cNvPr id="620" name="Google Shape;620;p26"/>
          <p:cNvCxnSpPr>
            <a:stCxn id="610" idx="2"/>
            <a:endCxn id="611" idx="0"/>
          </p:cNvCxnSpPr>
          <p:nvPr/>
        </p:nvCxnSpPr>
        <p:spPr>
          <a:xfrm>
            <a:off x="6065125" y="734726"/>
            <a:ext cx="0" cy="280800"/>
          </a:xfrm>
          <a:prstGeom prst="straightConnector1">
            <a:avLst/>
          </a:prstGeom>
          <a:noFill/>
          <a:ln cap="flat" cmpd="sng" w="44450">
            <a:solidFill>
              <a:srgbClr val="00B0F0"/>
            </a:solidFill>
            <a:prstDash val="solid"/>
            <a:miter lim="800000"/>
            <a:headEnd len="sm" w="sm" type="none"/>
            <a:tailEnd len="med" w="med" type="triangle"/>
          </a:ln>
        </p:spPr>
      </p:cxnSp>
      <p:sp>
        <p:nvSpPr>
          <p:cNvPr id="621" name="Google Shape;621;p26"/>
          <p:cNvSpPr txBox="1"/>
          <p:nvPr/>
        </p:nvSpPr>
        <p:spPr>
          <a:xfrm>
            <a:off x="6163275" y="697468"/>
            <a:ext cx="75533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7030A0"/>
                </a:solidFill>
                <a:latin typeface="Times New Roman"/>
                <a:ea typeface="Times New Roman"/>
                <a:cs typeface="Times New Roman"/>
                <a:sym typeface="Times New Roman"/>
              </a:rPr>
              <a:t>Dot(.)</a:t>
            </a:r>
            <a:endParaRPr b="1" sz="1800">
              <a:solidFill>
                <a:srgbClr val="7030A0"/>
              </a:solidFill>
              <a:latin typeface="Times New Roman"/>
              <a:ea typeface="Times New Roman"/>
              <a:cs typeface="Times New Roman"/>
              <a:sym typeface="Times New Roman"/>
            </a:endParaRPr>
          </a:p>
        </p:txBody>
      </p:sp>
      <p:grpSp>
        <p:nvGrpSpPr>
          <p:cNvPr id="622" name="Google Shape;622;p26"/>
          <p:cNvGrpSpPr/>
          <p:nvPr/>
        </p:nvGrpSpPr>
        <p:grpSpPr>
          <a:xfrm>
            <a:off x="6296421" y="3418460"/>
            <a:ext cx="2807179" cy="2213750"/>
            <a:chOff x="6296421" y="3418460"/>
            <a:chExt cx="2807179" cy="2213750"/>
          </a:xfrm>
        </p:grpSpPr>
        <p:sp>
          <p:nvSpPr>
            <p:cNvPr id="623" name="Google Shape;623;p26"/>
            <p:cNvSpPr txBox="1"/>
            <p:nvPr/>
          </p:nvSpPr>
          <p:spPr>
            <a:xfrm>
              <a:off x="6296421" y="4708880"/>
              <a:ext cx="2807179" cy="923330"/>
            </a:xfrm>
            <a:prstGeom prst="rect">
              <a:avLst/>
            </a:prstGeom>
            <a:noFill/>
            <a:ln cap="flat" cmpd="sng" w="44450">
              <a:solidFill>
                <a:srgbClr val="7030A0"/>
              </a:solidFill>
              <a:prstDash val="solid"/>
              <a:miter lim="800000"/>
              <a:headEnd len="sm" w="sm" type="none"/>
              <a:tailEnd len="sm" w="sm" type="none"/>
            </a:ln>
          </p:spPr>
          <p:txBody>
            <a:bodyPr anchorCtr="0" anchor="t" bIns="45700" lIns="91425" spcFirstLastPara="1" rIns="91425" wrap="square" tIns="45700">
              <a:spAutoFit/>
            </a:bodyPr>
            <a:lstStyle/>
            <a:p>
              <a:pPr indent="-342900" lvl="0" marL="342900" marR="0" rtl="0" algn="l">
                <a:spcBef>
                  <a:spcPts val="0"/>
                </a:spcBef>
                <a:spcAft>
                  <a:spcPts val="0"/>
                </a:spcAft>
                <a:buClr>
                  <a:srgbClr val="FF0000"/>
                </a:buClr>
                <a:buSzPts val="1800"/>
                <a:buFont typeface="Arial"/>
                <a:buChar char="•"/>
              </a:pPr>
              <a:r>
                <a:rPr b="1" lang="en-US" sz="1800">
                  <a:solidFill>
                    <a:srgbClr val="FF0000"/>
                  </a:solidFill>
                  <a:latin typeface="Times New Roman"/>
                  <a:ea typeface="Times New Roman"/>
                  <a:cs typeface="Times New Roman"/>
                  <a:sym typeface="Times New Roman"/>
                </a:rPr>
                <a:t>System.out.print(“ ”)</a:t>
              </a:r>
              <a:endParaRPr/>
            </a:p>
            <a:p>
              <a:pPr indent="-342900" lvl="0" marL="342900" marR="0" rtl="0" algn="l">
                <a:spcBef>
                  <a:spcPts val="0"/>
                </a:spcBef>
                <a:spcAft>
                  <a:spcPts val="0"/>
                </a:spcAft>
                <a:buClr>
                  <a:srgbClr val="FF0000"/>
                </a:buClr>
                <a:buSzPts val="1800"/>
                <a:buFont typeface="Arial"/>
                <a:buChar char="•"/>
              </a:pPr>
              <a:r>
                <a:rPr b="1" lang="en-US" sz="1800">
                  <a:solidFill>
                    <a:srgbClr val="FF0000"/>
                  </a:solidFill>
                  <a:latin typeface="Times New Roman"/>
                  <a:ea typeface="Times New Roman"/>
                  <a:cs typeface="Times New Roman"/>
                  <a:sym typeface="Times New Roman"/>
                </a:rPr>
                <a:t>System.out.println(“ ”)</a:t>
              </a:r>
              <a:endParaRPr/>
            </a:p>
            <a:p>
              <a:pPr indent="-342900" lvl="0" marL="342900" marR="0" rtl="0" algn="l">
                <a:spcBef>
                  <a:spcPts val="0"/>
                </a:spcBef>
                <a:spcAft>
                  <a:spcPts val="0"/>
                </a:spcAft>
                <a:buClr>
                  <a:srgbClr val="FF0000"/>
                </a:buClr>
                <a:buSzPts val="1800"/>
                <a:buFont typeface="Arial"/>
                <a:buChar char="•"/>
              </a:pPr>
              <a:r>
                <a:rPr b="1" lang="en-US" sz="1800">
                  <a:solidFill>
                    <a:srgbClr val="FF0000"/>
                  </a:solidFill>
                  <a:latin typeface="Times New Roman"/>
                  <a:ea typeface="Times New Roman"/>
                  <a:cs typeface="Times New Roman"/>
                  <a:sym typeface="Times New Roman"/>
                </a:rPr>
                <a:t>And so on…</a:t>
              </a:r>
              <a:endParaRPr b="1" sz="1800">
                <a:solidFill>
                  <a:srgbClr val="FF0000"/>
                </a:solidFill>
                <a:latin typeface="Times New Roman"/>
                <a:ea typeface="Times New Roman"/>
                <a:cs typeface="Times New Roman"/>
                <a:sym typeface="Times New Roman"/>
              </a:endParaRPr>
            </a:p>
          </p:txBody>
        </p:sp>
        <p:cxnSp>
          <p:nvCxnSpPr>
            <p:cNvPr id="624" name="Google Shape;624;p26"/>
            <p:cNvCxnSpPr>
              <a:stCxn id="595" idx="2"/>
            </p:cNvCxnSpPr>
            <p:nvPr/>
          </p:nvCxnSpPr>
          <p:spPr>
            <a:xfrm>
              <a:off x="8324282" y="3418460"/>
              <a:ext cx="0" cy="1302000"/>
            </a:xfrm>
            <a:prstGeom prst="straightConnector1">
              <a:avLst/>
            </a:prstGeom>
            <a:noFill/>
            <a:ln cap="flat" cmpd="sng" w="44450">
              <a:solidFill>
                <a:srgbClr val="7030A0"/>
              </a:solidFill>
              <a:prstDash val="solid"/>
              <a:miter lim="800000"/>
              <a:headEnd len="sm" w="sm" type="none"/>
              <a:tailEnd len="med" w="med" type="triangle"/>
            </a:ln>
          </p:spPr>
        </p:cxnSp>
      </p:grpSp>
      <p:grpSp>
        <p:nvGrpSpPr>
          <p:cNvPr id="625" name="Google Shape;625;p26"/>
          <p:cNvGrpSpPr/>
          <p:nvPr/>
        </p:nvGrpSpPr>
        <p:grpSpPr>
          <a:xfrm>
            <a:off x="3300916" y="3418460"/>
            <a:ext cx="4859087" cy="921328"/>
            <a:chOff x="3300916" y="3418460"/>
            <a:chExt cx="4859087" cy="921328"/>
          </a:xfrm>
        </p:grpSpPr>
        <p:sp>
          <p:nvSpPr>
            <p:cNvPr id="626" name="Google Shape;626;p26"/>
            <p:cNvSpPr txBox="1"/>
            <p:nvPr/>
          </p:nvSpPr>
          <p:spPr>
            <a:xfrm>
              <a:off x="3300916" y="3693457"/>
              <a:ext cx="4859087" cy="646331"/>
            </a:xfrm>
            <a:prstGeom prst="rect">
              <a:avLst/>
            </a:prstGeom>
            <a:noFill/>
            <a:ln cap="flat" cmpd="sng" w="44450">
              <a:solidFill>
                <a:srgbClr val="7030A0"/>
              </a:solidFill>
              <a:prstDash val="solid"/>
              <a:miter lim="800000"/>
              <a:headEnd len="sm" w="sm" type="none"/>
              <a:tailEnd len="sm" w="sm" type="none"/>
            </a:ln>
          </p:spPr>
          <p:txBody>
            <a:bodyPr anchorCtr="0" anchor="t" bIns="45700" lIns="91425" spcFirstLastPara="1" rIns="91425" wrap="square" tIns="45700">
              <a:spAutoFit/>
            </a:bodyPr>
            <a:lstStyle/>
            <a:p>
              <a:pPr indent="-342900" lvl="0" marL="342900" marR="0" rtl="0" algn="l">
                <a:spcBef>
                  <a:spcPts val="0"/>
                </a:spcBef>
                <a:spcAft>
                  <a:spcPts val="0"/>
                </a:spcAft>
                <a:buClr>
                  <a:srgbClr val="FF0000"/>
                </a:buClr>
                <a:buSzPts val="1800"/>
                <a:buFont typeface="Arial"/>
                <a:buChar char="•"/>
              </a:pPr>
              <a:r>
                <a:rPr b="1" lang="en-US" sz="1800">
                  <a:solidFill>
                    <a:srgbClr val="FF0000"/>
                  </a:solidFill>
                  <a:latin typeface="Times New Roman"/>
                  <a:ea typeface="Times New Roman"/>
                  <a:cs typeface="Times New Roman"/>
                  <a:sym typeface="Times New Roman"/>
                </a:rPr>
                <a:t>Scanner class ( </a:t>
              </a:r>
              <a:r>
                <a:rPr b="1" lang="en-US" sz="1800">
                  <a:solidFill>
                    <a:srgbClr val="7030A0"/>
                  </a:solidFill>
                  <a:latin typeface="Times New Roman"/>
                  <a:ea typeface="Times New Roman"/>
                  <a:cs typeface="Times New Roman"/>
                  <a:sym typeface="Times New Roman"/>
                </a:rPr>
                <a:t>java.util.Scanner </a:t>
              </a:r>
              <a:r>
                <a:rPr b="1" lang="en-US" sz="1800">
                  <a:solidFill>
                    <a:srgbClr val="FF0000"/>
                  </a:solidFill>
                  <a:latin typeface="Times New Roman"/>
                  <a:ea typeface="Times New Roman"/>
                  <a:cs typeface="Times New Roman"/>
                  <a:sym typeface="Times New Roman"/>
                </a:rPr>
                <a:t>)</a:t>
              </a:r>
              <a:endParaRPr b="1" sz="1800">
                <a:solidFill>
                  <a:srgbClr val="FF0000"/>
                </a:solidFill>
                <a:latin typeface="Times New Roman"/>
                <a:ea typeface="Times New Roman"/>
                <a:cs typeface="Times New Roman"/>
                <a:sym typeface="Times New Roman"/>
              </a:endParaRPr>
            </a:p>
            <a:p>
              <a:pPr indent="-342900" lvl="0" marL="342900" marR="0" rtl="0" algn="l">
                <a:spcBef>
                  <a:spcPts val="0"/>
                </a:spcBef>
                <a:spcAft>
                  <a:spcPts val="0"/>
                </a:spcAft>
                <a:buClr>
                  <a:srgbClr val="FF0000"/>
                </a:buClr>
                <a:buSzPts val="1800"/>
                <a:buFont typeface="Arial"/>
                <a:buChar char="•"/>
              </a:pPr>
              <a:r>
                <a:rPr b="1" lang="en-US" sz="1800">
                  <a:solidFill>
                    <a:srgbClr val="FF0000"/>
                  </a:solidFill>
                  <a:latin typeface="Times New Roman"/>
                  <a:ea typeface="Times New Roman"/>
                  <a:cs typeface="Times New Roman"/>
                  <a:sym typeface="Times New Roman"/>
                </a:rPr>
                <a:t>Command Line Arguments ( </a:t>
              </a:r>
              <a:r>
                <a:rPr b="1" lang="en-US" sz="1800">
                  <a:solidFill>
                    <a:srgbClr val="7030A0"/>
                  </a:solidFill>
                  <a:latin typeface="Times New Roman"/>
                  <a:ea typeface="Times New Roman"/>
                  <a:cs typeface="Times New Roman"/>
                  <a:sym typeface="Times New Roman"/>
                </a:rPr>
                <a:t>String args[ ] </a:t>
              </a:r>
              <a:r>
                <a:rPr b="1" lang="en-US" sz="1800">
                  <a:solidFill>
                    <a:srgbClr val="FF0000"/>
                  </a:solidFill>
                  <a:latin typeface="Times New Roman"/>
                  <a:ea typeface="Times New Roman"/>
                  <a:cs typeface="Times New Roman"/>
                  <a:sym typeface="Times New Roman"/>
                </a:rPr>
                <a:t>)</a:t>
              </a:r>
              <a:endParaRPr b="1" sz="1800">
                <a:solidFill>
                  <a:srgbClr val="FF0000"/>
                </a:solidFill>
                <a:latin typeface="Times New Roman"/>
                <a:ea typeface="Times New Roman"/>
                <a:cs typeface="Times New Roman"/>
                <a:sym typeface="Times New Roman"/>
              </a:endParaRPr>
            </a:p>
          </p:txBody>
        </p:sp>
        <p:cxnSp>
          <p:nvCxnSpPr>
            <p:cNvPr id="627" name="Google Shape;627;p26"/>
            <p:cNvCxnSpPr>
              <a:stCxn id="591" idx="2"/>
            </p:cNvCxnSpPr>
            <p:nvPr/>
          </p:nvCxnSpPr>
          <p:spPr>
            <a:xfrm flipH="1">
              <a:off x="3958200" y="3418460"/>
              <a:ext cx="4200" cy="275100"/>
            </a:xfrm>
            <a:prstGeom prst="straightConnector1">
              <a:avLst/>
            </a:prstGeom>
            <a:noFill/>
            <a:ln cap="flat" cmpd="sng" w="44450">
              <a:solidFill>
                <a:srgbClr val="7030A0"/>
              </a:solidFill>
              <a:prstDash val="solid"/>
              <a:miter lim="800000"/>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500"/>
                                        <p:tgtEl>
                                          <p:spTgt spid="585"/>
                                        </p:tgtEl>
                                      </p:cBhvr>
                                    </p:animEffect>
                                  </p:childTnLst>
                                </p:cTn>
                              </p:par>
                              <p:par>
                                <p:cTn fill="hold" nodeType="with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500"/>
                                        <p:tgtEl>
                                          <p:spTgt spid="581"/>
                                        </p:tgtEl>
                                      </p:cBhvr>
                                    </p:animEffect>
                                  </p:childTnLst>
                                </p:cTn>
                              </p:par>
                              <p:par>
                                <p:cTn fill="hold" nodeType="with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500"/>
                                        <p:tgtEl>
                                          <p:spTgt spid="602"/>
                                        </p:tgtEl>
                                      </p:cBhvr>
                                    </p:animEffect>
                                  </p:childTnLst>
                                </p:cTn>
                              </p:par>
                              <p:par>
                                <p:cTn fill="hold" nodeType="withEffect" presetClass="entr" presetID="10" presetSubtype="0">
                                  <p:stCondLst>
                                    <p:cond delay="0"/>
                                  </p:stCondLst>
                                  <p:childTnLst>
                                    <p:set>
                                      <p:cBhvr>
                                        <p:cTn dur="1" fill="hold">
                                          <p:stCondLst>
                                            <p:cond delay="0"/>
                                          </p:stCondLst>
                                        </p:cTn>
                                        <p:tgtEl>
                                          <p:spTgt spid="598"/>
                                        </p:tgtEl>
                                        <p:attrNameLst>
                                          <p:attrName>style.visibility</p:attrName>
                                        </p:attrNameLst>
                                      </p:cBhvr>
                                      <p:to>
                                        <p:strVal val="visible"/>
                                      </p:to>
                                    </p:set>
                                    <p:animEffect filter="fade" transition="in">
                                      <p:cBhvr>
                                        <p:cTn dur="500"/>
                                        <p:tgtEl>
                                          <p:spTgt spid="5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500"/>
                                        <p:tgtEl>
                                          <p:spTgt spid="583"/>
                                        </p:tgtEl>
                                      </p:cBhvr>
                                    </p:animEffect>
                                  </p:childTnLst>
                                </p:cTn>
                              </p:par>
                              <p:par>
                                <p:cTn fill="hold" nodeType="withEffect" presetClass="entr" presetID="10" presetSubtype="0">
                                  <p:stCondLst>
                                    <p:cond delay="0"/>
                                  </p:stCondLst>
                                  <p:childTnLst>
                                    <p:set>
                                      <p:cBhvr>
                                        <p:cTn dur="1" fill="hold">
                                          <p:stCondLst>
                                            <p:cond delay="0"/>
                                          </p:stCondLst>
                                        </p:cTn>
                                        <p:tgtEl>
                                          <p:spTgt spid="600"/>
                                        </p:tgtEl>
                                        <p:attrNameLst>
                                          <p:attrName>style.visibility</p:attrName>
                                        </p:attrNameLst>
                                      </p:cBhvr>
                                      <p:to>
                                        <p:strVal val="visible"/>
                                      </p:to>
                                    </p:set>
                                    <p:animEffect filter="fade" transition="in">
                                      <p:cBhvr>
                                        <p:cTn dur="500"/>
                                        <p:tgtEl>
                                          <p:spTgt spid="6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500"/>
                                        <p:tgtEl>
                                          <p:spTgt spid="584"/>
                                        </p:tgtEl>
                                      </p:cBhvr>
                                    </p:animEffect>
                                  </p:childTnLst>
                                </p:cTn>
                              </p:par>
                              <p:par>
                                <p:cTn fill="hold" nodeType="with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500"/>
                                        <p:tgtEl>
                                          <p:spTgt spid="6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593"/>
                                        </p:tgtEl>
                                        <p:attrNameLst>
                                          <p:attrName>style.visibility</p:attrName>
                                        </p:attrNameLst>
                                      </p:cBhvr>
                                      <p:to>
                                        <p:strVal val="visible"/>
                                      </p:to>
                                    </p:set>
                                    <p:anim calcmode="lin" valueType="num">
                                      <p:cBhvr additive="base">
                                        <p:cTn dur="500"/>
                                        <p:tgtEl>
                                          <p:spTgt spid="593"/>
                                        </p:tgtEl>
                                        <p:attrNameLst>
                                          <p:attrName>ppt_w</p:attrName>
                                        </p:attrNameLst>
                                      </p:cBhvr>
                                      <p:tavLst>
                                        <p:tav fmla="" tm="0">
                                          <p:val>
                                            <p:strVal val="0"/>
                                          </p:val>
                                        </p:tav>
                                        <p:tav fmla="" tm="100000">
                                          <p:val>
                                            <p:strVal val="#ppt_w"/>
                                          </p:val>
                                        </p:tav>
                                      </p:tavLst>
                                    </p:anim>
                                    <p:anim calcmode="lin" valueType="num">
                                      <p:cBhvr additive="base">
                                        <p:cTn dur="500"/>
                                        <p:tgtEl>
                                          <p:spTgt spid="59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3"/>
                                        </p:tgtEl>
                                        <p:attrNameLst>
                                          <p:attrName>style.visibility</p:attrName>
                                        </p:attrNameLst>
                                      </p:cBhvr>
                                      <p:to>
                                        <p:strVal val="visible"/>
                                      </p:to>
                                    </p:set>
                                    <p:animEffect filter="fade" transition="in">
                                      <p:cBhvr>
                                        <p:cTn dur="500"/>
                                        <p:tgtEl>
                                          <p:spTgt spid="603"/>
                                        </p:tgtEl>
                                      </p:cBhvr>
                                    </p:animEffect>
                                  </p:childTnLst>
                                </p:cTn>
                              </p:par>
                              <p:par>
                                <p:cTn fill="hold" nodeType="withEffect" presetClass="entr" presetID="10" presetSubtype="0">
                                  <p:stCondLst>
                                    <p:cond delay="0"/>
                                  </p:stCondLst>
                                  <p:childTnLst>
                                    <p:set>
                                      <p:cBhvr>
                                        <p:cTn dur="1" fill="hold">
                                          <p:stCondLst>
                                            <p:cond delay="0"/>
                                          </p:stCondLst>
                                        </p:cTn>
                                        <p:tgtEl>
                                          <p:spTgt spid="590"/>
                                        </p:tgtEl>
                                        <p:attrNameLst>
                                          <p:attrName>style.visibility</p:attrName>
                                        </p:attrNameLst>
                                      </p:cBhvr>
                                      <p:to>
                                        <p:strVal val="visible"/>
                                      </p:to>
                                    </p:set>
                                    <p:animEffect filter="fade" transition="in">
                                      <p:cBhvr>
                                        <p:cTn dur="500"/>
                                        <p:tgtEl>
                                          <p:spTgt spid="590"/>
                                        </p:tgtEl>
                                      </p:cBhvr>
                                    </p:animEffect>
                                  </p:childTnLst>
                                </p:cTn>
                              </p:par>
                              <p:par>
                                <p:cTn fill="hold" nodeType="with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500"/>
                                        <p:tgtEl>
                                          <p:spTgt spid="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500"/>
                                        <p:tgtEl>
                                          <p:spTgt spid="5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8"/>
                                        </p:tgtEl>
                                        <p:attrNameLst>
                                          <p:attrName>style.visibility</p:attrName>
                                        </p:attrNameLst>
                                      </p:cBhvr>
                                      <p:to>
                                        <p:strVal val="visible"/>
                                      </p:to>
                                    </p:set>
                                    <p:animEffect filter="fade" transition="in">
                                      <p:cBhvr>
                                        <p:cTn dur="500"/>
                                        <p:tgtEl>
                                          <p:spTgt spid="5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9"/>
                                        </p:tgtEl>
                                        <p:attrNameLst>
                                          <p:attrName>style.visibility</p:attrName>
                                        </p:attrNameLst>
                                      </p:cBhvr>
                                      <p:to>
                                        <p:strVal val="visible"/>
                                      </p:to>
                                    </p:set>
                                    <p:animEffect filter="fade" transition="in">
                                      <p:cBhvr>
                                        <p:cTn dur="500"/>
                                        <p:tgtEl>
                                          <p:spTgt spid="5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500"/>
                                        <p:tgtEl>
                                          <p:spTgt spid="610"/>
                                        </p:tgtEl>
                                      </p:cBhvr>
                                    </p:animEffect>
                                  </p:childTnLst>
                                </p:cTn>
                              </p:par>
                              <p:par>
                                <p:cTn fill="hold" nodeType="with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500"/>
                                        <p:tgtEl>
                                          <p:spTgt spid="620"/>
                                        </p:tgtEl>
                                      </p:cBhvr>
                                    </p:animEffect>
                                  </p:childTnLst>
                                </p:cTn>
                              </p:par>
                              <p:par>
                                <p:cTn fill="hold" nodeType="with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500"/>
                                        <p:tgtEl>
                                          <p:spTgt spid="6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500"/>
                                        <p:tgtEl>
                                          <p:spTgt spid="613"/>
                                        </p:tgtEl>
                                      </p:cBhvr>
                                    </p:animEffect>
                                  </p:childTnLst>
                                </p:cTn>
                              </p:par>
                              <p:par>
                                <p:cTn fill="hold" nodeType="with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500"/>
                                        <p:tgtEl>
                                          <p:spTgt spid="6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1"/>
                                        </p:tgtEl>
                                        <p:attrNameLst>
                                          <p:attrName>style.visibility</p:attrName>
                                        </p:attrNameLst>
                                      </p:cBhvr>
                                      <p:to>
                                        <p:strVal val="visible"/>
                                      </p:to>
                                    </p:set>
                                    <p:animEffect filter="fade" transition="in">
                                      <p:cBhvr>
                                        <p:cTn dur="500"/>
                                        <p:tgtEl>
                                          <p:spTgt spid="6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1000"/>
                                        <p:tgtEl>
                                          <p:spTgt spid="616"/>
                                        </p:tgtEl>
                                      </p:cBhvr>
                                    </p:animEffect>
                                  </p:childTnLst>
                                </p:cTn>
                              </p:par>
                              <p:par>
                                <p:cTn fill="hold" nodeType="withEffect" presetClass="entr" presetID="10" presetSubtype="0">
                                  <p:stCondLst>
                                    <p:cond delay="0"/>
                                  </p:stCondLst>
                                  <p:childTnLst>
                                    <p:set>
                                      <p:cBhvr>
                                        <p:cTn dur="1" fill="hold">
                                          <p:stCondLst>
                                            <p:cond delay="0"/>
                                          </p:stCondLst>
                                        </p:cTn>
                                        <p:tgtEl>
                                          <p:spTgt spid="618"/>
                                        </p:tgtEl>
                                        <p:attrNameLst>
                                          <p:attrName>style.visibility</p:attrName>
                                        </p:attrNameLst>
                                      </p:cBhvr>
                                      <p:to>
                                        <p:strVal val="visible"/>
                                      </p:to>
                                    </p:set>
                                    <p:animEffect filter="fade" transition="in">
                                      <p:cBhvr>
                                        <p:cTn dur="1000"/>
                                        <p:tgtEl>
                                          <p:spTgt spid="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500"/>
                                        <p:tgtEl>
                                          <p:spTgt spid="606"/>
                                        </p:tgtEl>
                                      </p:cBhvr>
                                    </p:animEffect>
                                  </p:childTnLst>
                                </p:cTn>
                              </p:par>
                              <p:par>
                                <p:cTn fill="hold" nodeType="withEffect" presetClass="entr" presetID="10" presetSubtype="0">
                                  <p:stCondLst>
                                    <p:cond delay="0"/>
                                  </p:stCondLst>
                                  <p:childTnLst>
                                    <p:set>
                                      <p:cBhvr>
                                        <p:cTn dur="1" fill="hold">
                                          <p:stCondLst>
                                            <p:cond delay="0"/>
                                          </p:stCondLst>
                                        </p:cTn>
                                        <p:tgtEl>
                                          <p:spTgt spid="594"/>
                                        </p:tgtEl>
                                        <p:attrNameLst>
                                          <p:attrName>style.visibility</p:attrName>
                                        </p:attrNameLst>
                                      </p:cBhvr>
                                      <p:to>
                                        <p:strVal val="visible"/>
                                      </p:to>
                                    </p:set>
                                    <p:animEffect filter="fade" transition="in">
                                      <p:cBhvr>
                                        <p:cTn dur="500"/>
                                        <p:tgtEl>
                                          <p:spTgt spid="594"/>
                                        </p:tgtEl>
                                      </p:cBhvr>
                                    </p:animEffect>
                                  </p:childTnLst>
                                </p:cTn>
                              </p:par>
                              <p:par>
                                <p:cTn fill="hold" nodeType="with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500"/>
                                        <p:tgtEl>
                                          <p:spTgt spid="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5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8"/>
                                        </p:tgtEl>
                                        <p:attrNameLst>
                                          <p:attrName>style.visibility</p:attrName>
                                        </p:attrNameLst>
                                      </p:cBhvr>
                                      <p:to>
                                        <p:strVal val="visible"/>
                                      </p:to>
                                    </p:set>
                                    <p:animEffect filter="fade" transition="in">
                                      <p:cBhvr>
                                        <p:cTn dur="500"/>
                                        <p:tgtEl>
                                          <p:spTgt spid="6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500"/>
                                        <p:tgtEl>
                                          <p:spTgt spid="6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5"/>
                                        </p:tgtEl>
                                        <p:attrNameLst>
                                          <p:attrName>style.visibility</p:attrName>
                                        </p:attrNameLst>
                                      </p:cBhvr>
                                      <p:to>
                                        <p:strVal val="visible"/>
                                      </p:to>
                                    </p:set>
                                    <p:animEffect filter="fade" transition="in">
                                      <p:cBhvr>
                                        <p:cTn dur="500"/>
                                        <p:tgtEl>
                                          <p:spTgt spid="615"/>
                                        </p:tgtEl>
                                      </p:cBhvr>
                                    </p:animEffect>
                                  </p:childTnLst>
                                </p:cTn>
                              </p:par>
                              <p:par>
                                <p:cTn fill="hold" nodeType="withEffect" presetClass="entr" presetID="10" presetSubtype="0">
                                  <p:stCondLst>
                                    <p:cond delay="0"/>
                                  </p:stCondLst>
                                  <p:childTnLst>
                                    <p:set>
                                      <p:cBhvr>
                                        <p:cTn dur="1" fill="hold">
                                          <p:stCondLst>
                                            <p:cond delay="0"/>
                                          </p:stCondLst>
                                        </p:cTn>
                                        <p:tgtEl>
                                          <p:spTgt spid="614"/>
                                        </p:tgtEl>
                                        <p:attrNameLst>
                                          <p:attrName>style.visibility</p:attrName>
                                        </p:attrNameLst>
                                      </p:cBhvr>
                                      <p:to>
                                        <p:strVal val="visible"/>
                                      </p:to>
                                    </p:set>
                                    <p:animEffect filter="fade" transition="in">
                                      <p:cBhvr>
                                        <p:cTn dur="500"/>
                                        <p:tgtEl>
                                          <p:spTgt spid="6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7"/>
                                        </p:tgtEl>
                                        <p:attrNameLst>
                                          <p:attrName>style.visibility</p:attrName>
                                        </p:attrNameLst>
                                      </p:cBhvr>
                                      <p:to>
                                        <p:strVal val="visible"/>
                                      </p:to>
                                    </p:set>
                                    <p:animEffect filter="fade" transition="in">
                                      <p:cBhvr>
                                        <p:cTn dur="500"/>
                                        <p:tgtEl>
                                          <p:spTgt spid="617"/>
                                        </p:tgtEl>
                                      </p:cBhvr>
                                    </p:animEffect>
                                  </p:childTnLst>
                                </p:cTn>
                              </p:par>
                              <p:par>
                                <p:cTn fill="hold" nodeType="with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500"/>
                                        <p:tgtEl>
                                          <p:spTgt spid="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5"/>
                                        </p:tgtEl>
                                        <p:attrNameLst>
                                          <p:attrName>style.visibility</p:attrName>
                                        </p:attrNameLst>
                                      </p:cBhvr>
                                      <p:to>
                                        <p:strVal val="visible"/>
                                      </p:to>
                                    </p:set>
                                    <p:animEffect filter="fade" transition="in">
                                      <p:cBhvr>
                                        <p:cTn dur="500"/>
                                        <p:tgtEl>
                                          <p:spTgt spid="6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500"/>
                                        <p:tgtEl>
                                          <p:spTgt spid="6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27"/>
          <p:cNvSpPr txBox="1"/>
          <p:nvPr/>
        </p:nvSpPr>
        <p:spPr>
          <a:xfrm>
            <a:off x="364288" y="1066800"/>
            <a:ext cx="11430000" cy="342900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There are many programs that support the development of Java software, including:</a:t>
            </a:r>
            <a:endParaRPr/>
          </a:p>
          <a:p>
            <a:pPr indent="0" lvl="1" marL="457200" marR="0" rtl="0" algn="l">
              <a:lnSpc>
                <a:spcPct val="100000"/>
              </a:lnSpc>
              <a:spcBef>
                <a:spcPts val="110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Sun Java Development Kit (JDK)		- Borland JBuilder</a:t>
            </a:r>
            <a:endParaRPr b="0" i="0" sz="2400" u="none" cap="none" strike="noStrike">
              <a:solidFill>
                <a:schemeClr val="dk1"/>
              </a:solidFill>
              <a:latin typeface="Times New Roman"/>
              <a:ea typeface="Times New Roman"/>
              <a:cs typeface="Times New Roman"/>
              <a:sym typeface="Times New Roman"/>
            </a:endParaRPr>
          </a:p>
          <a:p>
            <a:pPr indent="0" lvl="1" marL="457200" marR="0" rtl="0" algn="l">
              <a:lnSpc>
                <a:spcPct val="100000"/>
              </a:lnSpc>
              <a:spcBef>
                <a:spcPts val="110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Sun NetBeans					- MetroWerks CodeWarrior</a:t>
            </a:r>
            <a:endParaRPr/>
          </a:p>
          <a:p>
            <a:pPr indent="0" lvl="1" marL="457200" marR="0" rtl="0" algn="l">
              <a:lnSpc>
                <a:spcPct val="100000"/>
              </a:lnSpc>
              <a:spcBef>
                <a:spcPts val="110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a:t>
            </a:r>
            <a:r>
              <a:rPr b="0" i="0" lang="en-US" sz="2400" u="sng" cap="none" strike="noStrike">
                <a:solidFill>
                  <a:schemeClr val="dk1"/>
                </a:solidFill>
                <a:latin typeface="Times New Roman"/>
                <a:ea typeface="Times New Roman"/>
                <a:cs typeface="Times New Roman"/>
                <a:sym typeface="Times New Roman"/>
                <a:hlinkClick r:id="rId3">
                  <a:extLst>
                    <a:ext uri="{A12FA001-AC4F-418D-AE19-62706E023703}">
                      <ahyp:hlinkClr val="tx"/>
                    </a:ext>
                  </a:extLst>
                </a:hlinkClick>
              </a:rPr>
              <a:t>IBM Eclipse</a:t>
            </a:r>
            <a:r>
              <a:rPr b="0" i="0" lang="en-US" sz="2400" u="none" cap="none" strike="noStrike">
                <a:solidFill>
                  <a:schemeClr val="dk1"/>
                </a:solidFill>
                <a:latin typeface="Times New Roman"/>
                <a:ea typeface="Times New Roman"/>
                <a:cs typeface="Times New Roman"/>
                <a:sym typeface="Times New Roman"/>
              </a:rPr>
              <a:t>					- BlueJ</a:t>
            </a:r>
            <a:endParaRPr b="0" i="0" sz="2400" u="none" cap="none" strike="noStrike">
              <a:solidFill>
                <a:schemeClr val="dk1"/>
              </a:solidFill>
              <a:latin typeface="Times New Roman"/>
              <a:ea typeface="Times New Roman"/>
              <a:cs typeface="Times New Roman"/>
              <a:sym typeface="Times New Roman"/>
            </a:endParaRPr>
          </a:p>
          <a:p>
            <a:pPr indent="0" lvl="1" marL="457200" marR="0" rtl="0" algn="l">
              <a:lnSpc>
                <a:spcPct val="100000"/>
              </a:lnSpc>
              <a:spcBef>
                <a:spcPts val="60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 jGRASP</a:t>
            </a:r>
            <a:endParaRPr b="0" i="0" sz="2400" u="none" cap="none" strike="noStrike">
              <a:solidFill>
                <a:schemeClr val="dk1"/>
              </a:solidFill>
              <a:latin typeface="Times New Roman"/>
              <a:ea typeface="Times New Roman"/>
              <a:cs typeface="Times New Roman"/>
              <a:sym typeface="Times New Roman"/>
            </a:endParaRPr>
          </a:p>
          <a:p>
            <a:pPr indent="-228600" lvl="0" marL="228600" marR="0" rtl="0" algn="l">
              <a:lnSpc>
                <a:spcPct val="100000"/>
              </a:lnSpc>
              <a:spcBef>
                <a:spcPts val="120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Though the details of these environments differ, the basic compilation and execution process is essentially the same.</a:t>
            </a:r>
            <a:endParaRPr/>
          </a:p>
        </p:txBody>
      </p:sp>
      <p:sp>
        <p:nvSpPr>
          <p:cNvPr id="633" name="Google Shape;633;p27"/>
          <p:cNvSpPr txBox="1"/>
          <p:nvPr/>
        </p:nvSpPr>
        <p:spPr>
          <a:xfrm>
            <a:off x="381000" y="228600"/>
            <a:ext cx="4800600"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Development Environments</a:t>
            </a:r>
            <a:endParaRPr/>
          </a:p>
        </p:txBody>
      </p:sp>
      <p:sp>
        <p:nvSpPr>
          <p:cNvPr id="634" name="Google Shape;634;p27"/>
          <p:cNvSpPr/>
          <p:nvPr/>
        </p:nvSpPr>
        <p:spPr>
          <a:xfrm>
            <a:off x="5264972" y="195590"/>
            <a:ext cx="6691255" cy="523220"/>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Demonstration of Sample program in Eclipse</a:t>
            </a:r>
            <a:endParaRPr sz="2800">
              <a:solidFill>
                <a:srgbClr val="FF0000"/>
              </a:solidFill>
              <a:latin typeface="Times New Roman"/>
              <a:ea typeface="Times New Roman"/>
              <a:cs typeface="Times New Roman"/>
              <a:sym typeface="Times New Roman"/>
            </a:endParaRPr>
          </a:p>
        </p:txBody>
      </p:sp>
      <p:sp>
        <p:nvSpPr>
          <p:cNvPr id="635" name="Google Shape;63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641" name="Google Shape;641;p28"/>
          <p:cNvSpPr/>
          <p:nvPr/>
        </p:nvSpPr>
        <p:spPr>
          <a:xfrm>
            <a:off x="304798" y="914400"/>
            <a:ext cx="11201402" cy="3323987"/>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Q1:  Presidency university would like to present its gesture to the visitors by displaying an welcome message to the visitors entering to the campus by taking the name of the visitor at the campus entrance. Help the presidency university by writing an application in java to perform the same. (</a:t>
            </a:r>
            <a:r>
              <a:rPr b="1" lang="en-US" sz="2000">
                <a:solidFill>
                  <a:schemeClr val="dk1"/>
                </a:solidFill>
                <a:latin typeface="Times New Roman"/>
                <a:ea typeface="Times New Roman"/>
                <a:cs typeface="Times New Roman"/>
                <a:sym typeface="Times New Roman"/>
              </a:rPr>
              <a:t>Hint</a:t>
            </a:r>
            <a:r>
              <a:rPr lang="en-US" sz="2000">
                <a:solidFill>
                  <a:schemeClr val="dk1"/>
                </a:solidFill>
                <a:latin typeface="Times New Roman"/>
                <a:ea typeface="Times New Roman"/>
                <a:cs typeface="Times New Roman"/>
                <a:sym typeface="Times New Roman"/>
              </a:rPr>
              <a:t>: Use Scanner Class to take the Input from the User)</a:t>
            </a:r>
            <a:endParaRPr/>
          </a:p>
          <a:p>
            <a:pPr indent="0" lvl="0" marL="0" marR="0" rtl="0" algn="just">
              <a:lnSpc>
                <a:spcPct val="150000"/>
              </a:lnSpc>
              <a:spcBef>
                <a:spcPts val="0"/>
              </a:spcBef>
              <a:spcAft>
                <a:spcPts val="0"/>
              </a:spcAft>
              <a:buNone/>
            </a:pPr>
            <a:r>
              <a:rPr b="1" lang="en-US" sz="2000">
                <a:solidFill>
                  <a:schemeClr val="dk1"/>
                </a:solidFill>
                <a:latin typeface="Times New Roman"/>
                <a:ea typeface="Times New Roman"/>
                <a:cs typeface="Times New Roman"/>
                <a:sym typeface="Times New Roman"/>
              </a:rPr>
              <a:t>Requirement</a:t>
            </a:r>
            <a:r>
              <a:rPr lang="en-US" sz="2000">
                <a:solidFill>
                  <a:schemeClr val="dk1"/>
                </a:solidFill>
                <a:latin typeface="Times New Roman"/>
                <a:ea typeface="Times New Roman"/>
                <a:cs typeface="Times New Roman"/>
                <a:sym typeface="Times New Roman"/>
              </a:rPr>
              <a:t>:</a:t>
            </a:r>
            <a:endParaRPr/>
          </a:p>
          <a:p>
            <a:pPr indent="-342900" lvl="0" marL="3429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 Accept the name of person who is entering into the Presidency university campus(ex. First year). </a:t>
            </a:r>
            <a:endParaRPr/>
          </a:p>
          <a:p>
            <a:pPr indent="-342900" lvl="0" marL="342900" marR="0" rtl="0" algn="just">
              <a:lnSpc>
                <a:spcPct val="150000"/>
              </a:lnSpc>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Display the welcome message as “Presidency university welcomes you First year” on the console.</a:t>
            </a:r>
            <a:endParaRPr sz="2000">
              <a:solidFill>
                <a:schemeClr val="dk1"/>
              </a:solidFill>
              <a:latin typeface="Arial"/>
              <a:ea typeface="Arial"/>
              <a:cs typeface="Arial"/>
              <a:sym typeface="Arial"/>
            </a:endParaRPr>
          </a:p>
        </p:txBody>
      </p:sp>
      <p:sp>
        <p:nvSpPr>
          <p:cNvPr id="642" name="Google Shape;642;p28"/>
          <p:cNvSpPr txBox="1"/>
          <p:nvPr/>
        </p:nvSpPr>
        <p:spPr>
          <a:xfrm>
            <a:off x="304799" y="228600"/>
            <a:ext cx="1600201"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Activity</a:t>
            </a:r>
            <a:endParaRPr b="1" sz="3000">
              <a:solidFill>
                <a:srgbClr val="002060"/>
              </a:solidFill>
              <a:latin typeface="Times New Roman"/>
              <a:ea typeface="Times New Roman"/>
              <a:cs typeface="Times New Roman"/>
              <a:sym typeface="Times New Roman"/>
            </a:endParaRPr>
          </a:p>
        </p:txBody>
      </p:sp>
      <p:sp>
        <p:nvSpPr>
          <p:cNvPr id="643" name="Google Shape;643;p28"/>
          <p:cNvSpPr/>
          <p:nvPr/>
        </p:nvSpPr>
        <p:spPr>
          <a:xfrm>
            <a:off x="2057400" y="228600"/>
            <a:ext cx="2225289" cy="461665"/>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FF0000"/>
                </a:solidFill>
                <a:latin typeface="Times New Roman"/>
                <a:ea typeface="Times New Roman"/>
                <a:cs typeface="Times New Roman"/>
                <a:sym typeface="Times New Roman"/>
              </a:rPr>
              <a:t>Sample program</a:t>
            </a:r>
            <a:endParaRPr sz="2400">
              <a:solidFill>
                <a:srgbClr val="FF0000"/>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29"/>
          <p:cNvSpPr txBox="1"/>
          <p:nvPr>
            <p:ph type="title"/>
          </p:nvPr>
        </p:nvSpPr>
        <p:spPr>
          <a:xfrm>
            <a:off x="419100" y="154723"/>
            <a:ext cx="2247900" cy="454878"/>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Contents</a:t>
            </a:r>
            <a:endParaRPr b="1" sz="3000">
              <a:solidFill>
                <a:srgbClr val="002060"/>
              </a:solidFill>
              <a:latin typeface="Times New Roman"/>
              <a:ea typeface="Times New Roman"/>
              <a:cs typeface="Times New Roman"/>
              <a:sym typeface="Times New Roman"/>
            </a:endParaRPr>
          </a:p>
        </p:txBody>
      </p:sp>
      <p:sp>
        <p:nvSpPr>
          <p:cNvPr id="649" name="Google Shape;649;p29"/>
          <p:cNvSpPr txBox="1"/>
          <p:nvPr>
            <p:ph idx="1" type="body"/>
          </p:nvPr>
        </p:nvSpPr>
        <p:spPr>
          <a:xfrm>
            <a:off x="419100" y="685800"/>
            <a:ext cx="9867900" cy="38100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Command Line Arguments</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Wrapper Classes</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Data Types</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Identifiers</a:t>
            </a:r>
            <a:endParaRPr sz="2400">
              <a:latin typeface="Times New Roman"/>
              <a:ea typeface="Times New Roman"/>
              <a:cs typeface="Times New Roman"/>
              <a:sym typeface="Times New Roman"/>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Variables</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Literals or Constants</a:t>
            </a:r>
            <a:endParaRPr sz="2400">
              <a:latin typeface="Times New Roman"/>
              <a:ea typeface="Times New Roman"/>
              <a:cs typeface="Times New Roman"/>
              <a:sym typeface="Times New Roman"/>
            </a:endParaRPr>
          </a:p>
        </p:txBody>
      </p:sp>
      <p:sp>
        <p:nvSpPr>
          <p:cNvPr id="650" name="Google Shape;650;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30"/>
          <p:cNvSpPr/>
          <p:nvPr/>
        </p:nvSpPr>
        <p:spPr>
          <a:xfrm>
            <a:off x="838200" y="2286000"/>
            <a:ext cx="7696200" cy="286232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400">
                <a:solidFill>
                  <a:srgbClr val="000000"/>
                </a:solidFill>
                <a:latin typeface="Times New Roman"/>
                <a:ea typeface="Times New Roman"/>
                <a:cs typeface="Times New Roman"/>
                <a:sym typeface="Times New Roman"/>
              </a:rPr>
              <a:t>public class Demo {</a:t>
            </a:r>
            <a:endParaRPr sz="2400">
              <a:solidFill>
                <a:srgbClr val="000000"/>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lang="en-US" sz="2400">
                <a:solidFill>
                  <a:srgbClr val="000000"/>
                </a:solidFill>
                <a:latin typeface="Times New Roman"/>
                <a:ea typeface="Times New Roman"/>
                <a:cs typeface="Times New Roman"/>
                <a:sym typeface="Times New Roman"/>
              </a:rPr>
              <a:t>   public static void main ( </a:t>
            </a:r>
            <a:r>
              <a:rPr b="1" lang="en-US" sz="2400">
                <a:solidFill>
                  <a:srgbClr val="FF0000"/>
                </a:solidFill>
                <a:latin typeface="Times New Roman"/>
                <a:ea typeface="Times New Roman"/>
                <a:cs typeface="Times New Roman"/>
                <a:sym typeface="Times New Roman"/>
              </a:rPr>
              <a:t>String args[  ] </a:t>
            </a:r>
            <a:r>
              <a:rPr lang="en-US" sz="2400">
                <a:solidFill>
                  <a:srgbClr val="000000"/>
                </a:solidFill>
                <a:latin typeface="Times New Roman"/>
                <a:ea typeface="Times New Roman"/>
                <a:cs typeface="Times New Roman"/>
                <a:sym typeface="Times New Roman"/>
              </a:rPr>
              <a:t>) {</a:t>
            </a:r>
            <a:endParaRPr/>
          </a:p>
          <a:p>
            <a:pPr indent="0" lvl="0" marL="0" marR="0" rtl="0" algn="l">
              <a:lnSpc>
                <a:spcPct val="150000"/>
              </a:lnSpc>
              <a:spcBef>
                <a:spcPts val="0"/>
              </a:spcBef>
              <a:spcAft>
                <a:spcPts val="0"/>
              </a:spcAft>
              <a:buNone/>
            </a:pPr>
            <a:r>
              <a:rPr lang="en-US" sz="2400">
                <a:solidFill>
                  <a:srgbClr val="000000"/>
                </a:solidFill>
                <a:latin typeface="Times New Roman"/>
                <a:ea typeface="Times New Roman"/>
                <a:cs typeface="Times New Roman"/>
                <a:sym typeface="Times New Roman"/>
              </a:rPr>
              <a:t>      for(int i = 0; i&lt;args.length; i++) {</a:t>
            </a:r>
            <a:endParaRPr/>
          </a:p>
          <a:p>
            <a:pPr indent="0" lvl="0" marL="0" marR="0" rtl="0" algn="l">
              <a:lnSpc>
                <a:spcPct val="150000"/>
              </a:lnSpc>
              <a:spcBef>
                <a:spcPts val="0"/>
              </a:spcBef>
              <a:spcAft>
                <a:spcPts val="0"/>
              </a:spcAft>
              <a:buNone/>
            </a:pPr>
            <a:r>
              <a:rPr lang="en-US" sz="2400">
                <a:solidFill>
                  <a:srgbClr val="000000"/>
                </a:solidFill>
                <a:latin typeface="Times New Roman"/>
                <a:ea typeface="Times New Roman"/>
                <a:cs typeface="Times New Roman"/>
                <a:sym typeface="Times New Roman"/>
              </a:rPr>
              <a:t>         System.out.println("args[" + i + "]: " + args[i]);</a:t>
            </a:r>
            <a:endParaRPr/>
          </a:p>
          <a:p>
            <a:pPr indent="0" lvl="0" marL="0" marR="0" rtl="0" algn="l">
              <a:lnSpc>
                <a:spcPct val="150000"/>
              </a:lnSpc>
              <a:spcBef>
                <a:spcPts val="0"/>
              </a:spcBef>
              <a:spcAft>
                <a:spcPts val="0"/>
              </a:spcAft>
              <a:buNone/>
            </a:pPr>
            <a:r>
              <a:rPr lang="en-US" sz="2400">
                <a:solidFill>
                  <a:srgbClr val="000000"/>
                </a:solidFill>
                <a:latin typeface="Times New Roman"/>
                <a:ea typeface="Times New Roman"/>
                <a:cs typeface="Times New Roman"/>
                <a:sym typeface="Times New Roman"/>
              </a:rPr>
              <a:t>      }    } }</a:t>
            </a:r>
            <a:endParaRPr sz="2400">
              <a:solidFill>
                <a:srgbClr val="000000"/>
              </a:solidFill>
              <a:latin typeface="Times New Roman"/>
              <a:ea typeface="Times New Roman"/>
              <a:cs typeface="Times New Roman"/>
              <a:sym typeface="Times New Roman"/>
            </a:endParaRPr>
          </a:p>
        </p:txBody>
      </p:sp>
      <p:sp>
        <p:nvSpPr>
          <p:cNvPr id="656" name="Google Shape;656;p30"/>
          <p:cNvSpPr/>
          <p:nvPr/>
        </p:nvSpPr>
        <p:spPr>
          <a:xfrm>
            <a:off x="838200" y="1600200"/>
            <a:ext cx="6400800" cy="537097"/>
          </a:xfrm>
          <a:prstGeom prst="rect">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800">
                <a:solidFill>
                  <a:srgbClr val="FFFFFF"/>
                </a:solidFill>
                <a:latin typeface="Times New Roman"/>
                <a:ea typeface="Times New Roman"/>
                <a:cs typeface="Times New Roman"/>
                <a:sym typeface="Times New Roman"/>
              </a:rPr>
              <a:t>Java    Demo     word0    word1   .   .   .   .</a:t>
            </a:r>
            <a:endParaRPr sz="2800">
              <a:solidFill>
                <a:srgbClr val="FFFFFF"/>
              </a:solidFill>
              <a:latin typeface="Times New Roman"/>
              <a:ea typeface="Times New Roman"/>
              <a:cs typeface="Times New Roman"/>
              <a:sym typeface="Times New Roman"/>
            </a:endParaRPr>
          </a:p>
        </p:txBody>
      </p:sp>
      <p:cxnSp>
        <p:nvCxnSpPr>
          <p:cNvPr id="657" name="Google Shape;657;p30"/>
          <p:cNvCxnSpPr/>
          <p:nvPr/>
        </p:nvCxnSpPr>
        <p:spPr>
          <a:xfrm>
            <a:off x="1600200" y="1143000"/>
            <a:ext cx="457200" cy="609600"/>
          </a:xfrm>
          <a:prstGeom prst="straightConnector1">
            <a:avLst/>
          </a:prstGeom>
          <a:noFill/>
          <a:ln cap="flat" cmpd="sng" w="28575">
            <a:solidFill>
              <a:srgbClr val="990099"/>
            </a:solidFill>
            <a:prstDash val="solid"/>
            <a:miter lim="800000"/>
            <a:headEnd len="sm" w="sm" type="none"/>
            <a:tailEnd len="med" w="med" type="triangle"/>
          </a:ln>
        </p:spPr>
      </p:cxnSp>
      <p:cxnSp>
        <p:nvCxnSpPr>
          <p:cNvPr id="658" name="Google Shape;658;p30"/>
          <p:cNvCxnSpPr/>
          <p:nvPr/>
        </p:nvCxnSpPr>
        <p:spPr>
          <a:xfrm flipH="1">
            <a:off x="4286250" y="1221049"/>
            <a:ext cx="400050" cy="531551"/>
          </a:xfrm>
          <a:prstGeom prst="straightConnector1">
            <a:avLst/>
          </a:prstGeom>
          <a:noFill/>
          <a:ln cap="flat" cmpd="sng" w="28575">
            <a:solidFill>
              <a:srgbClr val="990099"/>
            </a:solidFill>
            <a:prstDash val="solid"/>
            <a:miter lim="800000"/>
            <a:headEnd len="sm" w="sm" type="none"/>
            <a:tailEnd len="med" w="med" type="triangle"/>
          </a:ln>
        </p:spPr>
      </p:cxnSp>
      <p:cxnSp>
        <p:nvCxnSpPr>
          <p:cNvPr id="659" name="Google Shape;659;p30"/>
          <p:cNvCxnSpPr/>
          <p:nvPr/>
        </p:nvCxnSpPr>
        <p:spPr>
          <a:xfrm>
            <a:off x="4876800" y="1219200"/>
            <a:ext cx="228600" cy="609600"/>
          </a:xfrm>
          <a:prstGeom prst="straightConnector1">
            <a:avLst/>
          </a:prstGeom>
          <a:noFill/>
          <a:ln cap="flat" cmpd="sng" w="28575">
            <a:solidFill>
              <a:srgbClr val="990099"/>
            </a:solidFill>
            <a:prstDash val="solid"/>
            <a:miter lim="800000"/>
            <a:headEnd len="sm" w="sm" type="none"/>
            <a:tailEnd len="med" w="med" type="triangle"/>
          </a:ln>
        </p:spPr>
      </p:cxnSp>
      <p:cxnSp>
        <p:nvCxnSpPr>
          <p:cNvPr id="660" name="Google Shape;660;p30"/>
          <p:cNvCxnSpPr/>
          <p:nvPr/>
        </p:nvCxnSpPr>
        <p:spPr>
          <a:xfrm flipH="1" rot="-5400000">
            <a:off x="5028456" y="2221632"/>
            <a:ext cx="916500" cy="654000"/>
          </a:xfrm>
          <a:prstGeom prst="curvedConnector3">
            <a:avLst>
              <a:gd fmla="val 49994" name="adj1"/>
            </a:avLst>
          </a:prstGeom>
          <a:noFill/>
          <a:ln cap="flat" cmpd="sng" w="38100">
            <a:solidFill>
              <a:srgbClr val="00B050"/>
            </a:solidFill>
            <a:prstDash val="solid"/>
            <a:miter lim="800000"/>
            <a:headEnd len="sm" w="sm" type="none"/>
            <a:tailEnd len="med" w="med" type="triangle"/>
          </a:ln>
        </p:spPr>
      </p:cxnSp>
      <p:cxnSp>
        <p:nvCxnSpPr>
          <p:cNvPr id="661" name="Google Shape;661;p30"/>
          <p:cNvCxnSpPr/>
          <p:nvPr/>
        </p:nvCxnSpPr>
        <p:spPr>
          <a:xfrm>
            <a:off x="3950033" y="2001670"/>
            <a:ext cx="1812600" cy="1005000"/>
          </a:xfrm>
          <a:prstGeom prst="curvedConnector3">
            <a:avLst>
              <a:gd fmla="val 29670" name="adj1"/>
            </a:avLst>
          </a:prstGeom>
          <a:noFill/>
          <a:ln cap="flat" cmpd="sng" w="38100">
            <a:solidFill>
              <a:srgbClr val="00B050"/>
            </a:solidFill>
            <a:prstDash val="solid"/>
            <a:miter lim="800000"/>
            <a:headEnd len="sm" w="sm" type="none"/>
            <a:tailEnd len="med" w="med" type="triangle"/>
          </a:ln>
        </p:spPr>
      </p:cxnSp>
      <p:sp>
        <p:nvSpPr>
          <p:cNvPr id="662" name="Google Shape;662;p30"/>
          <p:cNvSpPr/>
          <p:nvPr/>
        </p:nvSpPr>
        <p:spPr>
          <a:xfrm>
            <a:off x="7772400" y="3505200"/>
            <a:ext cx="2971800" cy="1430364"/>
          </a:xfrm>
          <a:prstGeom prst="rect">
            <a:avLst/>
          </a:prstGeom>
          <a:solidFill>
            <a:srgbClr val="C55A11"/>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rgbClr val="FFFFFF"/>
                </a:solidFill>
                <a:latin typeface="Times New Roman"/>
                <a:ea typeface="Times New Roman"/>
                <a:cs typeface="Times New Roman"/>
                <a:sym typeface="Times New Roman"/>
              </a:rPr>
              <a:t>args[0] = “word0”</a:t>
            </a:r>
            <a:endParaRPr/>
          </a:p>
          <a:p>
            <a:pPr indent="0" lvl="0" marL="0" marR="0" rtl="0" algn="l">
              <a:spcBef>
                <a:spcPts val="0"/>
              </a:spcBef>
              <a:spcAft>
                <a:spcPts val="0"/>
              </a:spcAft>
              <a:buNone/>
            </a:pPr>
            <a:r>
              <a:rPr lang="en-US" sz="2800">
                <a:solidFill>
                  <a:srgbClr val="FFFFFF"/>
                </a:solidFill>
                <a:latin typeface="Times New Roman"/>
                <a:ea typeface="Times New Roman"/>
                <a:cs typeface="Times New Roman"/>
                <a:sym typeface="Times New Roman"/>
              </a:rPr>
              <a:t>args[1] = “word1”</a:t>
            </a:r>
            <a:endParaRPr/>
          </a:p>
          <a:p>
            <a:pPr indent="0" lvl="0" marL="0" marR="0" rtl="0" algn="l">
              <a:spcBef>
                <a:spcPts val="0"/>
              </a:spcBef>
              <a:spcAft>
                <a:spcPts val="0"/>
              </a:spcAft>
              <a:buNone/>
            </a:pPr>
            <a:r>
              <a:rPr lang="en-US" sz="2800">
                <a:solidFill>
                  <a:srgbClr val="FFFFFF"/>
                </a:solidFill>
                <a:latin typeface="Times New Roman"/>
                <a:ea typeface="Times New Roman"/>
                <a:cs typeface="Times New Roman"/>
                <a:sym typeface="Times New Roman"/>
              </a:rPr>
              <a:t>and so on</a:t>
            </a:r>
            <a:endParaRPr sz="2800">
              <a:solidFill>
                <a:srgbClr val="FFFFFF"/>
              </a:solidFill>
              <a:latin typeface="Times New Roman"/>
              <a:ea typeface="Times New Roman"/>
              <a:cs typeface="Times New Roman"/>
              <a:sym typeface="Times New Roman"/>
            </a:endParaRPr>
          </a:p>
        </p:txBody>
      </p:sp>
      <p:cxnSp>
        <p:nvCxnSpPr>
          <p:cNvPr id="663" name="Google Shape;663;p30"/>
          <p:cNvCxnSpPr/>
          <p:nvPr/>
        </p:nvCxnSpPr>
        <p:spPr>
          <a:xfrm>
            <a:off x="7391400" y="4267200"/>
            <a:ext cx="381000" cy="0"/>
          </a:xfrm>
          <a:prstGeom prst="straightConnector1">
            <a:avLst/>
          </a:prstGeom>
          <a:noFill/>
          <a:ln cap="flat" cmpd="sng" w="38100">
            <a:solidFill>
              <a:srgbClr val="C55A11"/>
            </a:solidFill>
            <a:prstDash val="solid"/>
            <a:miter lim="800000"/>
            <a:headEnd len="sm" w="sm" type="none"/>
            <a:tailEnd len="med" w="med" type="triangle"/>
          </a:ln>
        </p:spPr>
      </p:cxnSp>
      <p:sp>
        <p:nvSpPr>
          <p:cNvPr id="664" name="Google Shape;664;p30"/>
          <p:cNvSpPr txBox="1"/>
          <p:nvPr/>
        </p:nvSpPr>
        <p:spPr>
          <a:xfrm>
            <a:off x="749523" y="797691"/>
            <a:ext cx="20890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Java Command</a:t>
            </a:r>
            <a:endParaRPr sz="2400">
              <a:solidFill>
                <a:srgbClr val="000000"/>
              </a:solidFill>
              <a:latin typeface="Times New Roman"/>
              <a:ea typeface="Times New Roman"/>
              <a:cs typeface="Times New Roman"/>
              <a:sym typeface="Times New Roman"/>
            </a:endParaRPr>
          </a:p>
        </p:txBody>
      </p:sp>
      <p:sp>
        <p:nvSpPr>
          <p:cNvPr id="665" name="Google Shape;665;p30"/>
          <p:cNvSpPr txBox="1"/>
          <p:nvPr/>
        </p:nvSpPr>
        <p:spPr>
          <a:xfrm>
            <a:off x="3545611" y="756737"/>
            <a:ext cx="695818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Times New Roman"/>
                <a:ea typeface="Times New Roman"/>
                <a:cs typeface="Times New Roman"/>
                <a:sym typeface="Times New Roman"/>
              </a:rPr>
              <a:t>Arguments separated by space are sent to main method</a:t>
            </a:r>
            <a:endParaRPr sz="2400">
              <a:solidFill>
                <a:srgbClr val="000000"/>
              </a:solidFill>
              <a:latin typeface="Times New Roman"/>
              <a:ea typeface="Times New Roman"/>
              <a:cs typeface="Times New Roman"/>
              <a:sym typeface="Times New Roman"/>
            </a:endParaRPr>
          </a:p>
        </p:txBody>
      </p:sp>
      <p:sp>
        <p:nvSpPr>
          <p:cNvPr id="666" name="Google Shape;666;p30"/>
          <p:cNvSpPr txBox="1"/>
          <p:nvPr>
            <p:ph type="title"/>
          </p:nvPr>
        </p:nvSpPr>
        <p:spPr>
          <a:xfrm>
            <a:off x="3733800" y="168185"/>
            <a:ext cx="5181599" cy="480131"/>
          </a:xfrm>
          <a:prstGeom prst="rect">
            <a:avLst/>
          </a:prstGeom>
          <a:noFill/>
          <a:ln>
            <a:noFill/>
          </a:ln>
          <a:effectLst>
            <a:outerShdw blurRad="50800" rotWithShape="0" algn="l" dist="38100">
              <a:srgbClr val="000000">
                <a:alpha val="40000"/>
              </a:srgbClr>
            </a:outerShdw>
          </a:effectLst>
        </p:spPr>
        <p:txBody>
          <a:bodyPr anchorCtr="0" anchor="ctr" bIns="45700" lIns="91425" spcFirstLastPara="1" rIns="91425" wrap="square" tIns="45700">
            <a:spAutoFit/>
          </a:bodyPr>
          <a:lstStyle/>
          <a:p>
            <a:pPr indent="0" lvl="0" marL="0" rtl="0" algn="l">
              <a:lnSpc>
                <a:spcPct val="90000"/>
              </a:lnSpc>
              <a:spcBef>
                <a:spcPts val="0"/>
              </a:spcBef>
              <a:spcAft>
                <a:spcPts val="0"/>
              </a:spcAft>
              <a:buNone/>
            </a:pPr>
            <a:r>
              <a:rPr lang="en-US" sz="2800">
                <a:solidFill>
                  <a:srgbClr val="FF0000"/>
                </a:solidFill>
                <a:latin typeface="Times New Roman"/>
                <a:ea typeface="Times New Roman"/>
                <a:cs typeface="Times New Roman"/>
                <a:sym typeface="Times New Roman"/>
              </a:rPr>
              <a:t>Command Line Arguments</a:t>
            </a:r>
            <a:endParaRPr sz="2800">
              <a:solidFill>
                <a:srgbClr val="FF0000"/>
              </a:solidFill>
              <a:latin typeface="Times New Roman"/>
              <a:ea typeface="Times New Roman"/>
              <a:cs typeface="Times New Roman"/>
              <a:sym typeface="Times New Roman"/>
            </a:endParaRPr>
          </a:p>
        </p:txBody>
      </p:sp>
      <p:cxnSp>
        <p:nvCxnSpPr>
          <p:cNvPr id="667" name="Google Shape;667;p30"/>
          <p:cNvCxnSpPr/>
          <p:nvPr/>
        </p:nvCxnSpPr>
        <p:spPr>
          <a:xfrm flipH="1">
            <a:off x="1200150" y="1135541"/>
            <a:ext cx="400050" cy="531551"/>
          </a:xfrm>
          <a:prstGeom prst="straightConnector1">
            <a:avLst/>
          </a:prstGeom>
          <a:noFill/>
          <a:ln cap="flat" cmpd="sng" w="28575">
            <a:solidFill>
              <a:srgbClr val="990099"/>
            </a:solidFill>
            <a:prstDash val="solid"/>
            <a:miter lim="800000"/>
            <a:headEnd len="sm" w="sm" type="none"/>
            <a:tailEnd len="med" w="med" type="triangle"/>
          </a:ln>
        </p:spPr>
      </p:cxnSp>
      <p:sp>
        <p:nvSpPr>
          <p:cNvPr id="668" name="Google Shape;668;p30"/>
          <p:cNvSpPr txBox="1"/>
          <p:nvPr/>
        </p:nvSpPr>
        <p:spPr>
          <a:xfrm>
            <a:off x="304799" y="152400"/>
            <a:ext cx="3429001"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Java Programming</a:t>
            </a:r>
            <a:endParaRPr b="1" sz="3000">
              <a:solidFill>
                <a:srgbClr val="002060"/>
              </a:solidFill>
              <a:latin typeface="Times New Roman"/>
              <a:ea typeface="Times New Roman"/>
              <a:cs typeface="Times New Roman"/>
              <a:sym typeface="Times New Roman"/>
            </a:endParaRPr>
          </a:p>
        </p:txBody>
      </p:sp>
      <p:sp>
        <p:nvSpPr>
          <p:cNvPr id="669" name="Google Shape;66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656"/>
                                        </p:tgtEl>
                                        <p:attrNameLst>
                                          <p:attrName>style.visibility</p:attrName>
                                        </p:attrNameLst>
                                      </p:cBhvr>
                                      <p:to>
                                        <p:strVal val="visible"/>
                                      </p:to>
                                    </p:set>
                                    <p:anim calcmode="lin" valueType="num">
                                      <p:cBhvr additive="base">
                                        <p:cTn dur="500"/>
                                        <p:tgtEl>
                                          <p:spTgt spid="656"/>
                                        </p:tgtEl>
                                        <p:attrNameLst>
                                          <p:attrName>ppt_w</p:attrName>
                                        </p:attrNameLst>
                                      </p:cBhvr>
                                      <p:tavLst>
                                        <p:tav fmla="" tm="0">
                                          <p:val>
                                            <p:strVal val="0"/>
                                          </p:val>
                                        </p:tav>
                                        <p:tav fmla="" tm="100000">
                                          <p:val>
                                            <p:strVal val="#ppt_w"/>
                                          </p:val>
                                        </p:tav>
                                      </p:tavLst>
                                    </p:anim>
                                    <p:anim calcmode="lin" valueType="num">
                                      <p:cBhvr additive="base">
                                        <p:cTn dur="500"/>
                                        <p:tgtEl>
                                          <p:spTgt spid="65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500"/>
                                        <p:tgtEl>
                                          <p:spTgt spid="657"/>
                                        </p:tgtEl>
                                      </p:cBhvr>
                                    </p:animEffect>
                                  </p:childTnLst>
                                </p:cTn>
                              </p:par>
                              <p:par>
                                <p:cTn fill="hold" nodeType="withEffect" presetClass="entr" presetID="10" presetSubtype="0">
                                  <p:stCondLst>
                                    <p:cond delay="0"/>
                                  </p:stCondLst>
                                  <p:childTnLst>
                                    <p:set>
                                      <p:cBhvr>
                                        <p:cTn dur="1" fill="hold">
                                          <p:stCondLst>
                                            <p:cond delay="0"/>
                                          </p:stCondLst>
                                        </p:cTn>
                                        <p:tgtEl>
                                          <p:spTgt spid="664"/>
                                        </p:tgtEl>
                                        <p:attrNameLst>
                                          <p:attrName>style.visibility</p:attrName>
                                        </p:attrNameLst>
                                      </p:cBhvr>
                                      <p:to>
                                        <p:strVal val="visible"/>
                                      </p:to>
                                    </p:set>
                                    <p:animEffect filter="fade" transition="in">
                                      <p:cBhvr>
                                        <p:cTn dur="500"/>
                                        <p:tgtEl>
                                          <p:spTgt spid="664"/>
                                        </p:tgtEl>
                                      </p:cBhvr>
                                    </p:animEffect>
                                  </p:childTnLst>
                                </p:cTn>
                              </p:par>
                              <p:par>
                                <p:cTn fill="hold" nodeType="with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500"/>
                                        <p:tgtEl>
                                          <p:spTgt spid="6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8"/>
                                        </p:tgtEl>
                                        <p:attrNameLst>
                                          <p:attrName>style.visibility</p:attrName>
                                        </p:attrNameLst>
                                      </p:cBhvr>
                                      <p:to>
                                        <p:strVal val="visible"/>
                                      </p:to>
                                    </p:set>
                                    <p:animEffect filter="fade" transition="in">
                                      <p:cBhvr>
                                        <p:cTn dur="500"/>
                                        <p:tgtEl>
                                          <p:spTgt spid="658"/>
                                        </p:tgtEl>
                                      </p:cBhvr>
                                    </p:animEffect>
                                  </p:childTnLst>
                                </p:cTn>
                              </p:par>
                              <p:par>
                                <p:cTn fill="hold" nodeType="with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500"/>
                                        <p:tgtEl>
                                          <p:spTgt spid="659"/>
                                        </p:tgtEl>
                                      </p:cBhvr>
                                    </p:animEffect>
                                  </p:childTnLst>
                                </p:cTn>
                              </p:par>
                              <p:par>
                                <p:cTn fill="hold" nodeType="withEffect" presetClass="entr" presetID="10" presetSubtype="0">
                                  <p:stCondLst>
                                    <p:cond delay="0"/>
                                  </p:stCondLst>
                                  <p:childTnLst>
                                    <p:set>
                                      <p:cBhvr>
                                        <p:cTn dur="1" fill="hold">
                                          <p:stCondLst>
                                            <p:cond delay="0"/>
                                          </p:stCondLst>
                                        </p:cTn>
                                        <p:tgtEl>
                                          <p:spTgt spid="665"/>
                                        </p:tgtEl>
                                        <p:attrNameLst>
                                          <p:attrName>style.visibility</p:attrName>
                                        </p:attrNameLst>
                                      </p:cBhvr>
                                      <p:to>
                                        <p:strVal val="visible"/>
                                      </p:to>
                                    </p:set>
                                    <p:animEffect filter="fade" transition="in">
                                      <p:cBhvr>
                                        <p:cTn dur="500"/>
                                        <p:tgtEl>
                                          <p:spTgt spid="6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500"/>
                                        <p:tgtEl>
                                          <p:spTgt spid="661"/>
                                        </p:tgtEl>
                                      </p:cBhvr>
                                    </p:animEffect>
                                  </p:childTnLst>
                                </p:cTn>
                              </p:par>
                              <p:par>
                                <p:cTn fill="hold" nodeType="with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500"/>
                                        <p:tgtEl>
                                          <p:spTgt spid="6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500"/>
                                        <p:tgtEl>
                                          <p:spTgt spid="663"/>
                                        </p:tgtEl>
                                      </p:cBhvr>
                                    </p:animEffect>
                                  </p:childTnLst>
                                </p:cTn>
                              </p:par>
                              <p:par>
                                <p:cTn fill="hold" nodeType="with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500"/>
                                        <p:tgtEl>
                                          <p:spTgt spid="6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31"/>
          <p:cNvSpPr/>
          <p:nvPr/>
        </p:nvSpPr>
        <p:spPr>
          <a:xfrm>
            <a:off x="3810000" y="170178"/>
            <a:ext cx="3127927" cy="523220"/>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Wrapper Classes</a:t>
            </a:r>
            <a:endParaRPr sz="2800">
              <a:solidFill>
                <a:srgbClr val="FF0000"/>
              </a:solidFill>
              <a:latin typeface="Times New Roman"/>
              <a:ea typeface="Times New Roman"/>
              <a:cs typeface="Times New Roman"/>
              <a:sym typeface="Times New Roman"/>
            </a:endParaRPr>
          </a:p>
        </p:txBody>
      </p:sp>
      <p:sp>
        <p:nvSpPr>
          <p:cNvPr id="675" name="Google Shape;675;p31"/>
          <p:cNvSpPr txBox="1"/>
          <p:nvPr/>
        </p:nvSpPr>
        <p:spPr>
          <a:xfrm>
            <a:off x="304799" y="152400"/>
            <a:ext cx="3429001"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Java Programming</a:t>
            </a:r>
            <a:endParaRPr b="1" sz="3000">
              <a:solidFill>
                <a:srgbClr val="002060"/>
              </a:solidFill>
              <a:latin typeface="Times New Roman"/>
              <a:ea typeface="Times New Roman"/>
              <a:cs typeface="Times New Roman"/>
              <a:sym typeface="Times New Roman"/>
            </a:endParaRPr>
          </a:p>
        </p:txBody>
      </p:sp>
      <p:sp>
        <p:nvSpPr>
          <p:cNvPr id="676" name="Google Shape;676;p31"/>
          <p:cNvSpPr/>
          <p:nvPr/>
        </p:nvSpPr>
        <p:spPr>
          <a:xfrm>
            <a:off x="5276779" y="812788"/>
            <a:ext cx="1447800" cy="457200"/>
          </a:xfrm>
          <a:prstGeom prst="flowChartProcess">
            <a:avLst/>
          </a:prstGeom>
          <a:solidFill>
            <a:srgbClr val="002060"/>
          </a:solidFill>
          <a:ln cap="flat" cmpd="sng" w="12700">
            <a:solidFill>
              <a:srgbClr val="00B0F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Object</a:t>
            </a:r>
            <a:endParaRPr b="1" sz="2000">
              <a:solidFill>
                <a:schemeClr val="lt1"/>
              </a:solidFill>
              <a:latin typeface="Times New Roman"/>
              <a:ea typeface="Times New Roman"/>
              <a:cs typeface="Times New Roman"/>
              <a:sym typeface="Times New Roman"/>
            </a:endParaRPr>
          </a:p>
        </p:txBody>
      </p:sp>
      <p:sp>
        <p:nvSpPr>
          <p:cNvPr id="677" name="Google Shape;677;p31"/>
          <p:cNvSpPr/>
          <p:nvPr/>
        </p:nvSpPr>
        <p:spPr>
          <a:xfrm>
            <a:off x="761999" y="2102485"/>
            <a:ext cx="1447800" cy="457200"/>
          </a:xfrm>
          <a:prstGeom prst="flowChartProcess">
            <a:avLst/>
          </a:prstGeom>
          <a:solidFill>
            <a:srgbClr val="BF9000"/>
          </a:solidFill>
          <a:ln cap="flat" cmpd="sng" w="12700">
            <a:solidFill>
              <a:srgbClr val="00B0F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Boolean</a:t>
            </a:r>
            <a:endParaRPr b="1" sz="2000">
              <a:solidFill>
                <a:schemeClr val="lt1"/>
              </a:solidFill>
              <a:latin typeface="Times New Roman"/>
              <a:ea typeface="Times New Roman"/>
              <a:cs typeface="Times New Roman"/>
              <a:sym typeface="Times New Roman"/>
            </a:endParaRPr>
          </a:p>
        </p:txBody>
      </p:sp>
      <p:sp>
        <p:nvSpPr>
          <p:cNvPr id="678" name="Google Shape;678;p31"/>
          <p:cNvSpPr/>
          <p:nvPr/>
        </p:nvSpPr>
        <p:spPr>
          <a:xfrm>
            <a:off x="3605994" y="2117456"/>
            <a:ext cx="1570061" cy="457200"/>
          </a:xfrm>
          <a:prstGeom prst="flowChartProcess">
            <a:avLst/>
          </a:prstGeom>
          <a:solidFill>
            <a:srgbClr val="FFD966"/>
          </a:solidFill>
          <a:ln cap="flat" cmpd="sng" w="12700">
            <a:solidFill>
              <a:srgbClr val="00B0F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Character</a:t>
            </a:r>
            <a:endParaRPr b="1" sz="2000">
              <a:solidFill>
                <a:schemeClr val="lt1"/>
              </a:solidFill>
              <a:latin typeface="Times New Roman"/>
              <a:ea typeface="Times New Roman"/>
              <a:cs typeface="Times New Roman"/>
              <a:sym typeface="Times New Roman"/>
            </a:endParaRPr>
          </a:p>
        </p:txBody>
      </p:sp>
      <p:sp>
        <p:nvSpPr>
          <p:cNvPr id="679" name="Google Shape;679;p31"/>
          <p:cNvSpPr/>
          <p:nvPr/>
        </p:nvSpPr>
        <p:spPr>
          <a:xfrm>
            <a:off x="6572250" y="2154683"/>
            <a:ext cx="1447800" cy="457200"/>
          </a:xfrm>
          <a:prstGeom prst="flowChartProcess">
            <a:avLst/>
          </a:prstGeom>
          <a:solidFill>
            <a:srgbClr val="FF0000"/>
          </a:solidFill>
          <a:ln cap="flat" cmpd="sng" w="12700">
            <a:solidFill>
              <a:srgbClr val="00B0F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Number</a:t>
            </a:r>
            <a:endParaRPr b="1" sz="2000">
              <a:solidFill>
                <a:schemeClr val="lt1"/>
              </a:solidFill>
              <a:latin typeface="Times New Roman"/>
              <a:ea typeface="Times New Roman"/>
              <a:cs typeface="Times New Roman"/>
              <a:sym typeface="Times New Roman"/>
            </a:endParaRPr>
          </a:p>
        </p:txBody>
      </p:sp>
      <p:sp>
        <p:nvSpPr>
          <p:cNvPr id="680" name="Google Shape;680;p31"/>
          <p:cNvSpPr/>
          <p:nvPr/>
        </p:nvSpPr>
        <p:spPr>
          <a:xfrm>
            <a:off x="9416245" y="2154683"/>
            <a:ext cx="1447800" cy="457200"/>
          </a:xfrm>
          <a:prstGeom prst="flowChartProcess">
            <a:avLst/>
          </a:prstGeom>
          <a:solidFill>
            <a:srgbClr val="7F6000"/>
          </a:solidFill>
          <a:ln cap="flat" cmpd="sng" w="12700">
            <a:solidFill>
              <a:srgbClr val="00B0F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String</a:t>
            </a:r>
            <a:endParaRPr b="1" sz="2000">
              <a:solidFill>
                <a:schemeClr val="lt1"/>
              </a:solidFill>
              <a:latin typeface="Times New Roman"/>
              <a:ea typeface="Times New Roman"/>
              <a:cs typeface="Times New Roman"/>
              <a:sym typeface="Times New Roman"/>
            </a:endParaRPr>
          </a:p>
        </p:txBody>
      </p:sp>
      <p:sp>
        <p:nvSpPr>
          <p:cNvPr id="681" name="Google Shape;681;p31"/>
          <p:cNvSpPr/>
          <p:nvPr/>
        </p:nvSpPr>
        <p:spPr>
          <a:xfrm>
            <a:off x="2550425" y="3733800"/>
            <a:ext cx="9108175" cy="1447800"/>
          </a:xfrm>
          <a:prstGeom prst="roundRect">
            <a:avLst>
              <a:gd fmla="val 16667" name="adj"/>
            </a:avLst>
          </a:prstGeom>
          <a:solidFill>
            <a:srgbClr val="FEB29A"/>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accent4"/>
              </a:solidFill>
              <a:latin typeface="Arial"/>
              <a:ea typeface="Arial"/>
              <a:cs typeface="Arial"/>
              <a:sym typeface="Arial"/>
            </a:endParaRPr>
          </a:p>
          <a:p>
            <a:pPr indent="0" lvl="0" marL="0" marR="0" rtl="0" algn="ctr">
              <a:spcBef>
                <a:spcPts val="0"/>
              </a:spcBef>
              <a:spcAft>
                <a:spcPts val="0"/>
              </a:spcAft>
              <a:buNone/>
            </a:pPr>
            <a:r>
              <a:t/>
            </a:r>
            <a:endParaRPr b="1" sz="1800">
              <a:solidFill>
                <a:schemeClr val="accent4"/>
              </a:solidFill>
              <a:latin typeface="Arial"/>
              <a:ea typeface="Arial"/>
              <a:cs typeface="Arial"/>
              <a:sym typeface="Arial"/>
            </a:endParaRPr>
          </a:p>
          <a:p>
            <a:pPr indent="0" lvl="0" marL="0" marR="0" rtl="0" algn="ctr">
              <a:spcBef>
                <a:spcPts val="0"/>
              </a:spcBef>
              <a:spcAft>
                <a:spcPts val="0"/>
              </a:spcAft>
              <a:buNone/>
            </a:pPr>
            <a:r>
              <a:t/>
            </a:r>
            <a:endParaRPr b="1" sz="1800">
              <a:solidFill>
                <a:schemeClr val="accent4"/>
              </a:solidFill>
              <a:latin typeface="Arial"/>
              <a:ea typeface="Arial"/>
              <a:cs typeface="Arial"/>
              <a:sym typeface="Arial"/>
            </a:endParaRPr>
          </a:p>
          <a:p>
            <a:pPr indent="0" lvl="0" marL="0" marR="0" rtl="0" algn="ctr">
              <a:spcBef>
                <a:spcPts val="0"/>
              </a:spcBef>
              <a:spcAft>
                <a:spcPts val="0"/>
              </a:spcAft>
              <a:buNone/>
            </a:pPr>
            <a:r>
              <a:rPr b="1" lang="en-US" sz="2400">
                <a:solidFill>
                  <a:schemeClr val="dk1"/>
                </a:solidFill>
                <a:latin typeface="Times New Roman"/>
                <a:ea typeface="Times New Roman"/>
                <a:cs typeface="Times New Roman"/>
                <a:sym typeface="Times New Roman"/>
              </a:rPr>
              <a:t>Java Primitive Wrapper Classes</a:t>
            </a:r>
            <a:endParaRPr b="1" sz="2400">
              <a:solidFill>
                <a:schemeClr val="dk1"/>
              </a:solidFill>
              <a:latin typeface="Times New Roman"/>
              <a:ea typeface="Times New Roman"/>
              <a:cs typeface="Times New Roman"/>
              <a:sym typeface="Times New Roman"/>
            </a:endParaRPr>
          </a:p>
        </p:txBody>
      </p:sp>
      <p:sp>
        <p:nvSpPr>
          <p:cNvPr id="682" name="Google Shape;682;p31"/>
          <p:cNvSpPr/>
          <p:nvPr/>
        </p:nvSpPr>
        <p:spPr>
          <a:xfrm>
            <a:off x="4248468" y="4065896"/>
            <a:ext cx="914400" cy="457200"/>
          </a:xfrm>
          <a:prstGeom prst="flowChartProcess">
            <a:avLst/>
          </a:prstGeom>
          <a:solidFill>
            <a:srgbClr val="FF0000"/>
          </a:solidFill>
          <a:ln cap="flat" cmpd="sng" w="12700">
            <a:solidFill>
              <a:srgbClr val="FEB29A"/>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Short</a:t>
            </a:r>
            <a:endParaRPr b="1" sz="2000">
              <a:solidFill>
                <a:schemeClr val="lt1"/>
              </a:solidFill>
              <a:latin typeface="Times New Roman"/>
              <a:ea typeface="Times New Roman"/>
              <a:cs typeface="Times New Roman"/>
              <a:sym typeface="Times New Roman"/>
            </a:endParaRPr>
          </a:p>
        </p:txBody>
      </p:sp>
      <p:sp>
        <p:nvSpPr>
          <p:cNvPr id="683" name="Google Shape;683;p31"/>
          <p:cNvSpPr/>
          <p:nvPr/>
        </p:nvSpPr>
        <p:spPr>
          <a:xfrm>
            <a:off x="5605738" y="4064181"/>
            <a:ext cx="1447800" cy="457200"/>
          </a:xfrm>
          <a:prstGeom prst="flowChartProcess">
            <a:avLst/>
          </a:prstGeom>
          <a:solidFill>
            <a:srgbClr val="FF0000"/>
          </a:solidFill>
          <a:ln cap="flat" cmpd="sng" w="12700">
            <a:solidFill>
              <a:srgbClr val="FEB29A"/>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Integer</a:t>
            </a:r>
            <a:endParaRPr b="1" sz="2000">
              <a:solidFill>
                <a:schemeClr val="lt1"/>
              </a:solidFill>
              <a:latin typeface="Times New Roman"/>
              <a:ea typeface="Times New Roman"/>
              <a:cs typeface="Times New Roman"/>
              <a:sym typeface="Times New Roman"/>
            </a:endParaRPr>
          </a:p>
        </p:txBody>
      </p:sp>
      <p:sp>
        <p:nvSpPr>
          <p:cNvPr id="684" name="Google Shape;684;p31"/>
          <p:cNvSpPr/>
          <p:nvPr/>
        </p:nvSpPr>
        <p:spPr>
          <a:xfrm>
            <a:off x="7358336" y="4051686"/>
            <a:ext cx="1028842" cy="457200"/>
          </a:xfrm>
          <a:prstGeom prst="flowChartProcess">
            <a:avLst/>
          </a:prstGeom>
          <a:solidFill>
            <a:srgbClr val="FF0000"/>
          </a:solidFill>
          <a:ln cap="flat" cmpd="sng" w="12700">
            <a:solidFill>
              <a:srgbClr val="FEB29A"/>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Long</a:t>
            </a:r>
            <a:endParaRPr b="1" sz="2000">
              <a:solidFill>
                <a:schemeClr val="lt1"/>
              </a:solidFill>
              <a:latin typeface="Times New Roman"/>
              <a:ea typeface="Times New Roman"/>
              <a:cs typeface="Times New Roman"/>
              <a:sym typeface="Times New Roman"/>
            </a:endParaRPr>
          </a:p>
        </p:txBody>
      </p:sp>
      <p:sp>
        <p:nvSpPr>
          <p:cNvPr id="685" name="Google Shape;685;p31"/>
          <p:cNvSpPr/>
          <p:nvPr/>
        </p:nvSpPr>
        <p:spPr>
          <a:xfrm>
            <a:off x="8766727" y="4049306"/>
            <a:ext cx="1030974" cy="457200"/>
          </a:xfrm>
          <a:prstGeom prst="flowChartProcess">
            <a:avLst/>
          </a:prstGeom>
          <a:solidFill>
            <a:srgbClr val="FF0000"/>
          </a:solidFill>
          <a:ln cap="flat" cmpd="sng" w="12700">
            <a:solidFill>
              <a:srgbClr val="FEB29A"/>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Float</a:t>
            </a:r>
            <a:endParaRPr b="1" sz="2000">
              <a:solidFill>
                <a:schemeClr val="lt1"/>
              </a:solidFill>
              <a:latin typeface="Times New Roman"/>
              <a:ea typeface="Times New Roman"/>
              <a:cs typeface="Times New Roman"/>
              <a:sym typeface="Times New Roman"/>
            </a:endParaRPr>
          </a:p>
        </p:txBody>
      </p:sp>
      <p:sp>
        <p:nvSpPr>
          <p:cNvPr id="686" name="Google Shape;686;p31"/>
          <p:cNvSpPr/>
          <p:nvPr/>
        </p:nvSpPr>
        <p:spPr>
          <a:xfrm>
            <a:off x="10177250" y="4051686"/>
            <a:ext cx="1252752" cy="457200"/>
          </a:xfrm>
          <a:prstGeom prst="flowChartProcess">
            <a:avLst/>
          </a:prstGeom>
          <a:solidFill>
            <a:srgbClr val="FF0000"/>
          </a:solidFill>
          <a:ln cap="flat" cmpd="sng" w="12700">
            <a:solidFill>
              <a:srgbClr val="FEB29A"/>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Double</a:t>
            </a:r>
            <a:endParaRPr b="1" sz="2000">
              <a:solidFill>
                <a:schemeClr val="lt1"/>
              </a:solidFill>
              <a:latin typeface="Times New Roman"/>
              <a:ea typeface="Times New Roman"/>
              <a:cs typeface="Times New Roman"/>
              <a:sym typeface="Times New Roman"/>
            </a:endParaRPr>
          </a:p>
        </p:txBody>
      </p:sp>
      <p:sp>
        <p:nvSpPr>
          <p:cNvPr id="687" name="Google Shape;687;p31"/>
          <p:cNvSpPr/>
          <p:nvPr/>
        </p:nvSpPr>
        <p:spPr>
          <a:xfrm>
            <a:off x="2819400" y="4065896"/>
            <a:ext cx="990600" cy="457200"/>
          </a:xfrm>
          <a:prstGeom prst="flowChartProcess">
            <a:avLst/>
          </a:prstGeom>
          <a:solidFill>
            <a:srgbClr val="FF0000"/>
          </a:solidFill>
          <a:ln cap="flat" cmpd="sng" w="12700">
            <a:solidFill>
              <a:srgbClr val="FEB29A"/>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Byte</a:t>
            </a:r>
            <a:endParaRPr b="1" sz="2000">
              <a:solidFill>
                <a:schemeClr val="lt1"/>
              </a:solidFill>
              <a:latin typeface="Times New Roman"/>
              <a:ea typeface="Times New Roman"/>
              <a:cs typeface="Times New Roman"/>
              <a:sym typeface="Times New Roman"/>
            </a:endParaRPr>
          </a:p>
        </p:txBody>
      </p:sp>
      <p:sp>
        <p:nvSpPr>
          <p:cNvPr id="688" name="Google Shape;688;p31"/>
          <p:cNvSpPr/>
          <p:nvPr/>
        </p:nvSpPr>
        <p:spPr>
          <a:xfrm flipH="1" rot="10800000">
            <a:off x="1483626" y="1269985"/>
            <a:ext cx="7626824" cy="1576709"/>
          </a:xfrm>
          <a:prstGeom prst="arc">
            <a:avLst>
              <a:gd fmla="val 5353534" name="adj1"/>
              <a:gd fmla="val 10837016" name="adj2"/>
            </a:avLst>
          </a:pr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689" name="Google Shape;689;p31"/>
          <p:cNvSpPr/>
          <p:nvPr/>
        </p:nvSpPr>
        <p:spPr>
          <a:xfrm rot="10800000">
            <a:off x="3260678" y="1262713"/>
            <a:ext cx="6929510" cy="1709086"/>
          </a:xfrm>
          <a:prstGeom prst="arc">
            <a:avLst>
              <a:gd fmla="val 5353534" name="adj1"/>
              <a:gd fmla="val 10837016" name="adj2"/>
            </a:avLst>
          </a:pr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690" name="Google Shape;690;p31"/>
          <p:cNvSpPr/>
          <p:nvPr/>
        </p:nvSpPr>
        <p:spPr>
          <a:xfrm flipH="1" rot="10800000">
            <a:off x="4248468" y="1251132"/>
            <a:ext cx="2780664" cy="1694539"/>
          </a:xfrm>
          <a:prstGeom prst="arc">
            <a:avLst>
              <a:gd fmla="val 5353534" name="adj1"/>
              <a:gd fmla="val 10837016" name="adj2"/>
            </a:avLst>
          </a:pr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691" name="Google Shape;691;p31"/>
          <p:cNvSpPr/>
          <p:nvPr/>
        </p:nvSpPr>
        <p:spPr>
          <a:xfrm rot="10800000">
            <a:off x="4915536" y="1277261"/>
            <a:ext cx="2780664" cy="1694539"/>
          </a:xfrm>
          <a:prstGeom prst="arc">
            <a:avLst>
              <a:gd fmla="val 5353534" name="adj1"/>
              <a:gd fmla="val 10837016" name="adj2"/>
            </a:avLst>
          </a:prstGeom>
          <a:noFill/>
          <a:ln cap="flat" cmpd="sng" w="2857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692" name="Google Shape;692;p31"/>
          <p:cNvSpPr/>
          <p:nvPr/>
        </p:nvSpPr>
        <p:spPr>
          <a:xfrm>
            <a:off x="3260678" y="2604402"/>
            <a:ext cx="4087417" cy="1431643"/>
          </a:xfrm>
          <a:custGeom>
            <a:rect b="b" l="l" r="r" t="t"/>
            <a:pathLst>
              <a:path extrusionOk="0" h="1392071" w="5022376">
                <a:moveTo>
                  <a:pt x="5022376" y="0"/>
                </a:moveTo>
                <a:cubicBezTo>
                  <a:pt x="3277737" y="252483"/>
                  <a:pt x="1533099" y="504967"/>
                  <a:pt x="696036" y="736979"/>
                </a:cubicBezTo>
                <a:cubicBezTo>
                  <a:pt x="-141027" y="968991"/>
                  <a:pt x="118280" y="1287438"/>
                  <a:pt x="0" y="1392071"/>
                </a:cubicBezTo>
              </a:path>
            </a:pathLst>
          </a:cu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3" name="Google Shape;693;p31"/>
          <p:cNvSpPr/>
          <p:nvPr/>
        </p:nvSpPr>
        <p:spPr>
          <a:xfrm>
            <a:off x="4690027" y="2658840"/>
            <a:ext cx="2452585" cy="1406951"/>
          </a:xfrm>
          <a:custGeom>
            <a:rect b="b" l="l" r="r" t="t"/>
            <a:pathLst>
              <a:path extrusionOk="0" h="1392071" w="5022376">
                <a:moveTo>
                  <a:pt x="5022376" y="0"/>
                </a:moveTo>
                <a:cubicBezTo>
                  <a:pt x="3277737" y="252483"/>
                  <a:pt x="1533099" y="504967"/>
                  <a:pt x="696036" y="736979"/>
                </a:cubicBezTo>
                <a:cubicBezTo>
                  <a:pt x="-141027" y="968991"/>
                  <a:pt x="118280" y="1287438"/>
                  <a:pt x="0" y="1392071"/>
                </a:cubicBezTo>
              </a:path>
            </a:pathLst>
          </a:cu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4" name="Google Shape;694;p31"/>
          <p:cNvSpPr/>
          <p:nvPr/>
        </p:nvSpPr>
        <p:spPr>
          <a:xfrm>
            <a:off x="6080078" y="2590800"/>
            <a:ext cx="1117028" cy="1473276"/>
          </a:xfrm>
          <a:custGeom>
            <a:rect b="b" l="l" r="r" t="t"/>
            <a:pathLst>
              <a:path extrusionOk="0" h="1392071" w="5022376">
                <a:moveTo>
                  <a:pt x="5022376" y="0"/>
                </a:moveTo>
                <a:cubicBezTo>
                  <a:pt x="3277737" y="252483"/>
                  <a:pt x="1533099" y="504967"/>
                  <a:pt x="696036" y="736979"/>
                </a:cubicBezTo>
                <a:cubicBezTo>
                  <a:pt x="-141027" y="968991"/>
                  <a:pt x="118280" y="1287438"/>
                  <a:pt x="0" y="1392071"/>
                </a:cubicBezTo>
              </a:path>
            </a:pathLst>
          </a:cu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5" name="Google Shape;695;p31"/>
          <p:cNvSpPr/>
          <p:nvPr/>
        </p:nvSpPr>
        <p:spPr>
          <a:xfrm flipH="1">
            <a:off x="7221512" y="2604402"/>
            <a:ext cx="3502075" cy="1474757"/>
          </a:xfrm>
          <a:custGeom>
            <a:rect b="b" l="l" r="r" t="t"/>
            <a:pathLst>
              <a:path extrusionOk="0" h="1392071" w="5022376">
                <a:moveTo>
                  <a:pt x="5022376" y="0"/>
                </a:moveTo>
                <a:cubicBezTo>
                  <a:pt x="3277737" y="252483"/>
                  <a:pt x="1533099" y="504967"/>
                  <a:pt x="696036" y="736979"/>
                </a:cubicBezTo>
                <a:cubicBezTo>
                  <a:pt x="-141027" y="968991"/>
                  <a:pt x="118280" y="1287438"/>
                  <a:pt x="0" y="1392071"/>
                </a:cubicBezTo>
              </a:path>
            </a:pathLst>
          </a:cu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6" name="Google Shape;696;p31"/>
          <p:cNvSpPr/>
          <p:nvPr/>
        </p:nvSpPr>
        <p:spPr>
          <a:xfrm flipH="1">
            <a:off x="7254641" y="2641629"/>
            <a:ext cx="1967834" cy="1437529"/>
          </a:xfrm>
          <a:custGeom>
            <a:rect b="b" l="l" r="r" t="t"/>
            <a:pathLst>
              <a:path extrusionOk="0" h="1392071" w="5022376">
                <a:moveTo>
                  <a:pt x="5022376" y="0"/>
                </a:moveTo>
                <a:cubicBezTo>
                  <a:pt x="3277737" y="252483"/>
                  <a:pt x="1533099" y="504967"/>
                  <a:pt x="696036" y="736979"/>
                </a:cubicBezTo>
                <a:cubicBezTo>
                  <a:pt x="-141027" y="968991"/>
                  <a:pt x="118280" y="1287438"/>
                  <a:pt x="0" y="1392071"/>
                </a:cubicBezTo>
              </a:path>
            </a:pathLst>
          </a:cu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7" name="Google Shape;697;p31"/>
          <p:cNvSpPr/>
          <p:nvPr/>
        </p:nvSpPr>
        <p:spPr>
          <a:xfrm flipH="1">
            <a:off x="7197105" y="2637524"/>
            <a:ext cx="872615" cy="1411782"/>
          </a:xfrm>
          <a:custGeom>
            <a:rect b="b" l="l" r="r" t="t"/>
            <a:pathLst>
              <a:path extrusionOk="0" h="1392071" w="5022376">
                <a:moveTo>
                  <a:pt x="5022376" y="0"/>
                </a:moveTo>
                <a:cubicBezTo>
                  <a:pt x="3277737" y="252483"/>
                  <a:pt x="1533099" y="504967"/>
                  <a:pt x="696036" y="736979"/>
                </a:cubicBezTo>
                <a:cubicBezTo>
                  <a:pt x="-141027" y="968991"/>
                  <a:pt x="118280" y="1287438"/>
                  <a:pt x="0" y="1392071"/>
                </a:cubicBezTo>
              </a:path>
            </a:pathLst>
          </a:custGeom>
          <a:noFill/>
          <a:ln cap="flat" cmpd="sng" w="12700">
            <a:solidFill>
              <a:srgbClr val="FF0000"/>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98" name="Google Shape;69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6"/>
                                        </p:tgtEl>
                                        <p:attrNameLst>
                                          <p:attrName>style.visibility</p:attrName>
                                        </p:attrNameLst>
                                      </p:cBhvr>
                                      <p:to>
                                        <p:strVal val="visible"/>
                                      </p:to>
                                    </p:set>
                                    <p:animEffect filter="fade" transition="in">
                                      <p:cBhvr>
                                        <p:cTn dur="500"/>
                                        <p:tgtEl>
                                          <p:spTgt spid="6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500"/>
                                        <p:tgtEl>
                                          <p:spTgt spid="688"/>
                                        </p:tgtEl>
                                      </p:cBhvr>
                                    </p:animEffect>
                                  </p:childTnLst>
                                </p:cTn>
                              </p:par>
                              <p:par>
                                <p:cTn fill="hold" nodeType="withEffect" presetClass="entr" presetID="10" presetSubtype="0">
                                  <p:stCondLst>
                                    <p:cond delay="0"/>
                                  </p:stCondLst>
                                  <p:childTnLst>
                                    <p:set>
                                      <p:cBhvr>
                                        <p:cTn dur="1" fill="hold">
                                          <p:stCondLst>
                                            <p:cond delay="0"/>
                                          </p:stCondLst>
                                        </p:cTn>
                                        <p:tgtEl>
                                          <p:spTgt spid="677"/>
                                        </p:tgtEl>
                                        <p:attrNameLst>
                                          <p:attrName>style.visibility</p:attrName>
                                        </p:attrNameLst>
                                      </p:cBhvr>
                                      <p:to>
                                        <p:strVal val="visible"/>
                                      </p:to>
                                    </p:set>
                                    <p:animEffect filter="fade" transition="in">
                                      <p:cBhvr>
                                        <p:cTn dur="500"/>
                                        <p:tgtEl>
                                          <p:spTgt spid="6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500"/>
                                        <p:tgtEl>
                                          <p:spTgt spid="690"/>
                                        </p:tgtEl>
                                      </p:cBhvr>
                                    </p:animEffect>
                                  </p:childTnLst>
                                </p:cTn>
                              </p:par>
                              <p:par>
                                <p:cTn fill="hold" nodeType="withEffect" presetClass="entr" presetID="10" presetSubtype="0">
                                  <p:stCondLst>
                                    <p:cond delay="0"/>
                                  </p:stCondLst>
                                  <p:childTnLst>
                                    <p:set>
                                      <p:cBhvr>
                                        <p:cTn dur="1" fill="hold">
                                          <p:stCondLst>
                                            <p:cond delay="0"/>
                                          </p:stCondLst>
                                        </p:cTn>
                                        <p:tgtEl>
                                          <p:spTgt spid="678"/>
                                        </p:tgtEl>
                                        <p:attrNameLst>
                                          <p:attrName>style.visibility</p:attrName>
                                        </p:attrNameLst>
                                      </p:cBhvr>
                                      <p:to>
                                        <p:strVal val="visible"/>
                                      </p:to>
                                    </p:set>
                                    <p:animEffect filter="fade" transition="in">
                                      <p:cBhvr>
                                        <p:cTn dur="500"/>
                                        <p:tgtEl>
                                          <p:spTgt spid="6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500"/>
                                        <p:tgtEl>
                                          <p:spTgt spid="679"/>
                                        </p:tgtEl>
                                      </p:cBhvr>
                                    </p:animEffect>
                                  </p:childTnLst>
                                </p:cTn>
                              </p:par>
                              <p:par>
                                <p:cTn fill="hold" nodeType="with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500"/>
                                        <p:tgtEl>
                                          <p:spTgt spid="6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0"/>
                                        </p:tgtEl>
                                        <p:attrNameLst>
                                          <p:attrName>style.visibility</p:attrName>
                                        </p:attrNameLst>
                                      </p:cBhvr>
                                      <p:to>
                                        <p:strVal val="visible"/>
                                      </p:to>
                                    </p:set>
                                    <p:animEffect filter="fade" transition="in">
                                      <p:cBhvr>
                                        <p:cTn dur="500"/>
                                        <p:tgtEl>
                                          <p:spTgt spid="680"/>
                                        </p:tgtEl>
                                      </p:cBhvr>
                                    </p:animEffect>
                                  </p:childTnLst>
                                </p:cTn>
                              </p:par>
                              <p:par>
                                <p:cTn fill="hold" nodeType="with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500"/>
                                        <p:tgtEl>
                                          <p:spTgt spid="6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9"/>
                                        </p:tgtEl>
                                        <p:attrNameLst>
                                          <p:attrName>style.visibility</p:attrName>
                                        </p:attrNameLst>
                                      </p:cBhvr>
                                      <p:to>
                                        <p:strVal val="visible"/>
                                      </p:to>
                                    </p:set>
                                    <p:animEffect filter="fade" transition="in">
                                      <p:cBhvr>
                                        <p:cTn dur="500"/>
                                        <p:tgtEl>
                                          <p:spTgt spid="679"/>
                                        </p:tgtEl>
                                      </p:cBhvr>
                                    </p:animEffect>
                                  </p:childTnLst>
                                </p:cTn>
                              </p:par>
                              <p:par>
                                <p:cTn fill="hold" nodeType="withEffect" presetClass="entr" presetID="10" presetSubtype="0">
                                  <p:stCondLst>
                                    <p:cond delay="0"/>
                                  </p:stCondLst>
                                  <p:childTnLst>
                                    <p:set>
                                      <p:cBhvr>
                                        <p:cTn dur="1" fill="hold">
                                          <p:stCondLst>
                                            <p:cond delay="0"/>
                                          </p:stCondLst>
                                        </p:cTn>
                                        <p:tgtEl>
                                          <p:spTgt spid="681"/>
                                        </p:tgtEl>
                                        <p:attrNameLst>
                                          <p:attrName>style.visibility</p:attrName>
                                        </p:attrNameLst>
                                      </p:cBhvr>
                                      <p:to>
                                        <p:strVal val="visible"/>
                                      </p:to>
                                    </p:set>
                                    <p:animEffect filter="fade" transition="in">
                                      <p:cBhvr>
                                        <p:cTn dur="500"/>
                                        <p:tgtEl>
                                          <p:spTgt spid="6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500"/>
                                        <p:tgtEl>
                                          <p:spTgt spid="692"/>
                                        </p:tgtEl>
                                      </p:cBhvr>
                                    </p:animEffect>
                                  </p:childTnLst>
                                </p:cTn>
                              </p:par>
                              <p:par>
                                <p:cTn fill="hold" nodeType="withEffect" presetClass="entr" presetID="10" presetSubtype="0">
                                  <p:stCondLst>
                                    <p:cond delay="0"/>
                                  </p:stCondLst>
                                  <p:childTnLst>
                                    <p:set>
                                      <p:cBhvr>
                                        <p:cTn dur="1" fill="hold">
                                          <p:stCondLst>
                                            <p:cond delay="0"/>
                                          </p:stCondLst>
                                        </p:cTn>
                                        <p:tgtEl>
                                          <p:spTgt spid="687"/>
                                        </p:tgtEl>
                                        <p:attrNameLst>
                                          <p:attrName>style.visibility</p:attrName>
                                        </p:attrNameLst>
                                      </p:cBhvr>
                                      <p:to>
                                        <p:strVal val="visible"/>
                                      </p:to>
                                    </p:set>
                                    <p:animEffect filter="fade" transition="in">
                                      <p:cBhvr>
                                        <p:cTn dur="500"/>
                                        <p:tgtEl>
                                          <p:spTgt spid="6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gtEl>
                                        <p:attrNameLst>
                                          <p:attrName>style.visibility</p:attrName>
                                        </p:attrNameLst>
                                      </p:cBhvr>
                                      <p:to>
                                        <p:strVal val="visible"/>
                                      </p:to>
                                    </p:set>
                                    <p:animEffect filter="fade" transition="in">
                                      <p:cBhvr>
                                        <p:cTn dur="500"/>
                                        <p:tgtEl>
                                          <p:spTgt spid="682"/>
                                        </p:tgtEl>
                                      </p:cBhvr>
                                    </p:animEffect>
                                  </p:childTnLst>
                                </p:cTn>
                              </p:par>
                              <p:par>
                                <p:cTn fill="hold" nodeType="with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500"/>
                                        <p:tgtEl>
                                          <p:spTgt spid="6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3"/>
                                        </p:tgtEl>
                                        <p:attrNameLst>
                                          <p:attrName>style.visibility</p:attrName>
                                        </p:attrNameLst>
                                      </p:cBhvr>
                                      <p:to>
                                        <p:strVal val="visible"/>
                                      </p:to>
                                    </p:set>
                                    <p:animEffect filter="fade" transition="in">
                                      <p:cBhvr>
                                        <p:cTn dur="500"/>
                                        <p:tgtEl>
                                          <p:spTgt spid="683"/>
                                        </p:tgtEl>
                                      </p:cBhvr>
                                    </p:animEffect>
                                  </p:childTnLst>
                                </p:cTn>
                              </p:par>
                              <p:par>
                                <p:cTn fill="hold" nodeType="with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500"/>
                                        <p:tgtEl>
                                          <p:spTgt spid="6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4"/>
                                        </p:tgtEl>
                                        <p:attrNameLst>
                                          <p:attrName>style.visibility</p:attrName>
                                        </p:attrNameLst>
                                      </p:cBhvr>
                                      <p:to>
                                        <p:strVal val="visible"/>
                                      </p:to>
                                    </p:set>
                                    <p:animEffect filter="fade" transition="in">
                                      <p:cBhvr>
                                        <p:cTn dur="500"/>
                                        <p:tgtEl>
                                          <p:spTgt spid="684"/>
                                        </p:tgtEl>
                                      </p:cBhvr>
                                    </p:animEffect>
                                  </p:childTnLst>
                                </p:cTn>
                              </p:par>
                              <p:par>
                                <p:cTn fill="hold" nodeType="withEffect" presetClass="entr" presetID="10" presetSubtype="0">
                                  <p:stCondLst>
                                    <p:cond delay="0"/>
                                  </p:stCondLst>
                                  <p:childTnLst>
                                    <p:set>
                                      <p:cBhvr>
                                        <p:cTn dur="1" fill="hold">
                                          <p:stCondLst>
                                            <p:cond delay="0"/>
                                          </p:stCondLst>
                                        </p:cTn>
                                        <p:tgtEl>
                                          <p:spTgt spid="697"/>
                                        </p:tgtEl>
                                        <p:attrNameLst>
                                          <p:attrName>style.visibility</p:attrName>
                                        </p:attrNameLst>
                                      </p:cBhvr>
                                      <p:to>
                                        <p:strVal val="visible"/>
                                      </p:to>
                                    </p:set>
                                    <p:animEffect filter="fade" transition="in">
                                      <p:cBhvr>
                                        <p:cTn dur="500"/>
                                        <p:tgtEl>
                                          <p:spTgt spid="6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5"/>
                                        </p:tgtEl>
                                        <p:attrNameLst>
                                          <p:attrName>style.visibility</p:attrName>
                                        </p:attrNameLst>
                                      </p:cBhvr>
                                      <p:to>
                                        <p:strVal val="visible"/>
                                      </p:to>
                                    </p:set>
                                    <p:animEffect filter="fade" transition="in">
                                      <p:cBhvr>
                                        <p:cTn dur="500"/>
                                        <p:tgtEl>
                                          <p:spTgt spid="685"/>
                                        </p:tgtEl>
                                      </p:cBhvr>
                                    </p:animEffect>
                                  </p:childTnLst>
                                </p:cTn>
                              </p:par>
                              <p:par>
                                <p:cTn fill="hold" nodeType="withEffect" presetClass="entr" presetID="10" presetSubtype="0">
                                  <p:stCondLst>
                                    <p:cond delay="0"/>
                                  </p:stCondLst>
                                  <p:childTnLst>
                                    <p:set>
                                      <p:cBhvr>
                                        <p:cTn dur="1" fill="hold">
                                          <p:stCondLst>
                                            <p:cond delay="0"/>
                                          </p:stCondLst>
                                        </p:cTn>
                                        <p:tgtEl>
                                          <p:spTgt spid="696"/>
                                        </p:tgtEl>
                                        <p:attrNameLst>
                                          <p:attrName>style.visibility</p:attrName>
                                        </p:attrNameLst>
                                      </p:cBhvr>
                                      <p:to>
                                        <p:strVal val="visible"/>
                                      </p:to>
                                    </p:set>
                                    <p:animEffect filter="fade" transition="in">
                                      <p:cBhvr>
                                        <p:cTn dur="500"/>
                                        <p:tgtEl>
                                          <p:spTgt spid="6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6"/>
                                        </p:tgtEl>
                                        <p:attrNameLst>
                                          <p:attrName>style.visibility</p:attrName>
                                        </p:attrNameLst>
                                      </p:cBhvr>
                                      <p:to>
                                        <p:strVal val="visible"/>
                                      </p:to>
                                    </p:set>
                                    <p:animEffect filter="fade" transition="in">
                                      <p:cBhvr>
                                        <p:cTn dur="500"/>
                                        <p:tgtEl>
                                          <p:spTgt spid="686"/>
                                        </p:tgtEl>
                                      </p:cBhvr>
                                    </p:animEffect>
                                  </p:childTnLst>
                                </p:cTn>
                              </p:par>
                              <p:par>
                                <p:cTn fill="hold" nodeType="withEffect" presetClass="entr" presetID="10" presetSubtype="0">
                                  <p:stCondLst>
                                    <p:cond delay="0"/>
                                  </p:stCondLst>
                                  <p:childTnLst>
                                    <p:set>
                                      <p:cBhvr>
                                        <p:cTn dur="1" fill="hold">
                                          <p:stCondLst>
                                            <p:cond delay="0"/>
                                          </p:stCondLst>
                                        </p:cTn>
                                        <p:tgtEl>
                                          <p:spTgt spid="695"/>
                                        </p:tgtEl>
                                        <p:attrNameLst>
                                          <p:attrName>style.visibility</p:attrName>
                                        </p:attrNameLst>
                                      </p:cBhvr>
                                      <p:to>
                                        <p:strVal val="visible"/>
                                      </p:to>
                                    </p:set>
                                    <p:animEffect filter="fade" transition="in">
                                      <p:cBhvr>
                                        <p:cTn dur="500"/>
                                        <p:tgtEl>
                                          <p:spTgt spid="6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32"/>
          <p:cNvSpPr/>
          <p:nvPr/>
        </p:nvSpPr>
        <p:spPr>
          <a:xfrm>
            <a:off x="838200" y="2286000"/>
            <a:ext cx="7696200" cy="2862322"/>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public class Demo {</a:t>
            </a:r>
            <a:endParaRPr sz="2400">
              <a:solidFill>
                <a:schemeClr val="dk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   public static void main ( </a:t>
            </a:r>
            <a:r>
              <a:rPr b="1" lang="en-US" sz="2400">
                <a:solidFill>
                  <a:srgbClr val="FF0000"/>
                </a:solidFill>
                <a:latin typeface="Times New Roman"/>
                <a:ea typeface="Times New Roman"/>
                <a:cs typeface="Times New Roman"/>
                <a:sym typeface="Times New Roman"/>
              </a:rPr>
              <a:t>String args[  ] </a:t>
            </a:r>
            <a:r>
              <a:rPr lang="en-US" sz="2400">
                <a:solidFill>
                  <a:schemeClr val="dk1"/>
                </a:solidFill>
                <a:latin typeface="Times New Roman"/>
                <a:ea typeface="Times New Roman"/>
                <a:cs typeface="Times New Roman"/>
                <a:sym typeface="Times New Roman"/>
              </a:rPr>
              <a:t>) {</a:t>
            </a:r>
            <a:endParaRPr/>
          </a:p>
          <a:p>
            <a:pPr indent="0" lvl="0" marL="0" marR="0" rtl="0" algn="l">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	int value = Integer.parseInt(args[i]);</a:t>
            </a:r>
            <a:endParaRPr sz="2400">
              <a:solidFill>
                <a:schemeClr val="dk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	System.out.println(“args: ” +value);</a:t>
            </a:r>
            <a:endParaRPr sz="2400">
              <a:solidFill>
                <a:schemeClr val="dk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      }    } }</a:t>
            </a:r>
            <a:endParaRPr sz="2400">
              <a:solidFill>
                <a:schemeClr val="dk1"/>
              </a:solidFill>
              <a:latin typeface="Times New Roman"/>
              <a:ea typeface="Times New Roman"/>
              <a:cs typeface="Times New Roman"/>
              <a:sym typeface="Times New Roman"/>
            </a:endParaRPr>
          </a:p>
        </p:txBody>
      </p:sp>
      <p:sp>
        <p:nvSpPr>
          <p:cNvPr id="706" name="Google Shape;706;p32"/>
          <p:cNvSpPr/>
          <p:nvPr/>
        </p:nvSpPr>
        <p:spPr>
          <a:xfrm>
            <a:off x="3124200" y="3505200"/>
            <a:ext cx="3200400" cy="569170"/>
          </a:xfrm>
          <a:prstGeom prst="rect">
            <a:avLst/>
          </a:prstGeom>
          <a:solidFill>
            <a:schemeClr val="lt1">
              <a:alpha val="0"/>
            </a:schemeClr>
          </a:solidFill>
          <a:ln cap="flat" cmpd="sng" w="28575">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707" name="Google Shape;707;p32"/>
          <p:cNvSpPr/>
          <p:nvPr/>
        </p:nvSpPr>
        <p:spPr>
          <a:xfrm>
            <a:off x="838200" y="1600200"/>
            <a:ext cx="4648200" cy="537097"/>
          </a:xfrm>
          <a:prstGeom prst="rect">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800">
                <a:solidFill>
                  <a:schemeClr val="lt1"/>
                </a:solidFill>
                <a:latin typeface="Times New Roman"/>
                <a:ea typeface="Times New Roman"/>
                <a:cs typeface="Times New Roman"/>
                <a:sym typeface="Times New Roman"/>
              </a:rPr>
              <a:t>Java    Demo     1  2   .   .   .   .</a:t>
            </a:r>
            <a:endParaRPr sz="2800">
              <a:solidFill>
                <a:schemeClr val="lt1"/>
              </a:solidFill>
              <a:latin typeface="Times New Roman"/>
              <a:ea typeface="Times New Roman"/>
              <a:cs typeface="Times New Roman"/>
              <a:sym typeface="Times New Roman"/>
            </a:endParaRPr>
          </a:p>
        </p:txBody>
      </p:sp>
      <p:cxnSp>
        <p:nvCxnSpPr>
          <p:cNvPr id="708" name="Google Shape;708;p32"/>
          <p:cNvCxnSpPr/>
          <p:nvPr/>
        </p:nvCxnSpPr>
        <p:spPr>
          <a:xfrm flipH="1">
            <a:off x="3407923" y="1186930"/>
            <a:ext cx="400050" cy="531551"/>
          </a:xfrm>
          <a:prstGeom prst="straightConnector1">
            <a:avLst/>
          </a:prstGeom>
          <a:noFill/>
          <a:ln cap="flat" cmpd="sng" w="28575">
            <a:solidFill>
              <a:srgbClr val="990099"/>
            </a:solidFill>
            <a:prstDash val="solid"/>
            <a:miter lim="800000"/>
            <a:headEnd len="sm" w="sm" type="none"/>
            <a:tailEnd len="med" w="med" type="triangle"/>
          </a:ln>
        </p:spPr>
      </p:cxnSp>
      <p:cxnSp>
        <p:nvCxnSpPr>
          <p:cNvPr id="709" name="Google Shape;709;p32"/>
          <p:cNvCxnSpPr/>
          <p:nvPr/>
        </p:nvCxnSpPr>
        <p:spPr>
          <a:xfrm>
            <a:off x="4000643" y="1273791"/>
            <a:ext cx="228600" cy="609600"/>
          </a:xfrm>
          <a:prstGeom prst="straightConnector1">
            <a:avLst/>
          </a:prstGeom>
          <a:noFill/>
          <a:ln cap="flat" cmpd="sng" w="28575">
            <a:solidFill>
              <a:srgbClr val="990099"/>
            </a:solidFill>
            <a:prstDash val="solid"/>
            <a:miter lim="800000"/>
            <a:headEnd len="sm" w="sm" type="none"/>
            <a:tailEnd len="med" w="med" type="triangle"/>
          </a:ln>
        </p:spPr>
      </p:cxnSp>
      <p:cxnSp>
        <p:nvCxnSpPr>
          <p:cNvPr id="710" name="Google Shape;710;p32"/>
          <p:cNvCxnSpPr/>
          <p:nvPr/>
        </p:nvCxnSpPr>
        <p:spPr>
          <a:xfrm>
            <a:off x="3261253" y="2079862"/>
            <a:ext cx="2505900" cy="936900"/>
          </a:xfrm>
          <a:prstGeom prst="curvedConnector3">
            <a:avLst>
              <a:gd fmla="val 100653" name="adj1"/>
            </a:avLst>
          </a:prstGeom>
          <a:noFill/>
          <a:ln cap="flat" cmpd="sng" w="38100">
            <a:solidFill>
              <a:srgbClr val="00B050"/>
            </a:solidFill>
            <a:prstDash val="solid"/>
            <a:miter lim="800000"/>
            <a:headEnd len="sm" w="sm" type="none"/>
            <a:tailEnd len="med" w="med" type="triangle"/>
          </a:ln>
        </p:spPr>
      </p:cxnSp>
      <p:sp>
        <p:nvSpPr>
          <p:cNvPr id="711" name="Google Shape;711;p32"/>
          <p:cNvSpPr txBox="1"/>
          <p:nvPr/>
        </p:nvSpPr>
        <p:spPr>
          <a:xfrm>
            <a:off x="749523" y="797691"/>
            <a:ext cx="20890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Java Command</a:t>
            </a:r>
            <a:endParaRPr sz="2400">
              <a:solidFill>
                <a:schemeClr val="dk1"/>
              </a:solidFill>
              <a:latin typeface="Times New Roman"/>
              <a:ea typeface="Times New Roman"/>
              <a:cs typeface="Times New Roman"/>
              <a:sym typeface="Times New Roman"/>
            </a:endParaRPr>
          </a:p>
        </p:txBody>
      </p:sp>
      <p:sp>
        <p:nvSpPr>
          <p:cNvPr id="712" name="Google Shape;712;p32"/>
          <p:cNvSpPr txBox="1"/>
          <p:nvPr/>
        </p:nvSpPr>
        <p:spPr>
          <a:xfrm>
            <a:off x="3545611" y="756737"/>
            <a:ext cx="695818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Arguments separated by space are sent to main method</a:t>
            </a:r>
            <a:endParaRPr sz="2400">
              <a:solidFill>
                <a:schemeClr val="dk1"/>
              </a:solidFill>
              <a:latin typeface="Times New Roman"/>
              <a:ea typeface="Times New Roman"/>
              <a:cs typeface="Times New Roman"/>
              <a:sym typeface="Times New Roman"/>
            </a:endParaRPr>
          </a:p>
        </p:txBody>
      </p:sp>
      <p:sp>
        <p:nvSpPr>
          <p:cNvPr id="713" name="Google Shape;713;p32"/>
          <p:cNvSpPr/>
          <p:nvPr/>
        </p:nvSpPr>
        <p:spPr>
          <a:xfrm>
            <a:off x="3843230" y="159166"/>
            <a:ext cx="2590517" cy="523220"/>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Wrapper Classes</a:t>
            </a:r>
            <a:endParaRPr sz="2800">
              <a:solidFill>
                <a:srgbClr val="FF0000"/>
              </a:solidFill>
              <a:latin typeface="Times New Roman"/>
              <a:ea typeface="Times New Roman"/>
              <a:cs typeface="Times New Roman"/>
              <a:sym typeface="Times New Roman"/>
            </a:endParaRPr>
          </a:p>
        </p:txBody>
      </p:sp>
      <p:cxnSp>
        <p:nvCxnSpPr>
          <p:cNvPr id="714" name="Google Shape;714;p32"/>
          <p:cNvCxnSpPr/>
          <p:nvPr/>
        </p:nvCxnSpPr>
        <p:spPr>
          <a:xfrm>
            <a:off x="1600200" y="1143000"/>
            <a:ext cx="457200" cy="609600"/>
          </a:xfrm>
          <a:prstGeom prst="straightConnector1">
            <a:avLst/>
          </a:prstGeom>
          <a:noFill/>
          <a:ln cap="flat" cmpd="sng" w="28575">
            <a:solidFill>
              <a:srgbClr val="990099"/>
            </a:solidFill>
            <a:prstDash val="solid"/>
            <a:miter lim="800000"/>
            <a:headEnd len="sm" w="sm" type="none"/>
            <a:tailEnd len="med" w="med" type="triangle"/>
          </a:ln>
        </p:spPr>
      </p:cxnSp>
      <p:cxnSp>
        <p:nvCxnSpPr>
          <p:cNvPr id="715" name="Google Shape;715;p32"/>
          <p:cNvCxnSpPr/>
          <p:nvPr/>
        </p:nvCxnSpPr>
        <p:spPr>
          <a:xfrm flipH="1">
            <a:off x="1200150" y="1135541"/>
            <a:ext cx="400050" cy="531551"/>
          </a:xfrm>
          <a:prstGeom prst="straightConnector1">
            <a:avLst/>
          </a:prstGeom>
          <a:noFill/>
          <a:ln cap="flat" cmpd="sng" w="28575">
            <a:solidFill>
              <a:srgbClr val="990099"/>
            </a:solidFill>
            <a:prstDash val="solid"/>
            <a:miter lim="800000"/>
            <a:headEnd len="sm" w="sm" type="none"/>
            <a:tailEnd len="med" w="med" type="triangle"/>
          </a:ln>
        </p:spPr>
      </p:cxnSp>
      <p:sp>
        <p:nvSpPr>
          <p:cNvPr id="716" name="Google Shape;716;p32"/>
          <p:cNvSpPr txBox="1"/>
          <p:nvPr/>
        </p:nvSpPr>
        <p:spPr>
          <a:xfrm>
            <a:off x="304799" y="152400"/>
            <a:ext cx="3429001"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Java Programming</a:t>
            </a:r>
            <a:endParaRPr b="1" sz="3000">
              <a:solidFill>
                <a:srgbClr val="002060"/>
              </a:solidFill>
              <a:latin typeface="Times New Roman"/>
              <a:ea typeface="Times New Roman"/>
              <a:cs typeface="Times New Roman"/>
              <a:sym typeface="Times New Roman"/>
            </a:endParaRPr>
          </a:p>
        </p:txBody>
      </p:sp>
      <p:sp>
        <p:nvSpPr>
          <p:cNvPr id="717" name="Google Shape;71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707"/>
                                        </p:tgtEl>
                                        <p:attrNameLst>
                                          <p:attrName>style.visibility</p:attrName>
                                        </p:attrNameLst>
                                      </p:cBhvr>
                                      <p:to>
                                        <p:strVal val="visible"/>
                                      </p:to>
                                    </p:set>
                                    <p:anim calcmode="lin" valueType="num">
                                      <p:cBhvr additive="base">
                                        <p:cTn dur="500"/>
                                        <p:tgtEl>
                                          <p:spTgt spid="707"/>
                                        </p:tgtEl>
                                        <p:attrNameLst>
                                          <p:attrName>ppt_w</p:attrName>
                                        </p:attrNameLst>
                                      </p:cBhvr>
                                      <p:tavLst>
                                        <p:tav fmla="" tm="0">
                                          <p:val>
                                            <p:strVal val="0"/>
                                          </p:val>
                                        </p:tav>
                                        <p:tav fmla="" tm="100000">
                                          <p:val>
                                            <p:strVal val="#ppt_w"/>
                                          </p:val>
                                        </p:tav>
                                      </p:tavLst>
                                    </p:anim>
                                    <p:anim calcmode="lin" valueType="num">
                                      <p:cBhvr additive="base">
                                        <p:cTn dur="500"/>
                                        <p:tgtEl>
                                          <p:spTgt spid="70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711"/>
                                        </p:tgtEl>
                                        <p:attrNameLst>
                                          <p:attrName>style.visibility</p:attrName>
                                        </p:attrNameLst>
                                      </p:cBhvr>
                                      <p:to>
                                        <p:strVal val="visible"/>
                                      </p:to>
                                    </p:set>
                                    <p:animEffect filter="fade" transition="in">
                                      <p:cBhvr>
                                        <p:cTn dur="500"/>
                                        <p:tgtEl>
                                          <p:spTgt spid="7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4"/>
                                        </p:tgtEl>
                                        <p:attrNameLst>
                                          <p:attrName>style.visibility</p:attrName>
                                        </p:attrNameLst>
                                      </p:cBhvr>
                                      <p:to>
                                        <p:strVal val="visible"/>
                                      </p:to>
                                    </p:set>
                                    <p:animEffect filter="fade" transition="in">
                                      <p:cBhvr>
                                        <p:cTn dur="500"/>
                                        <p:tgtEl>
                                          <p:spTgt spid="714"/>
                                        </p:tgtEl>
                                      </p:cBhvr>
                                    </p:animEffect>
                                  </p:childTnLst>
                                </p:cTn>
                              </p:par>
                              <p:par>
                                <p:cTn fill="hold" nodeType="withEffect" presetClass="entr" presetID="10" presetSubtype="0">
                                  <p:stCondLst>
                                    <p:cond delay="0"/>
                                  </p:stCondLst>
                                  <p:childTnLst>
                                    <p:set>
                                      <p:cBhvr>
                                        <p:cTn dur="1" fill="hold">
                                          <p:stCondLst>
                                            <p:cond delay="0"/>
                                          </p:stCondLst>
                                        </p:cTn>
                                        <p:tgtEl>
                                          <p:spTgt spid="715"/>
                                        </p:tgtEl>
                                        <p:attrNameLst>
                                          <p:attrName>style.visibility</p:attrName>
                                        </p:attrNameLst>
                                      </p:cBhvr>
                                      <p:to>
                                        <p:strVal val="visible"/>
                                      </p:to>
                                    </p:set>
                                    <p:animEffect filter="fade" transition="in">
                                      <p:cBhvr>
                                        <p:cTn dur="500"/>
                                        <p:tgtEl>
                                          <p:spTgt spid="7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500"/>
                                        <p:tgtEl>
                                          <p:spTgt spid="708"/>
                                        </p:tgtEl>
                                      </p:cBhvr>
                                    </p:animEffect>
                                  </p:childTnLst>
                                </p:cTn>
                              </p:par>
                              <p:par>
                                <p:cTn fill="hold" nodeType="withEffect" presetClass="entr" presetID="10" presetSubtype="0">
                                  <p:stCondLst>
                                    <p:cond delay="0"/>
                                  </p:stCondLst>
                                  <p:childTnLst>
                                    <p:set>
                                      <p:cBhvr>
                                        <p:cTn dur="1" fill="hold">
                                          <p:stCondLst>
                                            <p:cond delay="0"/>
                                          </p:stCondLst>
                                        </p:cTn>
                                        <p:tgtEl>
                                          <p:spTgt spid="709"/>
                                        </p:tgtEl>
                                        <p:attrNameLst>
                                          <p:attrName>style.visibility</p:attrName>
                                        </p:attrNameLst>
                                      </p:cBhvr>
                                      <p:to>
                                        <p:strVal val="visible"/>
                                      </p:to>
                                    </p:set>
                                    <p:animEffect filter="fade" transition="in">
                                      <p:cBhvr>
                                        <p:cTn dur="500"/>
                                        <p:tgtEl>
                                          <p:spTgt spid="709"/>
                                        </p:tgtEl>
                                      </p:cBhvr>
                                    </p:animEffect>
                                  </p:childTnLst>
                                </p:cTn>
                              </p:par>
                              <p:par>
                                <p:cTn fill="hold" nodeType="withEffect" presetClass="entr" presetID="10" presetSubtype="0">
                                  <p:stCondLst>
                                    <p:cond delay="0"/>
                                  </p:stCondLst>
                                  <p:childTnLst>
                                    <p:set>
                                      <p:cBhvr>
                                        <p:cTn dur="1" fill="hold">
                                          <p:stCondLst>
                                            <p:cond delay="0"/>
                                          </p:stCondLst>
                                        </p:cTn>
                                        <p:tgtEl>
                                          <p:spTgt spid="712"/>
                                        </p:tgtEl>
                                        <p:attrNameLst>
                                          <p:attrName>style.visibility</p:attrName>
                                        </p:attrNameLst>
                                      </p:cBhvr>
                                      <p:to>
                                        <p:strVal val="visible"/>
                                      </p:to>
                                    </p:set>
                                    <p:animEffect filter="fade" transition="in">
                                      <p:cBhvr>
                                        <p:cTn dur="500"/>
                                        <p:tgtEl>
                                          <p:spTgt spid="712"/>
                                        </p:tgtEl>
                                      </p:cBhvr>
                                    </p:animEffect>
                                  </p:childTnLst>
                                </p:cTn>
                              </p:par>
                              <p:par>
                                <p:cTn fill="hold" nodeType="withEffect" presetClass="entr" presetID="10" presetSubtype="0">
                                  <p:stCondLst>
                                    <p:cond delay="0"/>
                                  </p:stCondLst>
                                  <p:childTnLst>
                                    <p:set>
                                      <p:cBhvr>
                                        <p:cTn dur="1" fill="hold">
                                          <p:stCondLst>
                                            <p:cond delay="0"/>
                                          </p:stCondLst>
                                        </p:cTn>
                                        <p:tgtEl>
                                          <p:spTgt spid="710"/>
                                        </p:tgtEl>
                                        <p:attrNameLst>
                                          <p:attrName>style.visibility</p:attrName>
                                        </p:attrNameLst>
                                      </p:cBhvr>
                                      <p:to>
                                        <p:strVal val="visible"/>
                                      </p:to>
                                    </p:set>
                                    <p:animEffect filter="fade" transition="in">
                                      <p:cBhvr>
                                        <p:cTn dur="500"/>
                                        <p:tgtEl>
                                          <p:spTgt spid="7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500"/>
                                        <p:tgtEl>
                                          <p:spTgt spid="7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23" name="Google Shape;723;p33"/>
          <p:cNvSpPr txBox="1"/>
          <p:nvPr/>
        </p:nvSpPr>
        <p:spPr>
          <a:xfrm>
            <a:off x="228600" y="187372"/>
            <a:ext cx="2133600" cy="5334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Data Types</a:t>
            </a:r>
            <a:endParaRPr b="1" sz="3000">
              <a:solidFill>
                <a:srgbClr val="002060"/>
              </a:solidFill>
              <a:latin typeface="Times New Roman"/>
              <a:ea typeface="Times New Roman"/>
              <a:cs typeface="Times New Roman"/>
              <a:sym typeface="Times New Roman"/>
            </a:endParaRPr>
          </a:p>
        </p:txBody>
      </p:sp>
      <p:sp>
        <p:nvSpPr>
          <p:cNvPr id="724" name="Google Shape;724;p33"/>
          <p:cNvSpPr/>
          <p:nvPr/>
        </p:nvSpPr>
        <p:spPr>
          <a:xfrm>
            <a:off x="4114800" y="263572"/>
            <a:ext cx="3124200" cy="457200"/>
          </a:xfrm>
          <a:prstGeom prst="flowChartProcess">
            <a:avLst/>
          </a:prstGeom>
          <a:solidFill>
            <a:srgbClr val="2F5496"/>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Data Types</a:t>
            </a:r>
            <a:endParaRPr b="1" sz="2400">
              <a:solidFill>
                <a:schemeClr val="lt1"/>
              </a:solidFill>
              <a:latin typeface="Times New Roman"/>
              <a:ea typeface="Times New Roman"/>
              <a:cs typeface="Times New Roman"/>
              <a:sym typeface="Times New Roman"/>
            </a:endParaRPr>
          </a:p>
        </p:txBody>
      </p:sp>
      <p:sp>
        <p:nvSpPr>
          <p:cNvPr id="725" name="Google Shape;725;p33"/>
          <p:cNvSpPr/>
          <p:nvPr/>
        </p:nvSpPr>
        <p:spPr>
          <a:xfrm>
            <a:off x="1371599" y="925888"/>
            <a:ext cx="1600199" cy="45720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Primitive</a:t>
            </a:r>
            <a:endParaRPr/>
          </a:p>
        </p:txBody>
      </p:sp>
      <p:sp>
        <p:nvSpPr>
          <p:cNvPr id="726" name="Google Shape;726;p33"/>
          <p:cNvSpPr/>
          <p:nvPr/>
        </p:nvSpPr>
        <p:spPr>
          <a:xfrm>
            <a:off x="8131394" y="925888"/>
            <a:ext cx="2079406" cy="45720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Non Primitive</a:t>
            </a:r>
            <a:endParaRPr b="1" sz="2400">
              <a:solidFill>
                <a:schemeClr val="lt1"/>
              </a:solidFill>
              <a:latin typeface="Times New Roman"/>
              <a:ea typeface="Times New Roman"/>
              <a:cs typeface="Times New Roman"/>
              <a:sym typeface="Times New Roman"/>
            </a:endParaRPr>
          </a:p>
        </p:txBody>
      </p:sp>
      <p:sp>
        <p:nvSpPr>
          <p:cNvPr id="727" name="Google Shape;727;p33"/>
          <p:cNvSpPr/>
          <p:nvPr/>
        </p:nvSpPr>
        <p:spPr>
          <a:xfrm>
            <a:off x="3696567" y="4138972"/>
            <a:ext cx="2079490" cy="524470"/>
          </a:xfrm>
          <a:prstGeom prst="flowChartProcess">
            <a:avLst/>
          </a:prstGeom>
          <a:solidFill>
            <a:srgbClr val="2F5496"/>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Non-Numeric</a:t>
            </a:r>
            <a:endParaRPr b="1" sz="2400">
              <a:solidFill>
                <a:schemeClr val="lt1"/>
              </a:solidFill>
              <a:latin typeface="Times New Roman"/>
              <a:ea typeface="Times New Roman"/>
              <a:cs typeface="Times New Roman"/>
              <a:sym typeface="Times New Roman"/>
            </a:endParaRPr>
          </a:p>
        </p:txBody>
      </p:sp>
      <p:sp>
        <p:nvSpPr>
          <p:cNvPr id="728" name="Google Shape;728;p33"/>
          <p:cNvSpPr/>
          <p:nvPr/>
        </p:nvSpPr>
        <p:spPr>
          <a:xfrm>
            <a:off x="4102595" y="1467467"/>
            <a:ext cx="1600200" cy="459457"/>
          </a:xfrm>
          <a:prstGeom prst="flowChartProcess">
            <a:avLst/>
          </a:prstGeom>
          <a:solidFill>
            <a:srgbClr val="2F5496"/>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Numeric</a:t>
            </a:r>
            <a:endParaRPr b="1" sz="2400">
              <a:solidFill>
                <a:schemeClr val="lt1"/>
              </a:solidFill>
              <a:latin typeface="Times New Roman"/>
              <a:ea typeface="Times New Roman"/>
              <a:cs typeface="Times New Roman"/>
              <a:sym typeface="Times New Roman"/>
            </a:endParaRPr>
          </a:p>
        </p:txBody>
      </p:sp>
      <p:sp>
        <p:nvSpPr>
          <p:cNvPr id="729" name="Google Shape;729;p33"/>
          <p:cNvSpPr/>
          <p:nvPr/>
        </p:nvSpPr>
        <p:spPr>
          <a:xfrm>
            <a:off x="9451880" y="1720284"/>
            <a:ext cx="1354958" cy="451327"/>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Strings</a:t>
            </a:r>
            <a:endParaRPr b="1" sz="2400">
              <a:solidFill>
                <a:schemeClr val="lt1"/>
              </a:solidFill>
              <a:latin typeface="Times New Roman"/>
              <a:ea typeface="Times New Roman"/>
              <a:cs typeface="Times New Roman"/>
              <a:sym typeface="Times New Roman"/>
            </a:endParaRPr>
          </a:p>
        </p:txBody>
      </p:sp>
      <p:grpSp>
        <p:nvGrpSpPr>
          <p:cNvPr id="730" name="Google Shape;730;p33"/>
          <p:cNvGrpSpPr/>
          <p:nvPr/>
        </p:nvGrpSpPr>
        <p:grpSpPr>
          <a:xfrm>
            <a:off x="2971799" y="726486"/>
            <a:ext cx="5159595" cy="462144"/>
            <a:chOff x="3885631" y="1986916"/>
            <a:chExt cx="6248400" cy="340314"/>
          </a:xfrm>
        </p:grpSpPr>
        <p:cxnSp>
          <p:nvCxnSpPr>
            <p:cNvPr id="731" name="Google Shape;731;p33"/>
            <p:cNvCxnSpPr/>
            <p:nvPr/>
          </p:nvCxnSpPr>
          <p:spPr>
            <a:xfrm>
              <a:off x="3885631" y="2327229"/>
              <a:ext cx="6248400" cy="0"/>
            </a:xfrm>
            <a:prstGeom prst="straightConnector1">
              <a:avLst/>
            </a:prstGeom>
            <a:noFill/>
            <a:ln cap="rnd" cmpd="sng" w="44450">
              <a:solidFill>
                <a:srgbClr val="7F6000"/>
              </a:solidFill>
              <a:prstDash val="solid"/>
              <a:round/>
              <a:headEnd len="sm" w="sm" type="none"/>
              <a:tailEnd len="sm" w="sm" type="none"/>
            </a:ln>
          </p:spPr>
        </p:cxnSp>
        <p:cxnSp>
          <p:nvCxnSpPr>
            <p:cNvPr id="732" name="Google Shape;732;p33"/>
            <p:cNvCxnSpPr/>
            <p:nvPr/>
          </p:nvCxnSpPr>
          <p:spPr>
            <a:xfrm rot="10800000">
              <a:off x="7115437" y="1986916"/>
              <a:ext cx="0" cy="340314"/>
            </a:xfrm>
            <a:prstGeom prst="straightConnector1">
              <a:avLst/>
            </a:prstGeom>
            <a:noFill/>
            <a:ln cap="rnd" cmpd="sng" w="44450">
              <a:solidFill>
                <a:srgbClr val="7F6000"/>
              </a:solidFill>
              <a:prstDash val="solid"/>
              <a:round/>
              <a:headEnd len="sm" w="sm" type="none"/>
              <a:tailEnd len="sm" w="sm" type="none"/>
            </a:ln>
          </p:spPr>
        </p:cxnSp>
      </p:grpSp>
      <p:grpSp>
        <p:nvGrpSpPr>
          <p:cNvPr id="733" name="Google Shape;733;p33"/>
          <p:cNvGrpSpPr/>
          <p:nvPr/>
        </p:nvGrpSpPr>
        <p:grpSpPr>
          <a:xfrm>
            <a:off x="9094479" y="1383089"/>
            <a:ext cx="357401" cy="2666868"/>
            <a:chOff x="9094479" y="1383089"/>
            <a:chExt cx="357401" cy="2666868"/>
          </a:xfrm>
        </p:grpSpPr>
        <p:grpSp>
          <p:nvGrpSpPr>
            <p:cNvPr id="734" name="Google Shape;734;p33"/>
            <p:cNvGrpSpPr/>
            <p:nvPr/>
          </p:nvGrpSpPr>
          <p:grpSpPr>
            <a:xfrm rot="-5400000">
              <a:off x="7932496" y="2545071"/>
              <a:ext cx="2666868" cy="342903"/>
              <a:chOff x="2590231" y="1828800"/>
              <a:chExt cx="6248400" cy="342903"/>
            </a:xfrm>
          </p:grpSpPr>
          <p:cxnSp>
            <p:nvCxnSpPr>
              <p:cNvPr id="735" name="Google Shape;735;p33"/>
              <p:cNvCxnSpPr/>
              <p:nvPr/>
            </p:nvCxnSpPr>
            <p:spPr>
              <a:xfrm rot="10800000">
                <a:off x="2590231" y="1828800"/>
                <a:ext cx="0" cy="304800"/>
              </a:xfrm>
              <a:prstGeom prst="straightConnector1">
                <a:avLst/>
              </a:prstGeom>
              <a:noFill/>
              <a:ln cap="flat" cmpd="sng" w="38100">
                <a:solidFill>
                  <a:srgbClr val="7F6000"/>
                </a:solidFill>
                <a:prstDash val="solid"/>
                <a:miter lim="800000"/>
                <a:headEnd len="sm" w="sm" type="none"/>
                <a:tailEnd len="sm" w="sm" type="none"/>
              </a:ln>
            </p:spPr>
          </p:cxnSp>
          <p:cxnSp>
            <p:nvCxnSpPr>
              <p:cNvPr id="736" name="Google Shape;736;p33"/>
              <p:cNvCxnSpPr/>
              <p:nvPr/>
            </p:nvCxnSpPr>
            <p:spPr>
              <a:xfrm>
                <a:off x="2590231" y="1828800"/>
                <a:ext cx="6248400" cy="0"/>
              </a:xfrm>
              <a:prstGeom prst="straightConnector1">
                <a:avLst/>
              </a:prstGeom>
              <a:noFill/>
              <a:ln cap="flat" cmpd="sng" w="38100">
                <a:solidFill>
                  <a:srgbClr val="7F6000"/>
                </a:solidFill>
                <a:prstDash val="solid"/>
                <a:miter lim="800000"/>
                <a:headEnd len="sm" w="sm" type="none"/>
                <a:tailEnd len="sm" w="sm" type="none"/>
              </a:ln>
            </p:spPr>
          </p:cxnSp>
          <p:cxnSp>
            <p:nvCxnSpPr>
              <p:cNvPr id="737" name="Google Shape;737;p33"/>
              <p:cNvCxnSpPr/>
              <p:nvPr/>
            </p:nvCxnSpPr>
            <p:spPr>
              <a:xfrm rot="10800000">
                <a:off x="7519494" y="1828801"/>
                <a:ext cx="0" cy="342902"/>
              </a:xfrm>
              <a:prstGeom prst="straightConnector1">
                <a:avLst/>
              </a:prstGeom>
              <a:noFill/>
              <a:ln cap="flat" cmpd="sng" w="38100">
                <a:solidFill>
                  <a:srgbClr val="7F6000"/>
                </a:solidFill>
                <a:prstDash val="solid"/>
                <a:miter lim="800000"/>
                <a:headEnd len="sm" w="sm" type="none"/>
                <a:tailEnd len="sm" w="sm" type="none"/>
              </a:ln>
            </p:spPr>
          </p:cxnSp>
        </p:grpSp>
        <p:cxnSp>
          <p:nvCxnSpPr>
            <p:cNvPr id="738" name="Google Shape;738;p33"/>
            <p:cNvCxnSpPr/>
            <p:nvPr/>
          </p:nvCxnSpPr>
          <p:spPr>
            <a:xfrm>
              <a:off x="9280429" y="2731815"/>
              <a:ext cx="0" cy="342902"/>
            </a:xfrm>
            <a:prstGeom prst="straightConnector1">
              <a:avLst/>
            </a:prstGeom>
            <a:noFill/>
            <a:ln cap="flat" cmpd="sng" w="38100">
              <a:solidFill>
                <a:srgbClr val="7F6000"/>
              </a:solidFill>
              <a:prstDash val="solid"/>
              <a:miter lim="800000"/>
              <a:headEnd len="sm" w="sm" type="none"/>
              <a:tailEnd len="sm" w="sm" type="none"/>
            </a:ln>
          </p:spPr>
        </p:cxnSp>
      </p:grpSp>
      <p:sp>
        <p:nvSpPr>
          <p:cNvPr id="739" name="Google Shape;739;p33"/>
          <p:cNvSpPr/>
          <p:nvPr/>
        </p:nvSpPr>
        <p:spPr>
          <a:xfrm>
            <a:off x="9475053" y="2658028"/>
            <a:ext cx="1372169" cy="40146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Arrays</a:t>
            </a:r>
            <a:endParaRPr b="1" sz="2400">
              <a:solidFill>
                <a:schemeClr val="lt1"/>
              </a:solidFill>
              <a:latin typeface="Times New Roman"/>
              <a:ea typeface="Times New Roman"/>
              <a:cs typeface="Times New Roman"/>
              <a:sym typeface="Times New Roman"/>
            </a:endParaRPr>
          </a:p>
        </p:txBody>
      </p:sp>
      <p:sp>
        <p:nvSpPr>
          <p:cNvPr id="740" name="Google Shape;740;p33"/>
          <p:cNvSpPr/>
          <p:nvPr/>
        </p:nvSpPr>
        <p:spPr>
          <a:xfrm>
            <a:off x="9421063" y="3680314"/>
            <a:ext cx="1901919" cy="739286"/>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User Defined Classes</a:t>
            </a:r>
            <a:endParaRPr b="1" sz="2400">
              <a:solidFill>
                <a:schemeClr val="lt1"/>
              </a:solidFill>
              <a:latin typeface="Times New Roman"/>
              <a:ea typeface="Times New Roman"/>
              <a:cs typeface="Times New Roman"/>
              <a:sym typeface="Times New Roman"/>
            </a:endParaRPr>
          </a:p>
        </p:txBody>
      </p:sp>
      <p:sp>
        <p:nvSpPr>
          <p:cNvPr id="741" name="Google Shape;741;p33"/>
          <p:cNvSpPr/>
          <p:nvPr/>
        </p:nvSpPr>
        <p:spPr>
          <a:xfrm>
            <a:off x="2362200" y="4825749"/>
            <a:ext cx="1555077" cy="51121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Character</a:t>
            </a:r>
            <a:endParaRPr b="1" sz="2400">
              <a:solidFill>
                <a:schemeClr val="lt1"/>
              </a:solidFill>
              <a:latin typeface="Times New Roman"/>
              <a:ea typeface="Times New Roman"/>
              <a:cs typeface="Times New Roman"/>
              <a:sym typeface="Times New Roman"/>
            </a:endParaRPr>
          </a:p>
        </p:txBody>
      </p:sp>
      <p:sp>
        <p:nvSpPr>
          <p:cNvPr id="742" name="Google Shape;742;p33"/>
          <p:cNvSpPr/>
          <p:nvPr/>
        </p:nvSpPr>
        <p:spPr>
          <a:xfrm>
            <a:off x="5545805" y="4825749"/>
            <a:ext cx="1372169" cy="51121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Boolean</a:t>
            </a:r>
            <a:endParaRPr b="1" sz="2400">
              <a:solidFill>
                <a:schemeClr val="lt1"/>
              </a:solidFill>
              <a:latin typeface="Times New Roman"/>
              <a:ea typeface="Times New Roman"/>
              <a:cs typeface="Times New Roman"/>
              <a:sym typeface="Times New Roman"/>
            </a:endParaRPr>
          </a:p>
        </p:txBody>
      </p:sp>
      <p:sp>
        <p:nvSpPr>
          <p:cNvPr id="743" name="Google Shape;743;p33"/>
          <p:cNvSpPr/>
          <p:nvPr/>
        </p:nvSpPr>
        <p:spPr>
          <a:xfrm>
            <a:off x="2763708" y="2145536"/>
            <a:ext cx="1430342" cy="51121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Integer</a:t>
            </a:r>
            <a:endParaRPr b="1" sz="2400">
              <a:solidFill>
                <a:schemeClr val="lt1"/>
              </a:solidFill>
              <a:latin typeface="Times New Roman"/>
              <a:ea typeface="Times New Roman"/>
              <a:cs typeface="Times New Roman"/>
              <a:sym typeface="Times New Roman"/>
            </a:endParaRPr>
          </a:p>
        </p:txBody>
      </p:sp>
      <p:sp>
        <p:nvSpPr>
          <p:cNvPr id="744" name="Google Shape;744;p33"/>
          <p:cNvSpPr/>
          <p:nvPr/>
        </p:nvSpPr>
        <p:spPr>
          <a:xfrm>
            <a:off x="5711749" y="2145536"/>
            <a:ext cx="2274954" cy="51121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chemeClr val="lt1"/>
                </a:solidFill>
                <a:latin typeface="Times New Roman"/>
                <a:ea typeface="Times New Roman"/>
                <a:cs typeface="Times New Roman"/>
                <a:sym typeface="Times New Roman"/>
              </a:rPr>
              <a:t>Floating Point</a:t>
            </a:r>
            <a:endParaRPr b="1" sz="2400">
              <a:solidFill>
                <a:schemeClr val="lt1"/>
              </a:solidFill>
              <a:latin typeface="Times New Roman"/>
              <a:ea typeface="Times New Roman"/>
              <a:cs typeface="Times New Roman"/>
              <a:sym typeface="Times New Roman"/>
            </a:endParaRPr>
          </a:p>
        </p:txBody>
      </p:sp>
      <p:sp>
        <p:nvSpPr>
          <p:cNvPr id="745" name="Google Shape;745;p33"/>
          <p:cNvSpPr/>
          <p:nvPr/>
        </p:nvSpPr>
        <p:spPr>
          <a:xfrm>
            <a:off x="2311128" y="2925330"/>
            <a:ext cx="2390730" cy="990600"/>
          </a:xfrm>
          <a:prstGeom prst="rect">
            <a:avLst/>
          </a:prstGeom>
          <a:solidFill>
            <a:srgbClr val="2F5496"/>
          </a:solidFill>
          <a:ln cap="flat" cmpd="sng" w="127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46" name="Google Shape;746;p33"/>
          <p:cNvSpPr/>
          <p:nvPr/>
        </p:nvSpPr>
        <p:spPr>
          <a:xfrm>
            <a:off x="2388194" y="3039860"/>
            <a:ext cx="1009541" cy="34267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byte</a:t>
            </a:r>
            <a:endParaRPr b="1" sz="1800">
              <a:solidFill>
                <a:schemeClr val="lt1"/>
              </a:solidFill>
              <a:latin typeface="Times New Roman"/>
              <a:ea typeface="Times New Roman"/>
              <a:cs typeface="Times New Roman"/>
              <a:sym typeface="Times New Roman"/>
            </a:endParaRPr>
          </a:p>
        </p:txBody>
      </p:sp>
      <p:sp>
        <p:nvSpPr>
          <p:cNvPr id="747" name="Google Shape;747;p33"/>
          <p:cNvSpPr/>
          <p:nvPr/>
        </p:nvSpPr>
        <p:spPr>
          <a:xfrm>
            <a:off x="3597825" y="3030413"/>
            <a:ext cx="1009541" cy="34267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short</a:t>
            </a:r>
            <a:endParaRPr b="1" sz="1800">
              <a:solidFill>
                <a:schemeClr val="lt1"/>
              </a:solidFill>
              <a:latin typeface="Times New Roman"/>
              <a:ea typeface="Times New Roman"/>
              <a:cs typeface="Times New Roman"/>
              <a:sym typeface="Times New Roman"/>
            </a:endParaRPr>
          </a:p>
        </p:txBody>
      </p:sp>
      <p:sp>
        <p:nvSpPr>
          <p:cNvPr id="748" name="Google Shape;748;p33"/>
          <p:cNvSpPr/>
          <p:nvPr/>
        </p:nvSpPr>
        <p:spPr>
          <a:xfrm>
            <a:off x="2383660" y="3507286"/>
            <a:ext cx="1009541" cy="34267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int</a:t>
            </a:r>
            <a:endParaRPr b="1" sz="1800">
              <a:solidFill>
                <a:schemeClr val="lt1"/>
              </a:solidFill>
              <a:latin typeface="Times New Roman"/>
              <a:ea typeface="Times New Roman"/>
              <a:cs typeface="Times New Roman"/>
              <a:sym typeface="Times New Roman"/>
            </a:endParaRPr>
          </a:p>
        </p:txBody>
      </p:sp>
      <p:sp>
        <p:nvSpPr>
          <p:cNvPr id="749" name="Google Shape;749;p33"/>
          <p:cNvSpPr/>
          <p:nvPr/>
        </p:nvSpPr>
        <p:spPr>
          <a:xfrm>
            <a:off x="3597825" y="3507286"/>
            <a:ext cx="1009541" cy="34267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long</a:t>
            </a:r>
            <a:endParaRPr b="1" sz="1800">
              <a:solidFill>
                <a:schemeClr val="lt1"/>
              </a:solidFill>
              <a:latin typeface="Times New Roman"/>
              <a:ea typeface="Times New Roman"/>
              <a:cs typeface="Times New Roman"/>
              <a:sym typeface="Times New Roman"/>
            </a:endParaRPr>
          </a:p>
        </p:txBody>
      </p:sp>
      <p:grpSp>
        <p:nvGrpSpPr>
          <p:cNvPr id="750" name="Google Shape;750;p33"/>
          <p:cNvGrpSpPr/>
          <p:nvPr/>
        </p:nvGrpSpPr>
        <p:grpSpPr>
          <a:xfrm>
            <a:off x="3925239" y="4663442"/>
            <a:ext cx="1612604" cy="459214"/>
            <a:chOff x="3885631" y="1986916"/>
            <a:chExt cx="6248400" cy="340314"/>
          </a:xfrm>
        </p:grpSpPr>
        <p:cxnSp>
          <p:nvCxnSpPr>
            <p:cNvPr id="751" name="Google Shape;751;p33"/>
            <p:cNvCxnSpPr/>
            <p:nvPr/>
          </p:nvCxnSpPr>
          <p:spPr>
            <a:xfrm>
              <a:off x="3885631" y="2327229"/>
              <a:ext cx="6248400" cy="0"/>
            </a:xfrm>
            <a:prstGeom prst="straightConnector1">
              <a:avLst/>
            </a:prstGeom>
            <a:noFill/>
            <a:ln cap="flat" cmpd="sng" w="44450">
              <a:solidFill>
                <a:srgbClr val="7F6000"/>
              </a:solidFill>
              <a:prstDash val="solid"/>
              <a:miter lim="800000"/>
              <a:headEnd len="sm" w="sm" type="none"/>
              <a:tailEnd len="sm" w="sm" type="none"/>
            </a:ln>
          </p:spPr>
        </p:cxnSp>
        <p:cxnSp>
          <p:nvCxnSpPr>
            <p:cNvPr id="752" name="Google Shape;752;p33"/>
            <p:cNvCxnSpPr/>
            <p:nvPr/>
          </p:nvCxnSpPr>
          <p:spPr>
            <a:xfrm rot="10800000">
              <a:off x="6947611" y="1986916"/>
              <a:ext cx="0" cy="340314"/>
            </a:xfrm>
            <a:prstGeom prst="straightConnector1">
              <a:avLst/>
            </a:prstGeom>
            <a:noFill/>
            <a:ln cap="flat" cmpd="sng" w="44450">
              <a:solidFill>
                <a:srgbClr val="7F6000"/>
              </a:solidFill>
              <a:prstDash val="solid"/>
              <a:miter lim="800000"/>
              <a:headEnd len="sm" w="sm" type="none"/>
              <a:tailEnd len="sm" w="sm" type="none"/>
            </a:ln>
          </p:spPr>
        </p:cxnSp>
      </p:grpSp>
      <p:sp>
        <p:nvSpPr>
          <p:cNvPr id="753" name="Google Shape;753;p33"/>
          <p:cNvSpPr/>
          <p:nvPr/>
        </p:nvSpPr>
        <p:spPr>
          <a:xfrm>
            <a:off x="5660785" y="3018450"/>
            <a:ext cx="2390730" cy="657687"/>
          </a:xfrm>
          <a:prstGeom prst="rect">
            <a:avLst/>
          </a:prstGeom>
          <a:solidFill>
            <a:srgbClr val="2F5496"/>
          </a:solidFill>
          <a:ln cap="flat" cmpd="sng" w="12700">
            <a:solidFill>
              <a:srgbClr val="00B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4" name="Google Shape;754;p33"/>
          <p:cNvSpPr/>
          <p:nvPr/>
        </p:nvSpPr>
        <p:spPr>
          <a:xfrm>
            <a:off x="5731995" y="3203713"/>
            <a:ext cx="1009541" cy="34267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float</a:t>
            </a:r>
            <a:endParaRPr b="1" sz="1800">
              <a:solidFill>
                <a:schemeClr val="lt1"/>
              </a:solidFill>
              <a:latin typeface="Times New Roman"/>
              <a:ea typeface="Times New Roman"/>
              <a:cs typeface="Times New Roman"/>
              <a:sym typeface="Times New Roman"/>
            </a:endParaRPr>
          </a:p>
        </p:txBody>
      </p:sp>
      <p:sp>
        <p:nvSpPr>
          <p:cNvPr id="755" name="Google Shape;755;p33"/>
          <p:cNvSpPr/>
          <p:nvPr/>
        </p:nvSpPr>
        <p:spPr>
          <a:xfrm>
            <a:off x="6943481" y="3200297"/>
            <a:ext cx="1009541" cy="342670"/>
          </a:xfrm>
          <a:prstGeom prst="flowChartProcess">
            <a:avLst/>
          </a:prstGeom>
          <a:solidFill>
            <a:srgbClr val="00B050"/>
          </a:solidFill>
          <a:ln cap="flat" cmpd="sng" w="12700">
            <a:solidFill>
              <a:srgbClr val="00B050"/>
            </a:solidFill>
            <a:prstDash val="solid"/>
            <a:miter lim="800000"/>
            <a:headEnd len="sm" w="sm" type="none"/>
            <a:tailEnd len="sm" w="sm" type="none"/>
          </a:ln>
          <a:effectLst>
            <a:outerShdw blurRad="57785" algn="ctr" dir="3180000" dist="3302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Times New Roman"/>
                <a:ea typeface="Times New Roman"/>
                <a:cs typeface="Times New Roman"/>
                <a:sym typeface="Times New Roman"/>
              </a:rPr>
              <a:t>double</a:t>
            </a:r>
            <a:endParaRPr b="1" sz="1800">
              <a:solidFill>
                <a:schemeClr val="lt1"/>
              </a:solidFill>
              <a:latin typeface="Times New Roman"/>
              <a:ea typeface="Times New Roman"/>
              <a:cs typeface="Times New Roman"/>
              <a:sym typeface="Times New Roman"/>
            </a:endParaRPr>
          </a:p>
        </p:txBody>
      </p:sp>
      <p:grpSp>
        <p:nvGrpSpPr>
          <p:cNvPr id="756" name="Google Shape;756;p33"/>
          <p:cNvGrpSpPr/>
          <p:nvPr/>
        </p:nvGrpSpPr>
        <p:grpSpPr>
          <a:xfrm>
            <a:off x="4194050" y="1935567"/>
            <a:ext cx="1517699" cy="459214"/>
            <a:chOff x="3885631" y="1986915"/>
            <a:chExt cx="6248400" cy="340314"/>
          </a:xfrm>
        </p:grpSpPr>
        <p:cxnSp>
          <p:nvCxnSpPr>
            <p:cNvPr id="757" name="Google Shape;757;p33"/>
            <p:cNvCxnSpPr/>
            <p:nvPr/>
          </p:nvCxnSpPr>
          <p:spPr>
            <a:xfrm>
              <a:off x="3885631" y="2327229"/>
              <a:ext cx="6248400" cy="0"/>
            </a:xfrm>
            <a:prstGeom prst="straightConnector1">
              <a:avLst/>
            </a:prstGeom>
            <a:noFill/>
            <a:ln cap="flat" cmpd="sng" w="44450">
              <a:solidFill>
                <a:srgbClr val="7F6000"/>
              </a:solidFill>
              <a:prstDash val="solid"/>
              <a:miter lim="800000"/>
              <a:headEnd len="sm" w="sm" type="none"/>
              <a:tailEnd len="sm" w="sm" type="none"/>
            </a:ln>
          </p:spPr>
        </p:cxnSp>
        <p:cxnSp>
          <p:nvCxnSpPr>
            <p:cNvPr id="758" name="Google Shape;758;p33"/>
            <p:cNvCxnSpPr/>
            <p:nvPr/>
          </p:nvCxnSpPr>
          <p:spPr>
            <a:xfrm rot="10800000">
              <a:off x="6815825" y="1986915"/>
              <a:ext cx="0" cy="340314"/>
            </a:xfrm>
            <a:prstGeom prst="straightConnector1">
              <a:avLst/>
            </a:prstGeom>
            <a:noFill/>
            <a:ln cap="flat" cmpd="sng" w="44450">
              <a:solidFill>
                <a:srgbClr val="7F6000"/>
              </a:solidFill>
              <a:prstDash val="solid"/>
              <a:miter lim="800000"/>
              <a:headEnd len="sm" w="sm" type="none"/>
              <a:tailEnd len="sm" w="sm" type="none"/>
            </a:ln>
          </p:spPr>
        </p:cxnSp>
      </p:grpSp>
      <p:cxnSp>
        <p:nvCxnSpPr>
          <p:cNvPr id="759" name="Google Shape;759;p33"/>
          <p:cNvCxnSpPr>
            <a:stCxn id="744" idx="2"/>
            <a:endCxn id="753" idx="0"/>
          </p:cNvCxnSpPr>
          <p:nvPr/>
        </p:nvCxnSpPr>
        <p:spPr>
          <a:xfrm>
            <a:off x="6849226" y="2656746"/>
            <a:ext cx="6900" cy="361800"/>
          </a:xfrm>
          <a:prstGeom prst="straightConnector1">
            <a:avLst/>
          </a:prstGeom>
          <a:noFill/>
          <a:ln cap="flat" cmpd="sng" w="44450">
            <a:solidFill>
              <a:srgbClr val="7F6000"/>
            </a:solidFill>
            <a:prstDash val="solid"/>
            <a:miter lim="800000"/>
            <a:headEnd len="sm" w="sm" type="none"/>
            <a:tailEnd len="sm" w="sm" type="none"/>
          </a:ln>
        </p:spPr>
      </p:cxnSp>
      <p:cxnSp>
        <p:nvCxnSpPr>
          <p:cNvPr id="760" name="Google Shape;760;p33"/>
          <p:cNvCxnSpPr>
            <a:endCxn id="745" idx="0"/>
          </p:cNvCxnSpPr>
          <p:nvPr/>
        </p:nvCxnSpPr>
        <p:spPr>
          <a:xfrm>
            <a:off x="3506493" y="2656830"/>
            <a:ext cx="0" cy="268500"/>
          </a:xfrm>
          <a:prstGeom prst="straightConnector1">
            <a:avLst/>
          </a:prstGeom>
          <a:noFill/>
          <a:ln cap="flat" cmpd="sng" w="44450">
            <a:solidFill>
              <a:srgbClr val="7F6000"/>
            </a:solidFill>
            <a:prstDash val="solid"/>
            <a:miter lim="800000"/>
            <a:headEnd len="sm" w="sm" type="none"/>
            <a:tailEnd len="sm" w="sm" type="none"/>
          </a:ln>
        </p:spPr>
      </p:cxnSp>
      <p:grpSp>
        <p:nvGrpSpPr>
          <p:cNvPr id="761" name="Google Shape;761;p33"/>
          <p:cNvGrpSpPr/>
          <p:nvPr/>
        </p:nvGrpSpPr>
        <p:grpSpPr>
          <a:xfrm>
            <a:off x="2171667" y="1383088"/>
            <a:ext cx="1930928" cy="3036600"/>
            <a:chOff x="2171667" y="1383088"/>
            <a:chExt cx="1930928" cy="3036600"/>
          </a:xfrm>
        </p:grpSpPr>
        <p:grpSp>
          <p:nvGrpSpPr>
            <p:cNvPr id="762" name="Google Shape;762;p33"/>
            <p:cNvGrpSpPr/>
            <p:nvPr/>
          </p:nvGrpSpPr>
          <p:grpSpPr>
            <a:xfrm rot="-5400000">
              <a:off x="1781714" y="2080326"/>
              <a:ext cx="2710834" cy="1930928"/>
              <a:chOff x="2468218" y="1917181"/>
              <a:chExt cx="5721825" cy="1930928"/>
            </a:xfrm>
          </p:grpSpPr>
          <p:cxnSp>
            <p:nvCxnSpPr>
              <p:cNvPr id="763" name="Google Shape;763;p33"/>
              <p:cNvCxnSpPr>
                <a:stCxn id="727" idx="1"/>
              </p:cNvCxnSpPr>
              <p:nvPr/>
            </p:nvCxnSpPr>
            <p:spPr>
              <a:xfrm rot="-5400000">
                <a:off x="1705768" y="2679631"/>
                <a:ext cx="1524900" cy="0"/>
              </a:xfrm>
              <a:prstGeom prst="straightConnector1">
                <a:avLst/>
              </a:prstGeom>
              <a:noFill/>
              <a:ln cap="flat" cmpd="sng" w="47625">
                <a:solidFill>
                  <a:srgbClr val="7F6000"/>
                </a:solidFill>
                <a:prstDash val="solid"/>
                <a:miter lim="800000"/>
                <a:headEnd len="sm" w="sm" type="none"/>
                <a:tailEnd len="sm" w="sm" type="none"/>
              </a:ln>
            </p:spPr>
          </p:cxnSp>
          <p:cxnSp>
            <p:nvCxnSpPr>
              <p:cNvPr id="764" name="Google Shape;764;p33"/>
              <p:cNvCxnSpPr>
                <a:stCxn id="728" idx="1"/>
              </p:cNvCxnSpPr>
              <p:nvPr/>
            </p:nvCxnSpPr>
            <p:spPr>
              <a:xfrm rot="-5400000">
                <a:off x="7217443" y="2875509"/>
                <a:ext cx="1930800" cy="14400"/>
              </a:xfrm>
              <a:prstGeom prst="straightConnector1">
                <a:avLst/>
              </a:prstGeom>
              <a:noFill/>
              <a:ln cap="flat" cmpd="sng" w="47625">
                <a:solidFill>
                  <a:srgbClr val="7F6000"/>
                </a:solidFill>
                <a:prstDash val="solid"/>
                <a:miter lim="800000"/>
                <a:headEnd len="sm" w="sm" type="none"/>
                <a:tailEnd len="sm" w="sm" type="none"/>
              </a:ln>
            </p:spPr>
          </p:cxnSp>
        </p:grpSp>
        <p:cxnSp>
          <p:nvCxnSpPr>
            <p:cNvPr id="765" name="Google Shape;765;p33"/>
            <p:cNvCxnSpPr>
              <a:endCxn id="725" idx="2"/>
            </p:cNvCxnSpPr>
            <p:nvPr/>
          </p:nvCxnSpPr>
          <p:spPr>
            <a:xfrm rot="10800000">
              <a:off x="2171699" y="1383088"/>
              <a:ext cx="0" cy="3036600"/>
            </a:xfrm>
            <a:prstGeom prst="straightConnector1">
              <a:avLst/>
            </a:prstGeom>
            <a:noFill/>
            <a:ln cap="flat" cmpd="sng" w="47625">
              <a:solidFill>
                <a:srgbClr val="7F6000"/>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4"/>
                                        </p:tgtEl>
                                        <p:attrNameLst>
                                          <p:attrName>style.visibility</p:attrName>
                                        </p:attrNameLst>
                                      </p:cBhvr>
                                      <p:to>
                                        <p:strVal val="visible"/>
                                      </p:to>
                                    </p:set>
                                    <p:animEffect filter="fade" transition="in">
                                      <p:cBhvr>
                                        <p:cTn dur="500"/>
                                        <p:tgtEl>
                                          <p:spTgt spid="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gtEl>
                                        <p:attrNameLst>
                                          <p:attrName>style.visibility</p:attrName>
                                        </p:attrNameLst>
                                      </p:cBhvr>
                                      <p:to>
                                        <p:strVal val="visible"/>
                                      </p:to>
                                    </p:set>
                                    <p:animEffect filter="fade" transition="in">
                                      <p:cBhvr>
                                        <p:cTn dur="500"/>
                                        <p:tgtEl>
                                          <p:spTgt spid="725"/>
                                        </p:tgtEl>
                                      </p:cBhvr>
                                    </p:animEffect>
                                  </p:childTnLst>
                                </p:cTn>
                              </p:par>
                              <p:par>
                                <p:cTn fill="hold" nodeType="withEffect" presetClass="entr" presetID="10" presetSubtype="0">
                                  <p:stCondLst>
                                    <p:cond delay="0"/>
                                  </p:stCondLst>
                                  <p:childTnLst>
                                    <p:set>
                                      <p:cBhvr>
                                        <p:cTn dur="1" fill="hold">
                                          <p:stCondLst>
                                            <p:cond delay="0"/>
                                          </p:stCondLst>
                                        </p:cTn>
                                        <p:tgtEl>
                                          <p:spTgt spid="730"/>
                                        </p:tgtEl>
                                        <p:attrNameLst>
                                          <p:attrName>style.visibility</p:attrName>
                                        </p:attrNameLst>
                                      </p:cBhvr>
                                      <p:to>
                                        <p:strVal val="visible"/>
                                      </p:to>
                                    </p:set>
                                    <p:animEffect filter="fade" transition="in">
                                      <p:cBhvr>
                                        <p:cTn dur="500"/>
                                        <p:tgtEl>
                                          <p:spTgt spid="730"/>
                                        </p:tgtEl>
                                      </p:cBhvr>
                                    </p:animEffect>
                                  </p:childTnLst>
                                </p:cTn>
                              </p:par>
                              <p:par>
                                <p:cTn fill="hold" nodeType="withEffect" presetClass="entr" presetID="10" presetSubtype="0">
                                  <p:stCondLst>
                                    <p:cond delay="0"/>
                                  </p:stCondLst>
                                  <p:childTnLst>
                                    <p:set>
                                      <p:cBhvr>
                                        <p:cTn dur="1" fill="hold">
                                          <p:stCondLst>
                                            <p:cond delay="0"/>
                                          </p:stCondLst>
                                        </p:cTn>
                                        <p:tgtEl>
                                          <p:spTgt spid="726"/>
                                        </p:tgtEl>
                                        <p:attrNameLst>
                                          <p:attrName>style.visibility</p:attrName>
                                        </p:attrNameLst>
                                      </p:cBhvr>
                                      <p:to>
                                        <p:strVal val="visible"/>
                                      </p:to>
                                    </p:set>
                                    <p:animEffect filter="fade" transition="in">
                                      <p:cBhvr>
                                        <p:cTn dur="500"/>
                                        <p:tgtEl>
                                          <p:spTgt spid="7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3"/>
                                        </p:tgtEl>
                                        <p:attrNameLst>
                                          <p:attrName>style.visibility</p:attrName>
                                        </p:attrNameLst>
                                      </p:cBhvr>
                                      <p:to>
                                        <p:strVal val="visible"/>
                                      </p:to>
                                    </p:set>
                                    <p:animEffect filter="fade" transition="in">
                                      <p:cBhvr>
                                        <p:cTn dur="500"/>
                                        <p:tgtEl>
                                          <p:spTgt spid="7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9"/>
                                        </p:tgtEl>
                                        <p:attrNameLst>
                                          <p:attrName>style.visibility</p:attrName>
                                        </p:attrNameLst>
                                      </p:cBhvr>
                                      <p:to>
                                        <p:strVal val="visible"/>
                                      </p:to>
                                    </p:set>
                                    <p:animEffect filter="fade" transition="in">
                                      <p:cBhvr>
                                        <p:cTn dur="500"/>
                                        <p:tgtEl>
                                          <p:spTgt spid="7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9"/>
                                        </p:tgtEl>
                                        <p:attrNameLst>
                                          <p:attrName>style.visibility</p:attrName>
                                        </p:attrNameLst>
                                      </p:cBhvr>
                                      <p:to>
                                        <p:strVal val="visible"/>
                                      </p:to>
                                    </p:set>
                                    <p:animEffect filter="fade" transition="in">
                                      <p:cBhvr>
                                        <p:cTn dur="500"/>
                                        <p:tgtEl>
                                          <p:spTgt spid="7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0"/>
                                        </p:tgtEl>
                                        <p:attrNameLst>
                                          <p:attrName>style.visibility</p:attrName>
                                        </p:attrNameLst>
                                      </p:cBhvr>
                                      <p:to>
                                        <p:strVal val="visible"/>
                                      </p:to>
                                    </p:set>
                                    <p:animEffect filter="fade" transition="in">
                                      <p:cBhvr>
                                        <p:cTn dur="500"/>
                                        <p:tgtEl>
                                          <p:spTgt spid="7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1"/>
                                        </p:tgtEl>
                                        <p:attrNameLst>
                                          <p:attrName>style.visibility</p:attrName>
                                        </p:attrNameLst>
                                      </p:cBhvr>
                                      <p:to>
                                        <p:strVal val="visible"/>
                                      </p:to>
                                    </p:set>
                                    <p:animEffect filter="fade" transition="in">
                                      <p:cBhvr>
                                        <p:cTn dur="500"/>
                                        <p:tgtEl>
                                          <p:spTgt spid="7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500"/>
                                        <p:tgtEl>
                                          <p:spTgt spid="7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500"/>
                                        <p:tgtEl>
                                          <p:spTgt spid="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500"/>
                                        <p:tgtEl>
                                          <p:spTgt spid="741"/>
                                        </p:tgtEl>
                                      </p:cBhvr>
                                    </p:animEffect>
                                  </p:childTnLst>
                                </p:cTn>
                              </p:par>
                              <p:par>
                                <p:cTn fill="hold" nodeType="withEffect" presetClass="entr" presetID="10" presetSubtype="0">
                                  <p:stCondLst>
                                    <p:cond delay="0"/>
                                  </p:stCondLst>
                                  <p:childTnLst>
                                    <p:set>
                                      <p:cBhvr>
                                        <p:cTn dur="1" fill="hold">
                                          <p:stCondLst>
                                            <p:cond delay="0"/>
                                          </p:stCondLst>
                                        </p:cTn>
                                        <p:tgtEl>
                                          <p:spTgt spid="750"/>
                                        </p:tgtEl>
                                        <p:attrNameLst>
                                          <p:attrName>style.visibility</p:attrName>
                                        </p:attrNameLst>
                                      </p:cBhvr>
                                      <p:to>
                                        <p:strVal val="visible"/>
                                      </p:to>
                                    </p:set>
                                    <p:animEffect filter="fade" transition="in">
                                      <p:cBhvr>
                                        <p:cTn dur="500"/>
                                        <p:tgtEl>
                                          <p:spTgt spid="750"/>
                                        </p:tgtEl>
                                      </p:cBhvr>
                                    </p:animEffect>
                                  </p:childTnLst>
                                </p:cTn>
                              </p:par>
                              <p:par>
                                <p:cTn fill="hold" nodeType="withEffect" presetClass="entr" presetID="10" presetSubtype="0">
                                  <p:stCondLst>
                                    <p:cond delay="0"/>
                                  </p:stCondLst>
                                  <p:childTnLst>
                                    <p:set>
                                      <p:cBhvr>
                                        <p:cTn dur="1" fill="hold">
                                          <p:stCondLst>
                                            <p:cond delay="0"/>
                                          </p:stCondLst>
                                        </p:cTn>
                                        <p:tgtEl>
                                          <p:spTgt spid="742"/>
                                        </p:tgtEl>
                                        <p:attrNameLst>
                                          <p:attrName>style.visibility</p:attrName>
                                        </p:attrNameLst>
                                      </p:cBhvr>
                                      <p:to>
                                        <p:strVal val="visible"/>
                                      </p:to>
                                    </p:set>
                                    <p:animEffect filter="fade" transition="in">
                                      <p:cBhvr>
                                        <p:cTn dur="500"/>
                                        <p:tgtEl>
                                          <p:spTgt spid="7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3"/>
                                        </p:tgtEl>
                                        <p:attrNameLst>
                                          <p:attrName>style.visibility</p:attrName>
                                        </p:attrNameLst>
                                      </p:cBhvr>
                                      <p:to>
                                        <p:strVal val="visible"/>
                                      </p:to>
                                    </p:set>
                                    <p:animEffect filter="fade" transition="in">
                                      <p:cBhvr>
                                        <p:cTn dur="500"/>
                                        <p:tgtEl>
                                          <p:spTgt spid="743"/>
                                        </p:tgtEl>
                                      </p:cBhvr>
                                    </p:animEffect>
                                  </p:childTnLst>
                                </p:cTn>
                              </p:par>
                              <p:par>
                                <p:cTn fill="hold" nodeType="with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500"/>
                                        <p:tgtEl>
                                          <p:spTgt spid="756"/>
                                        </p:tgtEl>
                                      </p:cBhvr>
                                    </p:animEffect>
                                  </p:childTnLst>
                                </p:cTn>
                              </p:par>
                              <p:par>
                                <p:cTn fill="hold" nodeType="with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500"/>
                                        <p:tgtEl>
                                          <p:spTgt spid="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500"/>
                                        <p:tgtEl>
                                          <p:spTgt spid="760"/>
                                        </p:tgtEl>
                                      </p:cBhvr>
                                    </p:animEffect>
                                  </p:childTnLst>
                                </p:cTn>
                              </p:par>
                              <p:par>
                                <p:cTn fill="hold" nodeType="withEffect" presetClass="entr" presetID="10" presetSubtype="0">
                                  <p:stCondLst>
                                    <p:cond delay="0"/>
                                  </p:stCondLst>
                                  <p:childTnLst>
                                    <p:set>
                                      <p:cBhvr>
                                        <p:cTn dur="1" fill="hold">
                                          <p:stCondLst>
                                            <p:cond delay="0"/>
                                          </p:stCondLst>
                                        </p:cTn>
                                        <p:tgtEl>
                                          <p:spTgt spid="745"/>
                                        </p:tgtEl>
                                        <p:attrNameLst>
                                          <p:attrName>style.visibility</p:attrName>
                                        </p:attrNameLst>
                                      </p:cBhvr>
                                      <p:to>
                                        <p:strVal val="visible"/>
                                      </p:to>
                                    </p:set>
                                    <p:animEffect filter="fade" transition="in">
                                      <p:cBhvr>
                                        <p:cTn dur="500"/>
                                        <p:tgtEl>
                                          <p:spTgt spid="7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6"/>
                                        </p:tgtEl>
                                        <p:attrNameLst>
                                          <p:attrName>style.visibility</p:attrName>
                                        </p:attrNameLst>
                                      </p:cBhvr>
                                      <p:to>
                                        <p:strVal val="visible"/>
                                      </p:to>
                                    </p:set>
                                    <p:animEffect filter="fade" transition="in">
                                      <p:cBhvr>
                                        <p:cTn dur="500"/>
                                        <p:tgtEl>
                                          <p:spTgt spid="7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7"/>
                                        </p:tgtEl>
                                        <p:attrNameLst>
                                          <p:attrName>style.visibility</p:attrName>
                                        </p:attrNameLst>
                                      </p:cBhvr>
                                      <p:to>
                                        <p:strVal val="visible"/>
                                      </p:to>
                                    </p:set>
                                    <p:animEffect filter="fade" transition="in">
                                      <p:cBhvr>
                                        <p:cTn dur="500"/>
                                        <p:tgtEl>
                                          <p:spTgt spid="7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8"/>
                                        </p:tgtEl>
                                        <p:attrNameLst>
                                          <p:attrName>style.visibility</p:attrName>
                                        </p:attrNameLst>
                                      </p:cBhvr>
                                      <p:to>
                                        <p:strVal val="visible"/>
                                      </p:to>
                                    </p:set>
                                    <p:animEffect filter="fade" transition="in">
                                      <p:cBhvr>
                                        <p:cTn dur="500"/>
                                        <p:tgtEl>
                                          <p:spTgt spid="7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9"/>
                                        </p:tgtEl>
                                        <p:attrNameLst>
                                          <p:attrName>style.visibility</p:attrName>
                                        </p:attrNameLst>
                                      </p:cBhvr>
                                      <p:to>
                                        <p:strVal val="visible"/>
                                      </p:to>
                                    </p:set>
                                    <p:animEffect filter="fade" transition="in">
                                      <p:cBhvr>
                                        <p:cTn dur="500"/>
                                        <p:tgtEl>
                                          <p:spTgt spid="7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500"/>
                                        <p:tgtEl>
                                          <p:spTgt spid="759"/>
                                        </p:tgtEl>
                                      </p:cBhvr>
                                    </p:animEffect>
                                  </p:childTnLst>
                                </p:cTn>
                              </p:par>
                              <p:par>
                                <p:cTn fill="hold" nodeType="withEffect" presetClass="entr" presetID="10" presetSubtype="0">
                                  <p:stCondLst>
                                    <p:cond delay="0"/>
                                  </p:stCondLst>
                                  <p:childTnLst>
                                    <p:set>
                                      <p:cBhvr>
                                        <p:cTn dur="1" fill="hold">
                                          <p:stCondLst>
                                            <p:cond delay="0"/>
                                          </p:stCondLst>
                                        </p:cTn>
                                        <p:tgtEl>
                                          <p:spTgt spid="753"/>
                                        </p:tgtEl>
                                        <p:attrNameLst>
                                          <p:attrName>style.visibility</p:attrName>
                                        </p:attrNameLst>
                                      </p:cBhvr>
                                      <p:to>
                                        <p:strVal val="visible"/>
                                      </p:to>
                                    </p:set>
                                    <p:animEffect filter="fade" transition="in">
                                      <p:cBhvr>
                                        <p:cTn dur="500"/>
                                        <p:tgtEl>
                                          <p:spTgt spid="7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4"/>
                                        </p:tgtEl>
                                        <p:attrNameLst>
                                          <p:attrName>style.visibility</p:attrName>
                                        </p:attrNameLst>
                                      </p:cBhvr>
                                      <p:to>
                                        <p:strVal val="visible"/>
                                      </p:to>
                                    </p:set>
                                    <p:animEffect filter="fade" transition="in">
                                      <p:cBhvr>
                                        <p:cTn dur="1000"/>
                                        <p:tgtEl>
                                          <p:spTgt spid="7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5"/>
                                        </p:tgtEl>
                                        <p:attrNameLst>
                                          <p:attrName>style.visibility</p:attrName>
                                        </p:attrNameLst>
                                      </p:cBhvr>
                                      <p:to>
                                        <p:strVal val="visible"/>
                                      </p:to>
                                    </p:set>
                                    <p:animEffect filter="fade" transition="in">
                                      <p:cBhvr>
                                        <p:cTn dur="1000"/>
                                        <p:tgtEl>
                                          <p:spTgt spid="7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pic>
        <p:nvPicPr>
          <p:cNvPr id="770" name="Google Shape;770;p34"/>
          <p:cNvPicPr preferRelativeResize="0"/>
          <p:nvPr/>
        </p:nvPicPr>
        <p:blipFill rotWithShape="1">
          <a:blip r:embed="rId3">
            <a:alphaModFix/>
          </a:blip>
          <a:srcRect b="0" l="0" r="0" t="0"/>
          <a:stretch/>
        </p:blipFill>
        <p:spPr>
          <a:xfrm>
            <a:off x="1676400" y="308610"/>
            <a:ext cx="10312354" cy="5025389"/>
          </a:xfrm>
          <a:prstGeom prst="rect">
            <a:avLst/>
          </a:prstGeom>
          <a:noFill/>
          <a:ln>
            <a:noFill/>
          </a:ln>
        </p:spPr>
      </p:pic>
      <p:sp>
        <p:nvSpPr>
          <p:cNvPr id="771" name="Google Shape;771;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72" name="Google Shape;772;p34"/>
          <p:cNvSpPr txBox="1"/>
          <p:nvPr/>
        </p:nvSpPr>
        <p:spPr>
          <a:xfrm>
            <a:off x="228600" y="187372"/>
            <a:ext cx="2133600" cy="5334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Data Types</a:t>
            </a:r>
            <a:endParaRPr b="1" sz="3000">
              <a:solidFill>
                <a:srgbClr val="002060"/>
              </a:solidFill>
              <a:latin typeface="Times New Roman"/>
              <a:ea typeface="Times New Roman"/>
              <a:cs typeface="Times New Roman"/>
              <a:sym typeface="Times New Roman"/>
            </a:endParaRPr>
          </a:p>
        </p:txBody>
      </p:sp>
      <p:sp>
        <p:nvSpPr>
          <p:cNvPr id="773" name="Google Shape;773;p34"/>
          <p:cNvSpPr/>
          <p:nvPr/>
        </p:nvSpPr>
        <p:spPr>
          <a:xfrm>
            <a:off x="1676400" y="1295400"/>
            <a:ext cx="10312354" cy="457200"/>
          </a:xfrm>
          <a:prstGeom prst="rect">
            <a:avLst/>
          </a:prstGeom>
          <a:solidFill>
            <a:srgbClr val="FBFBFB"/>
          </a:solidFill>
          <a:ln cap="flat" cmpd="sng" w="12700">
            <a:solidFill>
              <a:srgbClr val="FBFB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4" name="Google Shape;774;p34"/>
          <p:cNvSpPr/>
          <p:nvPr/>
        </p:nvSpPr>
        <p:spPr>
          <a:xfrm>
            <a:off x="1676400" y="1761699"/>
            <a:ext cx="10312354" cy="457200"/>
          </a:xfrm>
          <a:prstGeom prst="rect">
            <a:avLst/>
          </a:prstGeom>
          <a:solidFill>
            <a:srgbClr val="FBFBFB"/>
          </a:solidFill>
          <a:ln cap="flat" cmpd="sng" w="12700">
            <a:solidFill>
              <a:srgbClr val="FBFB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5" name="Google Shape;775;p34"/>
          <p:cNvSpPr/>
          <p:nvPr/>
        </p:nvSpPr>
        <p:spPr>
          <a:xfrm>
            <a:off x="1693460" y="2209801"/>
            <a:ext cx="10312354" cy="519752"/>
          </a:xfrm>
          <a:prstGeom prst="rect">
            <a:avLst/>
          </a:prstGeom>
          <a:solidFill>
            <a:srgbClr val="FBFBFB"/>
          </a:solidFill>
          <a:ln cap="flat" cmpd="sng" w="12700">
            <a:solidFill>
              <a:srgbClr val="FBFB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6" name="Google Shape;776;p34"/>
          <p:cNvSpPr/>
          <p:nvPr/>
        </p:nvSpPr>
        <p:spPr>
          <a:xfrm>
            <a:off x="1659340" y="2667000"/>
            <a:ext cx="10312354" cy="409003"/>
          </a:xfrm>
          <a:prstGeom prst="rect">
            <a:avLst/>
          </a:prstGeom>
          <a:solidFill>
            <a:srgbClr val="FBFBFB"/>
          </a:solidFill>
          <a:ln cap="flat" cmpd="sng" w="12700">
            <a:solidFill>
              <a:srgbClr val="FBFB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7" name="Google Shape;777;p34"/>
          <p:cNvSpPr/>
          <p:nvPr/>
        </p:nvSpPr>
        <p:spPr>
          <a:xfrm>
            <a:off x="1641143" y="3076004"/>
            <a:ext cx="10312354" cy="456819"/>
          </a:xfrm>
          <a:prstGeom prst="rect">
            <a:avLst/>
          </a:prstGeom>
          <a:solidFill>
            <a:srgbClr val="FBFBFB"/>
          </a:solidFill>
          <a:ln cap="flat" cmpd="sng" w="12700">
            <a:solidFill>
              <a:srgbClr val="FBFB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8" name="Google Shape;778;p34"/>
          <p:cNvSpPr/>
          <p:nvPr/>
        </p:nvSpPr>
        <p:spPr>
          <a:xfrm>
            <a:off x="1657065" y="3524104"/>
            <a:ext cx="10312354" cy="456821"/>
          </a:xfrm>
          <a:prstGeom prst="rect">
            <a:avLst/>
          </a:prstGeom>
          <a:solidFill>
            <a:srgbClr val="FBFBFB"/>
          </a:solidFill>
          <a:ln cap="flat" cmpd="sng" w="12700">
            <a:solidFill>
              <a:srgbClr val="FBFB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9" name="Google Shape;779;p34"/>
          <p:cNvSpPr/>
          <p:nvPr/>
        </p:nvSpPr>
        <p:spPr>
          <a:xfrm>
            <a:off x="1685498" y="3980925"/>
            <a:ext cx="10312354" cy="694855"/>
          </a:xfrm>
          <a:prstGeom prst="rect">
            <a:avLst/>
          </a:prstGeom>
          <a:solidFill>
            <a:srgbClr val="FBFBFB"/>
          </a:solidFill>
          <a:ln cap="flat" cmpd="sng" w="12700">
            <a:solidFill>
              <a:srgbClr val="FBFB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0" name="Google Shape;780;p34"/>
          <p:cNvSpPr/>
          <p:nvPr/>
        </p:nvSpPr>
        <p:spPr>
          <a:xfrm>
            <a:off x="1698008" y="4675781"/>
            <a:ext cx="10312354" cy="658218"/>
          </a:xfrm>
          <a:prstGeom prst="rect">
            <a:avLst/>
          </a:prstGeom>
          <a:solidFill>
            <a:srgbClr val="FBFBFB"/>
          </a:solidFill>
          <a:ln cap="flat" cmpd="sng" w="12700">
            <a:solidFill>
              <a:srgbClr val="FBFBF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7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780"/>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88" name="Google Shape;788;p35"/>
          <p:cNvSpPr/>
          <p:nvPr/>
        </p:nvSpPr>
        <p:spPr>
          <a:xfrm>
            <a:off x="228600" y="777583"/>
            <a:ext cx="7162800" cy="4478149"/>
          </a:xfrm>
          <a:prstGeom prst="rect">
            <a:avLst/>
          </a:prstGeom>
          <a:noFill/>
          <a:ln>
            <a:noFill/>
          </a:ln>
        </p:spPr>
        <p:txBody>
          <a:bodyPr anchorCtr="0" anchor="t" bIns="45700" lIns="91425" spcFirstLastPara="1" rIns="91425" wrap="square" tIns="45700">
            <a:spAutoFit/>
          </a:bodyPr>
          <a:lstStyle/>
          <a:p>
            <a:pPr indent="-457200" lvl="0" marL="457200" marR="0" rtl="0" algn="just">
              <a:spcBef>
                <a:spcPts val="0"/>
              </a:spcBef>
              <a:spcAft>
                <a:spcPts val="0"/>
              </a:spcAft>
              <a:buClr>
                <a:srgbClr val="000000"/>
              </a:buClr>
              <a:buSzPts val="2000"/>
              <a:buFont typeface="Calibri"/>
              <a:buAutoNum type="arabicPeriod"/>
            </a:pPr>
            <a:r>
              <a:rPr lang="en-US" sz="2000">
                <a:solidFill>
                  <a:srgbClr val="000000"/>
                </a:solidFill>
                <a:latin typeface="Times New Roman"/>
                <a:ea typeface="Times New Roman"/>
                <a:cs typeface="Times New Roman"/>
                <a:sym typeface="Times New Roman"/>
              </a:rPr>
              <a:t>We can get the valid identifiers from the above code snippet. Now we will see  the thumb rules as described following.</a:t>
            </a:r>
            <a:br>
              <a:rPr lang="en-US" sz="2000">
                <a:solidFill>
                  <a:schemeClr val="dk1"/>
                </a:solidFill>
                <a:latin typeface="Times New Roman"/>
                <a:ea typeface="Times New Roman"/>
                <a:cs typeface="Times New Roman"/>
                <a:sym typeface="Times New Roman"/>
              </a:rPr>
            </a:br>
            <a:r>
              <a:rPr lang="en-US" sz="2000">
                <a:solidFill>
                  <a:srgbClr val="000000"/>
                </a:solidFill>
                <a:latin typeface="Times New Roman"/>
                <a:ea typeface="Times New Roman"/>
                <a:cs typeface="Times New Roman"/>
                <a:sym typeface="Times New Roman"/>
              </a:rPr>
              <a:t> Java identifier must start with a alphabetic (a-z or A-Z) or Dollar symbol ($) or underscore (_).</a:t>
            </a:r>
            <a:endParaRPr/>
          </a:p>
          <a:p>
            <a:pPr indent="-457200" lvl="0" marL="457200" marR="0" rtl="0" algn="just">
              <a:spcBef>
                <a:spcPts val="600"/>
              </a:spcBef>
              <a:spcAft>
                <a:spcPts val="0"/>
              </a:spcAft>
              <a:buClr>
                <a:srgbClr val="000000"/>
              </a:buClr>
              <a:buSzPts val="2000"/>
              <a:buFont typeface="Calibri"/>
              <a:buAutoNum type="arabicPeriod"/>
            </a:pPr>
            <a:r>
              <a:rPr lang="en-US" sz="2000">
                <a:solidFill>
                  <a:srgbClr val="000000"/>
                </a:solidFill>
                <a:latin typeface="Times New Roman"/>
                <a:ea typeface="Times New Roman"/>
                <a:cs typeface="Times New Roman"/>
                <a:sym typeface="Times New Roman"/>
              </a:rPr>
              <a:t>Identifiers should not start with a digit (0-9). If we use the digit at starting of it then will  get compile time error.</a:t>
            </a:r>
            <a:endParaRPr/>
          </a:p>
          <a:p>
            <a:pPr indent="-457200" lvl="0" marL="457200" marR="0" rtl="0" algn="just">
              <a:spcBef>
                <a:spcPts val="600"/>
              </a:spcBef>
              <a:spcAft>
                <a:spcPts val="0"/>
              </a:spcAft>
              <a:buClr>
                <a:srgbClr val="000000"/>
              </a:buClr>
              <a:buSzPts val="2000"/>
              <a:buFont typeface="Calibri"/>
              <a:buAutoNum type="arabicPeriod"/>
            </a:pPr>
            <a:r>
              <a:rPr lang="en-US" sz="2000">
                <a:solidFill>
                  <a:srgbClr val="000000"/>
                </a:solidFill>
                <a:latin typeface="Times New Roman"/>
                <a:ea typeface="Times New Roman"/>
                <a:cs typeface="Times New Roman"/>
                <a:sym typeface="Times New Roman"/>
              </a:rPr>
              <a:t>Digits can be used after the first legal character.</a:t>
            </a:r>
            <a:endParaRPr/>
          </a:p>
          <a:p>
            <a:pPr indent="-457200" lvl="0" marL="457200" marR="0" rtl="0" algn="just">
              <a:spcBef>
                <a:spcPts val="600"/>
              </a:spcBef>
              <a:spcAft>
                <a:spcPts val="0"/>
              </a:spcAft>
              <a:buClr>
                <a:srgbClr val="000000"/>
              </a:buClr>
              <a:buSzPts val="2000"/>
              <a:buFont typeface="Calibri"/>
              <a:buAutoNum type="arabicPeriod"/>
            </a:pPr>
            <a:r>
              <a:rPr lang="en-US" sz="2000">
                <a:solidFill>
                  <a:srgbClr val="000000"/>
                </a:solidFill>
                <a:latin typeface="Times New Roman"/>
                <a:ea typeface="Times New Roman"/>
                <a:cs typeface="Times New Roman"/>
                <a:sym typeface="Times New Roman"/>
              </a:rPr>
              <a:t>No limit for the identifiers length in java but size should be less which is better to maintain  understandable identifiers</a:t>
            </a:r>
            <a:endParaRPr/>
          </a:p>
          <a:p>
            <a:pPr indent="-457200" lvl="0" marL="457200" marR="0" rtl="0" algn="just">
              <a:spcBef>
                <a:spcPts val="600"/>
              </a:spcBef>
              <a:spcAft>
                <a:spcPts val="0"/>
              </a:spcAft>
              <a:buClr>
                <a:srgbClr val="000000"/>
              </a:buClr>
              <a:buSzPts val="2000"/>
              <a:buFont typeface="Calibri"/>
              <a:buAutoNum type="arabicPeriod"/>
            </a:pPr>
            <a:r>
              <a:rPr lang="en-US" sz="2000">
                <a:solidFill>
                  <a:srgbClr val="000000"/>
                </a:solidFill>
                <a:latin typeface="Times New Roman"/>
                <a:ea typeface="Times New Roman"/>
                <a:cs typeface="Times New Roman"/>
                <a:sym typeface="Times New Roman"/>
              </a:rPr>
              <a:t>In Java, all identifiers are case sensitive. Java treats itemsCount and ItemsCount as different  identifiers.</a:t>
            </a:r>
            <a:endParaRPr/>
          </a:p>
          <a:p>
            <a:pPr indent="-457200" lvl="0" marL="457200" marR="0" rtl="0" algn="just">
              <a:spcBef>
                <a:spcPts val="600"/>
              </a:spcBef>
              <a:spcAft>
                <a:spcPts val="0"/>
              </a:spcAft>
              <a:buClr>
                <a:srgbClr val="000000"/>
              </a:buClr>
              <a:buSzPts val="2000"/>
              <a:buFont typeface="Calibri"/>
              <a:buAutoNum type="arabicPeriod"/>
            </a:pPr>
            <a:r>
              <a:rPr lang="en-US" sz="2000">
                <a:solidFill>
                  <a:srgbClr val="000000"/>
                </a:solidFill>
                <a:latin typeface="Times New Roman"/>
                <a:ea typeface="Times New Roman"/>
                <a:cs typeface="Times New Roman"/>
                <a:sym typeface="Times New Roman"/>
              </a:rPr>
              <a:t>Can not be used java inbuilt keywords as identifiers. E.g. </a:t>
            </a:r>
            <a:r>
              <a:rPr lang="en-US" sz="2000" u="sng">
                <a:solidFill>
                  <a:srgbClr val="FF3D00"/>
                </a:solidFill>
                <a:latin typeface="Times New Roman"/>
                <a:ea typeface="Times New Roman"/>
                <a:cs typeface="Times New Roman"/>
                <a:sym typeface="Times New Roman"/>
                <a:hlinkClick r:id="rId3">
                  <a:extLst>
                    <a:ext uri="{A12FA001-AC4F-418D-AE19-62706E023703}">
                      <ahyp:hlinkClr val="tx"/>
                    </a:ext>
                  </a:extLst>
                </a:hlinkClick>
              </a:rPr>
              <a:t>static</a:t>
            </a:r>
            <a:r>
              <a:rPr lang="en-US" sz="2000">
                <a:solidFill>
                  <a:srgbClr val="000000"/>
                </a:solidFill>
                <a:latin typeface="Times New Roman"/>
                <a:ea typeface="Times New Roman"/>
                <a:cs typeface="Times New Roman"/>
                <a:sym typeface="Times New Roman"/>
              </a:rPr>
              <a:t> --&gt; is a not valid.</a:t>
            </a:r>
            <a:endParaRPr i="0" sz="2000">
              <a:solidFill>
                <a:srgbClr val="000000"/>
              </a:solidFill>
              <a:latin typeface="Times New Roman"/>
              <a:ea typeface="Times New Roman"/>
              <a:cs typeface="Times New Roman"/>
              <a:sym typeface="Times New Roman"/>
            </a:endParaRPr>
          </a:p>
        </p:txBody>
      </p:sp>
      <p:sp>
        <p:nvSpPr>
          <p:cNvPr id="789" name="Google Shape;789;p35"/>
          <p:cNvSpPr/>
          <p:nvPr/>
        </p:nvSpPr>
        <p:spPr>
          <a:xfrm>
            <a:off x="2397617" y="223239"/>
            <a:ext cx="3174267" cy="523220"/>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Rules for Identifiers</a:t>
            </a:r>
            <a:endParaRPr sz="2800">
              <a:solidFill>
                <a:srgbClr val="FF0000"/>
              </a:solidFill>
              <a:latin typeface="Times New Roman"/>
              <a:ea typeface="Times New Roman"/>
              <a:cs typeface="Times New Roman"/>
              <a:sym typeface="Times New Roman"/>
            </a:endParaRPr>
          </a:p>
        </p:txBody>
      </p:sp>
      <p:sp>
        <p:nvSpPr>
          <p:cNvPr id="790" name="Google Shape;790;p35"/>
          <p:cNvSpPr txBox="1"/>
          <p:nvPr/>
        </p:nvSpPr>
        <p:spPr>
          <a:xfrm>
            <a:off x="228600" y="187372"/>
            <a:ext cx="2133600" cy="5334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Identifiers</a:t>
            </a:r>
            <a:endParaRPr b="1" sz="3000">
              <a:solidFill>
                <a:srgbClr val="002060"/>
              </a:solidFill>
              <a:latin typeface="Times New Roman"/>
              <a:ea typeface="Times New Roman"/>
              <a:cs typeface="Times New Roman"/>
              <a:sym typeface="Times New Roman"/>
            </a:endParaRPr>
          </a:p>
        </p:txBody>
      </p:sp>
      <p:grpSp>
        <p:nvGrpSpPr>
          <p:cNvPr id="791" name="Google Shape;791;p35"/>
          <p:cNvGrpSpPr/>
          <p:nvPr/>
        </p:nvGrpSpPr>
        <p:grpSpPr>
          <a:xfrm>
            <a:off x="7543800" y="1762780"/>
            <a:ext cx="4508936" cy="2961619"/>
            <a:chOff x="7543800" y="1762780"/>
            <a:chExt cx="4508936" cy="2961619"/>
          </a:xfrm>
        </p:grpSpPr>
        <p:pic>
          <p:nvPicPr>
            <p:cNvPr id="792" name="Google Shape;792;p35"/>
            <p:cNvPicPr preferRelativeResize="0"/>
            <p:nvPr/>
          </p:nvPicPr>
          <p:blipFill rotWithShape="1">
            <a:blip r:embed="rId4">
              <a:alphaModFix/>
            </a:blip>
            <a:srcRect b="0" l="0" r="0" t="0"/>
            <a:stretch/>
          </p:blipFill>
          <p:spPr>
            <a:xfrm>
              <a:off x="7543800" y="3733800"/>
              <a:ext cx="4508936" cy="990599"/>
            </a:xfrm>
            <a:prstGeom prst="rect">
              <a:avLst/>
            </a:prstGeom>
            <a:noFill/>
            <a:ln cap="flat" cmpd="sng" w="38100">
              <a:solidFill>
                <a:srgbClr val="002060"/>
              </a:solidFill>
              <a:prstDash val="solid"/>
              <a:round/>
              <a:headEnd len="sm" w="sm" type="none"/>
              <a:tailEnd len="sm" w="sm" type="none"/>
            </a:ln>
          </p:spPr>
        </p:pic>
        <p:pic>
          <p:nvPicPr>
            <p:cNvPr id="793" name="Google Shape;793;p35"/>
            <p:cNvPicPr preferRelativeResize="0"/>
            <p:nvPr/>
          </p:nvPicPr>
          <p:blipFill rotWithShape="1">
            <a:blip r:embed="rId5">
              <a:alphaModFix/>
            </a:blip>
            <a:srcRect b="0" l="0" r="0" t="0"/>
            <a:stretch/>
          </p:blipFill>
          <p:spPr>
            <a:xfrm>
              <a:off x="7543800" y="2286000"/>
              <a:ext cx="4508936" cy="1273900"/>
            </a:xfrm>
            <a:prstGeom prst="rect">
              <a:avLst/>
            </a:prstGeom>
            <a:noFill/>
            <a:ln cap="flat" cmpd="sng" w="38100">
              <a:solidFill>
                <a:srgbClr val="002060"/>
              </a:solidFill>
              <a:prstDash val="solid"/>
              <a:round/>
              <a:headEnd len="sm" w="sm" type="none"/>
              <a:tailEnd len="sm" w="sm" type="none"/>
            </a:ln>
          </p:spPr>
        </p:pic>
        <p:sp>
          <p:nvSpPr>
            <p:cNvPr id="794" name="Google Shape;794;p35"/>
            <p:cNvSpPr/>
            <p:nvPr/>
          </p:nvSpPr>
          <p:spPr>
            <a:xfrm>
              <a:off x="7545485" y="1762780"/>
              <a:ext cx="159851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Examples</a:t>
              </a:r>
              <a:endParaRPr sz="2800">
                <a:solidFill>
                  <a:srgbClr val="FF0000"/>
                </a:solidFill>
                <a:latin typeface="Times New Roman"/>
                <a:ea typeface="Times New Roman"/>
                <a:cs typeface="Times New Roman"/>
                <a:sym typeface="Times New Roman"/>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8"/>
                                        </p:tgtEl>
                                        <p:attrNameLst>
                                          <p:attrName>style.visibility</p:attrName>
                                        </p:attrNameLst>
                                      </p:cBhvr>
                                      <p:to>
                                        <p:strVal val="visible"/>
                                      </p:to>
                                    </p:set>
                                    <p:animEffect filter="fade" transition="in">
                                      <p:cBhvr>
                                        <p:cTn dur="500"/>
                                        <p:tgtEl>
                                          <p:spTgt spid="7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1"/>
                                        </p:tgtEl>
                                        <p:attrNameLst>
                                          <p:attrName>style.visibility</p:attrName>
                                        </p:attrNameLst>
                                      </p:cBhvr>
                                      <p:to>
                                        <p:strVal val="visible"/>
                                      </p:to>
                                    </p:set>
                                    <p:animEffect filter="fade" transition="in">
                                      <p:cBhvr>
                                        <p:cTn dur="500"/>
                                        <p:tgtEl>
                                          <p:spTgt spid="7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36"/>
          <p:cNvSpPr txBox="1"/>
          <p:nvPr/>
        </p:nvSpPr>
        <p:spPr>
          <a:xfrm>
            <a:off x="228600" y="187372"/>
            <a:ext cx="1828800" cy="5334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Variables</a:t>
            </a:r>
            <a:endParaRPr/>
          </a:p>
        </p:txBody>
      </p:sp>
      <p:sp>
        <p:nvSpPr>
          <p:cNvPr id="800" name="Google Shape;800;p36"/>
          <p:cNvSpPr txBox="1"/>
          <p:nvPr/>
        </p:nvSpPr>
        <p:spPr>
          <a:xfrm>
            <a:off x="6477000" y="187372"/>
            <a:ext cx="5410200" cy="2843142"/>
          </a:xfrm>
          <a:prstGeom prst="rect">
            <a:avLst/>
          </a:prstGeom>
          <a:solidFill>
            <a:schemeClr val="lt1"/>
          </a:solidFill>
          <a:ln>
            <a:noFill/>
          </a:ln>
        </p:spPr>
        <p:txBody>
          <a:bodyPr anchorCtr="0" anchor="t" bIns="45700" lIns="91425" spcFirstLastPara="1" rIns="91425" wrap="square" tIns="45700">
            <a:noAutofit/>
          </a:bodyPr>
          <a:lstStyle/>
          <a:p>
            <a:pPr indent="-228600" lvl="0" marL="228600" marR="0" rtl="0" algn="l">
              <a:lnSpc>
                <a:spcPct val="150000"/>
              </a:lnSpc>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public class Person {</a:t>
            </a:r>
            <a:endParaRPr/>
          </a:p>
          <a:p>
            <a:pPr indent="-228600" lvl="0" marL="228600" marR="0" rtl="0" algn="l">
              <a:lnSpc>
                <a:spcPct val="150000"/>
              </a:lnSpc>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private String name;</a:t>
            </a:r>
            <a:endParaRPr/>
          </a:p>
          <a:p>
            <a:pPr indent="-228600" lvl="0" marL="228600" marR="0" rtl="0" algn="l">
              <a:lnSpc>
                <a:spcPct val="150000"/>
              </a:lnSpc>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public void method1(String yourName) </a:t>
            </a:r>
            <a:endParaRPr/>
          </a:p>
          <a:p>
            <a:pPr indent="-228600" lvl="0" marL="228600" marR="0" rtl="0" algn="l">
              <a:lnSpc>
                <a:spcPct val="150000"/>
              </a:lnSpc>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a:t>
            </a:r>
            <a:endParaRPr/>
          </a:p>
          <a:p>
            <a:pPr indent="-228600" lvl="0" marL="228600" marR="0" rtl="0" algn="l">
              <a:lnSpc>
                <a:spcPct val="150000"/>
              </a:lnSpc>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String myName;   </a:t>
            </a:r>
            <a:endParaRPr/>
          </a:p>
          <a:p>
            <a:pPr indent="-228600" lvl="0" marL="228600" marR="0" rtl="0" algn="l">
              <a:lnSpc>
                <a:spcPct val="150000"/>
              </a:lnSpc>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   } }</a:t>
            </a:r>
            <a:endParaRPr sz="2000">
              <a:solidFill>
                <a:schemeClr val="dk1"/>
              </a:solidFill>
              <a:latin typeface="Times New Roman"/>
              <a:ea typeface="Times New Roman"/>
              <a:cs typeface="Times New Roman"/>
              <a:sym typeface="Times New Roman"/>
            </a:endParaRPr>
          </a:p>
        </p:txBody>
      </p:sp>
      <p:sp>
        <p:nvSpPr>
          <p:cNvPr id="801" name="Google Shape;801;p36"/>
          <p:cNvSpPr/>
          <p:nvPr/>
        </p:nvSpPr>
        <p:spPr>
          <a:xfrm>
            <a:off x="8895426" y="838200"/>
            <a:ext cx="3070072" cy="302262"/>
          </a:xfrm>
          <a:prstGeom prst="rect">
            <a:avLst/>
          </a:prstGeom>
          <a:noFill/>
          <a:ln>
            <a:noFill/>
          </a:ln>
        </p:spPr>
        <p:txBody>
          <a:bodyPr anchorCtr="0" anchor="t" bIns="45700" lIns="91425" spcFirstLastPara="1" rIns="91425" wrap="square" tIns="45700">
            <a:spAutoFit/>
          </a:bodyPr>
          <a:lstStyle/>
          <a:p>
            <a:pPr indent="0" lvl="0" marL="0" marR="0" rtl="0" algn="ctr">
              <a:lnSpc>
                <a:spcPct val="75000"/>
              </a:lnSpc>
              <a:spcBef>
                <a:spcPts val="0"/>
              </a:spcBef>
              <a:spcAft>
                <a:spcPts val="0"/>
              </a:spcAft>
              <a:buClr>
                <a:srgbClr val="FF0000"/>
              </a:buClr>
              <a:buSzPts val="1800"/>
              <a:buFont typeface="Times New Roman"/>
              <a:buNone/>
            </a:pPr>
            <a:r>
              <a:rPr b="1" lang="en-US" sz="1800">
                <a:solidFill>
                  <a:srgbClr val="FF0000"/>
                </a:solidFill>
                <a:latin typeface="Times New Roman"/>
                <a:ea typeface="Times New Roman"/>
                <a:cs typeface="Times New Roman"/>
                <a:sym typeface="Times New Roman"/>
              </a:rPr>
              <a:t>//attribute (instance variable)</a:t>
            </a:r>
            <a:endParaRPr/>
          </a:p>
        </p:txBody>
      </p:sp>
      <p:sp>
        <p:nvSpPr>
          <p:cNvPr id="802" name="Google Shape;802;p36"/>
          <p:cNvSpPr/>
          <p:nvPr/>
        </p:nvSpPr>
        <p:spPr>
          <a:xfrm>
            <a:off x="10820400" y="1239611"/>
            <a:ext cx="13516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FF0000"/>
                </a:solidFill>
                <a:latin typeface="Times New Roman"/>
                <a:ea typeface="Times New Roman"/>
                <a:cs typeface="Times New Roman"/>
                <a:sym typeface="Times New Roman"/>
              </a:rPr>
              <a:t>//parameter</a:t>
            </a:r>
            <a:endParaRPr b="1" sz="1800">
              <a:solidFill>
                <a:srgbClr val="FF0000"/>
              </a:solidFill>
              <a:latin typeface="Arial"/>
              <a:ea typeface="Arial"/>
              <a:cs typeface="Arial"/>
              <a:sym typeface="Arial"/>
            </a:endParaRPr>
          </a:p>
        </p:txBody>
      </p:sp>
      <p:sp>
        <p:nvSpPr>
          <p:cNvPr id="803" name="Google Shape;803;p36"/>
          <p:cNvSpPr/>
          <p:nvPr/>
        </p:nvSpPr>
        <p:spPr>
          <a:xfrm>
            <a:off x="8746384" y="2184047"/>
            <a:ext cx="1697901" cy="302262"/>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rgbClr val="FF0000"/>
              </a:buClr>
              <a:buSzPts val="1800"/>
              <a:buFont typeface="Times New Roman"/>
              <a:buNone/>
            </a:pPr>
            <a:r>
              <a:rPr b="1" lang="en-US" sz="1800">
                <a:solidFill>
                  <a:srgbClr val="FF0000"/>
                </a:solidFill>
                <a:latin typeface="Times New Roman"/>
                <a:ea typeface="Times New Roman"/>
                <a:cs typeface="Times New Roman"/>
                <a:sym typeface="Times New Roman"/>
              </a:rPr>
              <a:t>// local variable</a:t>
            </a:r>
            <a:endParaRPr/>
          </a:p>
        </p:txBody>
      </p:sp>
      <p:sp>
        <p:nvSpPr>
          <p:cNvPr id="804" name="Google Shape;804;p36"/>
          <p:cNvSpPr txBox="1"/>
          <p:nvPr/>
        </p:nvSpPr>
        <p:spPr>
          <a:xfrm>
            <a:off x="6477000" y="3030514"/>
            <a:ext cx="5410200" cy="2589199"/>
          </a:xfrm>
          <a:prstGeom prst="rect">
            <a:avLst/>
          </a:prstGeom>
          <a:solidFill>
            <a:schemeClr val="lt1"/>
          </a:solidFill>
          <a:ln>
            <a:noFill/>
          </a:ln>
        </p:spPr>
        <p:txBody>
          <a:bodyPr anchorCtr="0" anchor="t" bIns="45700" lIns="91425" spcFirstLastPara="1" rIns="91425" wrap="square" tIns="45700">
            <a:noAutofit/>
          </a:bodyPr>
          <a:lstStyle/>
          <a:p>
            <a:pPr indent="-228600" lvl="0" marL="228600" marR="0" rtl="0" algn="l">
              <a:lnSpc>
                <a:spcPct val="150000"/>
              </a:lnSpc>
              <a:spcBef>
                <a:spcPts val="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public class Demo{</a:t>
            </a:r>
            <a:endParaRPr/>
          </a:p>
          <a:p>
            <a:pPr indent="-228600" lvl="0" marL="228600" marR="0" rtl="0" algn="l">
              <a:lnSpc>
                <a:spcPct val="150000"/>
              </a:lnSpc>
              <a:spcBef>
                <a:spcPts val="40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public static void main(String [] args) {</a:t>
            </a:r>
            <a:endParaRPr/>
          </a:p>
          <a:p>
            <a:pPr indent="-228600" lvl="0" marL="228600" marR="0" rtl="0" algn="l">
              <a:lnSpc>
                <a:spcPct val="150000"/>
              </a:lnSpc>
              <a:spcBef>
                <a:spcPts val="40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Person obj=new Person();   </a:t>
            </a:r>
            <a:endParaRPr/>
          </a:p>
          <a:p>
            <a:pPr indent="-228600" lvl="0" marL="228600" marR="0" rtl="0" algn="l">
              <a:lnSpc>
                <a:spcPct val="150000"/>
              </a:lnSpc>
              <a:spcBef>
                <a:spcPts val="40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   </a:t>
            </a:r>
            <a:endParaRPr/>
          </a:p>
          <a:p>
            <a:pPr indent="-228600" lvl="0" marL="228600" marR="0" rtl="0" algn="l">
              <a:lnSpc>
                <a:spcPct val="150000"/>
              </a:lnSpc>
              <a:spcBef>
                <a:spcPts val="400"/>
              </a:spcBef>
              <a:spcAft>
                <a:spcPts val="0"/>
              </a:spcAft>
              <a:buClr>
                <a:schemeClr val="dk1"/>
              </a:buClr>
              <a:buSzPts val="2000"/>
              <a:buFont typeface="Arial"/>
              <a:buNone/>
            </a:pPr>
            <a:r>
              <a:rPr lang="en-US" sz="2000">
                <a:solidFill>
                  <a:schemeClr val="dk1"/>
                </a:solidFill>
                <a:latin typeface="Times New Roman"/>
                <a:ea typeface="Times New Roman"/>
                <a:cs typeface="Times New Roman"/>
                <a:sym typeface="Times New Roman"/>
              </a:rPr>
              <a:t>  } }</a:t>
            </a:r>
            <a:endParaRPr sz="2000">
              <a:solidFill>
                <a:schemeClr val="dk1"/>
              </a:solidFill>
              <a:latin typeface="Times New Roman"/>
              <a:ea typeface="Times New Roman"/>
              <a:cs typeface="Times New Roman"/>
              <a:sym typeface="Times New Roman"/>
            </a:endParaRPr>
          </a:p>
        </p:txBody>
      </p:sp>
      <p:sp>
        <p:nvSpPr>
          <p:cNvPr id="805" name="Google Shape;805;p36"/>
          <p:cNvSpPr/>
          <p:nvPr/>
        </p:nvSpPr>
        <p:spPr>
          <a:xfrm>
            <a:off x="9595334" y="4225230"/>
            <a:ext cx="1697901" cy="302262"/>
          </a:xfrm>
          <a:prstGeom prst="rect">
            <a:avLst/>
          </a:prstGeom>
          <a:noFill/>
          <a:ln>
            <a:noFill/>
          </a:ln>
        </p:spPr>
        <p:txBody>
          <a:bodyPr anchorCtr="0" anchor="t" bIns="45700" lIns="91425" spcFirstLastPara="1" rIns="91425" wrap="square" tIns="45700">
            <a:spAutoFit/>
          </a:bodyPr>
          <a:lstStyle/>
          <a:p>
            <a:pPr indent="0" lvl="0" marL="0" marR="0" rtl="0" algn="l">
              <a:lnSpc>
                <a:spcPct val="75000"/>
              </a:lnSpc>
              <a:spcBef>
                <a:spcPts val="0"/>
              </a:spcBef>
              <a:spcAft>
                <a:spcPts val="0"/>
              </a:spcAft>
              <a:buClr>
                <a:srgbClr val="FF0000"/>
              </a:buClr>
              <a:buSzPts val="1800"/>
              <a:buFont typeface="Times New Roman"/>
              <a:buNone/>
            </a:pPr>
            <a:r>
              <a:rPr b="1" lang="en-US" sz="1800">
                <a:solidFill>
                  <a:srgbClr val="FF0000"/>
                </a:solidFill>
                <a:latin typeface="Times New Roman"/>
                <a:ea typeface="Times New Roman"/>
                <a:cs typeface="Times New Roman"/>
                <a:sym typeface="Times New Roman"/>
              </a:rPr>
              <a:t>// class variable</a:t>
            </a:r>
            <a:endParaRPr b="1" sz="1800">
              <a:solidFill>
                <a:srgbClr val="FF0000"/>
              </a:solidFill>
              <a:latin typeface="Times New Roman"/>
              <a:ea typeface="Times New Roman"/>
              <a:cs typeface="Times New Roman"/>
              <a:sym typeface="Times New Roman"/>
            </a:endParaRPr>
          </a:p>
        </p:txBody>
      </p:sp>
      <p:sp>
        <p:nvSpPr>
          <p:cNvPr id="806" name="Google Shape;806;p36"/>
          <p:cNvSpPr txBox="1"/>
          <p:nvPr/>
        </p:nvSpPr>
        <p:spPr>
          <a:xfrm>
            <a:off x="404537" y="2184047"/>
            <a:ext cx="4844951" cy="2954655"/>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800">
                <a:solidFill>
                  <a:srgbClr val="00194C"/>
                </a:solidFill>
                <a:latin typeface="Times New Roman"/>
                <a:ea typeface="Times New Roman"/>
                <a:cs typeface="Times New Roman"/>
                <a:sym typeface="Times New Roman"/>
              </a:rPr>
              <a:t>Forms of Variables</a:t>
            </a:r>
            <a:endParaRPr/>
          </a:p>
          <a:p>
            <a:pPr indent="-457200" lvl="0" marL="457200" marR="0" rtl="0" algn="l">
              <a:lnSpc>
                <a:spcPct val="150000"/>
              </a:lnSpc>
              <a:spcBef>
                <a:spcPts val="0"/>
              </a:spcBef>
              <a:spcAft>
                <a:spcPts val="0"/>
              </a:spcAft>
              <a:buClr>
                <a:srgbClr val="FF0000"/>
              </a:buClr>
              <a:buSzPts val="3200"/>
              <a:buFont typeface="Arial"/>
              <a:buChar char="•"/>
            </a:pPr>
            <a:r>
              <a:rPr lang="en-US" sz="3200">
                <a:solidFill>
                  <a:srgbClr val="FF0000"/>
                </a:solidFill>
                <a:latin typeface="Times New Roman"/>
                <a:ea typeface="Times New Roman"/>
                <a:cs typeface="Times New Roman"/>
                <a:sym typeface="Times New Roman"/>
              </a:rPr>
              <a:t>Instance Variables</a:t>
            </a:r>
            <a:endParaRPr/>
          </a:p>
          <a:p>
            <a:pPr indent="-457200" lvl="0" marL="457200" marR="0" rtl="0" algn="l">
              <a:lnSpc>
                <a:spcPct val="150000"/>
              </a:lnSpc>
              <a:spcBef>
                <a:spcPts val="0"/>
              </a:spcBef>
              <a:spcAft>
                <a:spcPts val="0"/>
              </a:spcAft>
              <a:buClr>
                <a:srgbClr val="FF0000"/>
              </a:buClr>
              <a:buSzPts val="3200"/>
              <a:buFont typeface="Arial"/>
              <a:buChar char="•"/>
            </a:pPr>
            <a:r>
              <a:rPr lang="en-US" sz="3200">
                <a:solidFill>
                  <a:srgbClr val="FF0000"/>
                </a:solidFill>
                <a:latin typeface="Times New Roman"/>
                <a:ea typeface="Times New Roman"/>
                <a:cs typeface="Times New Roman"/>
                <a:sym typeface="Times New Roman"/>
              </a:rPr>
              <a:t>Local Variables</a:t>
            </a:r>
            <a:endParaRPr/>
          </a:p>
          <a:p>
            <a:pPr indent="-457200" lvl="0" marL="457200" marR="0" rtl="0" algn="l">
              <a:lnSpc>
                <a:spcPct val="150000"/>
              </a:lnSpc>
              <a:spcBef>
                <a:spcPts val="0"/>
              </a:spcBef>
              <a:spcAft>
                <a:spcPts val="0"/>
              </a:spcAft>
              <a:buClr>
                <a:srgbClr val="FF0000"/>
              </a:buClr>
              <a:buSzPts val="3200"/>
              <a:buFont typeface="Arial"/>
              <a:buChar char="•"/>
            </a:pPr>
            <a:r>
              <a:rPr lang="en-US" sz="3200">
                <a:solidFill>
                  <a:srgbClr val="FF0000"/>
                </a:solidFill>
                <a:latin typeface="Times New Roman"/>
                <a:ea typeface="Times New Roman"/>
                <a:cs typeface="Times New Roman"/>
                <a:sym typeface="Times New Roman"/>
              </a:rPr>
              <a:t>Class variables</a:t>
            </a:r>
            <a:endParaRPr/>
          </a:p>
        </p:txBody>
      </p:sp>
      <p:cxnSp>
        <p:nvCxnSpPr>
          <p:cNvPr id="807" name="Google Shape;807;p36"/>
          <p:cNvCxnSpPr/>
          <p:nvPr/>
        </p:nvCxnSpPr>
        <p:spPr>
          <a:xfrm>
            <a:off x="8229600" y="1140462"/>
            <a:ext cx="3657600" cy="0"/>
          </a:xfrm>
          <a:prstGeom prst="straightConnector1">
            <a:avLst/>
          </a:prstGeom>
          <a:noFill/>
          <a:ln cap="flat" cmpd="sng" w="28575">
            <a:solidFill>
              <a:srgbClr val="7030A0"/>
            </a:solidFill>
            <a:prstDash val="solid"/>
            <a:miter lim="800000"/>
            <a:headEnd len="sm" w="sm" type="none"/>
            <a:tailEnd len="sm" w="sm" type="none"/>
          </a:ln>
        </p:spPr>
      </p:cxnSp>
      <p:cxnSp>
        <p:nvCxnSpPr>
          <p:cNvPr id="808" name="Google Shape;808;p36"/>
          <p:cNvCxnSpPr/>
          <p:nvPr/>
        </p:nvCxnSpPr>
        <p:spPr>
          <a:xfrm>
            <a:off x="7635635" y="4527492"/>
            <a:ext cx="3657600" cy="0"/>
          </a:xfrm>
          <a:prstGeom prst="straightConnector1">
            <a:avLst/>
          </a:prstGeom>
          <a:noFill/>
          <a:ln cap="flat" cmpd="sng" w="28575">
            <a:solidFill>
              <a:srgbClr val="7030A0"/>
            </a:solidFill>
            <a:prstDash val="solid"/>
            <a:miter lim="800000"/>
            <a:headEnd len="sm" w="sm" type="none"/>
            <a:tailEnd len="sm" w="sm" type="none"/>
          </a:ln>
        </p:spPr>
      </p:cxnSp>
      <p:cxnSp>
        <p:nvCxnSpPr>
          <p:cNvPr id="809" name="Google Shape;809;p36"/>
          <p:cNvCxnSpPr/>
          <p:nvPr/>
        </p:nvCxnSpPr>
        <p:spPr>
          <a:xfrm flipH="1" rot="10800000">
            <a:off x="7635635" y="2486309"/>
            <a:ext cx="2808650" cy="9972"/>
          </a:xfrm>
          <a:prstGeom prst="straightConnector1">
            <a:avLst/>
          </a:prstGeom>
          <a:noFill/>
          <a:ln cap="flat" cmpd="sng" w="28575">
            <a:solidFill>
              <a:srgbClr val="7030A0"/>
            </a:solidFill>
            <a:prstDash val="solid"/>
            <a:miter lim="800000"/>
            <a:headEnd len="sm" w="sm" type="none"/>
            <a:tailEnd len="sm" w="sm" type="none"/>
          </a:ln>
        </p:spPr>
      </p:cxnSp>
      <p:cxnSp>
        <p:nvCxnSpPr>
          <p:cNvPr id="810" name="Google Shape;810;p36"/>
          <p:cNvCxnSpPr/>
          <p:nvPr/>
        </p:nvCxnSpPr>
        <p:spPr>
          <a:xfrm flipH="1" rot="10800000">
            <a:off x="9624904" y="1649814"/>
            <a:ext cx="2547148" cy="4989"/>
          </a:xfrm>
          <a:prstGeom prst="straightConnector1">
            <a:avLst/>
          </a:prstGeom>
          <a:noFill/>
          <a:ln cap="flat" cmpd="sng" w="28575">
            <a:solidFill>
              <a:srgbClr val="7030A0"/>
            </a:solidFill>
            <a:prstDash val="solid"/>
            <a:miter lim="800000"/>
            <a:headEnd len="sm" w="sm" type="none"/>
            <a:tailEnd len="sm" w="sm" type="none"/>
          </a:ln>
        </p:spPr>
      </p:cxnSp>
      <p:sp>
        <p:nvSpPr>
          <p:cNvPr id="811" name="Google Shape;811;p36"/>
          <p:cNvSpPr txBox="1"/>
          <p:nvPr/>
        </p:nvSpPr>
        <p:spPr>
          <a:xfrm>
            <a:off x="376038" y="909315"/>
            <a:ext cx="4873450" cy="1138773"/>
          </a:xfrm>
          <a:prstGeom prst="rect">
            <a:avLst/>
          </a:prstGeom>
          <a:noFill/>
          <a:ln cap="flat" cmpd="sng" w="9525">
            <a:solidFill>
              <a:srgbClr val="54813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0194C"/>
                </a:solidFill>
                <a:latin typeface="Times New Roman"/>
                <a:ea typeface="Times New Roman"/>
                <a:cs typeface="Times New Roman"/>
                <a:sym typeface="Times New Roman"/>
              </a:rPr>
              <a:t>Syntax</a:t>
            </a:r>
            <a:r>
              <a:rPr b="1" lang="en-US" sz="2000">
                <a:solidFill>
                  <a:schemeClr val="dk1"/>
                </a:solidFill>
                <a:latin typeface="Times New Roman"/>
                <a:ea typeface="Times New Roman"/>
                <a:cs typeface="Times New Roman"/>
                <a:sym typeface="Times New Roman"/>
              </a:rPr>
              <a:t>: 	Datatype Identifier;</a:t>
            </a:r>
            <a:endParaRPr/>
          </a:p>
          <a:p>
            <a:pPr indent="0" lvl="0" marL="0" marR="0" rtl="0" algn="ctr">
              <a:spcBef>
                <a:spcPts val="0"/>
              </a:spcBef>
              <a:spcAft>
                <a:spcPts val="0"/>
              </a:spcAft>
              <a:buNone/>
            </a:pPr>
            <a:r>
              <a:rPr b="1" lang="en-US" sz="2000">
                <a:solidFill>
                  <a:schemeClr val="dk1"/>
                </a:solidFill>
                <a:latin typeface="Times New Roman"/>
                <a:ea typeface="Times New Roman"/>
                <a:cs typeface="Times New Roman"/>
                <a:sym typeface="Times New Roman"/>
              </a:rPr>
              <a:t>Or</a:t>
            </a:r>
            <a:endParaRPr/>
          </a:p>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		Datatype Identifer=value;</a:t>
            </a:r>
            <a:endParaRPr b="1" sz="20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1"/>
                                        </p:tgtEl>
                                        <p:attrNameLst>
                                          <p:attrName>style.visibility</p:attrName>
                                        </p:attrNameLst>
                                      </p:cBhvr>
                                      <p:to>
                                        <p:strVal val="visible"/>
                                      </p:to>
                                    </p:set>
                                    <p:animEffect filter="fade" transition="in">
                                      <p:cBhvr>
                                        <p:cTn dur="500"/>
                                        <p:tgtEl>
                                          <p:spTgt spid="8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6"/>
                                        </p:tgtEl>
                                        <p:attrNameLst>
                                          <p:attrName>style.visibility</p:attrName>
                                        </p:attrNameLst>
                                      </p:cBhvr>
                                      <p:to>
                                        <p:strVal val="visible"/>
                                      </p:to>
                                    </p:set>
                                    <p:animEffect filter="fade" transition="in">
                                      <p:cBhvr>
                                        <p:cTn dur="500"/>
                                        <p:tgtEl>
                                          <p:spTgt spid="8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0"/>
                                        </p:tgtEl>
                                        <p:attrNameLst>
                                          <p:attrName>style.visibility</p:attrName>
                                        </p:attrNameLst>
                                      </p:cBhvr>
                                      <p:to>
                                        <p:strVal val="visible"/>
                                      </p:to>
                                    </p:set>
                                    <p:animEffect filter="fade" transition="in">
                                      <p:cBhvr>
                                        <p:cTn dur="500"/>
                                        <p:tgtEl>
                                          <p:spTgt spid="800"/>
                                        </p:tgtEl>
                                      </p:cBhvr>
                                    </p:animEffect>
                                  </p:childTnLst>
                                </p:cTn>
                              </p:par>
                              <p:par>
                                <p:cTn fill="hold" nodeType="withEffect" presetClass="entr" presetID="10" presetSubtype="0">
                                  <p:stCondLst>
                                    <p:cond delay="0"/>
                                  </p:stCondLst>
                                  <p:childTnLst>
                                    <p:set>
                                      <p:cBhvr>
                                        <p:cTn dur="1" fill="hold">
                                          <p:stCondLst>
                                            <p:cond delay="0"/>
                                          </p:stCondLst>
                                        </p:cTn>
                                        <p:tgtEl>
                                          <p:spTgt spid="804"/>
                                        </p:tgtEl>
                                        <p:attrNameLst>
                                          <p:attrName>style.visibility</p:attrName>
                                        </p:attrNameLst>
                                      </p:cBhvr>
                                      <p:to>
                                        <p:strVal val="visible"/>
                                      </p:to>
                                    </p:set>
                                    <p:animEffect filter="fade" transition="in">
                                      <p:cBhvr>
                                        <p:cTn dur="500"/>
                                        <p:tgtEl>
                                          <p:spTgt spid="8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7"/>
                                        </p:tgtEl>
                                        <p:attrNameLst>
                                          <p:attrName>style.visibility</p:attrName>
                                        </p:attrNameLst>
                                      </p:cBhvr>
                                      <p:to>
                                        <p:strVal val="visible"/>
                                      </p:to>
                                    </p:set>
                                    <p:animEffect filter="fade" transition="in">
                                      <p:cBhvr>
                                        <p:cTn dur="500"/>
                                        <p:tgtEl>
                                          <p:spTgt spid="807"/>
                                        </p:tgtEl>
                                      </p:cBhvr>
                                    </p:animEffect>
                                  </p:childTnLst>
                                </p:cTn>
                              </p:par>
                              <p:par>
                                <p:cTn fill="hold" nodeType="withEffect" presetClass="entr" presetID="10" presetSubtype="0">
                                  <p:stCondLst>
                                    <p:cond delay="0"/>
                                  </p:stCondLst>
                                  <p:childTnLst>
                                    <p:set>
                                      <p:cBhvr>
                                        <p:cTn dur="1" fill="hold">
                                          <p:stCondLst>
                                            <p:cond delay="0"/>
                                          </p:stCondLst>
                                        </p:cTn>
                                        <p:tgtEl>
                                          <p:spTgt spid="801"/>
                                        </p:tgtEl>
                                        <p:attrNameLst>
                                          <p:attrName>style.visibility</p:attrName>
                                        </p:attrNameLst>
                                      </p:cBhvr>
                                      <p:to>
                                        <p:strVal val="visible"/>
                                      </p:to>
                                    </p:set>
                                    <p:animEffect filter="fade" transition="in">
                                      <p:cBhvr>
                                        <p:cTn dur="500"/>
                                        <p:tgtEl>
                                          <p:spTgt spid="8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0"/>
                                        </p:tgtEl>
                                        <p:attrNameLst>
                                          <p:attrName>style.visibility</p:attrName>
                                        </p:attrNameLst>
                                      </p:cBhvr>
                                      <p:to>
                                        <p:strVal val="visible"/>
                                      </p:to>
                                    </p:set>
                                    <p:animEffect filter="fade" transition="in">
                                      <p:cBhvr>
                                        <p:cTn dur="500"/>
                                        <p:tgtEl>
                                          <p:spTgt spid="810"/>
                                        </p:tgtEl>
                                      </p:cBhvr>
                                    </p:animEffect>
                                  </p:childTnLst>
                                </p:cTn>
                              </p:par>
                              <p:par>
                                <p:cTn fill="hold" nodeType="withEffect" presetClass="entr" presetID="10" presetSubtype="0">
                                  <p:stCondLst>
                                    <p:cond delay="0"/>
                                  </p:stCondLst>
                                  <p:childTnLst>
                                    <p:set>
                                      <p:cBhvr>
                                        <p:cTn dur="1" fill="hold">
                                          <p:stCondLst>
                                            <p:cond delay="0"/>
                                          </p:stCondLst>
                                        </p:cTn>
                                        <p:tgtEl>
                                          <p:spTgt spid="802"/>
                                        </p:tgtEl>
                                        <p:attrNameLst>
                                          <p:attrName>style.visibility</p:attrName>
                                        </p:attrNameLst>
                                      </p:cBhvr>
                                      <p:to>
                                        <p:strVal val="visible"/>
                                      </p:to>
                                    </p:set>
                                    <p:animEffect filter="fade" transition="in">
                                      <p:cBhvr>
                                        <p:cTn dur="500"/>
                                        <p:tgtEl>
                                          <p:spTgt spid="8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9"/>
                                        </p:tgtEl>
                                        <p:attrNameLst>
                                          <p:attrName>style.visibility</p:attrName>
                                        </p:attrNameLst>
                                      </p:cBhvr>
                                      <p:to>
                                        <p:strVal val="visible"/>
                                      </p:to>
                                    </p:set>
                                    <p:animEffect filter="fade" transition="in">
                                      <p:cBhvr>
                                        <p:cTn dur="500"/>
                                        <p:tgtEl>
                                          <p:spTgt spid="809"/>
                                        </p:tgtEl>
                                      </p:cBhvr>
                                    </p:animEffect>
                                  </p:childTnLst>
                                </p:cTn>
                              </p:par>
                              <p:par>
                                <p:cTn fill="hold" nodeType="withEffect" presetClass="entr" presetID="10" presetSubtype="0">
                                  <p:stCondLst>
                                    <p:cond delay="0"/>
                                  </p:stCondLst>
                                  <p:childTnLst>
                                    <p:set>
                                      <p:cBhvr>
                                        <p:cTn dur="1" fill="hold">
                                          <p:stCondLst>
                                            <p:cond delay="0"/>
                                          </p:stCondLst>
                                        </p:cTn>
                                        <p:tgtEl>
                                          <p:spTgt spid="803"/>
                                        </p:tgtEl>
                                        <p:attrNameLst>
                                          <p:attrName>style.visibility</p:attrName>
                                        </p:attrNameLst>
                                      </p:cBhvr>
                                      <p:to>
                                        <p:strVal val="visible"/>
                                      </p:to>
                                    </p:set>
                                    <p:animEffect filter="fade" transition="in">
                                      <p:cBhvr>
                                        <p:cTn dur="500"/>
                                        <p:tgtEl>
                                          <p:spTgt spid="8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gtEl>
                                        <p:attrNameLst>
                                          <p:attrName>style.visibility</p:attrName>
                                        </p:attrNameLst>
                                      </p:cBhvr>
                                      <p:to>
                                        <p:strVal val="visible"/>
                                      </p:to>
                                    </p:set>
                                    <p:animEffect filter="fade" transition="in">
                                      <p:cBhvr>
                                        <p:cTn dur="500"/>
                                        <p:tgtEl>
                                          <p:spTgt spid="808"/>
                                        </p:tgtEl>
                                      </p:cBhvr>
                                    </p:animEffect>
                                  </p:childTnLst>
                                </p:cTn>
                              </p:par>
                              <p:par>
                                <p:cTn fill="hold" nodeType="withEffect" presetClass="entr" presetID="10" presetSubtype="0">
                                  <p:stCondLst>
                                    <p:cond delay="0"/>
                                  </p:stCondLst>
                                  <p:childTnLst>
                                    <p:set>
                                      <p:cBhvr>
                                        <p:cTn dur="1" fill="hold">
                                          <p:stCondLst>
                                            <p:cond delay="0"/>
                                          </p:stCondLst>
                                        </p:cTn>
                                        <p:tgtEl>
                                          <p:spTgt spid="805"/>
                                        </p:tgtEl>
                                        <p:attrNameLst>
                                          <p:attrName>style.visibility</p:attrName>
                                        </p:attrNameLst>
                                      </p:cBhvr>
                                      <p:to>
                                        <p:strVal val="visible"/>
                                      </p:to>
                                    </p:set>
                                    <p:animEffect filter="fade" transition="in">
                                      <p:cBhvr>
                                        <p:cTn dur="500"/>
                                        <p:tgtEl>
                                          <p:spTgt spid="8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19" name="Google Shape;819;p37"/>
          <p:cNvSpPr txBox="1"/>
          <p:nvPr/>
        </p:nvSpPr>
        <p:spPr>
          <a:xfrm>
            <a:off x="228600" y="187372"/>
            <a:ext cx="3657600" cy="5334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Literals or Constants</a:t>
            </a:r>
            <a:endParaRPr b="1" sz="3000">
              <a:solidFill>
                <a:srgbClr val="002060"/>
              </a:solidFill>
              <a:latin typeface="Times New Roman"/>
              <a:ea typeface="Times New Roman"/>
              <a:cs typeface="Times New Roman"/>
              <a:sym typeface="Times New Roman"/>
            </a:endParaRPr>
          </a:p>
        </p:txBody>
      </p:sp>
      <p:sp>
        <p:nvSpPr>
          <p:cNvPr id="820" name="Google Shape;820;p37"/>
          <p:cNvSpPr/>
          <p:nvPr/>
        </p:nvSpPr>
        <p:spPr>
          <a:xfrm>
            <a:off x="228601" y="914400"/>
            <a:ext cx="7315200" cy="4324261"/>
          </a:xfrm>
          <a:prstGeom prst="rect">
            <a:avLst/>
          </a:prstGeom>
          <a:noFill/>
          <a:ln>
            <a:noFill/>
          </a:ln>
        </p:spPr>
        <p:txBody>
          <a:bodyPr anchorCtr="0" anchor="t" bIns="45700" lIns="91425" spcFirstLastPara="1" rIns="91425" wrap="square" tIns="45700">
            <a:spAutoFit/>
          </a:bodyPr>
          <a:lstStyle/>
          <a:p>
            <a:pPr indent="-342900" lvl="0" marL="342900" marR="0" rtl="0" algn="just">
              <a:spcBef>
                <a:spcPts val="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There are 5 types of Literals or constants in Java language.</a:t>
            </a:r>
            <a:endParaRPr/>
          </a:p>
          <a:p>
            <a:pPr indent="-457200" lvl="1" marL="914400" marR="0" rtl="0" algn="just">
              <a:spcBef>
                <a:spcPts val="600"/>
              </a:spcBef>
              <a:spcAft>
                <a:spcPts val="0"/>
              </a:spcAft>
              <a:buClr>
                <a:srgbClr val="333333"/>
              </a:buClr>
              <a:buSzPts val="2000"/>
              <a:buFont typeface="Calibri"/>
              <a:buAutoNum type="arabicPeriod"/>
            </a:pPr>
            <a:r>
              <a:rPr b="0" i="0" lang="en-US" sz="2000" u="none" cap="none" strike="noStrike">
                <a:solidFill>
                  <a:srgbClr val="333333"/>
                </a:solidFill>
                <a:latin typeface="Times New Roman"/>
                <a:ea typeface="Times New Roman"/>
                <a:cs typeface="Times New Roman"/>
                <a:sym typeface="Times New Roman"/>
              </a:rPr>
              <a:t>Integer Literals (Decimal, Octal, Hexadecimal and Binary Literals)</a:t>
            </a:r>
            <a:endParaRPr/>
          </a:p>
          <a:p>
            <a:pPr indent="-457200" lvl="1" marL="914400" marR="0" rtl="0" algn="just">
              <a:spcBef>
                <a:spcPts val="600"/>
              </a:spcBef>
              <a:spcAft>
                <a:spcPts val="0"/>
              </a:spcAft>
              <a:buClr>
                <a:srgbClr val="333333"/>
              </a:buClr>
              <a:buSzPts val="2000"/>
              <a:buFont typeface="Calibri"/>
              <a:buAutoNum type="arabicPeriod"/>
            </a:pPr>
            <a:r>
              <a:rPr b="0" i="0" lang="en-US" sz="2000" u="none" cap="none" strike="noStrike">
                <a:solidFill>
                  <a:srgbClr val="333333"/>
                </a:solidFill>
                <a:latin typeface="Times New Roman"/>
                <a:ea typeface="Times New Roman"/>
                <a:cs typeface="Times New Roman"/>
                <a:sym typeface="Times New Roman"/>
              </a:rPr>
              <a:t>Floating Point Literals</a:t>
            </a:r>
            <a:endParaRPr/>
          </a:p>
          <a:p>
            <a:pPr indent="-457200" lvl="1" marL="914400" marR="0" rtl="0" algn="just">
              <a:spcBef>
                <a:spcPts val="600"/>
              </a:spcBef>
              <a:spcAft>
                <a:spcPts val="0"/>
              </a:spcAft>
              <a:buClr>
                <a:srgbClr val="333333"/>
              </a:buClr>
              <a:buSzPts val="2000"/>
              <a:buFont typeface="Calibri"/>
              <a:buAutoNum type="arabicPeriod"/>
            </a:pPr>
            <a:r>
              <a:rPr b="0" i="0" lang="en-US" sz="2000" u="none" cap="none" strike="noStrike">
                <a:solidFill>
                  <a:srgbClr val="333333"/>
                </a:solidFill>
                <a:latin typeface="Times New Roman"/>
                <a:ea typeface="Times New Roman"/>
                <a:cs typeface="Times New Roman"/>
                <a:sym typeface="Times New Roman"/>
              </a:rPr>
              <a:t>Boolean Literals</a:t>
            </a:r>
            <a:endParaRPr/>
          </a:p>
          <a:p>
            <a:pPr indent="-457200" lvl="1" marL="914400" marR="0" rtl="0" algn="just">
              <a:spcBef>
                <a:spcPts val="600"/>
              </a:spcBef>
              <a:spcAft>
                <a:spcPts val="0"/>
              </a:spcAft>
              <a:buClr>
                <a:srgbClr val="333333"/>
              </a:buClr>
              <a:buSzPts val="2000"/>
              <a:buFont typeface="Calibri"/>
              <a:buAutoNum type="arabicPeriod"/>
            </a:pPr>
            <a:r>
              <a:rPr b="0" i="0" lang="en-US" sz="2000" u="none" cap="none" strike="noStrike">
                <a:solidFill>
                  <a:srgbClr val="333333"/>
                </a:solidFill>
                <a:latin typeface="Times New Roman"/>
                <a:ea typeface="Times New Roman"/>
                <a:cs typeface="Times New Roman"/>
                <a:sym typeface="Times New Roman"/>
              </a:rPr>
              <a:t>Character Literals</a:t>
            </a:r>
            <a:endParaRPr/>
          </a:p>
          <a:p>
            <a:pPr indent="-457200" lvl="1" marL="914400" marR="0" rtl="0" algn="just">
              <a:spcBef>
                <a:spcPts val="600"/>
              </a:spcBef>
              <a:spcAft>
                <a:spcPts val="0"/>
              </a:spcAft>
              <a:buClr>
                <a:srgbClr val="333333"/>
              </a:buClr>
              <a:buSzPts val="2000"/>
              <a:buFont typeface="Calibri"/>
              <a:buAutoNum type="arabicPeriod"/>
            </a:pPr>
            <a:r>
              <a:rPr b="0" i="0" lang="en-US" sz="2000" u="none" cap="none" strike="noStrike">
                <a:solidFill>
                  <a:srgbClr val="333333"/>
                </a:solidFill>
                <a:latin typeface="Times New Roman"/>
                <a:ea typeface="Times New Roman"/>
                <a:cs typeface="Times New Roman"/>
                <a:sym typeface="Times New Roman"/>
              </a:rPr>
              <a:t>String Literals</a:t>
            </a:r>
            <a:endParaRPr/>
          </a:p>
          <a:p>
            <a:pPr indent="-342900" lvl="0" marL="342900" marR="0" rtl="0" algn="just">
              <a:spcBef>
                <a:spcPts val="600"/>
              </a:spcBef>
              <a:spcAft>
                <a:spcPts val="0"/>
              </a:spcAft>
              <a:buClr>
                <a:srgbClr val="333333"/>
              </a:buClr>
              <a:buSzPts val="2000"/>
              <a:buFont typeface="Arial"/>
              <a:buChar char="•"/>
            </a:pPr>
            <a:r>
              <a:rPr b="1" lang="en-US" sz="2000">
                <a:solidFill>
                  <a:srgbClr val="333333"/>
                </a:solidFill>
                <a:latin typeface="Times New Roman"/>
                <a:ea typeface="Times New Roman"/>
                <a:cs typeface="Times New Roman"/>
                <a:sym typeface="Times New Roman"/>
              </a:rPr>
              <a:t>JDK 7</a:t>
            </a:r>
            <a:r>
              <a:rPr lang="en-US" sz="2000">
                <a:solidFill>
                  <a:srgbClr val="333333"/>
                </a:solidFill>
                <a:latin typeface="Times New Roman"/>
                <a:ea typeface="Times New Roman"/>
                <a:cs typeface="Times New Roman"/>
                <a:sym typeface="Times New Roman"/>
              </a:rPr>
              <a:t> introduced two new features namely </a:t>
            </a:r>
            <a:r>
              <a:rPr b="1" lang="en-US" sz="2000">
                <a:solidFill>
                  <a:srgbClr val="333333"/>
                </a:solidFill>
                <a:latin typeface="Times New Roman"/>
                <a:ea typeface="Times New Roman"/>
                <a:cs typeface="Times New Roman"/>
                <a:sym typeface="Times New Roman"/>
              </a:rPr>
              <a:t>Binary Literals</a:t>
            </a:r>
            <a:r>
              <a:rPr lang="en-US" sz="2000">
                <a:solidFill>
                  <a:srgbClr val="333333"/>
                </a:solidFill>
                <a:latin typeface="Times New Roman"/>
                <a:ea typeface="Times New Roman"/>
                <a:cs typeface="Times New Roman"/>
                <a:sym typeface="Times New Roman"/>
              </a:rPr>
              <a:t> and </a:t>
            </a:r>
            <a:r>
              <a:rPr b="1" lang="en-US" sz="2000">
                <a:solidFill>
                  <a:srgbClr val="333333"/>
                </a:solidFill>
                <a:latin typeface="Times New Roman"/>
                <a:ea typeface="Times New Roman"/>
                <a:cs typeface="Times New Roman"/>
                <a:sym typeface="Times New Roman"/>
              </a:rPr>
              <a:t>Underscores in number literals</a:t>
            </a:r>
            <a:r>
              <a:rPr lang="en-US" sz="2000">
                <a:solidFill>
                  <a:srgbClr val="333333"/>
                </a:solidFill>
                <a:latin typeface="Times New Roman"/>
                <a:ea typeface="Times New Roman"/>
                <a:cs typeface="Times New Roman"/>
                <a:sym typeface="Times New Roman"/>
              </a:rPr>
              <a:t>.</a:t>
            </a:r>
            <a:endParaRPr/>
          </a:p>
          <a:p>
            <a:pPr indent="-342900" lvl="0" marL="342900" marR="0" rtl="0" algn="just">
              <a:spcBef>
                <a:spcPts val="600"/>
              </a:spcBef>
              <a:spcAft>
                <a:spcPts val="0"/>
              </a:spcAft>
              <a:buClr>
                <a:srgbClr val="333333"/>
              </a:buClr>
              <a:buSzPts val="2000"/>
              <a:buFont typeface="Arial"/>
              <a:buChar char="•"/>
            </a:pPr>
            <a:r>
              <a:rPr lang="en-US" sz="2000">
                <a:solidFill>
                  <a:srgbClr val="333333"/>
                </a:solidFill>
                <a:latin typeface="Times New Roman"/>
                <a:ea typeface="Times New Roman"/>
                <a:cs typeface="Times New Roman"/>
                <a:sym typeface="Times New Roman"/>
              </a:rPr>
              <a:t>Underscore should not be at the beginning or end. Similarly not before or after a DOT or Decimal Point in floating point or double numbers. Underscore symbols are removed before processing.</a:t>
            </a:r>
            <a:endParaRPr/>
          </a:p>
        </p:txBody>
      </p:sp>
      <p:sp>
        <p:nvSpPr>
          <p:cNvPr id="821" name="Google Shape;821;p37"/>
          <p:cNvSpPr txBox="1"/>
          <p:nvPr/>
        </p:nvSpPr>
        <p:spPr>
          <a:xfrm>
            <a:off x="8165778" y="2260312"/>
            <a:ext cx="392744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C55A11"/>
                </a:solidFill>
                <a:latin typeface="Times New Roman"/>
                <a:ea typeface="Times New Roman"/>
                <a:cs typeface="Times New Roman"/>
                <a:sym typeface="Times New Roman"/>
              </a:rPr>
              <a:t>int </a:t>
            </a:r>
            <a:r>
              <a:rPr b="1" lang="en-US" sz="3200">
                <a:solidFill>
                  <a:srgbClr val="FF0000"/>
                </a:solidFill>
                <a:latin typeface="Times New Roman"/>
                <a:ea typeface="Times New Roman"/>
                <a:cs typeface="Times New Roman"/>
                <a:sym typeface="Times New Roman"/>
              </a:rPr>
              <a:t>Varname </a:t>
            </a:r>
            <a:r>
              <a:rPr b="1" lang="en-US" sz="3200">
                <a:solidFill>
                  <a:schemeClr val="dk1"/>
                </a:solidFill>
                <a:latin typeface="Times New Roman"/>
                <a:ea typeface="Times New Roman"/>
                <a:cs typeface="Times New Roman"/>
                <a:sym typeface="Times New Roman"/>
              </a:rPr>
              <a:t>= </a:t>
            </a:r>
            <a:r>
              <a:rPr b="1" lang="en-US" sz="3200">
                <a:solidFill>
                  <a:schemeClr val="accent1"/>
                </a:solidFill>
                <a:latin typeface="Times New Roman"/>
                <a:ea typeface="Times New Roman"/>
                <a:cs typeface="Times New Roman"/>
                <a:sym typeface="Times New Roman"/>
              </a:rPr>
              <a:t>100</a:t>
            </a:r>
            <a:r>
              <a:rPr b="1" lang="en-US" sz="3200">
                <a:solidFill>
                  <a:schemeClr val="dk1"/>
                </a:solidFill>
                <a:latin typeface="Times New Roman"/>
                <a:ea typeface="Times New Roman"/>
                <a:cs typeface="Times New Roman"/>
                <a:sym typeface="Times New Roman"/>
              </a:rPr>
              <a:t>;</a:t>
            </a:r>
            <a:endParaRPr b="1" sz="3200">
              <a:solidFill>
                <a:schemeClr val="dk1"/>
              </a:solidFill>
              <a:latin typeface="Times New Roman"/>
              <a:ea typeface="Times New Roman"/>
              <a:cs typeface="Times New Roman"/>
              <a:sym typeface="Times New Roman"/>
            </a:endParaRPr>
          </a:p>
        </p:txBody>
      </p:sp>
      <p:sp>
        <p:nvSpPr>
          <p:cNvPr id="822" name="Google Shape;822;p37"/>
          <p:cNvSpPr/>
          <p:nvPr/>
        </p:nvSpPr>
        <p:spPr>
          <a:xfrm rot="-825603">
            <a:off x="7533458" y="1119830"/>
            <a:ext cx="1960219" cy="961829"/>
          </a:xfrm>
          <a:prstGeom prst="wedgeEllipseCallout">
            <a:avLst>
              <a:gd fmla="val -10753" name="adj1"/>
              <a:gd fmla="val 79938" name="adj2"/>
            </a:avLst>
          </a:prstGeom>
          <a:solidFill>
            <a:schemeClr val="lt1"/>
          </a:solidFill>
          <a:ln cap="flat" cmpd="sng" w="38100">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accent2"/>
                </a:solidFill>
                <a:latin typeface="Times New Roman"/>
                <a:ea typeface="Times New Roman"/>
                <a:cs typeface="Times New Roman"/>
                <a:sym typeface="Times New Roman"/>
              </a:rPr>
              <a:t>Data type | keyword </a:t>
            </a:r>
            <a:endParaRPr b="1" sz="2000">
              <a:solidFill>
                <a:schemeClr val="accent2"/>
              </a:solidFill>
              <a:latin typeface="Times New Roman"/>
              <a:ea typeface="Times New Roman"/>
              <a:cs typeface="Times New Roman"/>
              <a:sym typeface="Times New Roman"/>
            </a:endParaRPr>
          </a:p>
        </p:txBody>
      </p:sp>
      <p:sp>
        <p:nvSpPr>
          <p:cNvPr id="823" name="Google Shape;823;p37"/>
          <p:cNvSpPr/>
          <p:nvPr/>
        </p:nvSpPr>
        <p:spPr>
          <a:xfrm rot="-678199">
            <a:off x="10042079" y="1118998"/>
            <a:ext cx="1960219" cy="961829"/>
          </a:xfrm>
          <a:prstGeom prst="wedgeEllipseCallout">
            <a:avLst>
              <a:gd fmla="val 3263" name="adj1"/>
              <a:gd fmla="val 83240" name="adj2"/>
            </a:avLst>
          </a:prstGeom>
          <a:solidFill>
            <a:schemeClr val="lt1"/>
          </a:solidFill>
          <a:ln cap="flat" cmpd="sng" w="381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accent1"/>
                </a:solidFill>
                <a:latin typeface="Times New Roman"/>
                <a:ea typeface="Times New Roman"/>
                <a:cs typeface="Times New Roman"/>
                <a:sym typeface="Times New Roman"/>
              </a:rPr>
              <a:t>Constant value | Literal</a:t>
            </a:r>
            <a:endParaRPr b="1" sz="2000">
              <a:solidFill>
                <a:schemeClr val="accent1"/>
              </a:solidFill>
              <a:latin typeface="Times New Roman"/>
              <a:ea typeface="Times New Roman"/>
              <a:cs typeface="Times New Roman"/>
              <a:sym typeface="Times New Roman"/>
            </a:endParaRPr>
          </a:p>
        </p:txBody>
      </p:sp>
      <p:sp>
        <p:nvSpPr>
          <p:cNvPr id="824" name="Google Shape;824;p37"/>
          <p:cNvSpPr/>
          <p:nvPr/>
        </p:nvSpPr>
        <p:spPr>
          <a:xfrm rot="10345789">
            <a:off x="8403889" y="3049006"/>
            <a:ext cx="2242221" cy="912389"/>
          </a:xfrm>
          <a:prstGeom prst="wedgeEllipseCallout">
            <a:avLst>
              <a:gd fmla="val -4090" name="adj1"/>
              <a:gd fmla="val 85056" name="adj2"/>
            </a:avLst>
          </a:prstGeom>
          <a:solidFill>
            <a:schemeClr val="lt1"/>
          </a:solid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
        <p:nvSpPr>
          <p:cNvPr id="825" name="Google Shape;825;p37"/>
          <p:cNvSpPr txBox="1"/>
          <p:nvPr/>
        </p:nvSpPr>
        <p:spPr>
          <a:xfrm rot="-319330">
            <a:off x="8406940" y="3285319"/>
            <a:ext cx="2336083"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rgbClr val="FF0000"/>
                </a:solidFill>
                <a:latin typeface="Times New Roman"/>
                <a:ea typeface="Times New Roman"/>
                <a:cs typeface="Times New Roman"/>
                <a:sym typeface="Times New Roman"/>
              </a:rPr>
              <a:t>Name of a Variable | Identifier</a:t>
            </a:r>
            <a:endParaRPr b="1" sz="1800">
              <a:solidFill>
                <a:srgbClr val="FF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500"/>
                                        <p:tgtEl>
                                          <p:spTgt spid="8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500"/>
                                        <p:tgtEl>
                                          <p:spTgt spid="8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500"/>
                                        <p:tgtEl>
                                          <p:spTgt spid="825"/>
                                        </p:tgtEl>
                                      </p:cBhvr>
                                    </p:animEffect>
                                  </p:childTnLst>
                                </p:cTn>
                              </p:par>
                              <p:par>
                                <p:cTn fill="hold" nodeType="with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500"/>
                                        <p:tgtEl>
                                          <p:spTgt spid="8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500"/>
                                        <p:tgtEl>
                                          <p:spTgt spid="8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38"/>
          <p:cNvSpPr txBox="1"/>
          <p:nvPr>
            <p:ph idx="1" type="body"/>
          </p:nvPr>
        </p:nvSpPr>
        <p:spPr>
          <a:xfrm>
            <a:off x="419100" y="685800"/>
            <a:ext cx="9867900" cy="48768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Operators</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Assignments and Expressions</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Control Statements</a:t>
            </a:r>
            <a:endParaRPr/>
          </a:p>
          <a:p>
            <a:pPr indent="-228600" lvl="0" marL="228600" rtl="0" algn="l">
              <a:lnSpc>
                <a:spcPct val="100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Activity</a:t>
            </a:r>
            <a:endParaRPr sz="2400">
              <a:latin typeface="Times New Roman"/>
              <a:ea typeface="Times New Roman"/>
              <a:cs typeface="Times New Roman"/>
              <a:sym typeface="Times New Roman"/>
            </a:endParaRPr>
          </a:p>
          <a:p>
            <a:pPr indent="-76200" lvl="0" marL="228600" rtl="0" algn="l">
              <a:lnSpc>
                <a:spcPct val="100000"/>
              </a:lnSpc>
              <a:spcBef>
                <a:spcPts val="120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831" name="Google Shape;831;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32" name="Google Shape;832;p38"/>
          <p:cNvSpPr txBox="1"/>
          <p:nvPr>
            <p:ph type="title"/>
          </p:nvPr>
        </p:nvSpPr>
        <p:spPr>
          <a:xfrm>
            <a:off x="419100" y="154723"/>
            <a:ext cx="2247900" cy="454878"/>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Contents</a:t>
            </a:r>
            <a:endParaRPr b="1" sz="3000">
              <a:solidFill>
                <a:srgbClr val="002060"/>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838" name="Google Shape;838;p39"/>
          <p:cNvPicPr preferRelativeResize="0"/>
          <p:nvPr/>
        </p:nvPicPr>
        <p:blipFill rotWithShape="1">
          <a:blip r:embed="rId3">
            <a:alphaModFix/>
          </a:blip>
          <a:srcRect b="0" l="0" r="0" t="0"/>
          <a:stretch/>
        </p:blipFill>
        <p:spPr>
          <a:xfrm>
            <a:off x="5002415" y="2679126"/>
            <a:ext cx="2187596" cy="902274"/>
          </a:xfrm>
          <a:prstGeom prst="rect">
            <a:avLst/>
          </a:prstGeom>
          <a:noFill/>
          <a:ln>
            <a:noFill/>
          </a:ln>
        </p:spPr>
      </p:pic>
      <p:sp>
        <p:nvSpPr>
          <p:cNvPr id="839" name="Google Shape;839;p39"/>
          <p:cNvSpPr txBox="1"/>
          <p:nvPr/>
        </p:nvSpPr>
        <p:spPr>
          <a:xfrm>
            <a:off x="228600" y="187372"/>
            <a:ext cx="2133600" cy="5334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Operators</a:t>
            </a:r>
            <a:endParaRPr b="1" sz="3000">
              <a:solidFill>
                <a:srgbClr val="002060"/>
              </a:solidFill>
              <a:latin typeface="Times New Roman"/>
              <a:ea typeface="Times New Roman"/>
              <a:cs typeface="Times New Roman"/>
              <a:sym typeface="Times New Roman"/>
            </a:endParaRPr>
          </a:p>
        </p:txBody>
      </p:sp>
      <p:pic>
        <p:nvPicPr>
          <p:cNvPr id="840" name="Google Shape;840;p39"/>
          <p:cNvPicPr preferRelativeResize="0"/>
          <p:nvPr/>
        </p:nvPicPr>
        <p:blipFill rotWithShape="1">
          <a:blip r:embed="rId4">
            <a:alphaModFix/>
          </a:blip>
          <a:srcRect b="0" l="0" r="0" t="0"/>
          <a:stretch/>
        </p:blipFill>
        <p:spPr>
          <a:xfrm>
            <a:off x="925387" y="2173229"/>
            <a:ext cx="4154386" cy="2149071"/>
          </a:xfrm>
          <a:prstGeom prst="rect">
            <a:avLst/>
          </a:prstGeom>
          <a:noFill/>
          <a:ln>
            <a:noFill/>
          </a:ln>
        </p:spPr>
      </p:pic>
      <p:pic>
        <p:nvPicPr>
          <p:cNvPr id="841" name="Google Shape;841;p39"/>
          <p:cNvPicPr preferRelativeResize="0"/>
          <p:nvPr/>
        </p:nvPicPr>
        <p:blipFill rotWithShape="1">
          <a:blip r:embed="rId5">
            <a:alphaModFix/>
          </a:blip>
          <a:srcRect b="0" l="0" r="0" t="0"/>
          <a:stretch/>
        </p:blipFill>
        <p:spPr>
          <a:xfrm>
            <a:off x="166019" y="3335831"/>
            <a:ext cx="5706341" cy="1674885"/>
          </a:xfrm>
          <a:prstGeom prst="rect">
            <a:avLst/>
          </a:prstGeom>
          <a:noFill/>
          <a:ln>
            <a:noFill/>
          </a:ln>
        </p:spPr>
      </p:pic>
      <p:pic>
        <p:nvPicPr>
          <p:cNvPr id="842" name="Google Shape;842;p39"/>
          <p:cNvPicPr preferRelativeResize="0"/>
          <p:nvPr/>
        </p:nvPicPr>
        <p:blipFill rotWithShape="1">
          <a:blip r:embed="rId6">
            <a:alphaModFix/>
          </a:blip>
          <a:srcRect b="0" l="0" r="0" t="0"/>
          <a:stretch/>
        </p:blipFill>
        <p:spPr>
          <a:xfrm>
            <a:off x="5787641" y="3328395"/>
            <a:ext cx="6349343" cy="2751386"/>
          </a:xfrm>
          <a:prstGeom prst="rect">
            <a:avLst/>
          </a:prstGeom>
          <a:noFill/>
          <a:ln>
            <a:noFill/>
          </a:ln>
        </p:spPr>
      </p:pic>
      <p:pic>
        <p:nvPicPr>
          <p:cNvPr id="843" name="Google Shape;843;p39"/>
          <p:cNvPicPr preferRelativeResize="0"/>
          <p:nvPr/>
        </p:nvPicPr>
        <p:blipFill rotWithShape="1">
          <a:blip r:embed="rId7">
            <a:alphaModFix/>
          </a:blip>
          <a:srcRect b="0" l="0" r="0" t="0"/>
          <a:stretch/>
        </p:blipFill>
        <p:spPr>
          <a:xfrm>
            <a:off x="228599" y="804876"/>
            <a:ext cx="5559041" cy="2008221"/>
          </a:xfrm>
          <a:prstGeom prst="rect">
            <a:avLst/>
          </a:prstGeom>
          <a:noFill/>
          <a:ln>
            <a:noFill/>
          </a:ln>
        </p:spPr>
      </p:pic>
      <p:pic>
        <p:nvPicPr>
          <p:cNvPr id="844" name="Google Shape;844;p39"/>
          <p:cNvPicPr preferRelativeResize="0"/>
          <p:nvPr/>
        </p:nvPicPr>
        <p:blipFill rotWithShape="1">
          <a:blip r:embed="rId8">
            <a:alphaModFix/>
          </a:blip>
          <a:srcRect b="0" l="0" r="0" t="0"/>
          <a:stretch/>
        </p:blipFill>
        <p:spPr>
          <a:xfrm>
            <a:off x="5948670" y="177421"/>
            <a:ext cx="5841545" cy="2946780"/>
          </a:xfrm>
          <a:prstGeom prst="rect">
            <a:avLst/>
          </a:prstGeom>
          <a:noFill/>
          <a:ln>
            <a:noFill/>
          </a:ln>
        </p:spPr>
      </p:pic>
      <p:grpSp>
        <p:nvGrpSpPr>
          <p:cNvPr id="845" name="Google Shape;845;p39"/>
          <p:cNvGrpSpPr/>
          <p:nvPr/>
        </p:nvGrpSpPr>
        <p:grpSpPr>
          <a:xfrm>
            <a:off x="3429000" y="152400"/>
            <a:ext cx="4612215" cy="2584121"/>
            <a:chOff x="3422744" y="195190"/>
            <a:chExt cx="4612215" cy="2584121"/>
          </a:xfrm>
        </p:grpSpPr>
        <p:sp>
          <p:nvSpPr>
            <p:cNvPr id="846" name="Google Shape;846;p39"/>
            <p:cNvSpPr/>
            <p:nvPr/>
          </p:nvSpPr>
          <p:spPr>
            <a:xfrm>
              <a:off x="4876801" y="865927"/>
              <a:ext cx="2133600" cy="425667"/>
            </a:xfrm>
            <a:prstGeom prst="roundRect">
              <a:avLst>
                <a:gd fmla="val 16667" name="adj"/>
              </a:avLst>
            </a:prstGeom>
            <a:solidFill>
              <a:srgbClr val="2CA485"/>
            </a:solidFill>
            <a:ln cap="flat" cmpd="sng" w="12700">
              <a:solidFill>
                <a:srgbClr val="2CA48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Arial"/>
                  <a:ea typeface="Arial"/>
                  <a:cs typeface="Arial"/>
                  <a:sym typeface="Arial"/>
                </a:rPr>
                <a:t>Bitwise Operators</a:t>
              </a:r>
              <a:endParaRPr sz="1800">
                <a:solidFill>
                  <a:schemeClr val="lt1"/>
                </a:solidFill>
                <a:latin typeface="Arial"/>
                <a:ea typeface="Arial"/>
                <a:cs typeface="Arial"/>
                <a:sym typeface="Arial"/>
              </a:endParaRPr>
            </a:p>
          </p:txBody>
        </p:sp>
        <p:cxnSp>
          <p:nvCxnSpPr>
            <p:cNvPr id="847" name="Google Shape;847;p39"/>
            <p:cNvCxnSpPr/>
            <p:nvPr/>
          </p:nvCxnSpPr>
          <p:spPr>
            <a:xfrm>
              <a:off x="5866104" y="1219200"/>
              <a:ext cx="0" cy="1560111"/>
            </a:xfrm>
            <a:prstGeom prst="straightConnector1">
              <a:avLst/>
            </a:prstGeom>
            <a:noFill/>
            <a:ln cap="flat" cmpd="sng" w="28575">
              <a:solidFill>
                <a:srgbClr val="2CA485"/>
              </a:solidFill>
              <a:prstDash val="solid"/>
              <a:miter lim="800000"/>
              <a:headEnd len="sm" w="sm" type="none"/>
              <a:tailEnd len="sm" w="sm" type="none"/>
            </a:ln>
          </p:spPr>
        </p:cxnSp>
        <p:sp>
          <p:nvSpPr>
            <p:cNvPr id="848" name="Google Shape;848;p39"/>
            <p:cNvSpPr/>
            <p:nvPr/>
          </p:nvSpPr>
          <p:spPr>
            <a:xfrm>
              <a:off x="5888360" y="685800"/>
              <a:ext cx="110478" cy="112594"/>
            </a:xfrm>
            <a:prstGeom prst="ellipse">
              <a:avLst/>
            </a:prstGeom>
            <a:solidFill>
              <a:schemeClr val="lt1"/>
            </a:solidFill>
            <a:ln cap="flat" cmpd="sng" w="12700">
              <a:solidFill>
                <a:srgbClr val="2CA48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849" name="Google Shape;849;p39"/>
            <p:cNvCxnSpPr/>
            <p:nvPr/>
          </p:nvCxnSpPr>
          <p:spPr>
            <a:xfrm>
              <a:off x="5943600" y="609600"/>
              <a:ext cx="2" cy="311466"/>
            </a:xfrm>
            <a:prstGeom prst="straightConnector1">
              <a:avLst/>
            </a:prstGeom>
            <a:noFill/>
            <a:ln cap="flat" cmpd="sng" w="9525">
              <a:solidFill>
                <a:schemeClr val="accent1"/>
              </a:solidFill>
              <a:prstDash val="solid"/>
              <a:miter lim="800000"/>
              <a:headEnd len="sm" w="sm" type="none"/>
              <a:tailEnd len="sm" w="sm" type="none"/>
            </a:ln>
          </p:spPr>
        </p:cxnSp>
        <p:sp>
          <p:nvSpPr>
            <p:cNvPr id="850" name="Google Shape;850;p39"/>
            <p:cNvSpPr/>
            <p:nvPr/>
          </p:nvSpPr>
          <p:spPr>
            <a:xfrm>
              <a:off x="3422744" y="199674"/>
              <a:ext cx="381001" cy="313735"/>
            </a:xfrm>
            <a:prstGeom prst="rect">
              <a:avLst/>
            </a:prstGeom>
            <a:solidFill>
              <a:srgbClr val="FFFF00"/>
            </a:solidFill>
            <a:ln cap="flat" cmpd="sng" w="12700">
              <a:solidFill>
                <a:srgbClr val="2CA48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&amp;</a:t>
              </a:r>
              <a:endParaRPr sz="1600">
                <a:solidFill>
                  <a:schemeClr val="dk1"/>
                </a:solidFill>
                <a:latin typeface="Arial"/>
                <a:ea typeface="Arial"/>
                <a:cs typeface="Arial"/>
                <a:sym typeface="Arial"/>
              </a:endParaRPr>
            </a:p>
          </p:txBody>
        </p:sp>
        <p:sp>
          <p:nvSpPr>
            <p:cNvPr id="851" name="Google Shape;851;p39"/>
            <p:cNvSpPr/>
            <p:nvPr/>
          </p:nvSpPr>
          <p:spPr>
            <a:xfrm>
              <a:off x="4132632" y="214497"/>
              <a:ext cx="381001" cy="313735"/>
            </a:xfrm>
            <a:prstGeom prst="rect">
              <a:avLst/>
            </a:prstGeom>
            <a:solidFill>
              <a:srgbClr val="FFFF00"/>
            </a:solidFill>
            <a:ln cap="flat" cmpd="sng" w="12700">
              <a:solidFill>
                <a:srgbClr val="2CA48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t>
              </a:r>
              <a:endParaRPr sz="1600">
                <a:solidFill>
                  <a:schemeClr val="dk1"/>
                </a:solidFill>
                <a:latin typeface="Arial"/>
                <a:ea typeface="Arial"/>
                <a:cs typeface="Arial"/>
                <a:sym typeface="Arial"/>
              </a:endParaRPr>
            </a:p>
          </p:txBody>
        </p:sp>
        <p:sp>
          <p:nvSpPr>
            <p:cNvPr id="852" name="Google Shape;852;p39"/>
            <p:cNvSpPr/>
            <p:nvPr/>
          </p:nvSpPr>
          <p:spPr>
            <a:xfrm>
              <a:off x="4835457" y="222696"/>
              <a:ext cx="381001" cy="313735"/>
            </a:xfrm>
            <a:prstGeom prst="rect">
              <a:avLst/>
            </a:prstGeom>
            <a:solidFill>
              <a:srgbClr val="FFFF00"/>
            </a:solidFill>
            <a:ln cap="flat" cmpd="sng" w="12700">
              <a:solidFill>
                <a:srgbClr val="2CA48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t>
              </a:r>
              <a:endParaRPr/>
            </a:p>
          </p:txBody>
        </p:sp>
        <p:sp>
          <p:nvSpPr>
            <p:cNvPr id="853" name="Google Shape;853;p39"/>
            <p:cNvSpPr/>
            <p:nvPr/>
          </p:nvSpPr>
          <p:spPr>
            <a:xfrm>
              <a:off x="5485732" y="223263"/>
              <a:ext cx="381001" cy="313735"/>
            </a:xfrm>
            <a:prstGeom prst="rect">
              <a:avLst/>
            </a:prstGeom>
            <a:solidFill>
              <a:srgbClr val="FFFF00"/>
            </a:solidFill>
            <a:ln cap="flat" cmpd="sng" w="12700">
              <a:solidFill>
                <a:srgbClr val="2CA48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a:t>
              </a:r>
              <a:endParaRPr/>
            </a:p>
          </p:txBody>
        </p:sp>
        <p:sp>
          <p:nvSpPr>
            <p:cNvPr id="854" name="Google Shape;854;p39"/>
            <p:cNvSpPr/>
            <p:nvPr/>
          </p:nvSpPr>
          <p:spPr>
            <a:xfrm>
              <a:off x="6139669" y="222696"/>
              <a:ext cx="465323" cy="328108"/>
            </a:xfrm>
            <a:prstGeom prst="rect">
              <a:avLst/>
            </a:prstGeom>
            <a:solidFill>
              <a:srgbClr val="FFFF00"/>
            </a:solidFill>
            <a:ln cap="flat" cmpd="sng" w="12700">
              <a:solidFill>
                <a:srgbClr val="2CA48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&lt;&lt;</a:t>
              </a:r>
              <a:endParaRPr sz="1600">
                <a:solidFill>
                  <a:schemeClr val="dk1"/>
                </a:solidFill>
                <a:latin typeface="Arial"/>
                <a:ea typeface="Arial"/>
                <a:cs typeface="Arial"/>
                <a:sym typeface="Arial"/>
              </a:endParaRPr>
            </a:p>
          </p:txBody>
        </p:sp>
        <p:sp>
          <p:nvSpPr>
            <p:cNvPr id="855" name="Google Shape;855;p39"/>
            <p:cNvSpPr/>
            <p:nvPr/>
          </p:nvSpPr>
          <p:spPr>
            <a:xfrm>
              <a:off x="7516044" y="195190"/>
              <a:ext cx="518915" cy="328108"/>
            </a:xfrm>
            <a:prstGeom prst="rect">
              <a:avLst/>
            </a:prstGeom>
            <a:solidFill>
              <a:srgbClr val="FFFF00"/>
            </a:solidFill>
            <a:ln cap="flat" cmpd="sng" w="12700">
              <a:solidFill>
                <a:srgbClr val="2CA48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&gt;&gt;&gt;</a:t>
              </a:r>
              <a:endParaRPr sz="1600">
                <a:solidFill>
                  <a:schemeClr val="dk1"/>
                </a:solidFill>
                <a:latin typeface="Arial"/>
                <a:ea typeface="Arial"/>
                <a:cs typeface="Arial"/>
                <a:sym typeface="Arial"/>
              </a:endParaRPr>
            </a:p>
          </p:txBody>
        </p:sp>
        <p:sp>
          <p:nvSpPr>
            <p:cNvPr id="856" name="Google Shape;856;p39"/>
            <p:cNvSpPr/>
            <p:nvPr/>
          </p:nvSpPr>
          <p:spPr>
            <a:xfrm>
              <a:off x="6815053" y="195190"/>
              <a:ext cx="465323" cy="328108"/>
            </a:xfrm>
            <a:prstGeom prst="rect">
              <a:avLst/>
            </a:prstGeom>
            <a:solidFill>
              <a:srgbClr val="FFFF00"/>
            </a:solidFill>
            <a:ln cap="flat" cmpd="sng" w="12700">
              <a:solidFill>
                <a:srgbClr val="2CA48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Arial"/>
                  <a:ea typeface="Arial"/>
                  <a:cs typeface="Arial"/>
                  <a:sym typeface="Arial"/>
                </a:rPr>
                <a:t>&gt;&gt;</a:t>
              </a:r>
              <a:endParaRPr sz="1600">
                <a:solidFill>
                  <a:schemeClr val="dk1"/>
                </a:solidFill>
                <a:latin typeface="Arial"/>
                <a:ea typeface="Arial"/>
                <a:cs typeface="Arial"/>
                <a:sym typeface="Arial"/>
              </a:endParaRPr>
            </a:p>
          </p:txBody>
        </p:sp>
        <p:cxnSp>
          <p:nvCxnSpPr>
            <p:cNvPr id="857" name="Google Shape;857;p39"/>
            <p:cNvCxnSpPr/>
            <p:nvPr/>
          </p:nvCxnSpPr>
          <p:spPr>
            <a:xfrm>
              <a:off x="3613244" y="609600"/>
              <a:ext cx="4162257" cy="0"/>
            </a:xfrm>
            <a:prstGeom prst="straightConnector1">
              <a:avLst/>
            </a:prstGeom>
            <a:noFill/>
            <a:ln cap="flat" cmpd="sng" w="9525">
              <a:solidFill>
                <a:schemeClr val="accent1"/>
              </a:solidFill>
              <a:prstDash val="solid"/>
              <a:miter lim="800000"/>
              <a:headEnd len="sm" w="sm" type="none"/>
              <a:tailEnd len="sm" w="sm" type="none"/>
            </a:ln>
          </p:spPr>
        </p:cxnSp>
        <p:cxnSp>
          <p:nvCxnSpPr>
            <p:cNvPr id="858" name="Google Shape;858;p39"/>
            <p:cNvCxnSpPr>
              <a:stCxn id="850" idx="2"/>
            </p:cNvCxnSpPr>
            <p:nvPr/>
          </p:nvCxnSpPr>
          <p:spPr>
            <a:xfrm>
              <a:off x="3613245" y="513409"/>
              <a:ext cx="0" cy="96300"/>
            </a:xfrm>
            <a:prstGeom prst="straightConnector1">
              <a:avLst/>
            </a:prstGeom>
            <a:noFill/>
            <a:ln cap="flat" cmpd="sng" w="9525">
              <a:solidFill>
                <a:schemeClr val="accent1"/>
              </a:solidFill>
              <a:prstDash val="solid"/>
              <a:miter lim="800000"/>
              <a:headEnd len="sm" w="sm" type="none"/>
              <a:tailEnd len="sm" w="sm" type="none"/>
            </a:ln>
          </p:spPr>
        </p:cxnSp>
        <p:cxnSp>
          <p:nvCxnSpPr>
            <p:cNvPr id="859" name="Google Shape;859;p39"/>
            <p:cNvCxnSpPr/>
            <p:nvPr/>
          </p:nvCxnSpPr>
          <p:spPr>
            <a:xfrm flipH="1">
              <a:off x="4343399" y="533400"/>
              <a:ext cx="1" cy="96191"/>
            </a:xfrm>
            <a:prstGeom prst="straightConnector1">
              <a:avLst/>
            </a:prstGeom>
            <a:noFill/>
            <a:ln cap="flat" cmpd="sng" w="9525">
              <a:solidFill>
                <a:schemeClr val="accent1"/>
              </a:solidFill>
              <a:prstDash val="solid"/>
              <a:miter lim="800000"/>
              <a:headEnd len="sm" w="sm" type="none"/>
              <a:tailEnd len="sm" w="sm" type="none"/>
            </a:ln>
          </p:spPr>
        </p:cxnSp>
        <p:cxnSp>
          <p:nvCxnSpPr>
            <p:cNvPr id="860" name="Google Shape;860;p39"/>
            <p:cNvCxnSpPr/>
            <p:nvPr/>
          </p:nvCxnSpPr>
          <p:spPr>
            <a:xfrm flipH="1">
              <a:off x="5029199" y="533400"/>
              <a:ext cx="1" cy="96191"/>
            </a:xfrm>
            <a:prstGeom prst="straightConnector1">
              <a:avLst/>
            </a:prstGeom>
            <a:noFill/>
            <a:ln cap="flat" cmpd="sng" w="9525">
              <a:solidFill>
                <a:schemeClr val="accent1"/>
              </a:solidFill>
              <a:prstDash val="solid"/>
              <a:miter lim="800000"/>
              <a:headEnd len="sm" w="sm" type="none"/>
              <a:tailEnd len="sm" w="sm" type="none"/>
            </a:ln>
          </p:spPr>
        </p:cxnSp>
        <p:cxnSp>
          <p:nvCxnSpPr>
            <p:cNvPr id="861" name="Google Shape;861;p39"/>
            <p:cNvCxnSpPr/>
            <p:nvPr/>
          </p:nvCxnSpPr>
          <p:spPr>
            <a:xfrm flipH="1">
              <a:off x="5714999" y="533400"/>
              <a:ext cx="1" cy="96191"/>
            </a:xfrm>
            <a:prstGeom prst="straightConnector1">
              <a:avLst/>
            </a:prstGeom>
            <a:noFill/>
            <a:ln cap="flat" cmpd="sng" w="9525">
              <a:solidFill>
                <a:schemeClr val="accent1"/>
              </a:solidFill>
              <a:prstDash val="solid"/>
              <a:miter lim="800000"/>
              <a:headEnd len="sm" w="sm" type="none"/>
              <a:tailEnd len="sm" w="sm" type="none"/>
            </a:ln>
          </p:spPr>
        </p:cxnSp>
        <p:cxnSp>
          <p:nvCxnSpPr>
            <p:cNvPr id="862" name="Google Shape;862;p39"/>
            <p:cNvCxnSpPr/>
            <p:nvPr/>
          </p:nvCxnSpPr>
          <p:spPr>
            <a:xfrm flipH="1">
              <a:off x="6400799" y="513409"/>
              <a:ext cx="1" cy="96191"/>
            </a:xfrm>
            <a:prstGeom prst="straightConnector1">
              <a:avLst/>
            </a:prstGeom>
            <a:noFill/>
            <a:ln cap="flat" cmpd="sng" w="9525">
              <a:solidFill>
                <a:schemeClr val="accent1"/>
              </a:solidFill>
              <a:prstDash val="solid"/>
              <a:miter lim="800000"/>
              <a:headEnd len="sm" w="sm" type="none"/>
              <a:tailEnd len="sm" w="sm" type="none"/>
            </a:ln>
          </p:spPr>
        </p:cxnSp>
        <p:cxnSp>
          <p:nvCxnSpPr>
            <p:cNvPr id="863" name="Google Shape;863;p39"/>
            <p:cNvCxnSpPr/>
            <p:nvPr/>
          </p:nvCxnSpPr>
          <p:spPr>
            <a:xfrm flipH="1">
              <a:off x="7086600" y="533400"/>
              <a:ext cx="1" cy="96191"/>
            </a:xfrm>
            <a:prstGeom prst="straightConnector1">
              <a:avLst/>
            </a:prstGeom>
            <a:noFill/>
            <a:ln cap="flat" cmpd="sng" w="9525">
              <a:solidFill>
                <a:schemeClr val="accent1"/>
              </a:solidFill>
              <a:prstDash val="solid"/>
              <a:miter lim="800000"/>
              <a:headEnd len="sm" w="sm" type="none"/>
              <a:tailEnd len="sm" w="sm" type="none"/>
            </a:ln>
          </p:spPr>
        </p:cxnSp>
        <p:cxnSp>
          <p:nvCxnSpPr>
            <p:cNvPr id="864" name="Google Shape;864;p39"/>
            <p:cNvCxnSpPr/>
            <p:nvPr/>
          </p:nvCxnSpPr>
          <p:spPr>
            <a:xfrm flipH="1">
              <a:off x="7772399" y="533400"/>
              <a:ext cx="1" cy="96191"/>
            </a:xfrm>
            <a:prstGeom prst="straightConnector1">
              <a:avLst/>
            </a:prstGeom>
            <a:noFill/>
            <a:ln cap="flat" cmpd="sng" w="9525">
              <a:solidFill>
                <a:schemeClr val="accent1"/>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8"/>
                                        </p:tgtEl>
                                        <p:attrNameLst>
                                          <p:attrName>style.visibility</p:attrName>
                                        </p:attrNameLst>
                                      </p:cBhvr>
                                      <p:to>
                                        <p:strVal val="visible"/>
                                      </p:to>
                                    </p:set>
                                    <p:animEffect filter="fade" transition="in">
                                      <p:cBhvr>
                                        <p:cTn dur="500"/>
                                        <p:tgtEl>
                                          <p:spTgt spid="8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4"/>
                                        </p:tgtEl>
                                        <p:attrNameLst>
                                          <p:attrName>style.visibility</p:attrName>
                                        </p:attrNameLst>
                                      </p:cBhvr>
                                      <p:to>
                                        <p:strVal val="visible"/>
                                      </p:to>
                                    </p:set>
                                    <p:anim calcmode="lin" valueType="num">
                                      <p:cBhvr additive="base">
                                        <p:cTn dur="500"/>
                                        <p:tgtEl>
                                          <p:spTgt spid="844"/>
                                        </p:tgtEl>
                                        <p:attrNameLst>
                                          <p:attrName>ppt_w</p:attrName>
                                        </p:attrNameLst>
                                      </p:cBhvr>
                                      <p:tavLst>
                                        <p:tav fmla="" tm="0">
                                          <p:val>
                                            <p:strVal val="0"/>
                                          </p:val>
                                        </p:tav>
                                        <p:tav fmla="" tm="100000">
                                          <p:val>
                                            <p:strVal val="#ppt_w"/>
                                          </p:val>
                                        </p:tav>
                                      </p:tavLst>
                                    </p:anim>
                                    <p:anim calcmode="lin" valueType="num">
                                      <p:cBhvr additive="base">
                                        <p:cTn dur="500"/>
                                        <p:tgtEl>
                                          <p:spTgt spid="844"/>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0"/>
                                        </p:tgtEl>
                                        <p:attrNameLst>
                                          <p:attrName>style.visibility</p:attrName>
                                        </p:attrNameLst>
                                      </p:cBhvr>
                                      <p:to>
                                        <p:strVal val="visible"/>
                                      </p:to>
                                    </p:set>
                                    <p:anim calcmode="lin" valueType="num">
                                      <p:cBhvr additive="base">
                                        <p:cTn dur="500"/>
                                        <p:tgtEl>
                                          <p:spTgt spid="840"/>
                                        </p:tgtEl>
                                        <p:attrNameLst>
                                          <p:attrName>ppt_w</p:attrName>
                                        </p:attrNameLst>
                                      </p:cBhvr>
                                      <p:tavLst>
                                        <p:tav fmla="" tm="0">
                                          <p:val>
                                            <p:strVal val="0"/>
                                          </p:val>
                                        </p:tav>
                                        <p:tav fmla="" tm="100000">
                                          <p:val>
                                            <p:strVal val="#ppt_w"/>
                                          </p:val>
                                        </p:tav>
                                      </p:tavLst>
                                    </p:anim>
                                    <p:anim calcmode="lin" valueType="num">
                                      <p:cBhvr additive="base">
                                        <p:cTn dur="500"/>
                                        <p:tgtEl>
                                          <p:spTgt spid="84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2"/>
                                        </p:tgtEl>
                                        <p:attrNameLst>
                                          <p:attrName>style.visibility</p:attrName>
                                        </p:attrNameLst>
                                      </p:cBhvr>
                                      <p:to>
                                        <p:strVal val="visible"/>
                                      </p:to>
                                    </p:set>
                                    <p:anim calcmode="lin" valueType="num">
                                      <p:cBhvr additive="base">
                                        <p:cTn dur="500"/>
                                        <p:tgtEl>
                                          <p:spTgt spid="842"/>
                                        </p:tgtEl>
                                        <p:attrNameLst>
                                          <p:attrName>ppt_w</p:attrName>
                                        </p:attrNameLst>
                                      </p:cBhvr>
                                      <p:tavLst>
                                        <p:tav fmla="" tm="0">
                                          <p:val>
                                            <p:strVal val="0"/>
                                          </p:val>
                                        </p:tav>
                                        <p:tav fmla="" tm="100000">
                                          <p:val>
                                            <p:strVal val="#ppt_w"/>
                                          </p:val>
                                        </p:tav>
                                      </p:tavLst>
                                    </p:anim>
                                    <p:anim calcmode="lin" valueType="num">
                                      <p:cBhvr additive="base">
                                        <p:cTn dur="500"/>
                                        <p:tgtEl>
                                          <p:spTgt spid="84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3"/>
                                        </p:tgtEl>
                                        <p:attrNameLst>
                                          <p:attrName>style.visibility</p:attrName>
                                        </p:attrNameLst>
                                      </p:cBhvr>
                                      <p:to>
                                        <p:strVal val="visible"/>
                                      </p:to>
                                    </p:set>
                                    <p:anim calcmode="lin" valueType="num">
                                      <p:cBhvr additive="base">
                                        <p:cTn dur="500"/>
                                        <p:tgtEl>
                                          <p:spTgt spid="843"/>
                                        </p:tgtEl>
                                        <p:attrNameLst>
                                          <p:attrName>ppt_w</p:attrName>
                                        </p:attrNameLst>
                                      </p:cBhvr>
                                      <p:tavLst>
                                        <p:tav fmla="" tm="0">
                                          <p:val>
                                            <p:strVal val="0"/>
                                          </p:val>
                                        </p:tav>
                                        <p:tav fmla="" tm="100000">
                                          <p:val>
                                            <p:strVal val="#ppt_w"/>
                                          </p:val>
                                        </p:tav>
                                      </p:tavLst>
                                    </p:anim>
                                    <p:anim calcmode="lin" valueType="num">
                                      <p:cBhvr additive="base">
                                        <p:cTn dur="500"/>
                                        <p:tgtEl>
                                          <p:spTgt spid="84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5"/>
                                        </p:tgtEl>
                                        <p:attrNameLst>
                                          <p:attrName>style.visibility</p:attrName>
                                        </p:attrNameLst>
                                      </p:cBhvr>
                                      <p:to>
                                        <p:strVal val="visible"/>
                                      </p:to>
                                    </p:set>
                                    <p:anim calcmode="lin" valueType="num">
                                      <p:cBhvr additive="base">
                                        <p:cTn dur="500"/>
                                        <p:tgtEl>
                                          <p:spTgt spid="845"/>
                                        </p:tgtEl>
                                        <p:attrNameLst>
                                          <p:attrName>ppt_w</p:attrName>
                                        </p:attrNameLst>
                                      </p:cBhvr>
                                      <p:tavLst>
                                        <p:tav fmla="" tm="0">
                                          <p:val>
                                            <p:strVal val="0"/>
                                          </p:val>
                                        </p:tav>
                                        <p:tav fmla="" tm="100000">
                                          <p:val>
                                            <p:strVal val="#ppt_w"/>
                                          </p:val>
                                        </p:tav>
                                      </p:tavLst>
                                    </p:anim>
                                    <p:anim calcmode="lin" valueType="num">
                                      <p:cBhvr additive="base">
                                        <p:cTn dur="500"/>
                                        <p:tgtEl>
                                          <p:spTgt spid="84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41"/>
                                        </p:tgtEl>
                                        <p:attrNameLst>
                                          <p:attrName>style.visibility</p:attrName>
                                        </p:attrNameLst>
                                      </p:cBhvr>
                                      <p:to>
                                        <p:strVal val="visible"/>
                                      </p:to>
                                    </p:set>
                                    <p:anim calcmode="lin" valueType="num">
                                      <p:cBhvr additive="base">
                                        <p:cTn dur="500"/>
                                        <p:tgtEl>
                                          <p:spTgt spid="841"/>
                                        </p:tgtEl>
                                        <p:attrNameLst>
                                          <p:attrName>ppt_w</p:attrName>
                                        </p:attrNameLst>
                                      </p:cBhvr>
                                      <p:tavLst>
                                        <p:tav fmla="" tm="0">
                                          <p:val>
                                            <p:strVal val="0"/>
                                          </p:val>
                                        </p:tav>
                                        <p:tav fmla="" tm="100000">
                                          <p:val>
                                            <p:strVal val="#ppt_w"/>
                                          </p:val>
                                        </p:tav>
                                      </p:tavLst>
                                    </p:anim>
                                    <p:anim calcmode="lin" valueType="num">
                                      <p:cBhvr additive="base">
                                        <p:cTn dur="500"/>
                                        <p:tgtEl>
                                          <p:spTgt spid="84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72" name="Google Shape;872;p40"/>
          <p:cNvSpPr txBox="1"/>
          <p:nvPr/>
        </p:nvSpPr>
        <p:spPr>
          <a:xfrm>
            <a:off x="228600" y="187372"/>
            <a:ext cx="2133600" cy="5334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Operators</a:t>
            </a:r>
            <a:endParaRPr b="1" sz="3000">
              <a:solidFill>
                <a:srgbClr val="002060"/>
              </a:solidFill>
              <a:latin typeface="Times New Roman"/>
              <a:ea typeface="Times New Roman"/>
              <a:cs typeface="Times New Roman"/>
              <a:sym typeface="Times New Roman"/>
            </a:endParaRPr>
          </a:p>
        </p:txBody>
      </p:sp>
      <p:pic>
        <p:nvPicPr>
          <p:cNvPr id="873" name="Google Shape;873;p40"/>
          <p:cNvPicPr preferRelativeResize="0"/>
          <p:nvPr/>
        </p:nvPicPr>
        <p:blipFill rotWithShape="1">
          <a:blip r:embed="rId3">
            <a:alphaModFix/>
          </a:blip>
          <a:srcRect b="0" l="0" r="0" t="0"/>
          <a:stretch/>
        </p:blipFill>
        <p:spPr>
          <a:xfrm>
            <a:off x="228600" y="1604910"/>
            <a:ext cx="2297538" cy="757431"/>
          </a:xfrm>
          <a:prstGeom prst="rect">
            <a:avLst/>
          </a:prstGeom>
          <a:noFill/>
          <a:ln>
            <a:noFill/>
          </a:ln>
        </p:spPr>
      </p:pic>
      <p:pic>
        <p:nvPicPr>
          <p:cNvPr id="874" name="Google Shape;874;p40"/>
          <p:cNvPicPr preferRelativeResize="0"/>
          <p:nvPr/>
        </p:nvPicPr>
        <p:blipFill rotWithShape="1">
          <a:blip r:embed="rId4">
            <a:alphaModFix/>
          </a:blip>
          <a:srcRect b="0" l="0" r="0" t="0"/>
          <a:stretch/>
        </p:blipFill>
        <p:spPr>
          <a:xfrm>
            <a:off x="215705" y="3912273"/>
            <a:ext cx="2272294" cy="757431"/>
          </a:xfrm>
          <a:prstGeom prst="rect">
            <a:avLst/>
          </a:prstGeom>
          <a:noFill/>
          <a:ln>
            <a:noFill/>
          </a:ln>
        </p:spPr>
      </p:pic>
      <p:pic>
        <p:nvPicPr>
          <p:cNvPr id="875" name="Google Shape;875;p40"/>
          <p:cNvPicPr preferRelativeResize="0"/>
          <p:nvPr/>
        </p:nvPicPr>
        <p:blipFill rotWithShape="1">
          <a:blip r:embed="rId5">
            <a:alphaModFix/>
          </a:blip>
          <a:srcRect b="0" l="0" r="0" t="0"/>
          <a:stretch/>
        </p:blipFill>
        <p:spPr>
          <a:xfrm>
            <a:off x="5933183" y="1530015"/>
            <a:ext cx="2133600" cy="761781"/>
          </a:xfrm>
          <a:prstGeom prst="rect">
            <a:avLst/>
          </a:prstGeom>
          <a:noFill/>
          <a:ln>
            <a:noFill/>
          </a:ln>
        </p:spPr>
      </p:pic>
      <p:pic>
        <p:nvPicPr>
          <p:cNvPr id="876" name="Google Shape;876;p40"/>
          <p:cNvPicPr preferRelativeResize="0"/>
          <p:nvPr/>
        </p:nvPicPr>
        <p:blipFill rotWithShape="1">
          <a:blip r:embed="rId6">
            <a:alphaModFix/>
          </a:blip>
          <a:srcRect b="0" l="0" r="0" t="0"/>
          <a:stretch/>
        </p:blipFill>
        <p:spPr>
          <a:xfrm>
            <a:off x="5970592" y="3879538"/>
            <a:ext cx="2336124" cy="761780"/>
          </a:xfrm>
          <a:prstGeom prst="rect">
            <a:avLst/>
          </a:prstGeom>
          <a:noFill/>
          <a:ln>
            <a:noFill/>
          </a:ln>
        </p:spPr>
      </p:pic>
      <p:pic>
        <p:nvPicPr>
          <p:cNvPr id="877" name="Google Shape;877;p40"/>
          <p:cNvPicPr preferRelativeResize="0"/>
          <p:nvPr/>
        </p:nvPicPr>
        <p:blipFill rotWithShape="1">
          <a:blip r:embed="rId7">
            <a:alphaModFix/>
          </a:blip>
          <a:srcRect b="0" l="0" r="0" t="0"/>
          <a:stretch/>
        </p:blipFill>
        <p:spPr>
          <a:xfrm>
            <a:off x="2177469" y="1269044"/>
            <a:ext cx="3722262" cy="1429162"/>
          </a:xfrm>
          <a:prstGeom prst="rect">
            <a:avLst/>
          </a:prstGeom>
          <a:noFill/>
          <a:ln>
            <a:noFill/>
          </a:ln>
        </p:spPr>
      </p:pic>
      <p:pic>
        <p:nvPicPr>
          <p:cNvPr id="878" name="Google Shape;878;p40"/>
          <p:cNvPicPr preferRelativeResize="0"/>
          <p:nvPr/>
        </p:nvPicPr>
        <p:blipFill rotWithShape="1">
          <a:blip r:embed="rId8">
            <a:alphaModFix/>
          </a:blip>
          <a:srcRect b="0" l="0" r="0" t="0"/>
          <a:stretch/>
        </p:blipFill>
        <p:spPr>
          <a:xfrm>
            <a:off x="7997227" y="914400"/>
            <a:ext cx="4042373" cy="2057399"/>
          </a:xfrm>
          <a:prstGeom prst="rect">
            <a:avLst/>
          </a:prstGeom>
          <a:noFill/>
          <a:ln>
            <a:noFill/>
          </a:ln>
        </p:spPr>
      </p:pic>
      <p:pic>
        <p:nvPicPr>
          <p:cNvPr id="879" name="Google Shape;879;p40"/>
          <p:cNvPicPr preferRelativeResize="0"/>
          <p:nvPr/>
        </p:nvPicPr>
        <p:blipFill rotWithShape="1">
          <a:blip r:embed="rId9">
            <a:alphaModFix/>
          </a:blip>
          <a:srcRect b="0" l="0" r="0" t="0"/>
          <a:stretch/>
        </p:blipFill>
        <p:spPr>
          <a:xfrm>
            <a:off x="2162684" y="3514402"/>
            <a:ext cx="3746593" cy="1514798"/>
          </a:xfrm>
          <a:prstGeom prst="rect">
            <a:avLst/>
          </a:prstGeom>
          <a:noFill/>
          <a:ln>
            <a:noFill/>
          </a:ln>
        </p:spPr>
      </p:pic>
      <p:pic>
        <p:nvPicPr>
          <p:cNvPr id="880" name="Google Shape;880;p40"/>
          <p:cNvPicPr preferRelativeResize="0"/>
          <p:nvPr/>
        </p:nvPicPr>
        <p:blipFill rotWithShape="1">
          <a:blip r:embed="rId10">
            <a:alphaModFix/>
          </a:blip>
          <a:srcRect b="0" l="0" r="0" t="0"/>
          <a:stretch/>
        </p:blipFill>
        <p:spPr>
          <a:xfrm>
            <a:off x="8211041" y="3175911"/>
            <a:ext cx="3828559" cy="2005689"/>
          </a:xfrm>
          <a:prstGeom prst="rect">
            <a:avLst/>
          </a:prstGeom>
          <a:noFill/>
          <a:ln>
            <a:noFill/>
          </a:ln>
        </p:spPr>
      </p:pic>
      <p:pic>
        <p:nvPicPr>
          <p:cNvPr id="881" name="Google Shape;881;p40"/>
          <p:cNvPicPr preferRelativeResize="0"/>
          <p:nvPr/>
        </p:nvPicPr>
        <p:blipFill rotWithShape="1">
          <a:blip r:embed="rId11">
            <a:alphaModFix/>
          </a:blip>
          <a:srcRect b="0" l="0" r="0" t="0"/>
          <a:stretch/>
        </p:blipFill>
        <p:spPr>
          <a:xfrm>
            <a:off x="2387220" y="1390128"/>
            <a:ext cx="1346580" cy="384737"/>
          </a:xfrm>
          <a:prstGeom prst="rect">
            <a:avLst/>
          </a:prstGeom>
          <a:noFill/>
          <a:ln>
            <a:noFill/>
          </a:ln>
        </p:spPr>
      </p:pic>
      <p:pic>
        <p:nvPicPr>
          <p:cNvPr id="882" name="Google Shape;882;p40"/>
          <p:cNvPicPr preferRelativeResize="0"/>
          <p:nvPr/>
        </p:nvPicPr>
        <p:blipFill rotWithShape="1">
          <a:blip r:embed="rId12">
            <a:alphaModFix/>
          </a:blip>
          <a:srcRect b="0" l="0" r="0" t="0"/>
          <a:stretch/>
        </p:blipFill>
        <p:spPr>
          <a:xfrm>
            <a:off x="2413223" y="1752600"/>
            <a:ext cx="2920777" cy="316613"/>
          </a:xfrm>
          <a:prstGeom prst="rect">
            <a:avLst/>
          </a:prstGeom>
          <a:noFill/>
          <a:ln>
            <a:noFill/>
          </a:ln>
        </p:spPr>
      </p:pic>
      <p:pic>
        <p:nvPicPr>
          <p:cNvPr id="883" name="Google Shape;883;p40"/>
          <p:cNvPicPr preferRelativeResize="0"/>
          <p:nvPr/>
        </p:nvPicPr>
        <p:blipFill rotWithShape="1">
          <a:blip r:embed="rId13">
            <a:alphaModFix/>
          </a:blip>
          <a:srcRect b="0" l="0" r="0" t="0"/>
          <a:stretch/>
        </p:blipFill>
        <p:spPr>
          <a:xfrm>
            <a:off x="2362201" y="2048886"/>
            <a:ext cx="3352800" cy="506464"/>
          </a:xfrm>
          <a:prstGeom prst="rect">
            <a:avLst/>
          </a:prstGeom>
          <a:noFill/>
          <a:ln>
            <a:noFill/>
          </a:ln>
        </p:spPr>
      </p:pic>
      <p:sp>
        <p:nvSpPr>
          <p:cNvPr id="884" name="Google Shape;884;p40"/>
          <p:cNvSpPr/>
          <p:nvPr/>
        </p:nvSpPr>
        <p:spPr>
          <a:xfrm>
            <a:off x="3429000" y="2133599"/>
            <a:ext cx="152400" cy="298085"/>
          </a:xfrm>
          <a:prstGeom prst="rect">
            <a:avLst/>
          </a:prstGeom>
          <a:solidFill>
            <a:schemeClr val="lt1">
              <a:alpha val="4705"/>
            </a:schemeClr>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885" name="Google Shape;885;p40"/>
          <p:cNvPicPr preferRelativeResize="0"/>
          <p:nvPr/>
        </p:nvPicPr>
        <p:blipFill rotWithShape="1">
          <a:blip r:embed="rId14">
            <a:alphaModFix/>
          </a:blip>
          <a:srcRect b="0" l="0" r="0" t="0"/>
          <a:stretch/>
        </p:blipFill>
        <p:spPr>
          <a:xfrm>
            <a:off x="2362199" y="3658324"/>
            <a:ext cx="2895601" cy="618478"/>
          </a:xfrm>
          <a:prstGeom prst="rect">
            <a:avLst/>
          </a:prstGeom>
          <a:noFill/>
          <a:ln>
            <a:noFill/>
          </a:ln>
        </p:spPr>
      </p:pic>
      <p:pic>
        <p:nvPicPr>
          <p:cNvPr id="886" name="Google Shape;886;p40"/>
          <p:cNvPicPr preferRelativeResize="0"/>
          <p:nvPr/>
        </p:nvPicPr>
        <p:blipFill rotWithShape="1">
          <a:blip r:embed="rId15">
            <a:alphaModFix/>
          </a:blip>
          <a:srcRect b="0" l="0" r="0" t="0"/>
          <a:stretch/>
        </p:blipFill>
        <p:spPr>
          <a:xfrm>
            <a:off x="2334195" y="4267200"/>
            <a:ext cx="3380805" cy="623128"/>
          </a:xfrm>
          <a:prstGeom prst="rect">
            <a:avLst/>
          </a:prstGeom>
          <a:noFill/>
          <a:ln>
            <a:noFill/>
          </a:ln>
        </p:spPr>
      </p:pic>
      <p:sp>
        <p:nvSpPr>
          <p:cNvPr id="887" name="Google Shape;887;p40"/>
          <p:cNvSpPr/>
          <p:nvPr/>
        </p:nvSpPr>
        <p:spPr>
          <a:xfrm>
            <a:off x="3124200" y="4383250"/>
            <a:ext cx="512929" cy="188750"/>
          </a:xfrm>
          <a:prstGeom prst="rect">
            <a:avLst/>
          </a:prstGeom>
          <a:solidFill>
            <a:schemeClr val="lt1">
              <a:alpha val="4705"/>
            </a:schemeClr>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888" name="Google Shape;888;p40"/>
          <p:cNvPicPr preferRelativeResize="0"/>
          <p:nvPr/>
        </p:nvPicPr>
        <p:blipFill rotWithShape="1">
          <a:blip r:embed="rId16">
            <a:alphaModFix/>
          </a:blip>
          <a:srcRect b="0" l="0" r="0" t="0"/>
          <a:stretch/>
        </p:blipFill>
        <p:spPr>
          <a:xfrm>
            <a:off x="8136339" y="1118512"/>
            <a:ext cx="2586709" cy="552041"/>
          </a:xfrm>
          <a:prstGeom prst="rect">
            <a:avLst/>
          </a:prstGeom>
          <a:noFill/>
          <a:ln>
            <a:noFill/>
          </a:ln>
        </p:spPr>
      </p:pic>
      <p:pic>
        <p:nvPicPr>
          <p:cNvPr id="889" name="Google Shape;889;p40"/>
          <p:cNvPicPr preferRelativeResize="0"/>
          <p:nvPr/>
        </p:nvPicPr>
        <p:blipFill rotWithShape="1">
          <a:blip r:embed="rId17">
            <a:alphaModFix/>
          </a:blip>
          <a:srcRect b="0" l="0" r="0" t="0"/>
          <a:stretch/>
        </p:blipFill>
        <p:spPr>
          <a:xfrm>
            <a:off x="8241749" y="1676400"/>
            <a:ext cx="3282315" cy="248660"/>
          </a:xfrm>
          <a:prstGeom prst="rect">
            <a:avLst/>
          </a:prstGeom>
          <a:noFill/>
          <a:ln>
            <a:noFill/>
          </a:ln>
        </p:spPr>
      </p:pic>
      <p:pic>
        <p:nvPicPr>
          <p:cNvPr id="890" name="Google Shape;890;p40"/>
          <p:cNvPicPr preferRelativeResize="0"/>
          <p:nvPr/>
        </p:nvPicPr>
        <p:blipFill rotWithShape="1">
          <a:blip r:embed="rId18">
            <a:alphaModFix/>
          </a:blip>
          <a:srcRect b="0" l="0" r="0" t="0"/>
          <a:stretch/>
        </p:blipFill>
        <p:spPr>
          <a:xfrm>
            <a:off x="8200748" y="2042015"/>
            <a:ext cx="3485836" cy="749150"/>
          </a:xfrm>
          <a:prstGeom prst="rect">
            <a:avLst/>
          </a:prstGeom>
          <a:noFill/>
          <a:ln>
            <a:noFill/>
          </a:ln>
        </p:spPr>
      </p:pic>
      <p:pic>
        <p:nvPicPr>
          <p:cNvPr id="891" name="Google Shape;891;p40"/>
          <p:cNvPicPr preferRelativeResize="0"/>
          <p:nvPr/>
        </p:nvPicPr>
        <p:blipFill rotWithShape="1">
          <a:blip r:embed="rId19">
            <a:alphaModFix/>
          </a:blip>
          <a:srcRect b="0" l="0" r="0" t="0"/>
          <a:stretch/>
        </p:blipFill>
        <p:spPr>
          <a:xfrm>
            <a:off x="8345304" y="3343261"/>
            <a:ext cx="2482199" cy="536277"/>
          </a:xfrm>
          <a:prstGeom prst="rect">
            <a:avLst/>
          </a:prstGeom>
          <a:noFill/>
          <a:ln>
            <a:noFill/>
          </a:ln>
        </p:spPr>
      </p:pic>
      <p:pic>
        <p:nvPicPr>
          <p:cNvPr id="892" name="Google Shape;892;p40"/>
          <p:cNvPicPr preferRelativeResize="0"/>
          <p:nvPr/>
        </p:nvPicPr>
        <p:blipFill rotWithShape="1">
          <a:blip r:embed="rId20">
            <a:alphaModFix/>
          </a:blip>
          <a:srcRect b="0" l="0" r="0" t="0"/>
          <a:stretch/>
        </p:blipFill>
        <p:spPr>
          <a:xfrm>
            <a:off x="8373871" y="3937395"/>
            <a:ext cx="3312713" cy="253605"/>
          </a:xfrm>
          <a:prstGeom prst="rect">
            <a:avLst/>
          </a:prstGeom>
          <a:noFill/>
          <a:ln>
            <a:noFill/>
          </a:ln>
        </p:spPr>
      </p:pic>
      <p:pic>
        <p:nvPicPr>
          <p:cNvPr id="893" name="Google Shape;893;p40"/>
          <p:cNvPicPr preferRelativeResize="0"/>
          <p:nvPr/>
        </p:nvPicPr>
        <p:blipFill rotWithShape="1">
          <a:blip r:embed="rId21">
            <a:alphaModFix/>
          </a:blip>
          <a:srcRect b="0" l="0" r="0" t="0"/>
          <a:stretch/>
        </p:blipFill>
        <p:spPr>
          <a:xfrm>
            <a:off x="8345304" y="4267200"/>
            <a:ext cx="3541896" cy="701622"/>
          </a:xfrm>
          <a:prstGeom prst="rect">
            <a:avLst/>
          </a:prstGeom>
          <a:noFill/>
          <a:ln>
            <a:noFill/>
          </a:ln>
        </p:spPr>
      </p:pic>
      <p:sp>
        <p:nvSpPr>
          <p:cNvPr id="894" name="Google Shape;894;p40"/>
          <p:cNvSpPr/>
          <p:nvPr/>
        </p:nvSpPr>
        <p:spPr>
          <a:xfrm>
            <a:off x="8381698" y="2176500"/>
            <a:ext cx="541529" cy="302511"/>
          </a:xfrm>
          <a:prstGeom prst="rect">
            <a:avLst/>
          </a:prstGeom>
          <a:solidFill>
            <a:schemeClr val="lt1">
              <a:alpha val="4705"/>
            </a:schemeClr>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895" name="Google Shape;895;p40"/>
          <p:cNvSpPr/>
          <p:nvPr/>
        </p:nvSpPr>
        <p:spPr>
          <a:xfrm>
            <a:off x="2472016" y="242436"/>
            <a:ext cx="3461167" cy="523220"/>
          </a:xfrm>
          <a:prstGeom prst="rect">
            <a:avLst/>
          </a:prstGeom>
          <a:noFill/>
          <a:ln>
            <a:noFill/>
          </a:ln>
          <a:effectLst>
            <a:outerShdw blurRad="50800" rotWithShape="0" algn="l" dist="38100">
              <a:srgbClr val="000000">
                <a:alpha val="40000"/>
              </a:srgbClr>
            </a:outerShdw>
          </a:effectLst>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FF0000"/>
                </a:solidFill>
                <a:latin typeface="Times New Roman"/>
                <a:ea typeface="Times New Roman"/>
                <a:cs typeface="Times New Roman"/>
                <a:sym typeface="Times New Roman"/>
              </a:rPr>
              <a:t>Shift operators in Java</a:t>
            </a:r>
            <a:endParaRPr sz="2800">
              <a:solidFill>
                <a:srgbClr val="FF0000"/>
              </a:solidFill>
              <a:latin typeface="Times New Roman"/>
              <a:ea typeface="Times New Roman"/>
              <a:cs typeface="Times New Roman"/>
              <a:sym typeface="Times New Roman"/>
            </a:endParaRPr>
          </a:p>
        </p:txBody>
      </p:sp>
      <p:sp>
        <p:nvSpPr>
          <p:cNvPr id="896" name="Google Shape;896;p40"/>
          <p:cNvSpPr/>
          <p:nvPr/>
        </p:nvSpPr>
        <p:spPr>
          <a:xfrm>
            <a:off x="8474824" y="4395112"/>
            <a:ext cx="556314" cy="223285"/>
          </a:xfrm>
          <a:prstGeom prst="rect">
            <a:avLst/>
          </a:prstGeom>
          <a:solidFill>
            <a:schemeClr val="lt1">
              <a:alpha val="4705"/>
            </a:schemeClr>
          </a:solidFill>
          <a:ln cap="flat" cmpd="sng" w="2857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3"/>
                                        </p:tgtEl>
                                        <p:attrNameLst>
                                          <p:attrName>style.visibility</p:attrName>
                                        </p:attrNameLst>
                                      </p:cBhvr>
                                      <p:to>
                                        <p:strVal val="visible"/>
                                      </p:to>
                                    </p:set>
                                    <p:animEffect filter="fade" transition="in">
                                      <p:cBhvr>
                                        <p:cTn dur="500"/>
                                        <p:tgtEl>
                                          <p:spTgt spid="8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7"/>
                                        </p:tgtEl>
                                        <p:attrNameLst>
                                          <p:attrName>style.visibility</p:attrName>
                                        </p:attrNameLst>
                                      </p:cBhvr>
                                      <p:to>
                                        <p:strVal val="visible"/>
                                      </p:to>
                                    </p:set>
                                    <p:anim calcmode="lin" valueType="num">
                                      <p:cBhvr additive="base">
                                        <p:cTn dur="500"/>
                                        <p:tgtEl>
                                          <p:spTgt spid="877"/>
                                        </p:tgtEl>
                                        <p:attrNameLst>
                                          <p:attrName>ppt_w</p:attrName>
                                        </p:attrNameLst>
                                      </p:cBhvr>
                                      <p:tavLst>
                                        <p:tav fmla="" tm="0">
                                          <p:val>
                                            <p:strVal val="0"/>
                                          </p:val>
                                        </p:tav>
                                        <p:tav fmla="" tm="100000">
                                          <p:val>
                                            <p:strVal val="#ppt_w"/>
                                          </p:val>
                                        </p:tav>
                                      </p:tavLst>
                                    </p:anim>
                                    <p:anim calcmode="lin" valueType="num">
                                      <p:cBhvr additive="base">
                                        <p:cTn dur="500"/>
                                        <p:tgtEl>
                                          <p:spTgt spid="87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1"/>
                                        </p:tgtEl>
                                        <p:attrNameLst>
                                          <p:attrName>style.visibility</p:attrName>
                                        </p:attrNameLst>
                                      </p:cBhvr>
                                      <p:to>
                                        <p:strVal val="visible"/>
                                      </p:to>
                                    </p:set>
                                    <p:animEffect filter="fade" transition="in">
                                      <p:cBhvr>
                                        <p:cTn dur="500"/>
                                        <p:tgtEl>
                                          <p:spTgt spid="8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2"/>
                                        </p:tgtEl>
                                        <p:attrNameLst>
                                          <p:attrName>style.visibility</p:attrName>
                                        </p:attrNameLst>
                                      </p:cBhvr>
                                      <p:to>
                                        <p:strVal val="visible"/>
                                      </p:to>
                                    </p:set>
                                    <p:animEffect filter="fade" transition="in">
                                      <p:cBhvr>
                                        <p:cTn dur="500"/>
                                        <p:tgtEl>
                                          <p:spTgt spid="8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500"/>
                                        <p:tgtEl>
                                          <p:spTgt spid="883"/>
                                        </p:tgtEl>
                                      </p:cBhvr>
                                    </p:animEffect>
                                  </p:childTnLst>
                                </p:cTn>
                              </p:par>
                              <p:par>
                                <p:cTn fill="hold" nodeType="with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500"/>
                                        <p:tgtEl>
                                          <p:spTgt spid="8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4"/>
                                        </p:tgtEl>
                                        <p:attrNameLst>
                                          <p:attrName>style.visibility</p:attrName>
                                        </p:attrNameLst>
                                      </p:cBhvr>
                                      <p:to>
                                        <p:strVal val="visible"/>
                                      </p:to>
                                    </p:set>
                                    <p:animEffect filter="fade" transition="in">
                                      <p:cBhvr>
                                        <p:cTn dur="500"/>
                                        <p:tgtEl>
                                          <p:spTgt spid="8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9"/>
                                        </p:tgtEl>
                                        <p:attrNameLst>
                                          <p:attrName>style.visibility</p:attrName>
                                        </p:attrNameLst>
                                      </p:cBhvr>
                                      <p:to>
                                        <p:strVal val="visible"/>
                                      </p:to>
                                    </p:set>
                                    <p:anim calcmode="lin" valueType="num">
                                      <p:cBhvr additive="base">
                                        <p:cTn dur="500"/>
                                        <p:tgtEl>
                                          <p:spTgt spid="879"/>
                                        </p:tgtEl>
                                        <p:attrNameLst>
                                          <p:attrName>ppt_w</p:attrName>
                                        </p:attrNameLst>
                                      </p:cBhvr>
                                      <p:tavLst>
                                        <p:tav fmla="" tm="0">
                                          <p:val>
                                            <p:strVal val="0"/>
                                          </p:val>
                                        </p:tav>
                                        <p:tav fmla="" tm="100000">
                                          <p:val>
                                            <p:strVal val="#ppt_w"/>
                                          </p:val>
                                        </p:tav>
                                      </p:tavLst>
                                    </p:anim>
                                    <p:anim calcmode="lin" valueType="num">
                                      <p:cBhvr additive="base">
                                        <p:cTn dur="500"/>
                                        <p:tgtEl>
                                          <p:spTgt spid="87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500"/>
                                        <p:tgtEl>
                                          <p:spTgt spid="8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500"/>
                                        <p:tgtEl>
                                          <p:spTgt spid="886"/>
                                        </p:tgtEl>
                                      </p:cBhvr>
                                    </p:animEffect>
                                  </p:childTnLst>
                                </p:cTn>
                              </p:par>
                              <p:par>
                                <p:cTn fill="hold" nodeType="withEffect" presetClass="entr" presetID="10" presetSubtype="0">
                                  <p:stCondLst>
                                    <p:cond delay="0"/>
                                  </p:stCondLst>
                                  <p:childTnLst>
                                    <p:set>
                                      <p:cBhvr>
                                        <p:cTn dur="1" fill="hold">
                                          <p:stCondLst>
                                            <p:cond delay="0"/>
                                          </p:stCondLst>
                                        </p:cTn>
                                        <p:tgtEl>
                                          <p:spTgt spid="887"/>
                                        </p:tgtEl>
                                        <p:attrNameLst>
                                          <p:attrName>style.visibility</p:attrName>
                                        </p:attrNameLst>
                                      </p:cBhvr>
                                      <p:to>
                                        <p:strVal val="visible"/>
                                      </p:to>
                                    </p:set>
                                    <p:animEffect filter="fade" transition="in">
                                      <p:cBhvr>
                                        <p:cTn dur="500"/>
                                        <p:tgtEl>
                                          <p:spTgt spid="8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5"/>
                                        </p:tgtEl>
                                        <p:attrNameLst>
                                          <p:attrName>style.visibility</p:attrName>
                                        </p:attrNameLst>
                                      </p:cBhvr>
                                      <p:to>
                                        <p:strVal val="visible"/>
                                      </p:to>
                                    </p:set>
                                    <p:animEffect filter="fade" transition="in">
                                      <p:cBhvr>
                                        <p:cTn dur="500"/>
                                        <p:tgtEl>
                                          <p:spTgt spid="8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78"/>
                                        </p:tgtEl>
                                        <p:attrNameLst>
                                          <p:attrName>style.visibility</p:attrName>
                                        </p:attrNameLst>
                                      </p:cBhvr>
                                      <p:to>
                                        <p:strVal val="visible"/>
                                      </p:to>
                                    </p:set>
                                    <p:anim calcmode="lin" valueType="num">
                                      <p:cBhvr additive="base">
                                        <p:cTn dur="500"/>
                                        <p:tgtEl>
                                          <p:spTgt spid="878"/>
                                        </p:tgtEl>
                                        <p:attrNameLst>
                                          <p:attrName>ppt_w</p:attrName>
                                        </p:attrNameLst>
                                      </p:cBhvr>
                                      <p:tavLst>
                                        <p:tav fmla="" tm="0">
                                          <p:val>
                                            <p:strVal val="0"/>
                                          </p:val>
                                        </p:tav>
                                        <p:tav fmla="" tm="100000">
                                          <p:val>
                                            <p:strVal val="#ppt_w"/>
                                          </p:val>
                                        </p:tav>
                                      </p:tavLst>
                                    </p:anim>
                                    <p:anim calcmode="lin" valueType="num">
                                      <p:cBhvr additive="base">
                                        <p:cTn dur="500"/>
                                        <p:tgtEl>
                                          <p:spTgt spid="87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8"/>
                                        </p:tgtEl>
                                        <p:attrNameLst>
                                          <p:attrName>style.visibility</p:attrName>
                                        </p:attrNameLst>
                                      </p:cBhvr>
                                      <p:to>
                                        <p:strVal val="visible"/>
                                      </p:to>
                                    </p:set>
                                    <p:animEffect filter="fade" transition="in">
                                      <p:cBhvr>
                                        <p:cTn dur="500"/>
                                        <p:tgtEl>
                                          <p:spTgt spid="8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500"/>
                                        <p:tgtEl>
                                          <p:spTgt spid="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0"/>
                                        </p:tgtEl>
                                        <p:attrNameLst>
                                          <p:attrName>style.visibility</p:attrName>
                                        </p:attrNameLst>
                                      </p:cBhvr>
                                      <p:to>
                                        <p:strVal val="visible"/>
                                      </p:to>
                                    </p:set>
                                    <p:animEffect filter="fade" transition="in">
                                      <p:cBhvr>
                                        <p:cTn dur="500"/>
                                        <p:tgtEl>
                                          <p:spTgt spid="890"/>
                                        </p:tgtEl>
                                      </p:cBhvr>
                                    </p:animEffect>
                                  </p:childTnLst>
                                </p:cTn>
                              </p:par>
                              <p:par>
                                <p:cTn fill="hold" nodeType="withEffect" presetClass="entr" presetID="10" presetSubtype="0">
                                  <p:stCondLst>
                                    <p:cond delay="0"/>
                                  </p:stCondLst>
                                  <p:childTnLst>
                                    <p:set>
                                      <p:cBhvr>
                                        <p:cTn dur="1" fill="hold">
                                          <p:stCondLst>
                                            <p:cond delay="0"/>
                                          </p:stCondLst>
                                        </p:cTn>
                                        <p:tgtEl>
                                          <p:spTgt spid="894"/>
                                        </p:tgtEl>
                                        <p:attrNameLst>
                                          <p:attrName>style.visibility</p:attrName>
                                        </p:attrNameLst>
                                      </p:cBhvr>
                                      <p:to>
                                        <p:strVal val="visible"/>
                                      </p:to>
                                    </p:set>
                                    <p:animEffect filter="fade" transition="in">
                                      <p:cBhvr>
                                        <p:cTn dur="500"/>
                                        <p:tgtEl>
                                          <p:spTgt spid="8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6"/>
                                        </p:tgtEl>
                                        <p:attrNameLst>
                                          <p:attrName>style.visibility</p:attrName>
                                        </p:attrNameLst>
                                      </p:cBhvr>
                                      <p:to>
                                        <p:strVal val="visible"/>
                                      </p:to>
                                    </p:set>
                                    <p:animEffect filter="fade" transition="in">
                                      <p:cBhvr>
                                        <p:cTn dur="500"/>
                                        <p:tgtEl>
                                          <p:spTgt spid="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880"/>
                                        </p:tgtEl>
                                        <p:attrNameLst>
                                          <p:attrName>style.visibility</p:attrName>
                                        </p:attrNameLst>
                                      </p:cBhvr>
                                      <p:to>
                                        <p:strVal val="visible"/>
                                      </p:to>
                                    </p:set>
                                    <p:anim calcmode="lin" valueType="num">
                                      <p:cBhvr additive="base">
                                        <p:cTn dur="500"/>
                                        <p:tgtEl>
                                          <p:spTgt spid="880"/>
                                        </p:tgtEl>
                                        <p:attrNameLst>
                                          <p:attrName>ppt_w</p:attrName>
                                        </p:attrNameLst>
                                      </p:cBhvr>
                                      <p:tavLst>
                                        <p:tav fmla="" tm="0">
                                          <p:val>
                                            <p:strVal val="0"/>
                                          </p:val>
                                        </p:tav>
                                        <p:tav fmla="" tm="100000">
                                          <p:val>
                                            <p:strVal val="#ppt_w"/>
                                          </p:val>
                                        </p:tav>
                                      </p:tavLst>
                                    </p:anim>
                                    <p:anim calcmode="lin" valueType="num">
                                      <p:cBhvr additive="base">
                                        <p:cTn dur="500"/>
                                        <p:tgtEl>
                                          <p:spTgt spid="88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gtEl>
                                        <p:attrNameLst>
                                          <p:attrName>style.visibility</p:attrName>
                                        </p:attrNameLst>
                                      </p:cBhvr>
                                      <p:to>
                                        <p:strVal val="visible"/>
                                      </p:to>
                                    </p:set>
                                    <p:animEffect filter="fade" transition="in">
                                      <p:cBhvr>
                                        <p:cTn dur="500"/>
                                        <p:tgtEl>
                                          <p:spTgt spid="8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2"/>
                                        </p:tgtEl>
                                        <p:attrNameLst>
                                          <p:attrName>style.visibility</p:attrName>
                                        </p:attrNameLst>
                                      </p:cBhvr>
                                      <p:to>
                                        <p:strVal val="visible"/>
                                      </p:to>
                                    </p:set>
                                    <p:animEffect filter="fade" transition="in">
                                      <p:cBhvr>
                                        <p:cTn dur="500"/>
                                        <p:tgtEl>
                                          <p:spTgt spid="8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gtEl>
                                        <p:attrNameLst>
                                          <p:attrName>style.visibility</p:attrName>
                                        </p:attrNameLst>
                                      </p:cBhvr>
                                      <p:to>
                                        <p:strVal val="visible"/>
                                      </p:to>
                                    </p:set>
                                    <p:animEffect filter="fade" transition="in">
                                      <p:cBhvr>
                                        <p:cTn dur="500"/>
                                        <p:tgtEl>
                                          <p:spTgt spid="893"/>
                                        </p:tgtEl>
                                      </p:cBhvr>
                                    </p:animEffect>
                                  </p:childTnLst>
                                </p:cTn>
                              </p:par>
                              <p:par>
                                <p:cTn fill="hold" nodeType="withEffect" presetClass="entr" presetID="10" presetSubtype="0">
                                  <p:stCondLst>
                                    <p:cond delay="0"/>
                                  </p:stCondLst>
                                  <p:childTnLst>
                                    <p:set>
                                      <p:cBhvr>
                                        <p:cTn dur="1" fill="hold">
                                          <p:stCondLst>
                                            <p:cond delay="0"/>
                                          </p:stCondLst>
                                        </p:cTn>
                                        <p:tgtEl>
                                          <p:spTgt spid="896"/>
                                        </p:tgtEl>
                                        <p:attrNameLst>
                                          <p:attrName>style.visibility</p:attrName>
                                        </p:attrNameLst>
                                      </p:cBhvr>
                                      <p:to>
                                        <p:strVal val="visible"/>
                                      </p:to>
                                    </p:set>
                                    <p:animEffect filter="fade" transition="in">
                                      <p:cBhvr>
                                        <p:cTn dur="500"/>
                                        <p:tgtEl>
                                          <p:spTgt spid="8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02" name="Google Shape;902;p41"/>
          <p:cNvSpPr txBox="1"/>
          <p:nvPr>
            <p:ph type="title"/>
          </p:nvPr>
        </p:nvSpPr>
        <p:spPr>
          <a:xfrm>
            <a:off x="419100" y="154723"/>
            <a:ext cx="4762500" cy="454878"/>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Assignments &amp; Expressions</a:t>
            </a:r>
            <a:endParaRPr b="1" sz="3000">
              <a:solidFill>
                <a:srgbClr val="002060"/>
              </a:solidFill>
              <a:latin typeface="Times New Roman"/>
              <a:ea typeface="Times New Roman"/>
              <a:cs typeface="Times New Roman"/>
              <a:sym typeface="Times New Roman"/>
            </a:endParaRPr>
          </a:p>
        </p:txBody>
      </p:sp>
      <p:sp>
        <p:nvSpPr>
          <p:cNvPr id="903" name="Google Shape;903;p41"/>
          <p:cNvSpPr/>
          <p:nvPr/>
        </p:nvSpPr>
        <p:spPr>
          <a:xfrm>
            <a:off x="419100" y="885150"/>
            <a:ext cx="482208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FF0000"/>
                </a:solidFill>
                <a:latin typeface="Times New Roman"/>
                <a:ea typeface="Times New Roman"/>
                <a:cs typeface="Times New Roman"/>
                <a:sym typeface="Times New Roman"/>
              </a:rPr>
              <a:t>Syntax</a:t>
            </a:r>
            <a:r>
              <a:rPr b="1" lang="en-US" sz="2800">
                <a:solidFill>
                  <a:schemeClr val="dk1"/>
                </a:solidFill>
                <a:latin typeface="Times New Roman"/>
                <a:ea typeface="Times New Roman"/>
                <a:cs typeface="Times New Roman"/>
                <a:sym typeface="Times New Roman"/>
              </a:rPr>
              <a:t>: variable = expression;</a:t>
            </a:r>
            <a:endParaRPr/>
          </a:p>
        </p:txBody>
      </p:sp>
      <p:sp>
        <p:nvSpPr>
          <p:cNvPr id="904" name="Google Shape;904;p41"/>
          <p:cNvSpPr/>
          <p:nvPr/>
        </p:nvSpPr>
        <p:spPr>
          <a:xfrm>
            <a:off x="432748" y="1524000"/>
            <a:ext cx="4368504" cy="101566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US" sz="2400">
                <a:solidFill>
                  <a:srgbClr val="FF0000"/>
                </a:solidFill>
                <a:latin typeface="Times New Roman"/>
                <a:ea typeface="Times New Roman"/>
                <a:cs typeface="Times New Roman"/>
                <a:sym typeface="Times New Roman"/>
              </a:rPr>
              <a:t>Example</a:t>
            </a:r>
            <a:r>
              <a:rPr lang="en-US"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	Score = (10 * Points )+10;</a:t>
            </a:r>
            <a:endParaRPr sz="2400">
              <a:solidFill>
                <a:schemeClr val="dk1"/>
              </a:solidFill>
              <a:latin typeface="Times New Roman"/>
              <a:ea typeface="Times New Roman"/>
              <a:cs typeface="Times New Roman"/>
              <a:sym typeface="Times New Roman"/>
            </a:endParaRPr>
          </a:p>
        </p:txBody>
      </p:sp>
      <p:sp>
        <p:nvSpPr>
          <p:cNvPr id="905" name="Google Shape;905;p41"/>
          <p:cNvSpPr/>
          <p:nvPr/>
        </p:nvSpPr>
        <p:spPr>
          <a:xfrm rot="10633833">
            <a:off x="442635" y="2710297"/>
            <a:ext cx="1803122" cy="452860"/>
          </a:xfrm>
          <a:prstGeom prst="wedgeRoundRectCallout">
            <a:avLst>
              <a:gd fmla="val -21382" name="adj1"/>
              <a:gd fmla="val 108249" name="adj2"/>
              <a:gd fmla="val 16667" name="adj3"/>
            </a:avLst>
          </a:prstGeom>
          <a:solidFill>
            <a:srgbClr val="FEB29A"/>
          </a:solidFill>
          <a:ln cap="flat" cmpd="sng" w="381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6" name="Google Shape;906;p41"/>
          <p:cNvSpPr txBox="1"/>
          <p:nvPr/>
        </p:nvSpPr>
        <p:spPr>
          <a:xfrm>
            <a:off x="786735" y="2736672"/>
            <a:ext cx="1114921"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Variable</a:t>
            </a:r>
            <a:endParaRPr b="1" sz="2000">
              <a:solidFill>
                <a:srgbClr val="002060"/>
              </a:solidFill>
              <a:latin typeface="Times New Roman"/>
              <a:ea typeface="Times New Roman"/>
              <a:cs typeface="Times New Roman"/>
              <a:sym typeface="Times New Roman"/>
            </a:endParaRPr>
          </a:p>
        </p:txBody>
      </p:sp>
      <p:sp>
        <p:nvSpPr>
          <p:cNvPr id="907" name="Google Shape;907;p41"/>
          <p:cNvSpPr/>
          <p:nvPr/>
        </p:nvSpPr>
        <p:spPr>
          <a:xfrm rot="10633833">
            <a:off x="3137039" y="2818340"/>
            <a:ext cx="1803122" cy="452860"/>
          </a:xfrm>
          <a:prstGeom prst="wedgeRoundRectCallout">
            <a:avLst>
              <a:gd fmla="val 36941" name="adj1"/>
              <a:gd fmla="val 110430" name="adj2"/>
              <a:gd fmla="val 16667" name="adj3"/>
            </a:avLst>
          </a:prstGeom>
          <a:solidFill>
            <a:srgbClr val="FEB29A"/>
          </a:solidFill>
          <a:ln cap="flat" cmpd="sng" w="381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908" name="Google Shape;908;p41"/>
          <p:cNvCxnSpPr>
            <a:stCxn id="904" idx="2"/>
          </p:cNvCxnSpPr>
          <p:nvPr/>
        </p:nvCxnSpPr>
        <p:spPr>
          <a:xfrm>
            <a:off x="2617000" y="2539663"/>
            <a:ext cx="2031300" cy="0"/>
          </a:xfrm>
          <a:prstGeom prst="straightConnector1">
            <a:avLst/>
          </a:prstGeom>
          <a:noFill/>
          <a:ln cap="flat" cmpd="sng" w="38100">
            <a:solidFill>
              <a:srgbClr val="0070C0"/>
            </a:solidFill>
            <a:prstDash val="solid"/>
            <a:miter lim="800000"/>
            <a:headEnd len="sm" w="sm" type="none"/>
            <a:tailEnd len="sm" w="sm" type="none"/>
          </a:ln>
        </p:spPr>
      </p:cxnSp>
      <p:sp>
        <p:nvSpPr>
          <p:cNvPr id="909" name="Google Shape;909;p41"/>
          <p:cNvSpPr txBox="1"/>
          <p:nvPr/>
        </p:nvSpPr>
        <p:spPr>
          <a:xfrm>
            <a:off x="3343441" y="2844715"/>
            <a:ext cx="139031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Expression</a:t>
            </a:r>
            <a:endParaRPr b="1" sz="2000">
              <a:solidFill>
                <a:srgbClr val="002060"/>
              </a:solidFill>
              <a:latin typeface="Times New Roman"/>
              <a:ea typeface="Times New Roman"/>
              <a:cs typeface="Times New Roman"/>
              <a:sym typeface="Times New Roman"/>
            </a:endParaRPr>
          </a:p>
        </p:txBody>
      </p:sp>
      <p:sp>
        <p:nvSpPr>
          <p:cNvPr id="910" name="Google Shape;910;p41"/>
          <p:cNvSpPr/>
          <p:nvPr/>
        </p:nvSpPr>
        <p:spPr>
          <a:xfrm rot="10800000">
            <a:off x="970329" y="3270047"/>
            <a:ext cx="3068270" cy="1321968"/>
          </a:xfrm>
          <a:prstGeom prst="uturnArrow">
            <a:avLst>
              <a:gd fmla="val 25717" name="adj1"/>
              <a:gd fmla="val 24493" name="adj2"/>
              <a:gd fmla="val 25000" name="adj3"/>
              <a:gd fmla="val 43750" name="adj4"/>
              <a:gd fmla="val 100000" name="adj5"/>
            </a:avLst>
          </a:prstGeom>
          <a:solidFill>
            <a:srgbClr val="FEB29A"/>
          </a:solidFill>
          <a:ln cap="flat" cmpd="sng" w="381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1" name="Google Shape;911;p41"/>
          <p:cNvSpPr txBox="1"/>
          <p:nvPr/>
        </p:nvSpPr>
        <p:spPr>
          <a:xfrm>
            <a:off x="1666014" y="4231919"/>
            <a:ext cx="169334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02060"/>
                </a:solidFill>
                <a:latin typeface="Times New Roman"/>
                <a:ea typeface="Times New Roman"/>
                <a:cs typeface="Times New Roman"/>
                <a:sym typeface="Times New Roman"/>
              </a:rPr>
              <a:t>Is Assigned to</a:t>
            </a:r>
            <a:endParaRPr b="1" sz="2000">
              <a:solidFill>
                <a:srgbClr val="002060"/>
              </a:solidFill>
              <a:latin typeface="Times New Roman"/>
              <a:ea typeface="Times New Roman"/>
              <a:cs typeface="Times New Roman"/>
              <a:sym typeface="Times New Roman"/>
            </a:endParaRPr>
          </a:p>
        </p:txBody>
      </p:sp>
      <p:sp>
        <p:nvSpPr>
          <p:cNvPr id="912" name="Google Shape;912;p41"/>
          <p:cNvSpPr/>
          <p:nvPr/>
        </p:nvSpPr>
        <p:spPr>
          <a:xfrm>
            <a:off x="5397890" y="154723"/>
            <a:ext cx="6641710" cy="5484077"/>
          </a:xfrm>
          <a:prstGeom prst="rect">
            <a:avLst/>
          </a:prstGeom>
          <a:solidFill>
            <a:schemeClr val="lt1"/>
          </a:solidFill>
          <a:ln cap="flat" cmpd="sng" w="38100">
            <a:solidFill>
              <a:srgbClr val="0070C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cxnSp>
        <p:nvCxnSpPr>
          <p:cNvPr id="913" name="Google Shape;913;p41"/>
          <p:cNvCxnSpPr>
            <a:stCxn id="907" idx="1"/>
            <a:endCxn id="912" idx="1"/>
          </p:cNvCxnSpPr>
          <p:nvPr/>
        </p:nvCxnSpPr>
        <p:spPr>
          <a:xfrm flipH="1" rot="10800000">
            <a:off x="4939108" y="2896809"/>
            <a:ext cx="458700" cy="104400"/>
          </a:xfrm>
          <a:prstGeom prst="straightConnector1">
            <a:avLst/>
          </a:prstGeom>
          <a:noFill/>
          <a:ln cap="flat" cmpd="sng" w="38100">
            <a:solidFill>
              <a:srgbClr val="0070C0"/>
            </a:solidFill>
            <a:prstDash val="solid"/>
            <a:miter lim="800000"/>
            <a:headEnd len="sm" w="sm" type="none"/>
            <a:tailEnd len="med" w="med" type="triangle"/>
          </a:ln>
        </p:spPr>
      </p:cxnSp>
      <p:sp>
        <p:nvSpPr>
          <p:cNvPr id="914" name="Google Shape;914;p41"/>
          <p:cNvSpPr txBox="1"/>
          <p:nvPr/>
        </p:nvSpPr>
        <p:spPr>
          <a:xfrm>
            <a:off x="5410200" y="154723"/>
            <a:ext cx="6629400" cy="544764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rgbClr val="FF0000"/>
                </a:solidFill>
                <a:latin typeface="Times New Roman"/>
                <a:ea typeface="Times New Roman"/>
                <a:cs typeface="Times New Roman"/>
                <a:sym typeface="Times New Roman"/>
              </a:rPr>
              <a:t>Evaluation of Expressions and Type Casting</a:t>
            </a:r>
            <a:endParaRPr/>
          </a:p>
          <a:p>
            <a:pPr indent="0" lvl="0" marL="0" marR="0" rtl="0" algn="l">
              <a:spcBef>
                <a:spcPts val="1200"/>
              </a:spcBef>
              <a:spcAft>
                <a:spcPts val="0"/>
              </a:spcAft>
              <a:buNone/>
            </a:pPr>
            <a:r>
              <a:rPr b="1" lang="en-US" sz="2000">
                <a:solidFill>
                  <a:schemeClr val="dk1"/>
                </a:solidFill>
                <a:latin typeface="Times New Roman"/>
                <a:ea typeface="Times New Roman"/>
                <a:cs typeface="Times New Roman"/>
                <a:sym typeface="Times New Roman"/>
              </a:rPr>
              <a:t>Widening or Automatic Type Conversion</a:t>
            </a:r>
            <a:endParaRPr/>
          </a:p>
          <a:p>
            <a:pPr indent="-342900" lvl="0" marL="342900" marR="0" rtl="0" algn="just">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Widening conversion takes place when two data types are automatically converted. This happens when: </a:t>
            </a:r>
            <a:endParaRPr sz="1800">
              <a:solidFill>
                <a:schemeClr val="dk1"/>
              </a:solidFill>
              <a:latin typeface="Times New Roman"/>
              <a:ea typeface="Times New Roman"/>
              <a:cs typeface="Times New Roman"/>
              <a:sym typeface="Times New Roman"/>
            </a:endParaRPr>
          </a:p>
          <a:p>
            <a:pPr indent="-342900" lvl="1" marL="800100" marR="0" rtl="0" algn="just">
              <a:spcBef>
                <a:spcPts val="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The two data types are compatible.</a:t>
            </a:r>
            <a:endParaRPr/>
          </a:p>
          <a:p>
            <a:pPr indent="-342900" lvl="1" marL="800100" marR="0" rtl="0" algn="just">
              <a:spcBef>
                <a:spcPts val="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When we assign a value of a smaller data type to a bigger data type.</a:t>
            </a:r>
            <a:endParaRPr/>
          </a:p>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   Byte	  short	    int	   long	   float	 double</a:t>
            </a:r>
            <a:endParaRPr/>
          </a:p>
          <a:p>
            <a:pPr indent="0" lvl="0" marL="0" marR="0" rtl="0" algn="l">
              <a:lnSpc>
                <a:spcPct val="150000"/>
              </a:lnSpc>
              <a:spcBef>
                <a:spcPts val="0"/>
              </a:spcBef>
              <a:spcAft>
                <a:spcPts val="0"/>
              </a:spcAft>
              <a:buNone/>
            </a:pPr>
            <a:r>
              <a:rPr b="1" lang="en-US" sz="2000">
                <a:solidFill>
                  <a:srgbClr val="7030A0"/>
                </a:solidFill>
                <a:latin typeface="Times New Roman"/>
                <a:ea typeface="Times New Roman"/>
                <a:cs typeface="Times New Roman"/>
                <a:sym typeface="Times New Roman"/>
              </a:rPr>
              <a:t>Ex</a:t>
            </a:r>
            <a:r>
              <a:rPr lang="en-US" sz="2000">
                <a:solidFill>
                  <a:schemeClr val="dk1"/>
                </a:solidFill>
                <a:latin typeface="Times New Roman"/>
                <a:ea typeface="Times New Roman"/>
                <a:cs typeface="Times New Roman"/>
                <a:sym typeface="Times New Roman"/>
              </a:rPr>
              <a:t>: </a:t>
            </a:r>
            <a:r>
              <a:rPr b="1" lang="en-US" sz="2000">
                <a:solidFill>
                  <a:srgbClr val="00B050"/>
                </a:solidFill>
                <a:latin typeface="Times New Roman"/>
                <a:ea typeface="Times New Roman"/>
                <a:cs typeface="Times New Roman"/>
                <a:sym typeface="Times New Roman"/>
              </a:rPr>
              <a:t>int i=100; float j=i;</a:t>
            </a:r>
            <a:endParaRPr b="1" sz="2000">
              <a:solidFill>
                <a:srgbClr val="00B050"/>
              </a:solidFill>
              <a:latin typeface="Times New Roman"/>
              <a:ea typeface="Times New Roman"/>
              <a:cs typeface="Times New Roman"/>
              <a:sym typeface="Times New Roman"/>
            </a:endParaRPr>
          </a:p>
          <a:p>
            <a:pPr indent="0" lvl="0" marL="0" marR="0" rtl="0" algn="l">
              <a:spcBef>
                <a:spcPts val="0"/>
              </a:spcBef>
              <a:spcAft>
                <a:spcPts val="0"/>
              </a:spcAft>
              <a:buNone/>
            </a:pPr>
            <a:r>
              <a:rPr b="1" lang="en-US" sz="2000">
                <a:solidFill>
                  <a:schemeClr val="dk1"/>
                </a:solidFill>
                <a:latin typeface="Times New Roman"/>
                <a:ea typeface="Times New Roman"/>
                <a:cs typeface="Times New Roman"/>
                <a:sym typeface="Times New Roman"/>
              </a:rPr>
              <a:t>Narrowing or Explicit Conversion</a:t>
            </a:r>
            <a:endParaRPr/>
          </a:p>
          <a:p>
            <a:pPr indent="-342900" lvl="0" marL="342900" marR="0" rtl="0" algn="l">
              <a:spcBef>
                <a:spcPts val="0"/>
              </a:spcBef>
              <a:spcAft>
                <a:spcPts val="0"/>
              </a:spcAft>
              <a:buClr>
                <a:schemeClr val="dk1"/>
              </a:buClr>
              <a:buSzPts val="1800"/>
              <a:buFont typeface="Arial"/>
              <a:buChar char="•"/>
            </a:pPr>
            <a:r>
              <a:rPr lang="en-US" sz="1800">
                <a:solidFill>
                  <a:schemeClr val="dk1"/>
                </a:solidFill>
                <a:latin typeface="Times New Roman"/>
                <a:ea typeface="Times New Roman"/>
                <a:cs typeface="Times New Roman"/>
                <a:sym typeface="Times New Roman"/>
              </a:rPr>
              <a:t>If we want to assign a value of a larger data type to a smaller data type we perform explicit type casting or narrowing.  </a:t>
            </a:r>
            <a:endParaRPr/>
          </a:p>
          <a:p>
            <a:pPr indent="-342900" lvl="1" marL="800100" marR="0" rtl="0" algn="just">
              <a:spcBef>
                <a:spcPts val="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This is useful for incompatible data types where automatic conversion cannot be done.</a:t>
            </a:r>
            <a:endParaRPr/>
          </a:p>
          <a:p>
            <a:pPr indent="-342900" lvl="1" marL="800100" marR="0" rtl="0" algn="just">
              <a:spcBef>
                <a:spcPts val="0"/>
              </a:spcBef>
              <a:spcAft>
                <a:spcPts val="0"/>
              </a:spcAft>
              <a:buClr>
                <a:schemeClr val="dk1"/>
              </a:buClr>
              <a:buSzPts val="1600"/>
              <a:buFont typeface="Arial"/>
              <a:buChar char="•"/>
            </a:pPr>
            <a:r>
              <a:rPr b="0" i="0" lang="en-US" sz="1600" u="none" cap="none" strike="noStrike">
                <a:solidFill>
                  <a:schemeClr val="dk1"/>
                </a:solidFill>
                <a:latin typeface="Times New Roman"/>
                <a:ea typeface="Times New Roman"/>
                <a:cs typeface="Times New Roman"/>
                <a:sym typeface="Times New Roman"/>
              </a:rPr>
              <a:t>Here, the target type specifies the desired type to convert the specified value to.</a:t>
            </a:r>
            <a:endParaRPr/>
          </a:p>
          <a:p>
            <a:pPr indent="0" lvl="0" marL="0" marR="0" rtl="0" algn="l">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   double	      float	     long	     int	 short       byte</a:t>
            </a:r>
            <a:endParaRPr/>
          </a:p>
          <a:p>
            <a:pPr indent="0" lvl="0" marL="0" marR="0" rtl="0" algn="l">
              <a:spcBef>
                <a:spcPts val="0"/>
              </a:spcBef>
              <a:spcAft>
                <a:spcPts val="0"/>
              </a:spcAft>
              <a:buNone/>
            </a:pPr>
            <a:r>
              <a:rPr b="1" lang="en-US" sz="2000">
                <a:solidFill>
                  <a:srgbClr val="7030A0"/>
                </a:solidFill>
                <a:latin typeface="Times New Roman"/>
                <a:ea typeface="Times New Roman"/>
                <a:cs typeface="Times New Roman"/>
                <a:sym typeface="Times New Roman"/>
              </a:rPr>
              <a:t>Ex</a:t>
            </a:r>
            <a:r>
              <a:rPr lang="en-US" sz="2000">
                <a:solidFill>
                  <a:schemeClr val="dk1"/>
                </a:solidFill>
                <a:latin typeface="Times New Roman"/>
                <a:ea typeface="Times New Roman"/>
                <a:cs typeface="Times New Roman"/>
                <a:sym typeface="Times New Roman"/>
              </a:rPr>
              <a:t>: </a:t>
            </a:r>
            <a:r>
              <a:rPr b="1" lang="en-US" sz="2000">
                <a:solidFill>
                  <a:srgbClr val="00B050"/>
                </a:solidFill>
                <a:latin typeface="Times New Roman"/>
                <a:ea typeface="Times New Roman"/>
                <a:cs typeface="Times New Roman"/>
                <a:sym typeface="Times New Roman"/>
              </a:rPr>
              <a:t>int i=100; byte b=byte(i);</a:t>
            </a:r>
            <a:endParaRPr b="1" sz="2000">
              <a:solidFill>
                <a:srgbClr val="00B050"/>
              </a:solidFill>
              <a:latin typeface="Times New Roman"/>
              <a:ea typeface="Times New Roman"/>
              <a:cs typeface="Times New Roman"/>
              <a:sym typeface="Times New Roman"/>
            </a:endParaRPr>
          </a:p>
        </p:txBody>
      </p:sp>
      <p:grpSp>
        <p:nvGrpSpPr>
          <p:cNvPr id="915" name="Google Shape;915;p41"/>
          <p:cNvGrpSpPr/>
          <p:nvPr/>
        </p:nvGrpSpPr>
        <p:grpSpPr>
          <a:xfrm>
            <a:off x="6172200" y="2286000"/>
            <a:ext cx="3962400" cy="0"/>
            <a:chOff x="6172200" y="2286000"/>
            <a:chExt cx="3962400" cy="0"/>
          </a:xfrm>
        </p:grpSpPr>
        <p:cxnSp>
          <p:nvCxnSpPr>
            <p:cNvPr id="916" name="Google Shape;916;p41"/>
            <p:cNvCxnSpPr/>
            <p:nvPr/>
          </p:nvCxnSpPr>
          <p:spPr>
            <a:xfrm>
              <a:off x="6172200" y="2286000"/>
              <a:ext cx="3048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917" name="Google Shape;917;p41"/>
            <p:cNvCxnSpPr/>
            <p:nvPr/>
          </p:nvCxnSpPr>
          <p:spPr>
            <a:xfrm>
              <a:off x="7086600" y="2286000"/>
              <a:ext cx="3048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918" name="Google Shape;918;p41"/>
            <p:cNvCxnSpPr/>
            <p:nvPr/>
          </p:nvCxnSpPr>
          <p:spPr>
            <a:xfrm>
              <a:off x="7848600" y="2286000"/>
              <a:ext cx="3048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919" name="Google Shape;919;p41"/>
            <p:cNvCxnSpPr/>
            <p:nvPr/>
          </p:nvCxnSpPr>
          <p:spPr>
            <a:xfrm>
              <a:off x="8915400" y="2286000"/>
              <a:ext cx="3048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920" name="Google Shape;920;p41"/>
            <p:cNvCxnSpPr/>
            <p:nvPr/>
          </p:nvCxnSpPr>
          <p:spPr>
            <a:xfrm>
              <a:off x="9829800" y="2286000"/>
              <a:ext cx="304800" cy="0"/>
            </a:xfrm>
            <a:prstGeom prst="straightConnector1">
              <a:avLst/>
            </a:prstGeom>
            <a:noFill/>
            <a:ln cap="flat" cmpd="sng" w="38100">
              <a:solidFill>
                <a:schemeClr val="dk1"/>
              </a:solidFill>
              <a:prstDash val="solid"/>
              <a:miter lim="800000"/>
              <a:headEnd len="sm" w="sm" type="none"/>
              <a:tailEnd len="med" w="med" type="triangle"/>
            </a:ln>
          </p:spPr>
        </p:cxnSp>
      </p:grpSp>
      <p:grpSp>
        <p:nvGrpSpPr>
          <p:cNvPr id="921" name="Google Shape;921;p41"/>
          <p:cNvGrpSpPr/>
          <p:nvPr/>
        </p:nvGrpSpPr>
        <p:grpSpPr>
          <a:xfrm>
            <a:off x="6477000" y="5029200"/>
            <a:ext cx="3657600" cy="0"/>
            <a:chOff x="6477000" y="5029200"/>
            <a:chExt cx="3657600" cy="0"/>
          </a:xfrm>
        </p:grpSpPr>
        <p:cxnSp>
          <p:nvCxnSpPr>
            <p:cNvPr id="922" name="Google Shape;922;p41"/>
            <p:cNvCxnSpPr/>
            <p:nvPr/>
          </p:nvCxnSpPr>
          <p:spPr>
            <a:xfrm rot="10800000">
              <a:off x="8915400" y="5029200"/>
              <a:ext cx="3048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923" name="Google Shape;923;p41"/>
            <p:cNvCxnSpPr/>
            <p:nvPr/>
          </p:nvCxnSpPr>
          <p:spPr>
            <a:xfrm rot="10800000">
              <a:off x="8229600" y="5029200"/>
              <a:ext cx="3048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924" name="Google Shape;924;p41"/>
            <p:cNvCxnSpPr/>
            <p:nvPr/>
          </p:nvCxnSpPr>
          <p:spPr>
            <a:xfrm rot="10800000">
              <a:off x="7315200" y="5029200"/>
              <a:ext cx="3048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925" name="Google Shape;925;p41"/>
            <p:cNvCxnSpPr/>
            <p:nvPr/>
          </p:nvCxnSpPr>
          <p:spPr>
            <a:xfrm rot="10800000">
              <a:off x="9829800" y="5029200"/>
              <a:ext cx="304800" cy="0"/>
            </a:xfrm>
            <a:prstGeom prst="straightConnector1">
              <a:avLst/>
            </a:prstGeom>
            <a:noFill/>
            <a:ln cap="flat" cmpd="sng" w="38100">
              <a:solidFill>
                <a:schemeClr val="dk1"/>
              </a:solidFill>
              <a:prstDash val="solid"/>
              <a:miter lim="800000"/>
              <a:headEnd len="sm" w="sm" type="none"/>
              <a:tailEnd len="med" w="med" type="triangle"/>
            </a:ln>
          </p:spPr>
        </p:cxnSp>
        <p:cxnSp>
          <p:nvCxnSpPr>
            <p:cNvPr id="926" name="Google Shape;926;p41"/>
            <p:cNvCxnSpPr/>
            <p:nvPr/>
          </p:nvCxnSpPr>
          <p:spPr>
            <a:xfrm rot="10800000">
              <a:off x="6477000" y="5029200"/>
              <a:ext cx="304800" cy="0"/>
            </a:xfrm>
            <a:prstGeom prst="straightConnector1">
              <a:avLst/>
            </a:prstGeom>
            <a:noFill/>
            <a:ln cap="flat" cmpd="sng" w="38100">
              <a:solidFill>
                <a:schemeClr val="dk1"/>
              </a:solidFill>
              <a:prstDash val="solid"/>
              <a:miter lim="800000"/>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500"/>
                                        <p:tgtEl>
                                          <p:spTgt spid="9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4"/>
                                        </p:tgtEl>
                                        <p:attrNameLst>
                                          <p:attrName>style.visibility</p:attrName>
                                        </p:attrNameLst>
                                      </p:cBhvr>
                                      <p:to>
                                        <p:strVal val="visible"/>
                                      </p:to>
                                    </p:set>
                                    <p:animEffect filter="fade" transition="in">
                                      <p:cBhvr>
                                        <p:cTn dur="500"/>
                                        <p:tgtEl>
                                          <p:spTgt spid="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500"/>
                                        <p:tgtEl>
                                          <p:spTgt spid="906"/>
                                        </p:tgtEl>
                                      </p:cBhvr>
                                    </p:animEffect>
                                  </p:childTnLst>
                                </p:cTn>
                              </p:par>
                              <p:par>
                                <p:cTn fill="hold" nodeType="withEffect" presetClass="entr" presetID="10" presetSubtype="0">
                                  <p:stCondLst>
                                    <p:cond delay="0"/>
                                  </p:stCondLst>
                                  <p:childTnLst>
                                    <p:set>
                                      <p:cBhvr>
                                        <p:cTn dur="1" fill="hold">
                                          <p:stCondLst>
                                            <p:cond delay="0"/>
                                          </p:stCondLst>
                                        </p:cTn>
                                        <p:tgtEl>
                                          <p:spTgt spid="905"/>
                                        </p:tgtEl>
                                        <p:attrNameLst>
                                          <p:attrName>style.visibility</p:attrName>
                                        </p:attrNameLst>
                                      </p:cBhvr>
                                      <p:to>
                                        <p:strVal val="visible"/>
                                      </p:to>
                                    </p:set>
                                    <p:animEffect filter="fade" transition="in">
                                      <p:cBhvr>
                                        <p:cTn dur="500"/>
                                        <p:tgtEl>
                                          <p:spTgt spid="9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8"/>
                                        </p:tgtEl>
                                        <p:attrNameLst>
                                          <p:attrName>style.visibility</p:attrName>
                                        </p:attrNameLst>
                                      </p:cBhvr>
                                      <p:to>
                                        <p:strVal val="visible"/>
                                      </p:to>
                                    </p:set>
                                    <p:animEffect filter="fade" transition="in">
                                      <p:cBhvr>
                                        <p:cTn dur="500"/>
                                        <p:tgtEl>
                                          <p:spTgt spid="908"/>
                                        </p:tgtEl>
                                      </p:cBhvr>
                                    </p:animEffect>
                                  </p:childTnLst>
                                </p:cTn>
                              </p:par>
                              <p:par>
                                <p:cTn fill="hold" nodeType="with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500"/>
                                        <p:tgtEl>
                                          <p:spTgt spid="909"/>
                                        </p:tgtEl>
                                      </p:cBhvr>
                                    </p:animEffect>
                                  </p:childTnLst>
                                </p:cTn>
                              </p:par>
                              <p:par>
                                <p:cTn fill="hold" nodeType="with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500"/>
                                        <p:tgtEl>
                                          <p:spTgt spid="9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0"/>
                                        </p:tgtEl>
                                        <p:attrNameLst>
                                          <p:attrName>style.visibility</p:attrName>
                                        </p:attrNameLst>
                                      </p:cBhvr>
                                      <p:to>
                                        <p:strVal val="visible"/>
                                      </p:to>
                                    </p:set>
                                    <p:animEffect filter="fade" transition="in">
                                      <p:cBhvr>
                                        <p:cTn dur="500"/>
                                        <p:tgtEl>
                                          <p:spTgt spid="910"/>
                                        </p:tgtEl>
                                      </p:cBhvr>
                                    </p:animEffect>
                                  </p:childTnLst>
                                </p:cTn>
                              </p:par>
                              <p:par>
                                <p:cTn fill="hold" nodeType="with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500"/>
                                        <p:tgtEl>
                                          <p:spTgt spid="9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3"/>
                                        </p:tgtEl>
                                        <p:attrNameLst>
                                          <p:attrName>style.visibility</p:attrName>
                                        </p:attrNameLst>
                                      </p:cBhvr>
                                      <p:to>
                                        <p:strVal val="visible"/>
                                      </p:to>
                                    </p:set>
                                    <p:animEffect filter="fade" transition="in">
                                      <p:cBhvr>
                                        <p:cTn dur="500"/>
                                        <p:tgtEl>
                                          <p:spTgt spid="913"/>
                                        </p:tgtEl>
                                      </p:cBhvr>
                                    </p:animEffect>
                                  </p:childTnLst>
                                </p:cTn>
                              </p:par>
                              <p:par>
                                <p:cTn fill="hold" nodeType="withEffect" presetClass="entr" presetID="10" presetSubtype="0">
                                  <p:stCondLst>
                                    <p:cond delay="0"/>
                                  </p:stCondLst>
                                  <p:childTnLst>
                                    <p:set>
                                      <p:cBhvr>
                                        <p:cTn dur="1" fill="hold">
                                          <p:stCondLst>
                                            <p:cond delay="0"/>
                                          </p:stCondLst>
                                        </p:cTn>
                                        <p:tgtEl>
                                          <p:spTgt spid="914"/>
                                        </p:tgtEl>
                                        <p:attrNameLst>
                                          <p:attrName>style.visibility</p:attrName>
                                        </p:attrNameLst>
                                      </p:cBhvr>
                                      <p:to>
                                        <p:strVal val="visible"/>
                                      </p:to>
                                    </p:set>
                                    <p:animEffect filter="fade" transition="in">
                                      <p:cBhvr>
                                        <p:cTn dur="500"/>
                                        <p:tgtEl>
                                          <p:spTgt spid="9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0" st="0"/>
                                            </p:txEl>
                                          </p:spTgt>
                                        </p:tgtEl>
                                        <p:attrNameLst>
                                          <p:attrName>style.visibility</p:attrName>
                                        </p:attrNameLst>
                                      </p:cBhvr>
                                      <p:to>
                                        <p:strVal val="visible"/>
                                      </p:to>
                                    </p:set>
                                    <p:animEffect filter="fade" transition="in">
                                      <p:cBhvr>
                                        <p:cTn dur="500"/>
                                        <p:tgtEl>
                                          <p:spTgt spid="9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1" st="1"/>
                                            </p:txEl>
                                          </p:spTgt>
                                        </p:tgtEl>
                                        <p:attrNameLst>
                                          <p:attrName>style.visibility</p:attrName>
                                        </p:attrNameLst>
                                      </p:cBhvr>
                                      <p:to>
                                        <p:strVal val="visible"/>
                                      </p:to>
                                    </p:set>
                                    <p:animEffect filter="fade" transition="in">
                                      <p:cBhvr>
                                        <p:cTn dur="500"/>
                                        <p:tgtEl>
                                          <p:spTgt spid="9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2" st="2"/>
                                            </p:txEl>
                                          </p:spTgt>
                                        </p:tgtEl>
                                        <p:attrNameLst>
                                          <p:attrName>style.visibility</p:attrName>
                                        </p:attrNameLst>
                                      </p:cBhvr>
                                      <p:to>
                                        <p:strVal val="visible"/>
                                      </p:to>
                                    </p:set>
                                    <p:animEffect filter="fade" transition="in">
                                      <p:cBhvr>
                                        <p:cTn dur="500"/>
                                        <p:tgtEl>
                                          <p:spTgt spid="9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3" st="3"/>
                                            </p:txEl>
                                          </p:spTgt>
                                        </p:tgtEl>
                                        <p:attrNameLst>
                                          <p:attrName>style.visibility</p:attrName>
                                        </p:attrNameLst>
                                      </p:cBhvr>
                                      <p:to>
                                        <p:strVal val="visible"/>
                                      </p:to>
                                    </p:set>
                                    <p:animEffect filter="fade" transition="in">
                                      <p:cBhvr>
                                        <p:cTn dur="500"/>
                                        <p:tgtEl>
                                          <p:spTgt spid="9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4" st="4"/>
                                            </p:txEl>
                                          </p:spTgt>
                                        </p:tgtEl>
                                        <p:attrNameLst>
                                          <p:attrName>style.visibility</p:attrName>
                                        </p:attrNameLst>
                                      </p:cBhvr>
                                      <p:to>
                                        <p:strVal val="visible"/>
                                      </p:to>
                                    </p:set>
                                    <p:animEffect filter="fade" transition="in">
                                      <p:cBhvr>
                                        <p:cTn dur="500"/>
                                        <p:tgtEl>
                                          <p:spTgt spid="9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5" st="5"/>
                                            </p:txEl>
                                          </p:spTgt>
                                        </p:tgtEl>
                                        <p:attrNameLst>
                                          <p:attrName>style.visibility</p:attrName>
                                        </p:attrNameLst>
                                      </p:cBhvr>
                                      <p:to>
                                        <p:strVal val="visible"/>
                                      </p:to>
                                    </p:set>
                                    <p:animEffect filter="fade" transition="in">
                                      <p:cBhvr>
                                        <p:cTn dur="500"/>
                                        <p:tgtEl>
                                          <p:spTgt spid="9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6" st="6"/>
                                            </p:txEl>
                                          </p:spTgt>
                                        </p:tgtEl>
                                        <p:attrNameLst>
                                          <p:attrName>style.visibility</p:attrName>
                                        </p:attrNameLst>
                                      </p:cBhvr>
                                      <p:to>
                                        <p:strVal val="visible"/>
                                      </p:to>
                                    </p:set>
                                    <p:animEffect filter="fade" transition="in">
                                      <p:cBhvr>
                                        <p:cTn dur="500"/>
                                        <p:tgtEl>
                                          <p:spTgt spid="9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7" st="7"/>
                                            </p:txEl>
                                          </p:spTgt>
                                        </p:tgtEl>
                                        <p:attrNameLst>
                                          <p:attrName>style.visibility</p:attrName>
                                        </p:attrNameLst>
                                      </p:cBhvr>
                                      <p:to>
                                        <p:strVal val="visible"/>
                                      </p:to>
                                    </p:set>
                                    <p:animEffect filter="fade" transition="in">
                                      <p:cBhvr>
                                        <p:cTn dur="500"/>
                                        <p:tgtEl>
                                          <p:spTgt spid="91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8" st="8"/>
                                            </p:txEl>
                                          </p:spTgt>
                                        </p:tgtEl>
                                        <p:attrNameLst>
                                          <p:attrName>style.visibility</p:attrName>
                                        </p:attrNameLst>
                                      </p:cBhvr>
                                      <p:to>
                                        <p:strVal val="visible"/>
                                      </p:to>
                                    </p:set>
                                    <p:animEffect filter="fade" transition="in">
                                      <p:cBhvr>
                                        <p:cTn dur="500"/>
                                        <p:tgtEl>
                                          <p:spTgt spid="91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9" st="9"/>
                                            </p:txEl>
                                          </p:spTgt>
                                        </p:tgtEl>
                                        <p:attrNameLst>
                                          <p:attrName>style.visibility</p:attrName>
                                        </p:attrNameLst>
                                      </p:cBhvr>
                                      <p:to>
                                        <p:strVal val="visible"/>
                                      </p:to>
                                    </p:set>
                                    <p:animEffect filter="fade" transition="in">
                                      <p:cBhvr>
                                        <p:cTn dur="500"/>
                                        <p:tgtEl>
                                          <p:spTgt spid="91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10" st="10"/>
                                            </p:txEl>
                                          </p:spTgt>
                                        </p:tgtEl>
                                        <p:attrNameLst>
                                          <p:attrName>style.visibility</p:attrName>
                                        </p:attrNameLst>
                                      </p:cBhvr>
                                      <p:to>
                                        <p:strVal val="visible"/>
                                      </p:to>
                                    </p:set>
                                    <p:animEffect filter="fade" transition="in">
                                      <p:cBhvr>
                                        <p:cTn dur="500"/>
                                        <p:tgtEl>
                                          <p:spTgt spid="91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11" st="11"/>
                                            </p:txEl>
                                          </p:spTgt>
                                        </p:tgtEl>
                                        <p:attrNameLst>
                                          <p:attrName>style.visibility</p:attrName>
                                        </p:attrNameLst>
                                      </p:cBhvr>
                                      <p:to>
                                        <p:strVal val="visible"/>
                                      </p:to>
                                    </p:set>
                                    <p:animEffect filter="fade" transition="in">
                                      <p:cBhvr>
                                        <p:cTn dur="500"/>
                                        <p:tgtEl>
                                          <p:spTgt spid="91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4">
                                            <p:txEl>
                                              <p:pRg end="12" st="12"/>
                                            </p:txEl>
                                          </p:spTgt>
                                        </p:tgtEl>
                                        <p:attrNameLst>
                                          <p:attrName>style.visibility</p:attrName>
                                        </p:attrNameLst>
                                      </p:cBhvr>
                                      <p:to>
                                        <p:strVal val="visible"/>
                                      </p:to>
                                    </p:set>
                                    <p:animEffect filter="fade" transition="in">
                                      <p:cBhvr>
                                        <p:cTn dur="500"/>
                                        <p:tgtEl>
                                          <p:spTgt spid="914">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32" name="Google Shape;932;p42"/>
          <p:cNvSpPr txBox="1"/>
          <p:nvPr/>
        </p:nvSpPr>
        <p:spPr>
          <a:xfrm>
            <a:off x="228600" y="187372"/>
            <a:ext cx="3429000" cy="5334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Clr>
                <a:srgbClr val="000000"/>
              </a:buClr>
              <a:buSzPts val="3000"/>
              <a:buFont typeface="Times New Roman"/>
              <a:buNone/>
            </a:pPr>
            <a:r>
              <a:rPr b="1" lang="en-US" sz="3000">
                <a:solidFill>
                  <a:srgbClr val="002060"/>
                </a:solidFill>
                <a:latin typeface="Times New Roman"/>
                <a:ea typeface="Times New Roman"/>
                <a:cs typeface="Times New Roman"/>
                <a:sym typeface="Times New Roman"/>
              </a:rPr>
              <a:t>Control Statements</a:t>
            </a:r>
            <a:endParaRPr b="1" sz="3000">
              <a:solidFill>
                <a:srgbClr val="002060"/>
              </a:solidFill>
              <a:latin typeface="Times New Roman"/>
              <a:ea typeface="Times New Roman"/>
              <a:cs typeface="Times New Roman"/>
              <a:sym typeface="Times New Roman"/>
            </a:endParaRPr>
          </a:p>
        </p:txBody>
      </p:sp>
      <p:grpSp>
        <p:nvGrpSpPr>
          <p:cNvPr id="933" name="Google Shape;933;p42"/>
          <p:cNvGrpSpPr/>
          <p:nvPr/>
        </p:nvGrpSpPr>
        <p:grpSpPr>
          <a:xfrm>
            <a:off x="5102130" y="192376"/>
            <a:ext cx="1752600" cy="727028"/>
            <a:chOff x="5102130" y="118281"/>
            <a:chExt cx="1752600" cy="727028"/>
          </a:xfrm>
        </p:grpSpPr>
        <p:sp>
          <p:nvSpPr>
            <p:cNvPr id="934" name="Google Shape;934;p42"/>
            <p:cNvSpPr/>
            <p:nvPr/>
          </p:nvSpPr>
          <p:spPr>
            <a:xfrm>
              <a:off x="5102130" y="118281"/>
              <a:ext cx="1600200" cy="574628"/>
            </a:xfrm>
            <a:prstGeom prst="roundRect">
              <a:avLst>
                <a:gd fmla="val 16667" name="adj"/>
              </a:avLst>
            </a:prstGeom>
            <a:solidFill>
              <a:srgbClr val="418BCF"/>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35" name="Google Shape;935;p42"/>
            <p:cNvSpPr/>
            <p:nvPr/>
          </p:nvSpPr>
          <p:spPr>
            <a:xfrm>
              <a:off x="5254530" y="270681"/>
              <a:ext cx="1600200" cy="574628"/>
            </a:xfrm>
            <a:prstGeom prst="roundRect">
              <a:avLst>
                <a:gd fmla="val 16667" name="adj"/>
              </a:avLst>
            </a:prstGeom>
            <a:solidFill>
              <a:srgbClr val="FBFBFB"/>
            </a:solidFill>
            <a:ln cap="flat" cmpd="sng" w="19050">
              <a:solidFill>
                <a:srgbClr val="317CC1"/>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Control Flow Statements</a:t>
              </a:r>
              <a:endParaRPr b="1" i="1" sz="1800">
                <a:solidFill>
                  <a:schemeClr val="dk1"/>
                </a:solidFill>
                <a:latin typeface="Times New Roman"/>
                <a:ea typeface="Times New Roman"/>
                <a:cs typeface="Times New Roman"/>
                <a:sym typeface="Times New Roman"/>
              </a:endParaRPr>
            </a:p>
          </p:txBody>
        </p:sp>
      </p:grpSp>
      <p:grpSp>
        <p:nvGrpSpPr>
          <p:cNvPr id="936" name="Google Shape;936;p42"/>
          <p:cNvGrpSpPr/>
          <p:nvPr/>
        </p:nvGrpSpPr>
        <p:grpSpPr>
          <a:xfrm>
            <a:off x="433885" y="1140895"/>
            <a:ext cx="2133600" cy="945251"/>
            <a:chOff x="433885" y="1066800"/>
            <a:chExt cx="2133600" cy="945251"/>
          </a:xfrm>
        </p:grpSpPr>
        <p:sp>
          <p:nvSpPr>
            <p:cNvPr id="937" name="Google Shape;937;p42"/>
            <p:cNvSpPr/>
            <p:nvPr/>
          </p:nvSpPr>
          <p:spPr>
            <a:xfrm>
              <a:off x="433885" y="1285023"/>
              <a:ext cx="1981200" cy="574628"/>
            </a:xfrm>
            <a:prstGeom prst="roundRect">
              <a:avLst>
                <a:gd fmla="val 16667" name="adj"/>
              </a:avLst>
            </a:prstGeom>
            <a:solidFill>
              <a:srgbClr val="C0000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38" name="Google Shape;938;p42"/>
            <p:cNvSpPr/>
            <p:nvPr/>
          </p:nvSpPr>
          <p:spPr>
            <a:xfrm>
              <a:off x="586285" y="1437423"/>
              <a:ext cx="1981200" cy="574628"/>
            </a:xfrm>
            <a:prstGeom prst="roundRect">
              <a:avLst>
                <a:gd fmla="val 16667" name="adj"/>
              </a:avLst>
            </a:prstGeom>
            <a:solidFill>
              <a:srgbClr val="FBFBFB"/>
            </a:solidFill>
            <a:ln cap="flat" cmpd="sng" w="19050">
              <a:solidFill>
                <a:srgbClr val="C0000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Decision Making Statements</a:t>
              </a:r>
              <a:endParaRPr b="1" i="1" sz="1800">
                <a:solidFill>
                  <a:schemeClr val="dk1"/>
                </a:solidFill>
                <a:latin typeface="Times New Roman"/>
                <a:ea typeface="Times New Roman"/>
                <a:cs typeface="Times New Roman"/>
                <a:sym typeface="Times New Roman"/>
              </a:endParaRPr>
            </a:p>
          </p:txBody>
        </p:sp>
        <p:cxnSp>
          <p:nvCxnSpPr>
            <p:cNvPr id="939" name="Google Shape;939;p42"/>
            <p:cNvCxnSpPr/>
            <p:nvPr/>
          </p:nvCxnSpPr>
          <p:spPr>
            <a:xfrm rot="10800000">
              <a:off x="1371600" y="1066800"/>
              <a:ext cx="0" cy="218223"/>
            </a:xfrm>
            <a:prstGeom prst="straightConnector1">
              <a:avLst/>
            </a:prstGeom>
            <a:noFill/>
            <a:ln cap="flat" cmpd="sng" w="44450">
              <a:solidFill>
                <a:srgbClr val="C00000"/>
              </a:solidFill>
              <a:prstDash val="solid"/>
              <a:miter lim="800000"/>
              <a:headEnd len="sm" w="sm" type="none"/>
              <a:tailEnd len="sm" w="sm" type="none"/>
            </a:ln>
          </p:spPr>
        </p:cxnSp>
      </p:grpSp>
      <p:grpSp>
        <p:nvGrpSpPr>
          <p:cNvPr id="940" name="Google Shape;940;p42"/>
          <p:cNvGrpSpPr/>
          <p:nvPr/>
        </p:nvGrpSpPr>
        <p:grpSpPr>
          <a:xfrm>
            <a:off x="4229632" y="1152951"/>
            <a:ext cx="2133600" cy="945128"/>
            <a:chOff x="4229632" y="1078856"/>
            <a:chExt cx="2133600" cy="945128"/>
          </a:xfrm>
        </p:grpSpPr>
        <p:sp>
          <p:nvSpPr>
            <p:cNvPr id="941" name="Google Shape;941;p42"/>
            <p:cNvSpPr/>
            <p:nvPr/>
          </p:nvSpPr>
          <p:spPr>
            <a:xfrm>
              <a:off x="4229632" y="1296956"/>
              <a:ext cx="1981200" cy="574628"/>
            </a:xfrm>
            <a:prstGeom prst="roundRect">
              <a:avLst>
                <a:gd fmla="val 16667" name="adj"/>
              </a:avLst>
            </a:prstGeom>
            <a:solidFill>
              <a:srgbClr val="C0000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42" name="Google Shape;942;p42"/>
            <p:cNvSpPr/>
            <p:nvPr/>
          </p:nvSpPr>
          <p:spPr>
            <a:xfrm>
              <a:off x="4382032" y="1449356"/>
              <a:ext cx="1981200" cy="574628"/>
            </a:xfrm>
            <a:prstGeom prst="roundRect">
              <a:avLst>
                <a:gd fmla="val 16667" name="adj"/>
              </a:avLst>
            </a:prstGeom>
            <a:solidFill>
              <a:srgbClr val="FBFBFB"/>
            </a:solidFill>
            <a:ln cap="flat" cmpd="sng" w="19050">
              <a:solidFill>
                <a:srgbClr val="C0000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Looping Statements</a:t>
              </a:r>
              <a:endParaRPr/>
            </a:p>
          </p:txBody>
        </p:sp>
        <p:cxnSp>
          <p:nvCxnSpPr>
            <p:cNvPr id="943" name="Google Shape;943;p42"/>
            <p:cNvCxnSpPr>
              <a:stCxn id="941" idx="0"/>
            </p:cNvCxnSpPr>
            <p:nvPr/>
          </p:nvCxnSpPr>
          <p:spPr>
            <a:xfrm rot="10800000">
              <a:off x="5220232" y="1078856"/>
              <a:ext cx="0" cy="218100"/>
            </a:xfrm>
            <a:prstGeom prst="straightConnector1">
              <a:avLst/>
            </a:prstGeom>
            <a:noFill/>
            <a:ln cap="flat" cmpd="sng" w="44450">
              <a:solidFill>
                <a:srgbClr val="C00000"/>
              </a:solidFill>
              <a:prstDash val="solid"/>
              <a:miter lim="800000"/>
              <a:headEnd len="sm" w="sm" type="none"/>
              <a:tailEnd len="sm" w="sm" type="none"/>
            </a:ln>
          </p:spPr>
        </p:cxnSp>
      </p:grpSp>
      <p:grpSp>
        <p:nvGrpSpPr>
          <p:cNvPr id="944" name="Google Shape;944;p42"/>
          <p:cNvGrpSpPr/>
          <p:nvPr/>
        </p:nvGrpSpPr>
        <p:grpSpPr>
          <a:xfrm>
            <a:off x="8627660" y="1110748"/>
            <a:ext cx="2133600" cy="961028"/>
            <a:chOff x="8627660" y="1036653"/>
            <a:chExt cx="2133600" cy="961028"/>
          </a:xfrm>
        </p:grpSpPr>
        <p:sp>
          <p:nvSpPr>
            <p:cNvPr id="945" name="Google Shape;945;p42"/>
            <p:cNvSpPr/>
            <p:nvPr/>
          </p:nvSpPr>
          <p:spPr>
            <a:xfrm>
              <a:off x="8627660" y="1270653"/>
              <a:ext cx="1981200" cy="574628"/>
            </a:xfrm>
            <a:prstGeom prst="roundRect">
              <a:avLst>
                <a:gd fmla="val 16667" name="adj"/>
              </a:avLst>
            </a:prstGeom>
            <a:solidFill>
              <a:srgbClr val="C0000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46" name="Google Shape;946;p42"/>
            <p:cNvSpPr/>
            <p:nvPr/>
          </p:nvSpPr>
          <p:spPr>
            <a:xfrm>
              <a:off x="8780060" y="1423053"/>
              <a:ext cx="1981200" cy="574628"/>
            </a:xfrm>
            <a:prstGeom prst="roundRect">
              <a:avLst>
                <a:gd fmla="val 16667" name="adj"/>
              </a:avLst>
            </a:prstGeom>
            <a:solidFill>
              <a:srgbClr val="FBFBFB"/>
            </a:solidFill>
            <a:ln cap="flat" cmpd="sng" w="19050">
              <a:solidFill>
                <a:srgbClr val="C0000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Branching Statements</a:t>
              </a:r>
              <a:endParaRPr/>
            </a:p>
          </p:txBody>
        </p:sp>
        <p:cxnSp>
          <p:nvCxnSpPr>
            <p:cNvPr id="947" name="Google Shape;947;p42"/>
            <p:cNvCxnSpPr>
              <a:stCxn id="945" idx="0"/>
            </p:cNvCxnSpPr>
            <p:nvPr/>
          </p:nvCxnSpPr>
          <p:spPr>
            <a:xfrm rot="10800000">
              <a:off x="9618260" y="1036653"/>
              <a:ext cx="0" cy="234000"/>
            </a:xfrm>
            <a:prstGeom prst="straightConnector1">
              <a:avLst/>
            </a:prstGeom>
            <a:noFill/>
            <a:ln cap="flat" cmpd="sng" w="44450">
              <a:solidFill>
                <a:srgbClr val="C00000"/>
              </a:solidFill>
              <a:prstDash val="solid"/>
              <a:miter lim="800000"/>
              <a:headEnd len="sm" w="sm" type="none"/>
              <a:tailEnd len="sm" w="sm" type="none"/>
            </a:ln>
          </p:spPr>
        </p:cxnSp>
      </p:grpSp>
      <p:cxnSp>
        <p:nvCxnSpPr>
          <p:cNvPr id="948" name="Google Shape;948;p42"/>
          <p:cNvCxnSpPr/>
          <p:nvPr/>
        </p:nvCxnSpPr>
        <p:spPr>
          <a:xfrm flipH="1" rot="10800000">
            <a:off x="1371600" y="1110215"/>
            <a:ext cx="8246660" cy="30684"/>
          </a:xfrm>
          <a:prstGeom prst="straightConnector1">
            <a:avLst/>
          </a:prstGeom>
          <a:noFill/>
          <a:ln cap="flat" cmpd="sng" w="44450">
            <a:solidFill>
              <a:srgbClr val="C00000"/>
            </a:solidFill>
            <a:prstDash val="solid"/>
            <a:miter lim="800000"/>
            <a:headEnd len="sm" w="sm" type="none"/>
            <a:tailEnd len="sm" w="sm" type="none"/>
          </a:ln>
        </p:spPr>
      </p:cxnSp>
      <p:cxnSp>
        <p:nvCxnSpPr>
          <p:cNvPr id="949" name="Google Shape;949;p42"/>
          <p:cNvCxnSpPr>
            <a:stCxn id="935" idx="2"/>
          </p:cNvCxnSpPr>
          <p:nvPr/>
        </p:nvCxnSpPr>
        <p:spPr>
          <a:xfrm>
            <a:off x="6054630" y="919404"/>
            <a:ext cx="0" cy="221400"/>
          </a:xfrm>
          <a:prstGeom prst="straightConnector1">
            <a:avLst/>
          </a:prstGeom>
          <a:noFill/>
          <a:ln cap="flat" cmpd="sng" w="44450">
            <a:solidFill>
              <a:srgbClr val="C00000"/>
            </a:solidFill>
            <a:prstDash val="solid"/>
            <a:miter lim="800000"/>
            <a:headEnd len="sm" w="sm" type="none"/>
            <a:tailEnd len="sm" w="sm" type="none"/>
          </a:ln>
        </p:spPr>
      </p:cxnSp>
      <p:cxnSp>
        <p:nvCxnSpPr>
          <p:cNvPr id="950" name="Google Shape;950;p42"/>
          <p:cNvCxnSpPr>
            <a:stCxn id="938" idx="2"/>
          </p:cNvCxnSpPr>
          <p:nvPr/>
        </p:nvCxnSpPr>
        <p:spPr>
          <a:xfrm>
            <a:off x="1576885" y="2086146"/>
            <a:ext cx="0" cy="2850600"/>
          </a:xfrm>
          <a:prstGeom prst="straightConnector1">
            <a:avLst/>
          </a:prstGeom>
          <a:noFill/>
          <a:ln cap="flat" cmpd="sng" w="44450">
            <a:solidFill>
              <a:srgbClr val="C00000"/>
            </a:solidFill>
            <a:prstDash val="solid"/>
            <a:miter lim="800000"/>
            <a:headEnd len="sm" w="sm" type="none"/>
            <a:tailEnd len="sm" w="sm" type="none"/>
          </a:ln>
        </p:spPr>
      </p:cxnSp>
      <p:grpSp>
        <p:nvGrpSpPr>
          <p:cNvPr id="951" name="Google Shape;951;p42"/>
          <p:cNvGrpSpPr/>
          <p:nvPr/>
        </p:nvGrpSpPr>
        <p:grpSpPr>
          <a:xfrm>
            <a:off x="1590186" y="2318470"/>
            <a:ext cx="1860352" cy="727028"/>
            <a:chOff x="1590186" y="2244375"/>
            <a:chExt cx="1860352" cy="727028"/>
          </a:xfrm>
        </p:grpSpPr>
        <p:sp>
          <p:nvSpPr>
            <p:cNvPr id="952" name="Google Shape;952;p42"/>
            <p:cNvSpPr/>
            <p:nvPr/>
          </p:nvSpPr>
          <p:spPr>
            <a:xfrm>
              <a:off x="1992786" y="2244375"/>
              <a:ext cx="1305352" cy="574628"/>
            </a:xfrm>
            <a:prstGeom prst="roundRect">
              <a:avLst>
                <a:gd fmla="val 16667" name="adj"/>
              </a:avLst>
            </a:prstGeom>
            <a:solidFill>
              <a:srgbClr val="92D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53" name="Google Shape;953;p42"/>
            <p:cNvSpPr/>
            <p:nvPr/>
          </p:nvSpPr>
          <p:spPr>
            <a:xfrm>
              <a:off x="2145186" y="2396775"/>
              <a:ext cx="1305352" cy="574628"/>
            </a:xfrm>
            <a:prstGeom prst="roundRect">
              <a:avLst>
                <a:gd fmla="val 16667" name="adj"/>
              </a:avLst>
            </a:prstGeom>
            <a:solidFill>
              <a:srgbClr val="FBFBFB"/>
            </a:solidFill>
            <a:ln cap="flat" cmpd="sng" w="19050">
              <a:solidFill>
                <a:srgbClr val="92D05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if - then</a:t>
              </a:r>
              <a:endParaRPr b="1" i="1" sz="1800">
                <a:solidFill>
                  <a:schemeClr val="dk1"/>
                </a:solidFill>
                <a:latin typeface="Times New Roman"/>
                <a:ea typeface="Times New Roman"/>
                <a:cs typeface="Times New Roman"/>
                <a:sym typeface="Times New Roman"/>
              </a:endParaRPr>
            </a:p>
          </p:txBody>
        </p:sp>
        <p:cxnSp>
          <p:nvCxnSpPr>
            <p:cNvPr id="954" name="Google Shape;954;p42"/>
            <p:cNvCxnSpPr>
              <a:stCxn id="952" idx="1"/>
            </p:cNvCxnSpPr>
            <p:nvPr/>
          </p:nvCxnSpPr>
          <p:spPr>
            <a:xfrm flipH="1">
              <a:off x="1590186" y="2531689"/>
              <a:ext cx="402600" cy="6300"/>
            </a:xfrm>
            <a:prstGeom prst="straightConnector1">
              <a:avLst/>
            </a:prstGeom>
            <a:noFill/>
            <a:ln cap="flat" cmpd="sng" w="44450">
              <a:solidFill>
                <a:srgbClr val="C00000"/>
              </a:solidFill>
              <a:prstDash val="solid"/>
              <a:miter lim="800000"/>
              <a:headEnd len="sm" w="sm" type="none"/>
              <a:tailEnd len="sm" w="sm" type="none"/>
            </a:ln>
          </p:spPr>
        </p:cxnSp>
      </p:grpSp>
      <p:grpSp>
        <p:nvGrpSpPr>
          <p:cNvPr id="955" name="Google Shape;955;p42"/>
          <p:cNvGrpSpPr/>
          <p:nvPr/>
        </p:nvGrpSpPr>
        <p:grpSpPr>
          <a:xfrm>
            <a:off x="1576886" y="3522461"/>
            <a:ext cx="2178452" cy="727028"/>
            <a:chOff x="1576886" y="3448366"/>
            <a:chExt cx="2178452" cy="727028"/>
          </a:xfrm>
        </p:grpSpPr>
        <p:sp>
          <p:nvSpPr>
            <p:cNvPr id="956" name="Google Shape;956;p42"/>
            <p:cNvSpPr/>
            <p:nvPr/>
          </p:nvSpPr>
          <p:spPr>
            <a:xfrm>
              <a:off x="1992786" y="3448366"/>
              <a:ext cx="1610152" cy="574628"/>
            </a:xfrm>
            <a:prstGeom prst="roundRect">
              <a:avLst>
                <a:gd fmla="val 16667" name="adj"/>
              </a:avLst>
            </a:prstGeom>
            <a:solidFill>
              <a:srgbClr val="92D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57" name="Google Shape;957;p42"/>
            <p:cNvSpPr/>
            <p:nvPr/>
          </p:nvSpPr>
          <p:spPr>
            <a:xfrm>
              <a:off x="2145186" y="3600766"/>
              <a:ext cx="1610152" cy="574628"/>
            </a:xfrm>
            <a:prstGeom prst="roundRect">
              <a:avLst>
                <a:gd fmla="val 16667" name="adj"/>
              </a:avLst>
            </a:prstGeom>
            <a:solidFill>
              <a:srgbClr val="FBFBFB"/>
            </a:solidFill>
            <a:ln cap="flat" cmpd="sng" w="19050">
              <a:solidFill>
                <a:srgbClr val="92D05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if – then - else</a:t>
              </a:r>
              <a:endParaRPr b="1" i="1" sz="1800">
                <a:solidFill>
                  <a:schemeClr val="dk1"/>
                </a:solidFill>
                <a:latin typeface="Times New Roman"/>
                <a:ea typeface="Times New Roman"/>
                <a:cs typeface="Times New Roman"/>
                <a:sym typeface="Times New Roman"/>
              </a:endParaRPr>
            </a:p>
          </p:txBody>
        </p:sp>
        <p:cxnSp>
          <p:nvCxnSpPr>
            <p:cNvPr id="958" name="Google Shape;958;p42"/>
            <p:cNvCxnSpPr/>
            <p:nvPr/>
          </p:nvCxnSpPr>
          <p:spPr>
            <a:xfrm rot="10800000">
              <a:off x="1576886" y="3705921"/>
              <a:ext cx="415900" cy="0"/>
            </a:xfrm>
            <a:prstGeom prst="straightConnector1">
              <a:avLst/>
            </a:prstGeom>
            <a:noFill/>
            <a:ln cap="flat" cmpd="sng" w="44450">
              <a:solidFill>
                <a:srgbClr val="C00000"/>
              </a:solidFill>
              <a:prstDash val="solid"/>
              <a:miter lim="800000"/>
              <a:headEnd len="sm" w="sm" type="none"/>
              <a:tailEnd len="sm" w="sm" type="none"/>
            </a:ln>
          </p:spPr>
        </p:cxnSp>
      </p:grpSp>
      <p:grpSp>
        <p:nvGrpSpPr>
          <p:cNvPr id="959" name="Google Shape;959;p42"/>
          <p:cNvGrpSpPr/>
          <p:nvPr/>
        </p:nvGrpSpPr>
        <p:grpSpPr>
          <a:xfrm>
            <a:off x="1590248" y="4622971"/>
            <a:ext cx="2165090" cy="727028"/>
            <a:chOff x="1590248" y="4548876"/>
            <a:chExt cx="2165090" cy="727028"/>
          </a:xfrm>
        </p:grpSpPr>
        <p:sp>
          <p:nvSpPr>
            <p:cNvPr id="960" name="Google Shape;960;p42"/>
            <p:cNvSpPr/>
            <p:nvPr/>
          </p:nvSpPr>
          <p:spPr>
            <a:xfrm>
              <a:off x="1992786" y="4548876"/>
              <a:ext cx="1610152" cy="574628"/>
            </a:xfrm>
            <a:prstGeom prst="roundRect">
              <a:avLst>
                <a:gd fmla="val 16667" name="adj"/>
              </a:avLst>
            </a:prstGeom>
            <a:solidFill>
              <a:srgbClr val="92D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61" name="Google Shape;961;p42"/>
            <p:cNvSpPr/>
            <p:nvPr/>
          </p:nvSpPr>
          <p:spPr>
            <a:xfrm>
              <a:off x="2145186" y="4701276"/>
              <a:ext cx="1610152" cy="574628"/>
            </a:xfrm>
            <a:prstGeom prst="roundRect">
              <a:avLst>
                <a:gd fmla="val 16667" name="adj"/>
              </a:avLst>
            </a:prstGeom>
            <a:solidFill>
              <a:srgbClr val="FBFBFB"/>
            </a:solidFill>
            <a:ln cap="flat" cmpd="sng" w="19050">
              <a:solidFill>
                <a:srgbClr val="92D05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switch - case</a:t>
              </a:r>
              <a:endParaRPr b="1" i="1" sz="1800">
                <a:solidFill>
                  <a:schemeClr val="dk1"/>
                </a:solidFill>
                <a:latin typeface="Times New Roman"/>
                <a:ea typeface="Times New Roman"/>
                <a:cs typeface="Times New Roman"/>
                <a:sym typeface="Times New Roman"/>
              </a:endParaRPr>
            </a:p>
          </p:txBody>
        </p:sp>
        <p:cxnSp>
          <p:nvCxnSpPr>
            <p:cNvPr id="962" name="Google Shape;962;p42"/>
            <p:cNvCxnSpPr/>
            <p:nvPr/>
          </p:nvCxnSpPr>
          <p:spPr>
            <a:xfrm rot="10800000">
              <a:off x="1590248" y="4862667"/>
              <a:ext cx="402538" cy="0"/>
            </a:xfrm>
            <a:prstGeom prst="straightConnector1">
              <a:avLst/>
            </a:prstGeom>
            <a:noFill/>
            <a:ln cap="flat" cmpd="sng" w="44450">
              <a:solidFill>
                <a:srgbClr val="C00000"/>
              </a:solidFill>
              <a:prstDash val="solid"/>
              <a:miter lim="800000"/>
              <a:headEnd len="sm" w="sm" type="none"/>
              <a:tailEnd len="sm" w="sm" type="none"/>
            </a:ln>
          </p:spPr>
        </p:cxnSp>
      </p:grpSp>
      <p:grpSp>
        <p:nvGrpSpPr>
          <p:cNvPr id="963" name="Google Shape;963;p42"/>
          <p:cNvGrpSpPr/>
          <p:nvPr/>
        </p:nvGrpSpPr>
        <p:grpSpPr>
          <a:xfrm>
            <a:off x="5331262" y="2330403"/>
            <a:ext cx="2047591" cy="727028"/>
            <a:chOff x="5331262" y="2256308"/>
            <a:chExt cx="2047591" cy="727028"/>
          </a:xfrm>
        </p:grpSpPr>
        <p:sp>
          <p:nvSpPr>
            <p:cNvPr id="964" name="Google Shape;964;p42"/>
            <p:cNvSpPr/>
            <p:nvPr/>
          </p:nvSpPr>
          <p:spPr>
            <a:xfrm>
              <a:off x="5921101" y="2256308"/>
              <a:ext cx="1305352" cy="574628"/>
            </a:xfrm>
            <a:prstGeom prst="roundRect">
              <a:avLst>
                <a:gd fmla="val 16667" name="adj"/>
              </a:avLst>
            </a:prstGeom>
            <a:solidFill>
              <a:srgbClr val="92D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65" name="Google Shape;965;p42"/>
            <p:cNvSpPr/>
            <p:nvPr/>
          </p:nvSpPr>
          <p:spPr>
            <a:xfrm>
              <a:off x="6073501" y="2408708"/>
              <a:ext cx="1305352" cy="574628"/>
            </a:xfrm>
            <a:prstGeom prst="roundRect">
              <a:avLst>
                <a:gd fmla="val 16667" name="adj"/>
              </a:avLst>
            </a:prstGeom>
            <a:solidFill>
              <a:srgbClr val="FBFBFB"/>
            </a:solidFill>
            <a:ln cap="flat" cmpd="sng" w="19050">
              <a:solidFill>
                <a:srgbClr val="92D05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for</a:t>
              </a:r>
              <a:endParaRPr b="1" i="1" sz="1800">
                <a:solidFill>
                  <a:schemeClr val="dk1"/>
                </a:solidFill>
                <a:latin typeface="Times New Roman"/>
                <a:ea typeface="Times New Roman"/>
                <a:cs typeface="Times New Roman"/>
                <a:sym typeface="Times New Roman"/>
              </a:endParaRPr>
            </a:p>
          </p:txBody>
        </p:sp>
        <p:cxnSp>
          <p:nvCxnSpPr>
            <p:cNvPr id="966" name="Google Shape;966;p42"/>
            <p:cNvCxnSpPr/>
            <p:nvPr/>
          </p:nvCxnSpPr>
          <p:spPr>
            <a:xfrm rot="10800000">
              <a:off x="5331262" y="2499381"/>
              <a:ext cx="589839" cy="0"/>
            </a:xfrm>
            <a:prstGeom prst="straightConnector1">
              <a:avLst/>
            </a:prstGeom>
            <a:noFill/>
            <a:ln cap="flat" cmpd="sng" w="44450">
              <a:solidFill>
                <a:srgbClr val="C00000"/>
              </a:solidFill>
              <a:prstDash val="solid"/>
              <a:miter lim="800000"/>
              <a:headEnd len="sm" w="sm" type="none"/>
              <a:tailEnd len="sm" w="sm" type="none"/>
            </a:ln>
          </p:spPr>
        </p:cxnSp>
      </p:grpSp>
      <p:cxnSp>
        <p:nvCxnSpPr>
          <p:cNvPr id="967" name="Google Shape;967;p42"/>
          <p:cNvCxnSpPr/>
          <p:nvPr/>
        </p:nvCxnSpPr>
        <p:spPr>
          <a:xfrm>
            <a:off x="5331262" y="2098079"/>
            <a:ext cx="0" cy="3115480"/>
          </a:xfrm>
          <a:prstGeom prst="straightConnector1">
            <a:avLst/>
          </a:prstGeom>
          <a:noFill/>
          <a:ln cap="flat" cmpd="sng" w="44450">
            <a:solidFill>
              <a:srgbClr val="C00000"/>
            </a:solidFill>
            <a:prstDash val="solid"/>
            <a:miter lim="800000"/>
            <a:headEnd len="sm" w="sm" type="none"/>
            <a:tailEnd len="sm" w="sm" type="none"/>
          </a:ln>
        </p:spPr>
      </p:cxnSp>
      <p:grpSp>
        <p:nvGrpSpPr>
          <p:cNvPr id="968" name="Google Shape;968;p42"/>
          <p:cNvGrpSpPr/>
          <p:nvPr/>
        </p:nvGrpSpPr>
        <p:grpSpPr>
          <a:xfrm>
            <a:off x="5331262" y="3195755"/>
            <a:ext cx="2047591" cy="727028"/>
            <a:chOff x="5331262" y="3121660"/>
            <a:chExt cx="2047591" cy="727028"/>
          </a:xfrm>
        </p:grpSpPr>
        <p:sp>
          <p:nvSpPr>
            <p:cNvPr id="969" name="Google Shape;969;p42"/>
            <p:cNvSpPr/>
            <p:nvPr/>
          </p:nvSpPr>
          <p:spPr>
            <a:xfrm>
              <a:off x="5921101" y="3121660"/>
              <a:ext cx="1305352" cy="574628"/>
            </a:xfrm>
            <a:prstGeom prst="roundRect">
              <a:avLst>
                <a:gd fmla="val 16667" name="adj"/>
              </a:avLst>
            </a:prstGeom>
            <a:solidFill>
              <a:srgbClr val="92D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70" name="Google Shape;970;p42"/>
            <p:cNvSpPr/>
            <p:nvPr/>
          </p:nvSpPr>
          <p:spPr>
            <a:xfrm>
              <a:off x="6073501" y="3274060"/>
              <a:ext cx="1305352" cy="574628"/>
            </a:xfrm>
            <a:prstGeom prst="roundRect">
              <a:avLst>
                <a:gd fmla="val 16667" name="adj"/>
              </a:avLst>
            </a:prstGeom>
            <a:solidFill>
              <a:srgbClr val="FBFBFB"/>
            </a:solidFill>
            <a:ln cap="flat" cmpd="sng" w="19050">
              <a:solidFill>
                <a:srgbClr val="92D05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for - each</a:t>
              </a:r>
              <a:endParaRPr b="1" i="1" sz="1800">
                <a:solidFill>
                  <a:schemeClr val="dk1"/>
                </a:solidFill>
                <a:latin typeface="Times New Roman"/>
                <a:ea typeface="Times New Roman"/>
                <a:cs typeface="Times New Roman"/>
                <a:sym typeface="Times New Roman"/>
              </a:endParaRPr>
            </a:p>
          </p:txBody>
        </p:sp>
        <p:cxnSp>
          <p:nvCxnSpPr>
            <p:cNvPr id="971" name="Google Shape;971;p42"/>
            <p:cNvCxnSpPr/>
            <p:nvPr/>
          </p:nvCxnSpPr>
          <p:spPr>
            <a:xfrm rot="10800000">
              <a:off x="5331262" y="3464326"/>
              <a:ext cx="589839" cy="0"/>
            </a:xfrm>
            <a:prstGeom prst="straightConnector1">
              <a:avLst/>
            </a:prstGeom>
            <a:noFill/>
            <a:ln cap="flat" cmpd="sng" w="44450">
              <a:solidFill>
                <a:srgbClr val="C00000"/>
              </a:solidFill>
              <a:prstDash val="solid"/>
              <a:miter lim="800000"/>
              <a:headEnd len="sm" w="sm" type="none"/>
              <a:tailEnd len="sm" w="sm" type="none"/>
            </a:ln>
          </p:spPr>
        </p:cxnSp>
      </p:grpSp>
      <p:grpSp>
        <p:nvGrpSpPr>
          <p:cNvPr id="972" name="Google Shape;972;p42"/>
          <p:cNvGrpSpPr/>
          <p:nvPr/>
        </p:nvGrpSpPr>
        <p:grpSpPr>
          <a:xfrm>
            <a:off x="5331262" y="4093380"/>
            <a:ext cx="2023707" cy="727028"/>
            <a:chOff x="5331262" y="4019285"/>
            <a:chExt cx="2023707" cy="727028"/>
          </a:xfrm>
        </p:grpSpPr>
        <p:sp>
          <p:nvSpPr>
            <p:cNvPr id="973" name="Google Shape;973;p42"/>
            <p:cNvSpPr/>
            <p:nvPr/>
          </p:nvSpPr>
          <p:spPr>
            <a:xfrm>
              <a:off x="5897217" y="4019285"/>
              <a:ext cx="1305352" cy="574628"/>
            </a:xfrm>
            <a:prstGeom prst="roundRect">
              <a:avLst>
                <a:gd fmla="val 16667" name="adj"/>
              </a:avLst>
            </a:prstGeom>
            <a:solidFill>
              <a:srgbClr val="92D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74" name="Google Shape;974;p42"/>
            <p:cNvSpPr/>
            <p:nvPr/>
          </p:nvSpPr>
          <p:spPr>
            <a:xfrm>
              <a:off x="6049617" y="4171685"/>
              <a:ext cx="1305352" cy="574628"/>
            </a:xfrm>
            <a:prstGeom prst="roundRect">
              <a:avLst>
                <a:gd fmla="val 16667" name="adj"/>
              </a:avLst>
            </a:prstGeom>
            <a:solidFill>
              <a:srgbClr val="FBFBFB"/>
            </a:solidFill>
            <a:ln cap="flat" cmpd="sng" w="19050">
              <a:solidFill>
                <a:srgbClr val="92D05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while</a:t>
              </a:r>
              <a:endParaRPr b="1" i="1" sz="1800">
                <a:solidFill>
                  <a:schemeClr val="dk1"/>
                </a:solidFill>
                <a:latin typeface="Times New Roman"/>
                <a:ea typeface="Times New Roman"/>
                <a:cs typeface="Times New Roman"/>
                <a:sym typeface="Times New Roman"/>
              </a:endParaRPr>
            </a:p>
          </p:txBody>
        </p:sp>
        <p:cxnSp>
          <p:nvCxnSpPr>
            <p:cNvPr id="975" name="Google Shape;975;p42"/>
            <p:cNvCxnSpPr/>
            <p:nvPr/>
          </p:nvCxnSpPr>
          <p:spPr>
            <a:xfrm rot="10800000">
              <a:off x="5331262" y="4292482"/>
              <a:ext cx="565955" cy="0"/>
            </a:xfrm>
            <a:prstGeom prst="straightConnector1">
              <a:avLst/>
            </a:prstGeom>
            <a:noFill/>
            <a:ln cap="flat" cmpd="sng" w="44450">
              <a:solidFill>
                <a:srgbClr val="C00000"/>
              </a:solidFill>
              <a:prstDash val="solid"/>
              <a:miter lim="800000"/>
              <a:headEnd len="sm" w="sm" type="none"/>
              <a:tailEnd len="sm" w="sm" type="none"/>
            </a:ln>
          </p:spPr>
        </p:cxnSp>
      </p:grpSp>
      <p:grpSp>
        <p:nvGrpSpPr>
          <p:cNvPr id="976" name="Google Shape;976;p42"/>
          <p:cNvGrpSpPr/>
          <p:nvPr/>
        </p:nvGrpSpPr>
        <p:grpSpPr>
          <a:xfrm>
            <a:off x="5331262" y="4987972"/>
            <a:ext cx="2047591" cy="727028"/>
            <a:chOff x="5331262" y="4913877"/>
            <a:chExt cx="2047591" cy="727028"/>
          </a:xfrm>
        </p:grpSpPr>
        <p:sp>
          <p:nvSpPr>
            <p:cNvPr id="977" name="Google Shape;977;p42"/>
            <p:cNvSpPr/>
            <p:nvPr/>
          </p:nvSpPr>
          <p:spPr>
            <a:xfrm>
              <a:off x="5921101" y="4913877"/>
              <a:ext cx="1305352" cy="574628"/>
            </a:xfrm>
            <a:prstGeom prst="roundRect">
              <a:avLst>
                <a:gd fmla="val 16667" name="adj"/>
              </a:avLst>
            </a:prstGeom>
            <a:solidFill>
              <a:srgbClr val="92D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78" name="Google Shape;978;p42"/>
            <p:cNvSpPr/>
            <p:nvPr/>
          </p:nvSpPr>
          <p:spPr>
            <a:xfrm>
              <a:off x="6073501" y="5066277"/>
              <a:ext cx="1305352" cy="574628"/>
            </a:xfrm>
            <a:prstGeom prst="roundRect">
              <a:avLst>
                <a:gd fmla="val 16667" name="adj"/>
              </a:avLst>
            </a:prstGeom>
            <a:solidFill>
              <a:srgbClr val="FBFBFB"/>
            </a:solidFill>
            <a:ln cap="flat" cmpd="sng" w="19050">
              <a:solidFill>
                <a:srgbClr val="92D05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do - while</a:t>
              </a:r>
              <a:endParaRPr b="1" i="1" sz="1800">
                <a:solidFill>
                  <a:schemeClr val="dk1"/>
                </a:solidFill>
                <a:latin typeface="Times New Roman"/>
                <a:ea typeface="Times New Roman"/>
                <a:cs typeface="Times New Roman"/>
                <a:sym typeface="Times New Roman"/>
              </a:endParaRPr>
            </a:p>
          </p:txBody>
        </p:sp>
        <p:cxnSp>
          <p:nvCxnSpPr>
            <p:cNvPr id="979" name="Google Shape;979;p42"/>
            <p:cNvCxnSpPr/>
            <p:nvPr/>
          </p:nvCxnSpPr>
          <p:spPr>
            <a:xfrm rot="10800000">
              <a:off x="5331262" y="5139464"/>
              <a:ext cx="589839" cy="0"/>
            </a:xfrm>
            <a:prstGeom prst="straightConnector1">
              <a:avLst/>
            </a:prstGeom>
            <a:noFill/>
            <a:ln cap="flat" cmpd="sng" w="44450">
              <a:solidFill>
                <a:srgbClr val="C00000"/>
              </a:solidFill>
              <a:prstDash val="solid"/>
              <a:miter lim="800000"/>
              <a:headEnd len="sm" w="sm" type="none"/>
              <a:tailEnd len="sm" w="sm" type="none"/>
            </a:ln>
          </p:spPr>
        </p:cxnSp>
      </p:grpSp>
      <p:cxnSp>
        <p:nvCxnSpPr>
          <p:cNvPr id="980" name="Google Shape;980;p42"/>
          <p:cNvCxnSpPr>
            <a:stCxn id="946" idx="2"/>
          </p:cNvCxnSpPr>
          <p:nvPr/>
        </p:nvCxnSpPr>
        <p:spPr>
          <a:xfrm>
            <a:off x="9770660" y="2071776"/>
            <a:ext cx="0" cy="3141900"/>
          </a:xfrm>
          <a:prstGeom prst="straightConnector1">
            <a:avLst/>
          </a:prstGeom>
          <a:noFill/>
          <a:ln cap="flat" cmpd="sng" w="44450">
            <a:solidFill>
              <a:srgbClr val="C00000"/>
            </a:solidFill>
            <a:prstDash val="solid"/>
            <a:miter lim="800000"/>
            <a:headEnd len="sm" w="sm" type="none"/>
            <a:tailEnd len="sm" w="sm" type="none"/>
          </a:ln>
        </p:spPr>
      </p:cxnSp>
      <p:grpSp>
        <p:nvGrpSpPr>
          <p:cNvPr id="981" name="Google Shape;981;p42"/>
          <p:cNvGrpSpPr/>
          <p:nvPr/>
        </p:nvGrpSpPr>
        <p:grpSpPr>
          <a:xfrm>
            <a:off x="9753732" y="2318470"/>
            <a:ext cx="1966852" cy="727028"/>
            <a:chOff x="9753732" y="2244375"/>
            <a:chExt cx="1966852" cy="727028"/>
          </a:xfrm>
        </p:grpSpPr>
        <p:sp>
          <p:nvSpPr>
            <p:cNvPr id="982" name="Google Shape;982;p42"/>
            <p:cNvSpPr/>
            <p:nvPr/>
          </p:nvSpPr>
          <p:spPr>
            <a:xfrm>
              <a:off x="10262832" y="2244375"/>
              <a:ext cx="1305352" cy="574628"/>
            </a:xfrm>
            <a:prstGeom prst="roundRect">
              <a:avLst>
                <a:gd fmla="val 16667" name="adj"/>
              </a:avLst>
            </a:prstGeom>
            <a:solidFill>
              <a:srgbClr val="92D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83" name="Google Shape;983;p42"/>
            <p:cNvSpPr/>
            <p:nvPr/>
          </p:nvSpPr>
          <p:spPr>
            <a:xfrm>
              <a:off x="10415232" y="2396775"/>
              <a:ext cx="1305352" cy="574628"/>
            </a:xfrm>
            <a:prstGeom prst="roundRect">
              <a:avLst>
                <a:gd fmla="val 16667" name="adj"/>
              </a:avLst>
            </a:prstGeom>
            <a:solidFill>
              <a:srgbClr val="FBFBFB"/>
            </a:solidFill>
            <a:ln cap="flat" cmpd="sng" w="19050">
              <a:solidFill>
                <a:srgbClr val="92D05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break</a:t>
              </a:r>
              <a:endParaRPr b="1" i="1" sz="1800">
                <a:solidFill>
                  <a:schemeClr val="dk1"/>
                </a:solidFill>
                <a:latin typeface="Times New Roman"/>
                <a:ea typeface="Times New Roman"/>
                <a:cs typeface="Times New Roman"/>
                <a:sym typeface="Times New Roman"/>
              </a:endParaRPr>
            </a:p>
          </p:txBody>
        </p:sp>
        <p:cxnSp>
          <p:nvCxnSpPr>
            <p:cNvPr id="984" name="Google Shape;984;p42"/>
            <p:cNvCxnSpPr>
              <a:stCxn id="982" idx="1"/>
            </p:cNvCxnSpPr>
            <p:nvPr/>
          </p:nvCxnSpPr>
          <p:spPr>
            <a:xfrm rot="10800000">
              <a:off x="9753732" y="2531689"/>
              <a:ext cx="509100" cy="0"/>
            </a:xfrm>
            <a:prstGeom prst="straightConnector1">
              <a:avLst/>
            </a:prstGeom>
            <a:noFill/>
            <a:ln cap="flat" cmpd="sng" w="44450">
              <a:solidFill>
                <a:srgbClr val="C00000"/>
              </a:solidFill>
              <a:prstDash val="solid"/>
              <a:miter lim="800000"/>
              <a:headEnd len="sm" w="sm" type="none"/>
              <a:tailEnd len="sm" w="sm" type="none"/>
            </a:ln>
          </p:spPr>
        </p:cxnSp>
      </p:grpSp>
      <p:grpSp>
        <p:nvGrpSpPr>
          <p:cNvPr id="985" name="Google Shape;985;p42"/>
          <p:cNvGrpSpPr/>
          <p:nvPr/>
        </p:nvGrpSpPr>
        <p:grpSpPr>
          <a:xfrm>
            <a:off x="9770660" y="3627616"/>
            <a:ext cx="1949924" cy="727028"/>
            <a:chOff x="9770660" y="3553521"/>
            <a:chExt cx="1949924" cy="727028"/>
          </a:xfrm>
        </p:grpSpPr>
        <p:sp>
          <p:nvSpPr>
            <p:cNvPr id="986" name="Google Shape;986;p42"/>
            <p:cNvSpPr/>
            <p:nvPr/>
          </p:nvSpPr>
          <p:spPr>
            <a:xfrm>
              <a:off x="10262832" y="3553521"/>
              <a:ext cx="1305352" cy="574628"/>
            </a:xfrm>
            <a:prstGeom prst="roundRect">
              <a:avLst>
                <a:gd fmla="val 16667" name="adj"/>
              </a:avLst>
            </a:prstGeom>
            <a:solidFill>
              <a:srgbClr val="92D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87" name="Google Shape;987;p42"/>
            <p:cNvSpPr/>
            <p:nvPr/>
          </p:nvSpPr>
          <p:spPr>
            <a:xfrm>
              <a:off x="10415232" y="3705921"/>
              <a:ext cx="1305352" cy="574628"/>
            </a:xfrm>
            <a:prstGeom prst="roundRect">
              <a:avLst>
                <a:gd fmla="val 16667" name="adj"/>
              </a:avLst>
            </a:prstGeom>
            <a:solidFill>
              <a:srgbClr val="FBFBFB"/>
            </a:solidFill>
            <a:ln cap="flat" cmpd="sng" w="19050">
              <a:solidFill>
                <a:srgbClr val="92D05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continue</a:t>
              </a:r>
              <a:endParaRPr b="1" i="1" sz="1800">
                <a:solidFill>
                  <a:schemeClr val="dk1"/>
                </a:solidFill>
                <a:latin typeface="Times New Roman"/>
                <a:ea typeface="Times New Roman"/>
                <a:cs typeface="Times New Roman"/>
                <a:sym typeface="Times New Roman"/>
              </a:endParaRPr>
            </a:p>
          </p:txBody>
        </p:sp>
        <p:cxnSp>
          <p:nvCxnSpPr>
            <p:cNvPr id="988" name="Google Shape;988;p42"/>
            <p:cNvCxnSpPr/>
            <p:nvPr/>
          </p:nvCxnSpPr>
          <p:spPr>
            <a:xfrm rot="10800000">
              <a:off x="9770660" y="3848688"/>
              <a:ext cx="492172" cy="0"/>
            </a:xfrm>
            <a:prstGeom prst="straightConnector1">
              <a:avLst/>
            </a:prstGeom>
            <a:noFill/>
            <a:ln cap="flat" cmpd="sng" w="44450">
              <a:solidFill>
                <a:srgbClr val="C00000"/>
              </a:solidFill>
              <a:prstDash val="solid"/>
              <a:miter lim="800000"/>
              <a:headEnd len="sm" w="sm" type="none"/>
              <a:tailEnd len="sm" w="sm" type="none"/>
            </a:ln>
          </p:spPr>
        </p:cxnSp>
      </p:grpSp>
      <p:grpSp>
        <p:nvGrpSpPr>
          <p:cNvPr id="989" name="Google Shape;989;p42"/>
          <p:cNvGrpSpPr/>
          <p:nvPr/>
        </p:nvGrpSpPr>
        <p:grpSpPr>
          <a:xfrm>
            <a:off x="9753600" y="4936762"/>
            <a:ext cx="1973097" cy="727028"/>
            <a:chOff x="9753600" y="4862667"/>
            <a:chExt cx="1973097" cy="727028"/>
          </a:xfrm>
        </p:grpSpPr>
        <p:sp>
          <p:nvSpPr>
            <p:cNvPr id="990" name="Google Shape;990;p42"/>
            <p:cNvSpPr/>
            <p:nvPr/>
          </p:nvSpPr>
          <p:spPr>
            <a:xfrm>
              <a:off x="10268945" y="4862667"/>
              <a:ext cx="1305352" cy="574628"/>
            </a:xfrm>
            <a:prstGeom prst="roundRect">
              <a:avLst>
                <a:gd fmla="val 16667" name="adj"/>
              </a:avLst>
            </a:prstGeom>
            <a:solidFill>
              <a:srgbClr val="92D050"/>
            </a:solidFill>
            <a:ln>
              <a:noFill/>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1" sz="1800">
                <a:solidFill>
                  <a:schemeClr val="lt1"/>
                </a:solidFill>
                <a:latin typeface="Arial"/>
                <a:ea typeface="Arial"/>
                <a:cs typeface="Arial"/>
                <a:sym typeface="Arial"/>
              </a:endParaRPr>
            </a:p>
          </p:txBody>
        </p:sp>
        <p:sp>
          <p:nvSpPr>
            <p:cNvPr id="991" name="Google Shape;991;p42"/>
            <p:cNvSpPr/>
            <p:nvPr/>
          </p:nvSpPr>
          <p:spPr>
            <a:xfrm>
              <a:off x="10421345" y="5015067"/>
              <a:ext cx="1305352" cy="574628"/>
            </a:xfrm>
            <a:prstGeom prst="roundRect">
              <a:avLst>
                <a:gd fmla="val 16667" name="adj"/>
              </a:avLst>
            </a:prstGeom>
            <a:solidFill>
              <a:srgbClr val="FBFBFB"/>
            </a:solidFill>
            <a:ln cap="flat" cmpd="sng" w="19050">
              <a:solidFill>
                <a:srgbClr val="92D050"/>
              </a:solidFill>
              <a:prstDash val="solid"/>
              <a:miter lim="800000"/>
              <a:headEnd len="sm" w="sm" type="none"/>
              <a:tailEnd len="sm" w="sm" type="none"/>
            </a:ln>
            <a:effectLst>
              <a:outerShdw blurRad="44450" algn="ctr" dir="5400000" dist="27940">
                <a:srgbClr val="000000">
                  <a:alpha val="31764"/>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800">
                  <a:solidFill>
                    <a:schemeClr val="dk1"/>
                  </a:solidFill>
                  <a:latin typeface="Times New Roman"/>
                  <a:ea typeface="Times New Roman"/>
                  <a:cs typeface="Times New Roman"/>
                  <a:sym typeface="Times New Roman"/>
                </a:rPr>
                <a:t>return</a:t>
              </a:r>
              <a:endParaRPr b="1" i="1" sz="1800">
                <a:solidFill>
                  <a:schemeClr val="dk1"/>
                </a:solidFill>
                <a:latin typeface="Times New Roman"/>
                <a:ea typeface="Times New Roman"/>
                <a:cs typeface="Times New Roman"/>
                <a:sym typeface="Times New Roman"/>
              </a:endParaRPr>
            </a:p>
          </p:txBody>
        </p:sp>
        <p:cxnSp>
          <p:nvCxnSpPr>
            <p:cNvPr id="992" name="Google Shape;992;p42"/>
            <p:cNvCxnSpPr/>
            <p:nvPr/>
          </p:nvCxnSpPr>
          <p:spPr>
            <a:xfrm rot="10800000">
              <a:off x="9753600" y="5139464"/>
              <a:ext cx="509232" cy="0"/>
            </a:xfrm>
            <a:prstGeom prst="straightConnector1">
              <a:avLst/>
            </a:prstGeom>
            <a:noFill/>
            <a:ln cap="flat" cmpd="sng" w="44450">
              <a:solidFill>
                <a:srgbClr val="C00000"/>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933"/>
                                        </p:tgtEl>
                                        <p:attrNameLst>
                                          <p:attrName>style.visibility</p:attrName>
                                        </p:attrNameLst>
                                      </p:cBhvr>
                                      <p:to>
                                        <p:strVal val="visible"/>
                                      </p:to>
                                    </p:set>
                                    <p:anim calcmode="lin" valueType="num">
                                      <p:cBhvr additive="base">
                                        <p:cTn dur="500"/>
                                        <p:tgtEl>
                                          <p:spTgt spid="933"/>
                                        </p:tgtEl>
                                        <p:attrNameLst>
                                          <p:attrName>ppt_w</p:attrName>
                                        </p:attrNameLst>
                                      </p:cBhvr>
                                      <p:tavLst>
                                        <p:tav fmla="" tm="0">
                                          <p:val>
                                            <p:strVal val="0"/>
                                          </p:val>
                                        </p:tav>
                                        <p:tav fmla="" tm="100000">
                                          <p:val>
                                            <p:strVal val="#ppt_w"/>
                                          </p:val>
                                        </p:tav>
                                      </p:tavLst>
                                    </p:anim>
                                    <p:anim calcmode="lin" valueType="num">
                                      <p:cBhvr additive="base">
                                        <p:cTn dur="500"/>
                                        <p:tgtEl>
                                          <p:spTgt spid="93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9"/>
                                        </p:tgtEl>
                                        <p:attrNameLst>
                                          <p:attrName>style.visibility</p:attrName>
                                        </p:attrNameLst>
                                      </p:cBhvr>
                                      <p:to>
                                        <p:strVal val="visible"/>
                                      </p:to>
                                    </p:set>
                                    <p:animEffect filter="fade" transition="in">
                                      <p:cBhvr>
                                        <p:cTn dur="500"/>
                                        <p:tgtEl>
                                          <p:spTgt spid="949"/>
                                        </p:tgtEl>
                                      </p:cBhvr>
                                    </p:animEffect>
                                  </p:childTnLst>
                                </p:cTn>
                              </p:par>
                              <p:par>
                                <p:cTn fill="hold" nodeType="withEffect" presetClass="entr" presetID="10" presetSubtype="0">
                                  <p:stCondLst>
                                    <p:cond delay="0"/>
                                  </p:stCondLst>
                                  <p:childTnLst>
                                    <p:set>
                                      <p:cBhvr>
                                        <p:cTn dur="1" fill="hold">
                                          <p:stCondLst>
                                            <p:cond delay="0"/>
                                          </p:stCondLst>
                                        </p:cTn>
                                        <p:tgtEl>
                                          <p:spTgt spid="948"/>
                                        </p:tgtEl>
                                        <p:attrNameLst>
                                          <p:attrName>style.visibility</p:attrName>
                                        </p:attrNameLst>
                                      </p:cBhvr>
                                      <p:to>
                                        <p:strVal val="visible"/>
                                      </p:to>
                                    </p:set>
                                    <p:animEffect filter="fade" transition="in">
                                      <p:cBhvr>
                                        <p:cTn dur="500"/>
                                        <p:tgtEl>
                                          <p:spTgt spid="9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
                                        </p:tgtEl>
                                        <p:attrNameLst>
                                          <p:attrName>style.visibility</p:attrName>
                                        </p:attrNameLst>
                                      </p:cBhvr>
                                      <p:to>
                                        <p:strVal val="visible"/>
                                      </p:to>
                                    </p:set>
                                    <p:animEffect filter="fade" transition="in">
                                      <p:cBhvr>
                                        <p:cTn dur="500"/>
                                        <p:tgtEl>
                                          <p:spTgt spid="9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gtEl>
                                        <p:attrNameLst>
                                          <p:attrName>style.visibility</p:attrName>
                                        </p:attrNameLst>
                                      </p:cBhvr>
                                      <p:to>
                                        <p:strVal val="visible"/>
                                      </p:to>
                                    </p:set>
                                    <p:animEffect filter="fade" transition="in">
                                      <p:cBhvr>
                                        <p:cTn dur="500"/>
                                        <p:tgtEl>
                                          <p:spTgt spid="9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4"/>
                                        </p:tgtEl>
                                        <p:attrNameLst>
                                          <p:attrName>style.visibility</p:attrName>
                                        </p:attrNameLst>
                                      </p:cBhvr>
                                      <p:to>
                                        <p:strVal val="visible"/>
                                      </p:to>
                                    </p:set>
                                    <p:animEffect filter="fade" transition="in">
                                      <p:cBhvr>
                                        <p:cTn dur="500"/>
                                        <p:tgtEl>
                                          <p:spTgt spid="9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0"/>
                                        </p:tgtEl>
                                        <p:attrNameLst>
                                          <p:attrName>style.visibility</p:attrName>
                                        </p:attrNameLst>
                                      </p:cBhvr>
                                      <p:to>
                                        <p:strVal val="visible"/>
                                      </p:to>
                                    </p:set>
                                    <p:animEffect filter="fade" transition="in">
                                      <p:cBhvr>
                                        <p:cTn dur="500"/>
                                        <p:tgtEl>
                                          <p:spTgt spid="9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1"/>
                                        </p:tgtEl>
                                        <p:attrNameLst>
                                          <p:attrName>style.visibility</p:attrName>
                                        </p:attrNameLst>
                                      </p:cBhvr>
                                      <p:to>
                                        <p:strVal val="visible"/>
                                      </p:to>
                                    </p:set>
                                    <p:animEffect filter="fade" transition="in">
                                      <p:cBhvr>
                                        <p:cTn dur="500"/>
                                        <p:tgtEl>
                                          <p:spTgt spid="9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5"/>
                                        </p:tgtEl>
                                        <p:attrNameLst>
                                          <p:attrName>style.visibility</p:attrName>
                                        </p:attrNameLst>
                                      </p:cBhvr>
                                      <p:to>
                                        <p:strVal val="visible"/>
                                      </p:to>
                                    </p:set>
                                    <p:animEffect filter="fade" transition="in">
                                      <p:cBhvr>
                                        <p:cTn dur="500"/>
                                        <p:tgtEl>
                                          <p:spTgt spid="9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9"/>
                                        </p:tgtEl>
                                        <p:attrNameLst>
                                          <p:attrName>style.visibility</p:attrName>
                                        </p:attrNameLst>
                                      </p:cBhvr>
                                      <p:to>
                                        <p:strVal val="visible"/>
                                      </p:to>
                                    </p:set>
                                    <p:animEffect filter="fade" transition="in">
                                      <p:cBhvr>
                                        <p:cTn dur="500"/>
                                        <p:tgtEl>
                                          <p:spTgt spid="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gtEl>
                                        <p:attrNameLst>
                                          <p:attrName>style.visibility</p:attrName>
                                        </p:attrNameLst>
                                      </p:cBhvr>
                                      <p:to>
                                        <p:strVal val="visible"/>
                                      </p:to>
                                    </p:set>
                                    <p:animEffect filter="fade" transition="in">
                                      <p:cBhvr>
                                        <p:cTn dur="500"/>
                                        <p:tgtEl>
                                          <p:spTgt spid="9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500"/>
                                        <p:tgtEl>
                                          <p:spTgt spid="9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8"/>
                                        </p:tgtEl>
                                        <p:attrNameLst>
                                          <p:attrName>style.visibility</p:attrName>
                                        </p:attrNameLst>
                                      </p:cBhvr>
                                      <p:to>
                                        <p:strVal val="visible"/>
                                      </p:to>
                                    </p:set>
                                    <p:animEffect filter="fade" transition="in">
                                      <p:cBhvr>
                                        <p:cTn dur="500"/>
                                        <p:tgtEl>
                                          <p:spTgt spid="9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2"/>
                                        </p:tgtEl>
                                        <p:attrNameLst>
                                          <p:attrName>style.visibility</p:attrName>
                                        </p:attrNameLst>
                                      </p:cBhvr>
                                      <p:to>
                                        <p:strVal val="visible"/>
                                      </p:to>
                                    </p:set>
                                    <p:animEffect filter="fade" transition="in">
                                      <p:cBhvr>
                                        <p:cTn dur="500"/>
                                        <p:tgtEl>
                                          <p:spTgt spid="9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6"/>
                                        </p:tgtEl>
                                        <p:attrNameLst>
                                          <p:attrName>style.visibility</p:attrName>
                                        </p:attrNameLst>
                                      </p:cBhvr>
                                      <p:to>
                                        <p:strVal val="visible"/>
                                      </p:to>
                                    </p:set>
                                    <p:animEffect filter="fade" transition="in">
                                      <p:cBhvr>
                                        <p:cTn dur="500"/>
                                        <p:tgtEl>
                                          <p:spTgt spid="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0"/>
                                        </p:tgtEl>
                                        <p:attrNameLst>
                                          <p:attrName>style.visibility</p:attrName>
                                        </p:attrNameLst>
                                      </p:cBhvr>
                                      <p:to>
                                        <p:strVal val="visible"/>
                                      </p:to>
                                    </p:set>
                                    <p:animEffect filter="fade" transition="in">
                                      <p:cBhvr>
                                        <p:cTn dur="500"/>
                                        <p:tgtEl>
                                          <p:spTgt spid="9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1"/>
                                        </p:tgtEl>
                                        <p:attrNameLst>
                                          <p:attrName>style.visibility</p:attrName>
                                        </p:attrNameLst>
                                      </p:cBhvr>
                                      <p:to>
                                        <p:strVal val="visible"/>
                                      </p:to>
                                    </p:set>
                                    <p:animEffect filter="fade" transition="in">
                                      <p:cBhvr>
                                        <p:cTn dur="500"/>
                                        <p:tgtEl>
                                          <p:spTgt spid="9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5"/>
                                        </p:tgtEl>
                                        <p:attrNameLst>
                                          <p:attrName>style.visibility</p:attrName>
                                        </p:attrNameLst>
                                      </p:cBhvr>
                                      <p:to>
                                        <p:strVal val="visible"/>
                                      </p:to>
                                    </p:set>
                                    <p:animEffect filter="fade" transition="in">
                                      <p:cBhvr>
                                        <p:cTn dur="500"/>
                                        <p:tgtEl>
                                          <p:spTgt spid="9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9"/>
                                        </p:tgtEl>
                                        <p:attrNameLst>
                                          <p:attrName>style.visibility</p:attrName>
                                        </p:attrNameLst>
                                      </p:cBhvr>
                                      <p:to>
                                        <p:strVal val="visible"/>
                                      </p:to>
                                    </p:set>
                                    <p:animEffect filter="fade" transition="in">
                                      <p:cBhvr>
                                        <p:cTn dur="500"/>
                                        <p:tgtEl>
                                          <p:spTgt spid="9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sp>
        <p:nvSpPr>
          <p:cNvPr id="999" name="Google Shape;999;p43"/>
          <p:cNvSpPr/>
          <p:nvPr/>
        </p:nvSpPr>
        <p:spPr>
          <a:xfrm>
            <a:off x="342896" y="3425031"/>
            <a:ext cx="11414078"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chemeClr val="dk1"/>
                </a:solidFill>
                <a:latin typeface="Times New Roman"/>
                <a:ea typeface="Times New Roman"/>
                <a:cs typeface="Times New Roman"/>
                <a:sym typeface="Times New Roman"/>
              </a:rPr>
              <a:t>Q3. Define a class called Command Line, develop a program in Java that accepts </a:t>
            </a:r>
            <a:r>
              <a:rPr lang="en-US" sz="2000">
                <a:solidFill>
                  <a:srgbClr val="FF0000"/>
                </a:solidFill>
                <a:latin typeface="Times New Roman"/>
                <a:ea typeface="Times New Roman"/>
                <a:cs typeface="Times New Roman"/>
                <a:sym typeface="Times New Roman"/>
              </a:rPr>
              <a:t>two floats and integers </a:t>
            </a:r>
            <a:r>
              <a:rPr lang="en-US" sz="2000">
                <a:solidFill>
                  <a:schemeClr val="dk1"/>
                </a:solidFill>
                <a:latin typeface="Times New Roman"/>
                <a:ea typeface="Times New Roman"/>
                <a:cs typeface="Times New Roman"/>
                <a:sym typeface="Times New Roman"/>
              </a:rPr>
              <a:t>as its command line arguments and perform addition and multiplication on integer inputs, subtraction and division on float inputs and display the result using function/method. </a:t>
            </a:r>
            <a:endParaRPr sz="2000">
              <a:solidFill>
                <a:schemeClr val="dk1"/>
              </a:solidFill>
              <a:latin typeface="Times New Roman"/>
              <a:ea typeface="Times New Roman"/>
              <a:cs typeface="Times New Roman"/>
              <a:sym typeface="Times New Roman"/>
            </a:endParaRPr>
          </a:p>
        </p:txBody>
      </p:sp>
      <p:sp>
        <p:nvSpPr>
          <p:cNvPr id="1000" name="Google Shape;1000;p43"/>
          <p:cNvSpPr txBox="1"/>
          <p:nvPr/>
        </p:nvSpPr>
        <p:spPr>
          <a:xfrm>
            <a:off x="304799" y="228600"/>
            <a:ext cx="1600201"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l">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Activity</a:t>
            </a:r>
            <a:endParaRPr b="1" sz="3000">
              <a:solidFill>
                <a:srgbClr val="002060"/>
              </a:solidFill>
              <a:latin typeface="Times New Roman"/>
              <a:ea typeface="Times New Roman"/>
              <a:cs typeface="Times New Roman"/>
              <a:sym typeface="Times New Roman"/>
            </a:endParaRPr>
          </a:p>
        </p:txBody>
      </p:sp>
      <p:sp>
        <p:nvSpPr>
          <p:cNvPr id="1001" name="Google Shape;1001;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02" name="Google Shape;1002;p43"/>
          <p:cNvSpPr/>
          <p:nvPr/>
        </p:nvSpPr>
        <p:spPr>
          <a:xfrm>
            <a:off x="380998" y="974473"/>
            <a:ext cx="11337877" cy="96032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rgbClr val="3C3C3C"/>
                </a:solidFill>
                <a:latin typeface="Times New Roman"/>
                <a:ea typeface="Times New Roman"/>
                <a:cs typeface="Times New Roman"/>
                <a:sym typeface="Times New Roman"/>
              </a:rPr>
              <a:t>Q1. Accept the length of two different line segments and check whether </a:t>
            </a:r>
            <a:r>
              <a:rPr lang="en-US" sz="2000">
                <a:solidFill>
                  <a:srgbClr val="FF0000"/>
                </a:solidFill>
                <a:latin typeface="Times New Roman"/>
                <a:ea typeface="Times New Roman"/>
                <a:cs typeface="Times New Roman"/>
                <a:sym typeface="Times New Roman"/>
              </a:rPr>
              <a:t>they are equal or unequal</a:t>
            </a:r>
            <a:r>
              <a:rPr lang="en-US" sz="2000">
                <a:solidFill>
                  <a:srgbClr val="3C3C3C"/>
                </a:solidFill>
                <a:latin typeface="Times New Roman"/>
                <a:ea typeface="Times New Roman"/>
                <a:cs typeface="Times New Roman"/>
                <a:sym typeface="Times New Roman"/>
              </a:rPr>
              <a:t>. Display the message accordingly. (</a:t>
            </a:r>
            <a:r>
              <a:rPr b="1" lang="en-US" sz="2000">
                <a:solidFill>
                  <a:srgbClr val="3C3C3C"/>
                </a:solidFill>
                <a:latin typeface="Times New Roman"/>
                <a:ea typeface="Times New Roman"/>
                <a:cs typeface="Times New Roman"/>
                <a:sym typeface="Times New Roman"/>
              </a:rPr>
              <a:t>Hint</a:t>
            </a:r>
            <a:r>
              <a:rPr lang="en-US" sz="2000">
                <a:solidFill>
                  <a:srgbClr val="3C3C3C"/>
                </a:solidFill>
                <a:latin typeface="Times New Roman"/>
                <a:ea typeface="Times New Roman"/>
                <a:cs typeface="Times New Roman"/>
                <a:sym typeface="Times New Roman"/>
              </a:rPr>
              <a:t>: Use scanner class to take the input)</a:t>
            </a:r>
            <a:endParaRPr sz="2000">
              <a:solidFill>
                <a:schemeClr val="dk1"/>
              </a:solidFill>
              <a:latin typeface="Times New Roman"/>
              <a:ea typeface="Times New Roman"/>
              <a:cs typeface="Times New Roman"/>
              <a:sym typeface="Times New Roman"/>
            </a:endParaRPr>
          </a:p>
        </p:txBody>
      </p:sp>
      <p:sp>
        <p:nvSpPr>
          <p:cNvPr id="1003" name="Google Shape;1003;p43"/>
          <p:cNvSpPr/>
          <p:nvPr/>
        </p:nvSpPr>
        <p:spPr>
          <a:xfrm>
            <a:off x="380997" y="1968920"/>
            <a:ext cx="11337877" cy="1477328"/>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lang="en-US" sz="2000">
                <a:solidFill>
                  <a:srgbClr val="3C3C3C"/>
                </a:solidFill>
                <a:latin typeface="Times New Roman"/>
                <a:ea typeface="Times New Roman"/>
                <a:cs typeface="Times New Roman"/>
                <a:sym typeface="Times New Roman"/>
              </a:rPr>
              <a:t>Q2. Accept three numbers and check whether they are </a:t>
            </a:r>
            <a:r>
              <a:rPr lang="en-US" sz="2000">
                <a:solidFill>
                  <a:srgbClr val="FF0000"/>
                </a:solidFill>
                <a:latin typeface="Times New Roman"/>
                <a:ea typeface="Times New Roman"/>
                <a:cs typeface="Times New Roman"/>
                <a:sym typeface="Times New Roman"/>
              </a:rPr>
              <a:t>'Pythagorean Triplets</a:t>
            </a:r>
            <a:r>
              <a:rPr lang="en-US" sz="2000">
                <a:solidFill>
                  <a:srgbClr val="3C3C3C"/>
                </a:solidFill>
                <a:latin typeface="Times New Roman"/>
                <a:ea typeface="Times New Roman"/>
                <a:cs typeface="Times New Roman"/>
                <a:sym typeface="Times New Roman"/>
              </a:rPr>
              <a:t>' or not. Display the message accordingly. (</a:t>
            </a:r>
            <a:r>
              <a:rPr b="1" lang="en-US" sz="2000">
                <a:solidFill>
                  <a:srgbClr val="3C3C3C"/>
                </a:solidFill>
                <a:latin typeface="Times New Roman"/>
                <a:ea typeface="Times New Roman"/>
                <a:cs typeface="Times New Roman"/>
                <a:sym typeface="Times New Roman"/>
              </a:rPr>
              <a:t>Hint</a:t>
            </a:r>
            <a:r>
              <a:rPr lang="en-US" sz="2000">
                <a:solidFill>
                  <a:srgbClr val="3C3C3C"/>
                </a:solidFill>
                <a:latin typeface="Times New Roman"/>
                <a:ea typeface="Times New Roman"/>
                <a:cs typeface="Times New Roman"/>
                <a:sym typeface="Times New Roman"/>
              </a:rPr>
              <a:t>: Use command line arguments and Pythagoras Formula for a Right-angled Triangle: h2 = p2+b2)</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09" name="Google Shape;1009;p44"/>
          <p:cNvSpPr txBox="1"/>
          <p:nvPr/>
        </p:nvSpPr>
        <p:spPr>
          <a:xfrm>
            <a:off x="4133849" y="2590800"/>
            <a:ext cx="3924301" cy="457200"/>
          </a:xfrm>
          <a:prstGeom prst="rect">
            <a:avLst/>
          </a:prstGeom>
          <a:solidFill>
            <a:schemeClr val="lt1"/>
          </a:solidFill>
          <a:ln cap="flat" cmpd="sng" w="9525">
            <a:solidFill>
              <a:schemeClr val="accent1"/>
            </a:solidFill>
            <a:prstDash val="solid"/>
            <a:round/>
            <a:headEnd len="sm" w="sm" type="none"/>
            <a:tailEnd len="sm" w="sm" type="none"/>
          </a:ln>
          <a:effectLst>
            <a:outerShdw blurRad="50800" rotWithShape="0" algn="tl" dir="2700000" dist="38100">
              <a:srgbClr val="000000">
                <a:alpha val="40000"/>
              </a:srgbClr>
            </a:outerShdw>
          </a:effectLst>
        </p:spPr>
        <p:txBody>
          <a:bodyPr anchorCtr="0" anchor="ctr" bIns="46800" lIns="90000" spcFirstLastPara="1" rIns="90000" wrap="square" tIns="46800">
            <a:noAutofit/>
          </a:bodyPr>
          <a:lstStyle/>
          <a:p>
            <a:pPr indent="0" lvl="0" marL="0" marR="0" rtl="0" algn="ctr">
              <a:lnSpc>
                <a:spcPct val="90000"/>
              </a:lnSpc>
              <a:spcBef>
                <a:spcPts val="0"/>
              </a:spcBef>
              <a:spcAft>
                <a:spcPts val="0"/>
              </a:spcAft>
              <a:buNone/>
            </a:pPr>
            <a:r>
              <a:rPr b="1" lang="en-US" sz="3000">
                <a:solidFill>
                  <a:srgbClr val="002060"/>
                </a:solidFill>
                <a:latin typeface="Times New Roman"/>
                <a:ea typeface="Times New Roman"/>
                <a:cs typeface="Times New Roman"/>
                <a:sym typeface="Times New Roman"/>
              </a:rPr>
              <a:t>Module – 1 Portion 1 Completed</a:t>
            </a:r>
            <a:endParaRPr b="1" sz="3000">
              <a:solidFill>
                <a:srgbClr val="00206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2007-08-28T09:12:38Z</dcterms:created>
  <dc:creator>admin</dc:creator>
</cp:coreProperties>
</file>