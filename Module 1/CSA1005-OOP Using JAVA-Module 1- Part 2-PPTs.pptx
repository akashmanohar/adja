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 id="2147483817" r:id="rId2"/>
  </p:sldMasterIdLst>
  <p:notesMasterIdLst>
    <p:notesMasterId r:id="rId45"/>
  </p:notesMasterIdLst>
  <p:handoutMasterIdLst>
    <p:handoutMasterId r:id="rId46"/>
  </p:handoutMasterIdLst>
  <p:sldIdLst>
    <p:sldId id="520" r:id="rId3"/>
    <p:sldId id="509" r:id="rId4"/>
    <p:sldId id="556" r:id="rId5"/>
    <p:sldId id="557" r:id="rId6"/>
    <p:sldId id="558" r:id="rId7"/>
    <p:sldId id="537" r:id="rId8"/>
    <p:sldId id="538" r:id="rId9"/>
    <p:sldId id="575" r:id="rId10"/>
    <p:sldId id="539" r:id="rId11"/>
    <p:sldId id="540" r:id="rId12"/>
    <p:sldId id="564" r:id="rId13"/>
    <p:sldId id="560" r:id="rId14"/>
    <p:sldId id="566" r:id="rId15"/>
    <p:sldId id="552" r:id="rId16"/>
    <p:sldId id="562" r:id="rId17"/>
    <p:sldId id="567" r:id="rId18"/>
    <p:sldId id="541" r:id="rId19"/>
    <p:sldId id="551" r:id="rId20"/>
    <p:sldId id="561" r:id="rId21"/>
    <p:sldId id="568" r:id="rId22"/>
    <p:sldId id="553" r:id="rId23"/>
    <p:sldId id="563" r:id="rId24"/>
    <p:sldId id="542" r:id="rId25"/>
    <p:sldId id="543" r:id="rId26"/>
    <p:sldId id="576" r:id="rId27"/>
    <p:sldId id="544" r:id="rId28"/>
    <p:sldId id="570" r:id="rId29"/>
    <p:sldId id="545" r:id="rId30"/>
    <p:sldId id="577" r:id="rId31"/>
    <p:sldId id="572" r:id="rId32"/>
    <p:sldId id="554" r:id="rId33"/>
    <p:sldId id="573" r:id="rId34"/>
    <p:sldId id="571" r:id="rId35"/>
    <p:sldId id="555" r:id="rId36"/>
    <p:sldId id="533" r:id="rId37"/>
    <p:sldId id="578" r:id="rId38"/>
    <p:sldId id="579" r:id="rId39"/>
    <p:sldId id="580" r:id="rId40"/>
    <p:sldId id="582" r:id="rId41"/>
    <p:sldId id="584" r:id="rId42"/>
    <p:sldId id="583" r:id="rId43"/>
    <p:sldId id="559" r:id="rId4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94C"/>
    <a:srgbClr val="FFFFFF"/>
    <a:srgbClr val="FBFBFB"/>
    <a:srgbClr val="000F2E"/>
    <a:srgbClr val="FEB2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12" autoAdjust="0"/>
    <p:restoredTop sz="94728" autoAdjust="0"/>
  </p:normalViewPr>
  <p:slideViewPr>
    <p:cSldViewPr>
      <p:cViewPr>
        <p:scale>
          <a:sx n="77" d="100"/>
          <a:sy n="77" d="100"/>
        </p:scale>
        <p:origin x="-384" y="-4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t>10/13/2022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smtClean="0"/>
              <a:t>Mr. R C Ravindranath, Asst. Prof., SOE-CSE</a:t>
            </a:r>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t>‹#›</a:t>
            </a:fld>
            <a:endParaRPr lang="en-US" dirty="0"/>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pPr>
                <a:defRPr/>
              </a:pPr>
              <a:t>10/13/2022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r>
              <a:rPr lang="en-US" dirty="0" smtClean="0"/>
              <a:t>Mr. R C Ravindranath, Asst. Prof., SOE-CSE</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D763F7-5C11-4DBC-83B1-39D83E1FBE10}" type="slidenum">
              <a:rPr lang="en-US" altLang="en-US"/>
              <a:pPr>
                <a:defRPr/>
              </a:pPr>
              <a:t>‹#›</a:t>
            </a:fld>
            <a:endParaRPr lang="en-US" altLang="en-US" dirty="0"/>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DD763F7-5C11-4DBC-83B1-39D83E1FBE10}" type="slidenum">
              <a:rPr lang="en-US" altLang="en-US" smtClean="0"/>
              <a:pPr>
                <a:defRPr/>
              </a:pPr>
              <a:t>1</a:t>
            </a:fld>
            <a:endParaRPr lang="en-US" altLang="en-US" dirty="0"/>
          </a:p>
        </p:txBody>
      </p:sp>
      <p:sp>
        <p:nvSpPr>
          <p:cNvPr id="5" name="Footer Placeholder 4"/>
          <p:cNvSpPr>
            <a:spLocks noGrp="1"/>
          </p:cNvSpPr>
          <p:nvPr>
            <p:ph type="ftr" sz="quarter" idx="11"/>
          </p:nvPr>
        </p:nvSpPr>
        <p:spPr/>
        <p:txBody>
          <a:bodyPr/>
          <a:lstStyle/>
          <a:p>
            <a:pPr>
              <a:defRPr/>
            </a:pPr>
            <a:r>
              <a:rPr lang="en-US" dirty="0" smtClean="0"/>
              <a:t>Mr. R C Ravindranath, Asst. Prof., SOE-CSE</a:t>
            </a:r>
            <a:endParaRPr lang="en-US" dirty="0"/>
          </a:p>
        </p:txBody>
      </p:sp>
    </p:spTree>
    <p:extLst>
      <p:ext uri="{BB962C8B-B14F-4D97-AF65-F5344CB8AC3E}">
        <p14:creationId xmlns:p14="http://schemas.microsoft.com/office/powerpoint/2010/main" val="418003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a:defRPr/>
            </a:pPr>
            <a:r>
              <a:rPr lang="en-US" smtClean="0"/>
              <a:t>Mr. R C Ravindranath, Asst. Prof., SOE-CSE</a:t>
            </a:r>
            <a:endParaRPr lang="en-US" dirty="0"/>
          </a:p>
        </p:txBody>
      </p:sp>
      <p:sp>
        <p:nvSpPr>
          <p:cNvPr id="5" name="Slide Number Placeholder 4"/>
          <p:cNvSpPr>
            <a:spLocks noGrp="1"/>
          </p:cNvSpPr>
          <p:nvPr>
            <p:ph type="sldNum" sz="quarter" idx="11"/>
          </p:nvPr>
        </p:nvSpPr>
        <p:spPr/>
        <p:txBody>
          <a:bodyPr/>
          <a:lstStyle/>
          <a:p>
            <a:pPr>
              <a:defRPr/>
            </a:pPr>
            <a:fld id="{CDD763F7-5C11-4DBC-83B1-39D83E1FBE10}" type="slidenum">
              <a:rPr lang="en-US" altLang="en-US" smtClean="0"/>
              <a:pPr>
                <a:defRPr/>
              </a:pPr>
              <a:t>5</a:t>
            </a:fld>
            <a:endParaRPr lang="en-US" altLang="en-US" dirty="0"/>
          </a:p>
        </p:txBody>
      </p:sp>
    </p:spTree>
    <p:extLst>
      <p:ext uri="{BB962C8B-B14F-4D97-AF65-F5344CB8AC3E}">
        <p14:creationId xmlns:p14="http://schemas.microsoft.com/office/powerpoint/2010/main" val="563304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C0546-DB0D-4ED7-95B8-684F7DFC0E68}" type="slidenum">
              <a:rPr lang="en-US" smtClean="0"/>
              <a:t>6</a:t>
            </a:fld>
            <a:endParaRPr lang="en-US"/>
          </a:p>
        </p:txBody>
      </p:sp>
    </p:spTree>
    <p:extLst>
      <p:ext uri="{BB962C8B-B14F-4D97-AF65-F5344CB8AC3E}">
        <p14:creationId xmlns:p14="http://schemas.microsoft.com/office/powerpoint/2010/main" val="1336921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8</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807765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a:defRPr/>
            </a:pPr>
            <a:r>
              <a:rPr lang="en-US" smtClean="0"/>
              <a:t>Mr. R C Ravindranath, Asst. Prof., SOE-CSE</a:t>
            </a:r>
            <a:endParaRPr lang="en-US"/>
          </a:p>
        </p:txBody>
      </p:sp>
      <p:sp>
        <p:nvSpPr>
          <p:cNvPr id="5" name="Slide Number Placeholder 4"/>
          <p:cNvSpPr>
            <a:spLocks noGrp="1"/>
          </p:cNvSpPr>
          <p:nvPr>
            <p:ph type="sldNum" sz="quarter" idx="11"/>
          </p:nvPr>
        </p:nvSpPr>
        <p:spPr/>
        <p:txBody>
          <a:bodyPr/>
          <a:lstStyle/>
          <a:p>
            <a:pPr>
              <a:defRPr/>
            </a:pPr>
            <a:fld id="{CDD763F7-5C11-4DBC-83B1-39D83E1FBE10}" type="slidenum">
              <a:rPr lang="en-US" altLang="en-US" smtClean="0"/>
              <a:pPr>
                <a:defRPr/>
              </a:pPr>
              <a:t>11</a:t>
            </a:fld>
            <a:endParaRPr lang="en-US" altLang="en-US"/>
          </a:p>
        </p:txBody>
      </p:sp>
    </p:spTree>
    <p:extLst>
      <p:ext uri="{BB962C8B-B14F-4D97-AF65-F5344CB8AC3E}">
        <p14:creationId xmlns:p14="http://schemas.microsoft.com/office/powerpoint/2010/main" val="4275479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12</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318012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15</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919321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19</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2828843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22</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685244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32</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2480610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30250" indent="-280988" eaLnBrk="0" hangingPunct="0">
              <a:defRPr>
                <a:solidFill>
                  <a:schemeClr val="tx1"/>
                </a:solidFill>
                <a:latin typeface="Arial" pitchFamily="34" charset="0"/>
              </a:defRPr>
            </a:lvl2pPr>
            <a:lvl3pPr marL="1123950" indent="-223838" eaLnBrk="0" hangingPunct="0">
              <a:defRPr>
                <a:solidFill>
                  <a:schemeClr val="tx1"/>
                </a:solidFill>
                <a:latin typeface="Arial" pitchFamily="34" charset="0"/>
              </a:defRPr>
            </a:lvl3pPr>
            <a:lvl4pPr marL="1573213" indent="-223838" eaLnBrk="0" hangingPunct="0">
              <a:defRPr>
                <a:solidFill>
                  <a:schemeClr val="tx1"/>
                </a:solidFill>
                <a:latin typeface="Arial" pitchFamily="34" charset="0"/>
              </a:defRPr>
            </a:lvl4pPr>
            <a:lvl5pPr marL="2024063" indent="-223838" eaLnBrk="0" hangingPunct="0">
              <a:defRPr>
                <a:solidFill>
                  <a:schemeClr val="tx1"/>
                </a:solidFill>
                <a:latin typeface="Arial" pitchFamily="34" charset="0"/>
              </a:defRPr>
            </a:lvl5pPr>
            <a:lvl6pPr marL="2481263" indent="-223838" eaLnBrk="0" fontAlgn="base" hangingPunct="0">
              <a:spcBef>
                <a:spcPct val="0"/>
              </a:spcBef>
              <a:spcAft>
                <a:spcPct val="0"/>
              </a:spcAft>
              <a:defRPr>
                <a:solidFill>
                  <a:schemeClr val="tx1"/>
                </a:solidFill>
                <a:latin typeface="Arial" pitchFamily="34" charset="0"/>
              </a:defRPr>
            </a:lvl6pPr>
            <a:lvl7pPr marL="2938463" indent="-223838" eaLnBrk="0" fontAlgn="base" hangingPunct="0">
              <a:spcBef>
                <a:spcPct val="0"/>
              </a:spcBef>
              <a:spcAft>
                <a:spcPct val="0"/>
              </a:spcAft>
              <a:defRPr>
                <a:solidFill>
                  <a:schemeClr val="tx1"/>
                </a:solidFill>
                <a:latin typeface="Arial" pitchFamily="34" charset="0"/>
              </a:defRPr>
            </a:lvl7pPr>
            <a:lvl8pPr marL="3395663" indent="-223838" eaLnBrk="0" fontAlgn="base" hangingPunct="0">
              <a:spcBef>
                <a:spcPct val="0"/>
              </a:spcBef>
              <a:spcAft>
                <a:spcPct val="0"/>
              </a:spcAft>
              <a:defRPr>
                <a:solidFill>
                  <a:schemeClr val="tx1"/>
                </a:solidFill>
                <a:latin typeface="Arial" pitchFamily="34" charset="0"/>
              </a:defRPr>
            </a:lvl8pPr>
            <a:lvl9pPr marL="3852863" indent="-223838" eaLnBrk="0" fontAlgn="base" hangingPunct="0">
              <a:spcBef>
                <a:spcPct val="0"/>
              </a:spcBef>
              <a:spcAft>
                <a:spcPct val="0"/>
              </a:spcAft>
              <a:defRPr>
                <a:solidFill>
                  <a:schemeClr val="tx1"/>
                </a:solidFill>
                <a:latin typeface="Arial" pitchFamily="34" charset="0"/>
              </a:defRPr>
            </a:lvl9pPr>
          </a:lstStyle>
          <a:p>
            <a:pPr eaLnBrk="1" hangingPunct="1"/>
            <a:fld id="{3C147B60-F066-4268-BD42-6FF5F6B05759}" type="slidenum">
              <a:rPr lang="en-US" altLang="en-US">
                <a:solidFill>
                  <a:srgbClr val="000000"/>
                </a:solidFill>
              </a:rPr>
              <a:pPr eaLnBrk="1" hangingPunct="1"/>
              <a:t>35</a:t>
            </a:fld>
            <a:endParaRPr lang="en-US" altLang="en-US">
              <a:solidFill>
                <a:srgbClr val="000000"/>
              </a:solidFill>
            </a:endParaRPr>
          </a:p>
        </p:txBody>
      </p:sp>
      <p:sp>
        <p:nvSpPr>
          <p:cNvPr id="285699" name="Rectangle 1026"/>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latin typeface="Arial" pitchFamily="34" charset="0"/>
            </a:endParaRPr>
          </a:p>
        </p:txBody>
      </p:sp>
      <p:sp>
        <p:nvSpPr>
          <p:cNvPr id="2" name="Footer Placeholder 1"/>
          <p:cNvSpPr>
            <a:spLocks noGrp="1"/>
          </p:cNvSpPr>
          <p:nvPr>
            <p:ph type="ftr" sz="quarter" idx="10"/>
          </p:nvPr>
        </p:nvSpPr>
        <p:spPr/>
        <p:txBody>
          <a:bodyPr/>
          <a:lstStyle/>
          <a:p>
            <a:pPr>
              <a:defRPr/>
            </a:pPr>
            <a:r>
              <a:rPr lang="en-US" smtClean="0"/>
              <a:t>Mr. R C Ravindranath, Asst. Prof., SOE-CSE</a:t>
            </a:r>
            <a:endParaRPr lang="en-US"/>
          </a:p>
        </p:txBody>
      </p:sp>
    </p:spTree>
    <p:extLst>
      <p:ext uri="{BB962C8B-B14F-4D97-AF65-F5344CB8AC3E}">
        <p14:creationId xmlns:p14="http://schemas.microsoft.com/office/powerpoint/2010/main" val="2965329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Source: 1. Anonymous:</a:t>
            </a:r>
            <a:r>
              <a:rPr lang="en-US" baseline="0" dirty="0" smtClean="0"/>
              <a:t> https://www.geeksforgeeks.org/anonymous-inner-class-java/</a:t>
            </a:r>
          </a:p>
          <a:p>
            <a:r>
              <a:rPr lang="en-US" baseline="0" dirty="0" smtClean="0"/>
              <a:t>             2. </a:t>
            </a:r>
            <a:r>
              <a:rPr lang="en-US" baseline="0" smtClean="0"/>
              <a:t>Local: https://www.geeksforgeeks.org/local-inner-class-java/</a:t>
            </a:r>
            <a:endParaRPr lang="en-US" dirty="0"/>
          </a:p>
        </p:txBody>
      </p:sp>
      <p:sp>
        <p:nvSpPr>
          <p:cNvPr id="4" name="Footer Placeholder 3"/>
          <p:cNvSpPr>
            <a:spLocks noGrp="1"/>
          </p:cNvSpPr>
          <p:nvPr>
            <p:ph type="ftr" sz="quarter" idx="10"/>
          </p:nvPr>
        </p:nvSpPr>
        <p:spPr/>
        <p:txBody>
          <a:bodyPr/>
          <a:lstStyle/>
          <a:p>
            <a:pPr>
              <a:defRPr/>
            </a:pPr>
            <a:r>
              <a:rPr lang="en-US" smtClean="0"/>
              <a:t>Mr. R C Ravindranath, Asst. Prof., SOE-CSE</a:t>
            </a:r>
            <a:endParaRPr lang="en-US"/>
          </a:p>
        </p:txBody>
      </p:sp>
      <p:sp>
        <p:nvSpPr>
          <p:cNvPr id="5" name="Slide Number Placeholder 4"/>
          <p:cNvSpPr>
            <a:spLocks noGrp="1"/>
          </p:cNvSpPr>
          <p:nvPr>
            <p:ph type="sldNum" sz="quarter" idx="11"/>
          </p:nvPr>
        </p:nvSpPr>
        <p:spPr/>
        <p:txBody>
          <a:bodyPr/>
          <a:lstStyle/>
          <a:p>
            <a:pPr>
              <a:defRPr/>
            </a:pPr>
            <a:fld id="{CDD763F7-5C11-4DBC-83B1-39D83E1FBE10}" type="slidenum">
              <a:rPr lang="en-US" altLang="en-US" smtClean="0"/>
              <a:pPr>
                <a:defRPr/>
              </a:pPr>
              <a:t>37</a:t>
            </a:fld>
            <a:endParaRPr lang="en-US" altLang="en-US"/>
          </a:p>
        </p:txBody>
      </p:sp>
    </p:spTree>
    <p:extLst>
      <p:ext uri="{BB962C8B-B14F-4D97-AF65-F5344CB8AC3E}">
        <p14:creationId xmlns:p14="http://schemas.microsoft.com/office/powerpoint/2010/main" val="2839775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Source: 1. https://scientecheasy.medium.com/static-nested-class-in-java-15e60401db71</a:t>
            </a:r>
          </a:p>
          <a:p>
            <a:r>
              <a:rPr lang="en-US" baseline="0" dirty="0" smtClean="0"/>
              <a:t>              2. https://www.javaskool.com/java-inner-class/</a:t>
            </a:r>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en-US" dirty="0" smtClean="0"/>
              <a:t>Mr. R C Ravindranath, Asst. Prof., SOE-CSE</a:t>
            </a:r>
            <a:endParaRPr lang="en-US" dirty="0"/>
          </a:p>
        </p:txBody>
      </p:sp>
      <p:sp>
        <p:nvSpPr>
          <p:cNvPr id="5" name="Slide Number Placeholder 4"/>
          <p:cNvSpPr>
            <a:spLocks noGrp="1"/>
          </p:cNvSpPr>
          <p:nvPr>
            <p:ph type="sldNum" sz="quarter" idx="11"/>
          </p:nvPr>
        </p:nvSpPr>
        <p:spPr/>
        <p:txBody>
          <a:bodyPr/>
          <a:lstStyle/>
          <a:p>
            <a:pPr>
              <a:defRPr/>
            </a:pPr>
            <a:fld id="{CDD763F7-5C11-4DBC-83B1-39D83E1FBE10}" type="slidenum">
              <a:rPr lang="en-US" altLang="en-US" smtClean="0"/>
              <a:pPr>
                <a:defRPr/>
              </a:pPr>
              <a:t>38</a:t>
            </a:fld>
            <a:endParaRPr lang="en-US" altLang="en-US" dirty="0"/>
          </a:p>
        </p:txBody>
      </p:sp>
    </p:spTree>
    <p:extLst>
      <p:ext uri="{BB962C8B-B14F-4D97-AF65-F5344CB8AC3E}">
        <p14:creationId xmlns:p14="http://schemas.microsoft.com/office/powerpoint/2010/main" val="914573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B480D83-1756-462A-AEFE-42FDD17589A8}" type="datetime1">
              <a:rPr lang="en-US" smtClean="0"/>
              <a:t>10/13/2022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dirty="0"/>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A907541-999D-42EE-81FB-C0A8F0F1967B}" type="datetime1">
              <a:rPr lang="en-US" smtClean="0"/>
              <a:t>10/13/2022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dirty="0"/>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9E49298-C404-472B-83C8-FC88D1BADC65}" type="datetime1">
              <a:rPr lang="en-US" smtClean="0"/>
              <a:t>10/13/2022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dirty="0"/>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08A0159A-FB48-4A6B-8B49-92A05B519284}" type="datetime1">
              <a:rPr lang="en-US" smtClean="0"/>
              <a:t>10/13/2022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dirty="0"/>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8B2BB1E6-C29B-43BE-A9BF-4B16FAF5A8E1}" type="datetime1">
              <a:rPr lang="en-US" smtClean="0"/>
              <a:t>10/13/2022</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dirty="0"/>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876E89E0-CD9E-4D18-8C03-90EA0FA7D248}" type="datetime1">
              <a:rPr lang="en-US" smtClean="0"/>
              <a:t>10/13/2022</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dirty="0"/>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C35C4AA-947F-4982-9650-8995B182C35C}" type="datetime1">
              <a:rPr lang="en-US" smtClean="0"/>
              <a:t>10/13/2022</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dirty="0"/>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A71AD68-BA1D-434F-B558-1D3370E9D615}" type="datetime1">
              <a:rPr lang="en-US" smtClean="0"/>
              <a:t>10/13/2022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dirty="0"/>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5039CC5-F2CE-4432-9349-4204C353D6B6}" type="datetime1">
              <a:rPr lang="en-US" smtClean="0"/>
              <a:t>10/13/2022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dirty="0"/>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9B40EC70-BDB0-4207-87C2-751E0586E956}" type="datetime1">
              <a:rPr lang="en-US" smtClean="0"/>
              <a:t>10/13/2022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dirty="0"/>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75A49DB-8D8A-4BEB-99F0-8BD76667878D}" type="datetime1">
              <a:rPr lang="en-US" smtClean="0"/>
              <a:t>10/13/2022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Mr. R C Ravindranath, Asst. Prof, SOE-CSE</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dirty="0"/>
          </a:p>
        </p:txBody>
      </p:sp>
    </p:spTree>
    <p:extLst>
      <p:ext uri="{BB962C8B-B14F-4D97-AF65-F5344CB8AC3E}">
        <p14:creationId xmlns:p14="http://schemas.microsoft.com/office/powerpoint/2010/main" val="2144011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fld id="{8BCD278B-36B7-4644-A555-A78A51776EDA}" type="datetime1">
              <a:rPr lang="en-US" smtClean="0">
                <a:solidFill>
                  <a:prstClr val="black">
                    <a:tint val="75000"/>
                  </a:prstClr>
                </a:solidFill>
              </a:rPr>
              <a:t>10/13/2022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199BB65C-8284-4770-9F0E-1C6462B1CF2A}"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2452625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0849C4B5-6EAB-480D-AC37-11CA3010C70B}" type="datetime1">
              <a:rPr lang="en-US" smtClean="0">
                <a:solidFill>
                  <a:prstClr val="black">
                    <a:tint val="75000"/>
                  </a:prstClr>
                </a:solidFill>
              </a:rPr>
              <a:t>10/13/2022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C70573A-83D9-4231-B1AE-60FA5B40A08E}"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1195846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C3DFF4A3-B3AD-46D0-9D69-F57C8D4DCDF7}" type="datetime1">
              <a:rPr lang="en-US" smtClean="0">
                <a:solidFill>
                  <a:prstClr val="black">
                    <a:tint val="75000"/>
                  </a:prstClr>
                </a:solidFill>
              </a:rPr>
              <a:t>10/13/2022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8C2F5FC-34A9-4198-9D83-F38D1D10CF5C}"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2884586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33E7540A-FC45-459E-A54C-8EC1D17EAB55}" type="datetime1">
              <a:rPr lang="en-US" smtClean="0">
                <a:solidFill>
                  <a:prstClr val="black">
                    <a:tint val="75000"/>
                  </a:prstClr>
                </a:solidFill>
              </a:rPr>
              <a:t>10/13/2022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D432AB31-4367-4709-954F-9FF5F9798F7B}"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2020825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BFE28AFD-04A8-4742-93C2-C8A2F004ACFA}" type="datetime1">
              <a:rPr lang="en-US" smtClean="0">
                <a:solidFill>
                  <a:prstClr val="black">
                    <a:tint val="75000"/>
                  </a:prstClr>
                </a:solidFill>
              </a:rPr>
              <a:t>10/13/2022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7ADF1999-CB4F-4285-84AB-2C94CF00C346}"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2045138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183CBC24-7AD4-4F12-AA61-442BA13B0E6C}" type="datetime1">
              <a:rPr lang="en-US" smtClean="0">
                <a:solidFill>
                  <a:prstClr val="black">
                    <a:tint val="75000"/>
                  </a:prstClr>
                </a:solidFill>
              </a:rPr>
              <a:t>10/13/2022</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75E0749B-78A0-488A-9531-2154759EC21D}"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1819597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532D98D7-7009-44F1-B042-F8999AC79230}" type="datetime1">
              <a:rPr lang="en-US" smtClean="0">
                <a:solidFill>
                  <a:prstClr val="black">
                    <a:tint val="75000"/>
                  </a:prstClr>
                </a:solidFill>
              </a:rPr>
              <a:t>10/13/2022</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1EEDD370-FF4A-4435-BB6C-D23A388DB3C7}"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978820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8DB1126A-6B12-4EDA-8292-8D6C08201EAE}" type="datetime1">
              <a:rPr lang="en-US" smtClean="0">
                <a:solidFill>
                  <a:prstClr val="black">
                    <a:tint val="75000"/>
                  </a:prstClr>
                </a:solidFill>
              </a:rPr>
              <a:t>10/13/2022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E7BE26FA-1311-4E07-9890-3D70CDBAB60D}"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26234486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2FE38DBA-B92E-4129-9358-78BEE5F318CC}" type="datetime1">
              <a:rPr lang="en-US" smtClean="0">
                <a:solidFill>
                  <a:prstClr val="black">
                    <a:tint val="75000"/>
                  </a:prstClr>
                </a:solidFill>
              </a:rPr>
              <a:t>10/13/2022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F63F8DC4-2031-4642-8380-4E54D7A6B4A6}"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3694236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3607D85D-69B2-455A-8339-8C8A02B84857}" type="datetime1">
              <a:rPr lang="en-US" smtClean="0">
                <a:solidFill>
                  <a:prstClr val="black">
                    <a:tint val="75000"/>
                  </a:prstClr>
                </a:solidFill>
              </a:rPr>
              <a:t>10/13/2022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E9FDE5EC-7774-4A2A-B335-64CE0324738F}"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34135506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198E83A3-5D82-4332-9BCC-0782172CC4D1}" type="datetime1">
              <a:rPr lang="en-US" smtClean="0">
                <a:solidFill>
                  <a:prstClr val="black">
                    <a:tint val="75000"/>
                  </a:prstClr>
                </a:solidFill>
              </a:rPr>
              <a:t>10/13/2022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Mr. R C Ravindranath, Asst. Prof, SOE-CSE</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436ACFEE-5AF5-48D7-B73D-0CE5D7D0C18A}" type="slidenum">
              <a:rPr lang="en-US" altLang="en-US" smtClean="0">
                <a:solidFill>
                  <a:prstClr val="black">
                    <a:tint val="75000"/>
                  </a:prstClr>
                </a:solidFill>
              </a:rPr>
              <a:pPr>
                <a:defRPr/>
              </a:pPr>
              <a:t>‹#›</a:t>
            </a:fld>
            <a:endParaRPr lang="en-US" altLang="en-US" dirty="0">
              <a:solidFill>
                <a:prstClr val="black">
                  <a:tint val="75000"/>
                </a:prstClr>
              </a:solidFill>
            </a:endParaRPr>
          </a:p>
        </p:txBody>
      </p:sp>
    </p:spTree>
    <p:extLst>
      <p:ext uri="{BB962C8B-B14F-4D97-AF65-F5344CB8AC3E}">
        <p14:creationId xmlns:p14="http://schemas.microsoft.com/office/powerpoint/2010/main" val="201420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EE671BBA-4FC7-4A50-A36A-77EFAF3F7F83}" type="datetime1">
              <a:rPr lang="en-US" smtClean="0"/>
              <a:t>10/13/2022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dirty="0" smtClean="0"/>
              <a:t>Mr. R C Ravindranath, Asst. Prof, SOE-CSE</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dirty="0"/>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spcBef>
                <a:spcPts val="0"/>
              </a:spcBef>
              <a:spcAft>
                <a:spcPts val="0"/>
              </a:spcAft>
            </a:pPr>
            <a:fld id="{4D7E26B1-8912-4DAB-8D1C-B11774A7C59A}" type="datetime1">
              <a:rPr lang="en-US" smtClean="0">
                <a:solidFill>
                  <a:prstClr val="black">
                    <a:tint val="75000"/>
                  </a:prstClr>
                </a:solidFill>
                <a:latin typeface="Calibri" panose="020F0502020204030204"/>
              </a:rPr>
              <a:t>10/13/2022</a:t>
            </a:fld>
            <a:endParaRPr lang="en-US" dirty="0">
              <a:solidFill>
                <a:prstClr val="black">
                  <a:tint val="75000"/>
                </a:prstClr>
              </a:solidFill>
              <a:latin typeface="Calibri" panose="020F0502020204030204"/>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fontAlgn="auto" hangingPunct="1">
              <a:spcBef>
                <a:spcPts val="0"/>
              </a:spcBef>
              <a:spcAft>
                <a:spcPts val="0"/>
              </a:spcAft>
            </a:pPr>
            <a:r>
              <a:rPr lang="en-US" smtClean="0">
                <a:solidFill>
                  <a:prstClr val="black">
                    <a:tint val="75000"/>
                  </a:prstClr>
                </a:solidFill>
                <a:latin typeface="Calibri" panose="020F0502020204030204"/>
              </a:rPr>
              <a:t>Mr. R C Ravindranath, Asst. Prof, SOE-CSE</a:t>
            </a:r>
            <a:endParaRPr lang="en-US" dirty="0">
              <a:solidFill>
                <a:prstClr val="black">
                  <a:tint val="75000"/>
                </a:prstClr>
              </a:solidFill>
              <a:latin typeface="Calibri" panose="020F0502020204030204"/>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fontAlgn="auto" hangingPunct="1">
              <a:spcBef>
                <a:spcPts val="0"/>
              </a:spcBef>
              <a:spcAft>
                <a:spcPts val="0"/>
              </a:spcAft>
            </a:pPr>
            <a:fld id="{B6F15528-21DE-4FAA-801E-634DDDAF4B2B}" type="slidenum">
              <a:rPr lang="en-US" smtClean="0">
                <a:solidFill>
                  <a:prstClr val="black">
                    <a:tint val="75000"/>
                  </a:prstClr>
                </a:solidFill>
                <a:latin typeface="Calibri" panose="020F0502020204030204"/>
              </a:rPr>
              <a:pPr eaLnBrk="1" fontAlgn="auto" hangingPunct="1">
                <a:spcBef>
                  <a:spcPts val="0"/>
                </a:spcBef>
                <a:spcAft>
                  <a:spcPts val="0"/>
                </a:spcAft>
              </a:pPr>
              <a:t>‹#›</a:t>
            </a:fld>
            <a:endParaRPr lang="en-US" dirty="0">
              <a:solidFill>
                <a:prstClr val="black">
                  <a:tint val="75000"/>
                </a:prstClr>
              </a:solidFill>
              <a:latin typeface="Calibri" panose="020F0502020204030204"/>
            </a:endParaRPr>
          </a:p>
        </p:txBody>
      </p:sp>
      <p:pic>
        <p:nvPicPr>
          <p:cNvPr id="7"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6"/>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312033"/>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14600" y="1905000"/>
            <a:ext cx="7162800" cy="15240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smtClean="0">
                <a:solidFill>
                  <a:srgbClr val="002060"/>
                </a:solidFill>
                <a:latin typeface="Times New Roman" panose="02020603050405020304" pitchFamily="18" charset="0"/>
                <a:cs typeface="Times New Roman" panose="02020603050405020304" pitchFamily="18" charset="0"/>
              </a:rPr>
              <a:t>MODULE – 1 Portion 2</a:t>
            </a:r>
          </a:p>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FF0000"/>
                </a:solidFill>
                <a:latin typeface="Times New Roman" panose="02020603050405020304" pitchFamily="18" charset="0"/>
                <a:cs typeface="Times New Roman" panose="02020603050405020304" pitchFamily="18" charset="0"/>
              </a:rPr>
              <a:t>Classes, objects, methods and Constructors </a:t>
            </a:r>
            <a:endParaRPr lang="en-US" sz="2800" b="1" dirty="0" smtClean="0">
              <a:solidFill>
                <a:srgbClr val="FF0000"/>
              </a:solidFill>
              <a:latin typeface="Times New Roman" panose="02020603050405020304" pitchFamily="18" charset="0"/>
              <a:cs typeface="Times New Roman" panose="02020603050405020304" pitchFamily="18" charset="0"/>
            </a:endParaRPr>
          </a:p>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smtClean="0">
                <a:solidFill>
                  <a:srgbClr val="FF0000"/>
                </a:solidFill>
                <a:latin typeface="Times New Roman" panose="02020603050405020304" pitchFamily="18" charset="0"/>
                <a:cs typeface="Times New Roman" panose="02020603050405020304" pitchFamily="18" charset="0"/>
              </a:rPr>
              <a:t>[</a:t>
            </a:r>
            <a:r>
              <a:rPr lang="en-US" sz="2800" b="1" dirty="0" smtClean="0">
                <a:latin typeface="Times New Roman" panose="02020603050405020304" pitchFamily="18" charset="0"/>
                <a:cs typeface="Times New Roman" panose="02020603050405020304" pitchFamily="18" charset="0"/>
              </a:rPr>
              <a:t>Lecture:8 &amp; Practical:4</a:t>
            </a:r>
            <a:r>
              <a:rPr lang="en-US" sz="2800" b="1" dirty="0" smtClean="0">
                <a:solidFill>
                  <a:srgbClr val="FF0000"/>
                </a:solidFill>
                <a:latin typeface="Times New Roman" panose="02020603050405020304" pitchFamily="18" charset="0"/>
                <a:cs typeface="Times New Roman" panose="02020603050405020304" pitchFamily="18" charset="0"/>
              </a:rPr>
              <a:t>] </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cs typeface="Arial" panose="020B0604020202020204" pitchFamily="34" charset="0"/>
              </a:rPr>
              <a:pPr>
                <a:defRPr/>
              </a:pPr>
              <a:t>1</a:t>
            </a:fld>
            <a:endParaRPr lang="en-US" altLang="en-US" dirty="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19100" y="127427"/>
            <a:ext cx="17145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Contents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15363" name="Content Placeholder 2"/>
          <p:cNvSpPr>
            <a:spLocks noGrp="1"/>
          </p:cNvSpPr>
          <p:nvPr>
            <p:ph idx="1"/>
          </p:nvPr>
        </p:nvSpPr>
        <p:spPr>
          <a:xfrm>
            <a:off x="419100" y="685800"/>
            <a:ext cx="9867900" cy="4876800"/>
          </a:xfrm>
        </p:spPr>
        <p:txBody>
          <a:bodyPr rtlCol="0">
            <a:noAutofit/>
          </a:bodyPr>
          <a:lstStyle/>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Object Oriented Concepts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Classes </a:t>
            </a:r>
            <a:r>
              <a:rPr lang="en-US" sz="2400" dirty="0">
                <a:latin typeface="Times New Roman" panose="02020603050405020304" pitchFamily="18" charset="0"/>
                <a:cs typeface="Times New Roman" panose="02020603050405020304" pitchFamily="18" charset="0"/>
              </a:rPr>
              <a:t>and Objects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Adding Methods to the class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Adding Parameter to the methods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Activity</a:t>
            </a:r>
            <a:endParaRPr lang="en-US" sz="2400" dirty="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endParaRPr lang="en-US" sz="2400"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a:t>
            </a:fld>
            <a:endParaRPr lang="en-US" alt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a:t>
            </a:fld>
            <a:endParaRPr lang="en-US" altLang="en-US" dirty="0"/>
          </a:p>
        </p:txBody>
      </p:sp>
      <p:sp>
        <p:nvSpPr>
          <p:cNvPr id="6" name="Title 1"/>
          <p:cNvSpPr>
            <a:spLocks noGrp="1"/>
          </p:cNvSpPr>
          <p:nvPr>
            <p:ph type="title"/>
          </p:nvPr>
        </p:nvSpPr>
        <p:spPr>
          <a:xfrm>
            <a:off x="419100" y="154723"/>
            <a:ext cx="46863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a:solidFill>
                  <a:srgbClr val="002060"/>
                </a:solidFill>
                <a:latin typeface="Times New Roman" panose="02020603050405020304" pitchFamily="18" charset="0"/>
                <a:ea typeface="+mn-ea"/>
                <a:cs typeface="Times New Roman" panose="02020603050405020304" pitchFamily="18" charset="0"/>
              </a:rPr>
              <a:t>Object Oriented </a:t>
            </a:r>
            <a:r>
              <a:rPr lang="en-US" sz="3000" b="1" dirty="0" smtClean="0">
                <a:solidFill>
                  <a:srgbClr val="002060"/>
                </a:solidFill>
                <a:latin typeface="Times New Roman" panose="02020603050405020304" pitchFamily="18" charset="0"/>
                <a:ea typeface="+mn-ea"/>
                <a:cs typeface="Times New Roman" panose="02020603050405020304" pitchFamily="18" charset="0"/>
              </a:rPr>
              <a:t>Concepts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7" name="Rectangle 6"/>
          <p:cNvSpPr/>
          <p:nvPr/>
        </p:nvSpPr>
        <p:spPr>
          <a:xfrm>
            <a:off x="6221695" y="2202882"/>
            <a:ext cx="1712110" cy="1421928"/>
          </a:xfrm>
          <a:prstGeom prst="rect">
            <a:avLst/>
          </a:prstGeo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spAutoFit/>
          </a:bodyPr>
          <a:lstStyle/>
          <a:p>
            <a:pPr algn="ctr">
              <a:lnSpc>
                <a:spcPct val="90000"/>
              </a:lnSpc>
            </a:pPr>
            <a:r>
              <a:rPr lang="en-US" sz="3200" dirty="0">
                <a:solidFill>
                  <a:srgbClr val="FF0000"/>
                </a:solidFill>
                <a:latin typeface="Times New Roman" panose="02020603050405020304" pitchFamily="18" charset="0"/>
                <a:cs typeface="Times New Roman" panose="02020603050405020304" pitchFamily="18" charset="0"/>
              </a:rPr>
              <a:t>Object Oriented Concepts</a:t>
            </a:r>
          </a:p>
        </p:txBody>
      </p:sp>
      <p:sp>
        <p:nvSpPr>
          <p:cNvPr id="8" name="Oval 7"/>
          <p:cNvSpPr/>
          <p:nvPr/>
        </p:nvSpPr>
        <p:spPr>
          <a:xfrm>
            <a:off x="3695700" y="2033565"/>
            <a:ext cx="1752600" cy="1676400"/>
          </a:xfrm>
          <a:prstGeom prst="ellipse">
            <a:avLst/>
          </a:prstGeom>
          <a:solidFill>
            <a:schemeClr val="accent6">
              <a:lumMod val="20000"/>
              <a:lumOff val="80000"/>
            </a:schemeClr>
          </a:solidFill>
          <a:ln w="38100">
            <a:solidFill>
              <a:schemeClr val="accent4">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smtClean="0">
                <a:ln>
                  <a:solidFill>
                    <a:schemeClr val="accent4">
                      <a:lumMod val="50000"/>
                    </a:schemeClr>
                  </a:solidFill>
                </a:ln>
                <a:solidFill>
                  <a:srgbClr val="FF0000"/>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t>CLASS</a:t>
            </a:r>
            <a:endParaRPr lang="en-US" sz="2400" b="1" dirty="0">
              <a:ln>
                <a:solidFill>
                  <a:schemeClr val="accent4">
                    <a:lumMod val="50000"/>
                  </a:schemeClr>
                </a:solidFill>
              </a:ln>
              <a:solidFill>
                <a:srgbClr val="FF0000"/>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endParaRPr>
          </a:p>
        </p:txBody>
      </p:sp>
      <p:sp>
        <p:nvSpPr>
          <p:cNvPr id="9" name="Oval 8"/>
          <p:cNvSpPr/>
          <p:nvPr/>
        </p:nvSpPr>
        <p:spPr>
          <a:xfrm>
            <a:off x="5219700" y="235018"/>
            <a:ext cx="1752600" cy="1676400"/>
          </a:xfrm>
          <a:prstGeom prst="ellipse">
            <a:avLst/>
          </a:prstGeom>
          <a:solidFill>
            <a:schemeClr val="accent6">
              <a:lumMod val="40000"/>
              <a:lumOff val="60000"/>
            </a:schemeClr>
          </a:solidFill>
          <a:ln w="38100">
            <a:solidFill>
              <a:schemeClr val="accent4">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smtClean="0">
                <a:ln>
                  <a:solidFill>
                    <a:srgbClr val="FFC000">
                      <a:lumMod val="50000"/>
                    </a:srgbClr>
                  </a:solidFill>
                </a:ln>
                <a:solidFill>
                  <a:srgbClr val="00194C"/>
                </a:solidFill>
                <a:effectLst>
                  <a:outerShdw blurRad="38100" dist="19050" dir="2700000" algn="tl" rotWithShape="0">
                    <a:prstClr val="black">
                      <a:lumMod val="50000"/>
                      <a:alpha val="40000"/>
                    </a:prstClr>
                  </a:outerShdw>
                </a:effectLst>
                <a:latin typeface="Times New Roman" panose="02020603050405020304" pitchFamily="18" charset="0"/>
                <a:cs typeface="Times New Roman" panose="02020603050405020304" pitchFamily="18" charset="0"/>
              </a:rPr>
              <a:t>Object</a:t>
            </a:r>
            <a:endParaRPr lang="en-US" sz="2800" b="1" dirty="0">
              <a:ln>
                <a:solidFill>
                  <a:srgbClr val="FFFF00"/>
                </a:solidFill>
              </a:ln>
              <a:solidFill>
                <a:srgbClr val="00194C"/>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endParaRPr>
          </a:p>
        </p:txBody>
      </p:sp>
      <p:sp>
        <p:nvSpPr>
          <p:cNvPr id="11" name="Oval 10"/>
          <p:cNvSpPr/>
          <p:nvPr/>
        </p:nvSpPr>
        <p:spPr>
          <a:xfrm>
            <a:off x="7933805" y="389664"/>
            <a:ext cx="1752600" cy="1676400"/>
          </a:xfrm>
          <a:prstGeom prst="ellipse">
            <a:avLst/>
          </a:prstGeom>
          <a:solidFill>
            <a:schemeClr val="accent6">
              <a:lumMod val="60000"/>
              <a:lumOff val="40000"/>
            </a:schemeClr>
          </a:solidFill>
          <a:ln w="38100">
            <a:solidFill>
              <a:schemeClr val="accent4">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ln>
                  <a:solidFill>
                    <a:schemeClr val="accent6">
                      <a:lumMod val="50000"/>
                    </a:schemeClr>
                  </a:solidFill>
                </a:ln>
                <a:solidFill>
                  <a:schemeClr val="accent5">
                    <a:lumMod val="75000"/>
                  </a:schemeClr>
                </a:solidFill>
                <a:effectLst>
                  <a:outerShdw blurRad="38100" dist="19050" dir="2700000" algn="tl" rotWithShape="0">
                    <a:prstClr val="black">
                      <a:lumMod val="50000"/>
                      <a:alpha val="40000"/>
                    </a:prstClr>
                  </a:outerShdw>
                </a:effectLst>
                <a:latin typeface="Times New Roman" panose="02020603050405020304" pitchFamily="18" charset="0"/>
                <a:cs typeface="Times New Roman" panose="02020603050405020304" pitchFamily="18" charset="0"/>
              </a:rPr>
              <a:t>Encapsulation</a:t>
            </a:r>
          </a:p>
        </p:txBody>
      </p:sp>
      <p:sp>
        <p:nvSpPr>
          <p:cNvPr id="12" name="Oval 11"/>
          <p:cNvSpPr/>
          <p:nvPr/>
        </p:nvSpPr>
        <p:spPr>
          <a:xfrm>
            <a:off x="5224823" y="4038600"/>
            <a:ext cx="1752600" cy="1676400"/>
          </a:xfrm>
          <a:prstGeom prst="ellipse">
            <a:avLst/>
          </a:prstGeom>
          <a:solidFill>
            <a:schemeClr val="accent6">
              <a:lumMod val="50000"/>
            </a:schemeClr>
          </a:solidFill>
          <a:ln w="38100">
            <a:solidFill>
              <a:schemeClr val="accent4">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600" b="1" dirty="0" smtClean="0">
                <a:ln>
                  <a:solidFill>
                    <a:srgbClr val="FFC000">
                      <a:lumMod val="75000"/>
                    </a:srgbClr>
                  </a:solidFill>
                </a:ln>
                <a:solidFill>
                  <a:srgbClr val="FFC000"/>
                </a:solidFill>
                <a:effectLst>
                  <a:outerShdw blurRad="38100" dist="19050" dir="2700000" algn="tl" rotWithShape="0">
                    <a:prstClr val="black">
                      <a:lumMod val="50000"/>
                      <a:alpha val="40000"/>
                    </a:prstClr>
                  </a:outerShdw>
                </a:effectLst>
                <a:latin typeface="Times New Roman" panose="02020603050405020304" pitchFamily="18" charset="0"/>
                <a:cs typeface="Times New Roman" panose="02020603050405020304" pitchFamily="18" charset="0"/>
              </a:rPr>
              <a:t>Inheritance</a:t>
            </a:r>
            <a:endParaRPr lang="en-US" sz="2400" b="1" dirty="0">
              <a:ln>
                <a:solidFill>
                  <a:srgbClr val="FFFF00"/>
                </a:solidFill>
              </a:ln>
              <a:solidFill>
                <a:srgbClr val="FFFFFF"/>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endParaRPr>
          </a:p>
        </p:txBody>
      </p:sp>
      <p:sp>
        <p:nvSpPr>
          <p:cNvPr id="13" name="Oval 12"/>
          <p:cNvSpPr/>
          <p:nvPr/>
        </p:nvSpPr>
        <p:spPr>
          <a:xfrm>
            <a:off x="7933805" y="4142760"/>
            <a:ext cx="1752600" cy="1676400"/>
          </a:xfrm>
          <a:prstGeom prst="ellipse">
            <a:avLst/>
          </a:prstGeom>
          <a:solidFill>
            <a:schemeClr val="accent6">
              <a:lumMod val="75000"/>
            </a:schemeClr>
          </a:solidFill>
          <a:ln w="38100">
            <a:solidFill>
              <a:schemeClr val="accent4">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000" b="1" dirty="0" smtClean="0">
                <a:ln>
                  <a:solidFill>
                    <a:schemeClr val="accent4">
                      <a:lumMod val="75000"/>
                    </a:schemeClr>
                  </a:solidFill>
                </a:ln>
                <a:solidFill>
                  <a:srgbClr val="FFC000"/>
                </a:solidFill>
                <a:effectLst>
                  <a:outerShdw blurRad="38100" dist="19050" dir="2700000" algn="tl" rotWithShape="0">
                    <a:prstClr val="black">
                      <a:lumMod val="50000"/>
                      <a:alpha val="40000"/>
                    </a:prstClr>
                  </a:outerShdw>
                </a:effectLst>
                <a:latin typeface="Times New Roman" panose="02020603050405020304" pitchFamily="18" charset="0"/>
                <a:cs typeface="Times New Roman" panose="02020603050405020304" pitchFamily="18" charset="0"/>
              </a:rPr>
              <a:t>Polymorphism</a:t>
            </a:r>
            <a:endParaRPr lang="en-US" sz="3600" b="1" dirty="0">
              <a:ln>
                <a:solidFill>
                  <a:schemeClr val="accent4">
                    <a:lumMod val="75000"/>
                  </a:schemeClr>
                </a:solidFill>
              </a:ln>
              <a:solidFill>
                <a:srgbClr val="FFC000"/>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endParaRPr>
          </a:p>
        </p:txBody>
      </p:sp>
      <p:sp>
        <p:nvSpPr>
          <p:cNvPr id="14" name="Arc 13"/>
          <p:cNvSpPr/>
          <p:nvPr/>
        </p:nvSpPr>
        <p:spPr>
          <a:xfrm rot="15408505">
            <a:off x="4880955" y="1153836"/>
            <a:ext cx="1377941" cy="1467171"/>
          </a:xfrm>
          <a:prstGeom prst="arc">
            <a:avLst>
              <a:gd name="adj1" fmla="val 16200000"/>
              <a:gd name="adj2" fmla="val 20675851"/>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Arc 14"/>
          <p:cNvSpPr/>
          <p:nvPr/>
        </p:nvSpPr>
        <p:spPr>
          <a:xfrm rot="19600518">
            <a:off x="6299706" y="545419"/>
            <a:ext cx="2026605" cy="1454059"/>
          </a:xfrm>
          <a:prstGeom prst="arc">
            <a:avLst>
              <a:gd name="adj1" fmla="val 16094368"/>
              <a:gd name="adj2" fmla="val 21429991"/>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Arc 15"/>
          <p:cNvSpPr/>
          <p:nvPr/>
        </p:nvSpPr>
        <p:spPr>
          <a:xfrm rot="2383453">
            <a:off x="8265475" y="1684558"/>
            <a:ext cx="1377941" cy="1467171"/>
          </a:xfrm>
          <a:prstGeom prst="arc">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Arc 16"/>
          <p:cNvSpPr/>
          <p:nvPr/>
        </p:nvSpPr>
        <p:spPr>
          <a:xfrm rot="6995662">
            <a:off x="6464989" y="3981303"/>
            <a:ext cx="1442084" cy="1860053"/>
          </a:xfrm>
          <a:prstGeom prst="arc">
            <a:avLst>
              <a:gd name="adj1" fmla="val 16315530"/>
              <a:gd name="adj2" fmla="val 663804"/>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Arc 17"/>
          <p:cNvSpPr/>
          <p:nvPr/>
        </p:nvSpPr>
        <p:spPr>
          <a:xfrm rot="12690874">
            <a:off x="4429022" y="3409679"/>
            <a:ext cx="1402166" cy="1326407"/>
          </a:xfrm>
          <a:prstGeom prst="arc">
            <a:avLst>
              <a:gd name="adj1" fmla="val 13974038"/>
              <a:gd name="adj2" fmla="val 21386426"/>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Oval 18"/>
          <p:cNvSpPr/>
          <p:nvPr/>
        </p:nvSpPr>
        <p:spPr>
          <a:xfrm>
            <a:off x="9225791" y="2033565"/>
            <a:ext cx="1752600" cy="1676400"/>
          </a:xfrm>
          <a:prstGeom prst="ellipse">
            <a:avLst/>
          </a:prstGeom>
          <a:solidFill>
            <a:schemeClr val="accent6">
              <a:lumMod val="60000"/>
              <a:lumOff val="40000"/>
            </a:schemeClr>
          </a:solidFill>
          <a:ln w="38100">
            <a:solidFill>
              <a:schemeClr val="accent4">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smtClean="0">
                <a:ln>
                  <a:solidFill>
                    <a:schemeClr val="accent6">
                      <a:lumMod val="50000"/>
                    </a:schemeClr>
                  </a:solidFill>
                </a:ln>
                <a:solidFill>
                  <a:schemeClr val="accent5">
                    <a:lumMod val="75000"/>
                  </a:schemeClr>
                </a:solidFill>
                <a:effectLst>
                  <a:outerShdw blurRad="38100" dist="19050" dir="2700000" algn="tl" rotWithShape="0">
                    <a:prstClr val="black">
                      <a:lumMod val="50000"/>
                      <a:alpha val="40000"/>
                    </a:prstClr>
                  </a:outerShdw>
                </a:effectLst>
                <a:latin typeface="Times New Roman" panose="02020603050405020304" pitchFamily="18" charset="0"/>
                <a:cs typeface="Times New Roman" panose="02020603050405020304" pitchFamily="18" charset="0"/>
              </a:rPr>
              <a:t>Data Abstraction</a:t>
            </a:r>
            <a:endParaRPr lang="en-US" sz="3600" b="1" dirty="0">
              <a:ln>
                <a:solidFill>
                  <a:schemeClr val="accent6">
                    <a:lumMod val="50000"/>
                  </a:schemeClr>
                </a:solidFill>
              </a:ln>
              <a:solidFill>
                <a:schemeClr val="accent5">
                  <a:lumMod val="7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endParaRPr>
          </a:p>
        </p:txBody>
      </p:sp>
      <p:sp>
        <p:nvSpPr>
          <p:cNvPr id="21" name="Arc 20"/>
          <p:cNvSpPr/>
          <p:nvPr/>
        </p:nvSpPr>
        <p:spPr>
          <a:xfrm rot="3201180">
            <a:off x="8536572" y="3175263"/>
            <a:ext cx="1442084" cy="1860053"/>
          </a:xfrm>
          <a:prstGeom prst="arc">
            <a:avLst>
              <a:gd name="adj1" fmla="val 16800808"/>
              <a:gd name="adj2" fmla="val 125909"/>
            </a:avLst>
          </a:prstGeom>
          <a:ln w="571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44951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down)">
                                      <p:cBhvr>
                                        <p:cTn id="33" dur="500"/>
                                        <p:tgtEl>
                                          <p:spTgt spid="16"/>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arn(inVertical)">
                                      <p:cBhvr>
                                        <p:cTn id="41" dur="500"/>
                                        <p:tgtEl>
                                          <p:spTgt spid="21"/>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arn(inVertical)">
                                      <p:cBhvr>
                                        <p:cTn id="49" dur="500"/>
                                        <p:tgtEl>
                                          <p:spTgt spid="17"/>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barn(inVertical)">
                                      <p:cBhvr>
                                        <p:cTn id="52" dur="500"/>
                                        <p:tgtEl>
                                          <p:spTgt spid="12"/>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barn(inVertical)">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4</a:t>
            </a:fld>
            <a:endParaRPr lang="en-US" altLang="en-US" dirty="0"/>
          </a:p>
        </p:txBody>
      </p:sp>
      <p:sp>
        <p:nvSpPr>
          <p:cNvPr id="18" name="Title 1"/>
          <p:cNvSpPr>
            <a:spLocks noGrp="1"/>
          </p:cNvSpPr>
          <p:nvPr>
            <p:ph type="title"/>
          </p:nvPr>
        </p:nvSpPr>
        <p:spPr>
          <a:xfrm>
            <a:off x="419100" y="154723"/>
            <a:ext cx="46863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a:solidFill>
                  <a:srgbClr val="002060"/>
                </a:solidFill>
                <a:latin typeface="Times New Roman" panose="02020603050405020304" pitchFamily="18" charset="0"/>
                <a:ea typeface="+mn-ea"/>
                <a:cs typeface="Times New Roman" panose="02020603050405020304" pitchFamily="18" charset="0"/>
              </a:rPr>
              <a:t>Object Oriented </a:t>
            </a:r>
            <a:r>
              <a:rPr lang="en-US" sz="3000" b="1" dirty="0" smtClean="0">
                <a:solidFill>
                  <a:srgbClr val="002060"/>
                </a:solidFill>
                <a:latin typeface="Times New Roman" panose="02020603050405020304" pitchFamily="18" charset="0"/>
                <a:ea typeface="+mn-ea"/>
                <a:cs typeface="Times New Roman" panose="02020603050405020304" pitchFamily="18" charset="0"/>
              </a:rPr>
              <a:t>Concepts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19" name="Rectangle 18"/>
          <p:cNvSpPr/>
          <p:nvPr/>
        </p:nvSpPr>
        <p:spPr>
          <a:xfrm>
            <a:off x="411139" y="914400"/>
            <a:ext cx="11072315" cy="3508653"/>
          </a:xfrm>
          <a:prstGeom prst="rect">
            <a:avLst/>
          </a:prstGeom>
        </p:spPr>
        <p:txBody>
          <a:bodyPr wrap="square">
            <a:spAutoFit/>
          </a:bodyPr>
          <a:lstStyle/>
          <a:p>
            <a:pPr marL="324000" indent="-285750" algn="just">
              <a:spcBef>
                <a:spcPts val="600"/>
              </a:spcBef>
              <a:spcAft>
                <a:spcPts val="1200"/>
              </a:spcAft>
              <a:buFont typeface="Wingdings" panose="05000000000000000000" pitchFamily="2" charset="2"/>
              <a:buChar char="q"/>
            </a:pPr>
            <a:r>
              <a:rPr lang="en-US" sz="2400" b="1" dirty="0">
                <a:solidFill>
                  <a:srgbClr val="FF0000"/>
                </a:solidFill>
                <a:latin typeface="Times New Roman" panose="02020603050405020304" pitchFamily="18" charset="0"/>
                <a:cs typeface="Times New Roman" panose="02020603050405020304" pitchFamily="18" charset="0"/>
              </a:rPr>
              <a:t>C</a:t>
            </a:r>
            <a:r>
              <a:rPr lang="en-US" sz="2400" b="1" dirty="0" smtClean="0">
                <a:solidFill>
                  <a:srgbClr val="FF0000"/>
                </a:solidFill>
                <a:latin typeface="Times New Roman" panose="02020603050405020304" pitchFamily="18" charset="0"/>
                <a:cs typeface="Times New Roman" panose="02020603050405020304" pitchFamily="18" charset="0"/>
              </a:rPr>
              <a:t>lass</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 </a:t>
            </a:r>
            <a:r>
              <a:rPr lang="en-US" sz="2400" dirty="0" smtClean="0">
                <a:solidFill>
                  <a:srgbClr val="273239"/>
                </a:solidFill>
                <a:latin typeface="Times New Roman" panose="02020603050405020304" pitchFamily="18" charset="0"/>
                <a:cs typeface="Times New Roman" panose="02020603050405020304" pitchFamily="18" charset="0"/>
              </a:rPr>
              <a:t>is </a:t>
            </a:r>
            <a:r>
              <a:rPr lang="en-US" sz="2400" dirty="0">
                <a:solidFill>
                  <a:srgbClr val="273239"/>
                </a:solidFill>
                <a:latin typeface="Times New Roman" panose="02020603050405020304" pitchFamily="18" charset="0"/>
                <a:cs typeface="Times New Roman" panose="02020603050405020304" pitchFamily="18" charset="0"/>
              </a:rPr>
              <a:t>a user defined blueprint or prototype from which objects are created. It represents the set of properties or methods that are common to all objects of one type</a:t>
            </a:r>
            <a:r>
              <a:rPr lang="en-US" sz="2400" dirty="0" smtClean="0">
                <a:solidFill>
                  <a:srgbClr val="273239"/>
                </a:solidFill>
                <a:latin typeface="Times New Roman" panose="02020603050405020304" pitchFamily="18" charset="0"/>
                <a:cs typeface="Times New Roman" panose="02020603050405020304" pitchFamily="18" charset="0"/>
              </a:rPr>
              <a:t>.</a:t>
            </a:r>
          </a:p>
          <a:p>
            <a:pPr marL="324000" indent="-285750" algn="just">
              <a:spcBef>
                <a:spcPts val="600"/>
              </a:spcBef>
              <a:spcAft>
                <a:spcPts val="1200"/>
              </a:spcAft>
              <a:buFont typeface="Wingdings" panose="05000000000000000000" pitchFamily="2" charset="2"/>
              <a:buChar char="q"/>
            </a:pPr>
            <a:r>
              <a:rPr lang="en-US" sz="2400" b="1" dirty="0" smtClean="0">
                <a:solidFill>
                  <a:srgbClr val="FF0000"/>
                </a:solidFill>
                <a:latin typeface="Times New Roman" panose="02020603050405020304" pitchFamily="18" charset="0"/>
                <a:cs typeface="Times New Roman" panose="02020603050405020304" pitchFamily="18" charset="0"/>
              </a:rPr>
              <a:t>Object - </a:t>
            </a:r>
            <a:r>
              <a:rPr lang="en-US" sz="2400" dirty="0" smtClean="0">
                <a:latin typeface="Times New Roman" panose="02020603050405020304" pitchFamily="18" charset="0"/>
                <a:cs typeface="Times New Roman" panose="02020603050405020304" pitchFamily="18" charset="0"/>
              </a:rPr>
              <a:t>is </a:t>
            </a:r>
            <a:r>
              <a:rPr lang="en-US" sz="2400" dirty="0">
                <a:latin typeface="Times New Roman" panose="02020603050405020304" pitchFamily="18" charset="0"/>
                <a:cs typeface="Times New Roman" panose="02020603050405020304" pitchFamily="18" charset="0"/>
              </a:rPr>
              <a:t>a basic unit of Object Oriented Programming and represents the real life entities. A typical Java program creates many objects, which </a:t>
            </a:r>
            <a:r>
              <a:rPr lang="en-US" sz="2400" dirty="0" smtClean="0">
                <a:latin typeface="Times New Roman" panose="02020603050405020304" pitchFamily="18" charset="0"/>
                <a:cs typeface="Times New Roman" panose="02020603050405020304" pitchFamily="18" charset="0"/>
              </a:rPr>
              <a:t>interact </a:t>
            </a:r>
            <a:r>
              <a:rPr lang="en-US" sz="2400" dirty="0">
                <a:latin typeface="Times New Roman" panose="02020603050405020304" pitchFamily="18" charset="0"/>
                <a:cs typeface="Times New Roman" panose="02020603050405020304" pitchFamily="18" charset="0"/>
              </a:rPr>
              <a:t>by invoking methods</a:t>
            </a:r>
            <a:r>
              <a:rPr lang="en-US" sz="2400" dirty="0" smtClean="0">
                <a:latin typeface="Times New Roman" panose="02020603050405020304" pitchFamily="18" charset="0"/>
                <a:cs typeface="Times New Roman" panose="02020603050405020304" pitchFamily="18" charset="0"/>
              </a:rPr>
              <a:t>.</a:t>
            </a:r>
          </a:p>
          <a:p>
            <a:pPr marL="324000" indent="-285750" algn="just">
              <a:spcBef>
                <a:spcPts val="600"/>
              </a:spcBef>
              <a:spcAft>
                <a:spcPts val="1200"/>
              </a:spcAft>
              <a:buFont typeface="Wingdings" panose="05000000000000000000" pitchFamily="2" charset="2"/>
              <a:buChar char="q"/>
            </a:pPr>
            <a:r>
              <a:rPr lang="en-US" sz="2400" b="1" dirty="0">
                <a:solidFill>
                  <a:srgbClr val="FF0000"/>
                </a:solidFill>
                <a:latin typeface="Times New Roman" panose="02020603050405020304" pitchFamily="18" charset="0"/>
                <a:cs typeface="Times New Roman" panose="02020603050405020304" pitchFamily="18" charset="0"/>
              </a:rPr>
              <a:t>Data </a:t>
            </a:r>
            <a:r>
              <a:rPr lang="en-US" sz="2400" b="1" dirty="0" smtClean="0">
                <a:solidFill>
                  <a:srgbClr val="FF0000"/>
                </a:solidFill>
                <a:latin typeface="Times New Roman" panose="02020603050405020304" pitchFamily="18" charset="0"/>
                <a:cs typeface="Times New Roman" panose="02020603050405020304" pitchFamily="18" charset="0"/>
              </a:rPr>
              <a:t>Abstraction - </a:t>
            </a:r>
            <a:r>
              <a:rPr lang="en-US" sz="2400" dirty="0" smtClean="0">
                <a:latin typeface="Times New Roman" panose="02020603050405020304" pitchFamily="18" charset="0"/>
                <a:cs typeface="Times New Roman" panose="02020603050405020304" pitchFamily="18" charset="0"/>
              </a:rPr>
              <a:t>is </a:t>
            </a:r>
            <a:r>
              <a:rPr lang="en-US" sz="2400" dirty="0">
                <a:latin typeface="Times New Roman" panose="02020603050405020304" pitchFamily="18" charset="0"/>
                <a:cs typeface="Times New Roman" panose="02020603050405020304" pitchFamily="18" charset="0"/>
              </a:rPr>
              <a:t>the property by virtue of which only the essential details are displayed to the user</a:t>
            </a:r>
            <a:r>
              <a:rPr lang="en-US" sz="2400" dirty="0" smtClean="0">
                <a:latin typeface="Times New Roman" panose="02020603050405020304" pitchFamily="18" charset="0"/>
                <a:cs typeface="Times New Roman" panose="02020603050405020304" pitchFamily="18" charset="0"/>
              </a:rPr>
              <a:t>. The </a:t>
            </a:r>
            <a:r>
              <a:rPr lang="en-US" sz="2400" dirty="0">
                <a:latin typeface="Times New Roman" panose="02020603050405020304" pitchFamily="18" charset="0"/>
                <a:cs typeface="Times New Roman" panose="02020603050405020304" pitchFamily="18" charset="0"/>
              </a:rPr>
              <a:t>trivial or the non-essentials units are not displayed to the user. Ex: A car is viewed as a car rather than its individual components.</a:t>
            </a:r>
          </a:p>
        </p:txBody>
      </p:sp>
    </p:spTree>
    <p:extLst>
      <p:ext uri="{BB962C8B-B14F-4D97-AF65-F5344CB8AC3E}">
        <p14:creationId xmlns:p14="http://schemas.microsoft.com/office/powerpoint/2010/main" val="11627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barn(inVertical)">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barn(inVertical)">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barn(inVertical)">
                                      <p:cBhvr>
                                        <p:cTn id="17"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5</a:t>
            </a:fld>
            <a:endParaRPr lang="en-US" altLang="en-US" dirty="0"/>
          </a:p>
        </p:txBody>
      </p:sp>
      <p:sp>
        <p:nvSpPr>
          <p:cNvPr id="6" name="Rectangle 5"/>
          <p:cNvSpPr/>
          <p:nvPr/>
        </p:nvSpPr>
        <p:spPr>
          <a:xfrm>
            <a:off x="393236" y="838200"/>
            <a:ext cx="11417764" cy="4093428"/>
          </a:xfrm>
          <a:prstGeom prst="rect">
            <a:avLst/>
          </a:prstGeom>
        </p:spPr>
        <p:txBody>
          <a:bodyPr wrap="square">
            <a:spAutoFit/>
          </a:bodyPr>
          <a:lstStyle/>
          <a:p>
            <a:pPr marL="324000" indent="-285750" algn="just">
              <a:spcBef>
                <a:spcPts val="1200"/>
              </a:spcBef>
              <a:buFont typeface="Wingdings" panose="05000000000000000000" pitchFamily="2" charset="2"/>
              <a:buChar char="q"/>
            </a:pPr>
            <a:r>
              <a:rPr lang="en-US" sz="2400" b="1" dirty="0" smtClean="0">
                <a:solidFill>
                  <a:srgbClr val="FF0000"/>
                </a:solidFill>
                <a:latin typeface="Times New Roman" panose="02020603050405020304" pitchFamily="18" charset="0"/>
                <a:cs typeface="Times New Roman" panose="02020603050405020304" pitchFamily="18" charset="0"/>
              </a:rPr>
              <a:t>Encapsulation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It is defined as the wrapping up of data under a single unit. It is the mechanism that binds together code and the data it manipulates. Another way to think about encapsulation is, it is a protective shield that prevents the data from being accessed by the code outside this shield</a:t>
            </a:r>
            <a:r>
              <a:rPr lang="en-US" sz="2400" dirty="0" smtClean="0">
                <a:solidFill>
                  <a:srgbClr val="273239"/>
                </a:solidFill>
                <a:latin typeface="Times New Roman" panose="02020603050405020304" pitchFamily="18" charset="0"/>
                <a:cs typeface="Times New Roman" panose="02020603050405020304" pitchFamily="18" charset="0"/>
              </a:rPr>
              <a:t>.</a:t>
            </a:r>
          </a:p>
          <a:p>
            <a:pPr marL="324000" indent="-285750" algn="just">
              <a:spcBef>
                <a:spcPts val="1200"/>
              </a:spcBef>
              <a:buFont typeface="Wingdings" panose="05000000000000000000" pitchFamily="2" charset="2"/>
              <a:buChar char="q"/>
            </a:pPr>
            <a:r>
              <a:rPr lang="en-US" sz="2400" b="1" dirty="0" smtClean="0">
                <a:solidFill>
                  <a:srgbClr val="FF0000"/>
                </a:solidFill>
                <a:latin typeface="Times New Roman" panose="02020603050405020304" pitchFamily="18" charset="0"/>
                <a:cs typeface="Times New Roman" panose="02020603050405020304" pitchFamily="18" charset="0"/>
              </a:rPr>
              <a:t>Polymorphism- </a:t>
            </a:r>
            <a:r>
              <a:rPr lang="en-US" sz="2400" dirty="0">
                <a:latin typeface="Times New Roman" panose="02020603050405020304" pitchFamily="18" charset="0"/>
                <a:cs typeface="Times New Roman" panose="02020603050405020304" pitchFamily="18" charset="0"/>
              </a:rPr>
              <a:t>It refers to the ability of OOPs programming languages to differentiate between entities with the same name efficiently. This is done by Java with the help of the signature and declaration of these entities</a:t>
            </a:r>
            <a:r>
              <a:rPr lang="en-US" sz="2400" dirty="0" smtClean="0">
                <a:latin typeface="Times New Roman" panose="02020603050405020304" pitchFamily="18" charset="0"/>
                <a:cs typeface="Times New Roman" panose="02020603050405020304" pitchFamily="18" charset="0"/>
              </a:rPr>
              <a:t>.</a:t>
            </a:r>
          </a:p>
          <a:p>
            <a:pPr marL="324000" indent="-285750" algn="just">
              <a:spcBef>
                <a:spcPts val="1200"/>
              </a:spcBef>
              <a:buFont typeface="Wingdings" panose="05000000000000000000" pitchFamily="2" charset="2"/>
              <a:buChar char="q"/>
            </a:pPr>
            <a:r>
              <a:rPr lang="en-US" sz="2400" b="1" dirty="0" smtClean="0">
                <a:solidFill>
                  <a:srgbClr val="FF0000"/>
                </a:solidFill>
                <a:latin typeface="Times New Roman" panose="02020603050405020304" pitchFamily="18" charset="0"/>
                <a:cs typeface="Times New Roman" panose="02020603050405020304" pitchFamily="18" charset="0"/>
              </a:rPr>
              <a:t>Inheritance - </a:t>
            </a:r>
            <a:r>
              <a:rPr lang="en-US" sz="2400" dirty="0" smtClean="0">
                <a:latin typeface="Times New Roman" panose="02020603050405020304" pitchFamily="18" charset="0"/>
                <a:cs typeface="Times New Roman" panose="02020603050405020304" pitchFamily="18" charset="0"/>
              </a:rPr>
              <a:t>is </a:t>
            </a:r>
            <a:r>
              <a:rPr lang="en-US" sz="2400" dirty="0">
                <a:latin typeface="Times New Roman" panose="02020603050405020304" pitchFamily="18" charset="0"/>
                <a:cs typeface="Times New Roman" panose="02020603050405020304" pitchFamily="18" charset="0"/>
              </a:rPr>
              <a:t>an important pillar of OOP(Object Oriented Programming). It is the mechanism in java by which one class is allow to inherit the features(fields and methods) of another </a:t>
            </a:r>
            <a:r>
              <a:rPr lang="en-US" sz="2400" dirty="0" smtClean="0">
                <a:latin typeface="Times New Roman" panose="02020603050405020304" pitchFamily="18" charset="0"/>
                <a:cs typeface="Times New Roman" panose="02020603050405020304" pitchFamily="18" charset="0"/>
              </a:rPr>
              <a:t>class.</a:t>
            </a:r>
            <a:endParaRPr lang="en-US" sz="2400" dirty="0">
              <a:latin typeface="Times New Roman" panose="02020603050405020304" pitchFamily="18" charset="0"/>
              <a:cs typeface="Times New Roman" panose="02020603050405020304" pitchFamily="18" charset="0"/>
            </a:endParaRPr>
          </a:p>
        </p:txBody>
      </p:sp>
      <p:sp>
        <p:nvSpPr>
          <p:cNvPr id="7" name="Title 1"/>
          <p:cNvSpPr>
            <a:spLocks noGrp="1"/>
          </p:cNvSpPr>
          <p:nvPr>
            <p:ph type="title"/>
          </p:nvPr>
        </p:nvSpPr>
        <p:spPr>
          <a:xfrm>
            <a:off x="419100" y="154723"/>
            <a:ext cx="46863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a:solidFill>
                  <a:srgbClr val="002060"/>
                </a:solidFill>
                <a:latin typeface="Times New Roman" panose="02020603050405020304" pitchFamily="18" charset="0"/>
                <a:ea typeface="+mn-ea"/>
                <a:cs typeface="Times New Roman" panose="02020603050405020304" pitchFamily="18" charset="0"/>
              </a:rPr>
              <a:t>Object Oriented </a:t>
            </a:r>
            <a:r>
              <a:rPr lang="en-US" sz="3000" b="1" dirty="0" smtClean="0">
                <a:solidFill>
                  <a:srgbClr val="002060"/>
                </a:solidFill>
                <a:latin typeface="Times New Roman" panose="02020603050405020304" pitchFamily="18" charset="0"/>
                <a:ea typeface="+mn-ea"/>
                <a:cs typeface="Times New Roman" panose="02020603050405020304" pitchFamily="18" charset="0"/>
              </a:rPr>
              <a:t>Concepts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0875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Vertic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arn(inVertical)">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
          <p:cNvSpPr txBox="1">
            <a:spLocks noChangeArrowheads="1"/>
          </p:cNvSpPr>
          <p:nvPr/>
        </p:nvSpPr>
        <p:spPr bwMode="auto">
          <a:xfrm>
            <a:off x="228600" y="187372"/>
            <a:ext cx="26670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Encapsulation</a:t>
            </a:r>
          </a:p>
        </p:txBody>
      </p:sp>
      <p:sp>
        <p:nvSpPr>
          <p:cNvPr id="13" name="Rectangle 3"/>
          <p:cNvSpPr txBox="1">
            <a:spLocks noChangeArrowheads="1"/>
          </p:cNvSpPr>
          <p:nvPr/>
        </p:nvSpPr>
        <p:spPr>
          <a:xfrm>
            <a:off x="228600" y="950815"/>
            <a:ext cx="8839200" cy="3048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smtClean="0">
                <a:latin typeface="Times New Roman" panose="02020603050405020304" pitchFamily="18" charset="0"/>
                <a:cs typeface="Times New Roman" panose="02020603050405020304" pitchFamily="18" charset="0"/>
              </a:rPr>
              <a:t>A Java program consists of one or more </a:t>
            </a:r>
            <a:r>
              <a:rPr lang="en-US" sz="3200" dirty="0" smtClean="0">
                <a:solidFill>
                  <a:srgbClr val="FF0000"/>
                </a:solidFill>
                <a:latin typeface="Times New Roman" panose="02020603050405020304" pitchFamily="18" charset="0"/>
                <a:cs typeface="Times New Roman" panose="02020603050405020304" pitchFamily="18" charset="0"/>
              </a:rPr>
              <a:t>classes</a:t>
            </a:r>
          </a:p>
          <a:p>
            <a:r>
              <a:rPr lang="en-US" sz="3200" dirty="0" smtClean="0">
                <a:latin typeface="Times New Roman" panose="02020603050405020304" pitchFamily="18" charset="0"/>
                <a:cs typeface="Times New Roman" panose="02020603050405020304" pitchFamily="18" charset="0"/>
              </a:rPr>
              <a:t>A class is an abstract description of </a:t>
            </a:r>
            <a:r>
              <a:rPr lang="en-US" sz="3200" dirty="0" smtClean="0">
                <a:solidFill>
                  <a:srgbClr val="FF0000"/>
                </a:solidFill>
                <a:latin typeface="Times New Roman" panose="02020603050405020304" pitchFamily="18" charset="0"/>
                <a:cs typeface="Times New Roman" panose="02020603050405020304" pitchFamily="18" charset="0"/>
              </a:rPr>
              <a:t>objects</a:t>
            </a:r>
          </a:p>
          <a:p>
            <a:r>
              <a:rPr lang="en-US" sz="3200" dirty="0" smtClean="0">
                <a:latin typeface="Times New Roman" panose="02020603050405020304" pitchFamily="18" charset="0"/>
                <a:cs typeface="Times New Roman" panose="02020603050405020304" pitchFamily="18" charset="0"/>
              </a:rPr>
              <a:t>Here is an example class:</a:t>
            </a:r>
          </a:p>
          <a:p>
            <a:pPr lvl="1"/>
            <a:r>
              <a:rPr lang="en-US" sz="2800" dirty="0" smtClean="0">
                <a:solidFill>
                  <a:schemeClr val="accent2"/>
                </a:solidFill>
                <a:latin typeface="Times New Roman" panose="02020603050405020304" pitchFamily="18" charset="0"/>
                <a:cs typeface="Times New Roman" panose="02020603050405020304" pitchFamily="18" charset="0"/>
              </a:rPr>
              <a:t>class Dog { </a:t>
            </a:r>
            <a:r>
              <a:rPr lang="en-US" sz="2800" i="1" dirty="0" smtClean="0">
                <a:solidFill>
                  <a:schemeClr val="accent6">
                    <a:lumMod val="75000"/>
                  </a:schemeClr>
                </a:solidFill>
                <a:latin typeface="Times New Roman" panose="02020603050405020304" pitchFamily="18" charset="0"/>
                <a:cs typeface="Times New Roman" panose="02020603050405020304" pitchFamily="18" charset="0"/>
              </a:rPr>
              <a:t>...description of a dog goes here...</a:t>
            </a:r>
            <a:r>
              <a:rPr lang="en-US" sz="2800" dirty="0" smtClean="0">
                <a:solidFill>
                  <a:schemeClr val="accent6">
                    <a:lumMod val="75000"/>
                  </a:schemeClr>
                </a:solidFill>
                <a:latin typeface="Times New Roman" panose="02020603050405020304" pitchFamily="18" charset="0"/>
                <a:cs typeface="Times New Roman" panose="02020603050405020304" pitchFamily="18" charset="0"/>
              </a:rPr>
              <a:t> </a:t>
            </a:r>
            <a:r>
              <a:rPr lang="en-US" sz="2800" dirty="0" smtClean="0">
                <a:solidFill>
                  <a:schemeClr val="accent2"/>
                </a:solidFill>
                <a:latin typeface="Times New Roman" panose="02020603050405020304" pitchFamily="18" charset="0"/>
                <a:cs typeface="Times New Roman" panose="02020603050405020304" pitchFamily="18" charset="0"/>
              </a:rPr>
              <a:t>}</a:t>
            </a:r>
          </a:p>
          <a:p>
            <a:r>
              <a:rPr lang="en-US" sz="3200" dirty="0" smtClean="0">
                <a:latin typeface="Times New Roman" panose="02020603050405020304" pitchFamily="18" charset="0"/>
                <a:cs typeface="Times New Roman" panose="02020603050405020304" pitchFamily="18" charset="0"/>
              </a:rPr>
              <a:t>Here are some objects of that class:</a:t>
            </a:r>
            <a:endParaRPr lang="en-US" sz="3200" dirty="0">
              <a:latin typeface="Times New Roman" panose="02020603050405020304" pitchFamily="18" charset="0"/>
              <a:cs typeface="Times New Roman" panose="02020603050405020304" pitchFamily="18" charset="0"/>
            </a:endParaRPr>
          </a:p>
        </p:txBody>
      </p:sp>
      <p:pic>
        <p:nvPicPr>
          <p:cNvPr id="14" name="Picture 5" descr="dog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959557"/>
            <a:ext cx="129540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dog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073572"/>
            <a:ext cx="1282700" cy="11049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 descr="dog3"/>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054600" y="4073572"/>
            <a:ext cx="7112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dog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7300" y="3845257"/>
            <a:ext cx="1409700" cy="14097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p:cNvSpPr>
            <a:spLocks noGrp="1" noChangeArrowheads="1"/>
          </p:cNvSpPr>
          <p:nvPr>
            <p:ph type="title"/>
          </p:nvPr>
        </p:nvSpPr>
        <p:spPr>
          <a:xfrm>
            <a:off x="3124385" y="240641"/>
            <a:ext cx="3047629"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Classes </a:t>
            </a:r>
            <a:r>
              <a:rPr lang="en-US" sz="2800" dirty="0" smtClean="0">
                <a:solidFill>
                  <a:srgbClr val="FF0000"/>
                </a:solidFill>
                <a:latin typeface="Times New Roman" panose="02020603050405020304" pitchFamily="18" charset="0"/>
                <a:ea typeface="+mn-ea"/>
                <a:cs typeface="Times New Roman" panose="02020603050405020304" pitchFamily="18" charset="0"/>
              </a:rPr>
              <a:t>and Objects</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sp>
        <p:nvSpPr>
          <p:cNvPr id="2" name="Rectangle 1"/>
          <p:cNvSpPr/>
          <p:nvPr/>
        </p:nvSpPr>
        <p:spPr>
          <a:xfrm>
            <a:off x="8776462" y="4073572"/>
            <a:ext cx="3098038" cy="1938992"/>
          </a:xfrm>
          <a:prstGeom prst="rect">
            <a:avLst/>
          </a:prstGeom>
          <a:ln w="38100">
            <a:solidFill>
              <a:schemeClr val="accent1"/>
            </a:solidFill>
          </a:ln>
        </p:spPr>
        <p:txBody>
          <a:bodyPr wrap="square">
            <a:spAutoFit/>
          </a:bodyPr>
          <a:lstStyle/>
          <a:p>
            <a:pPr marL="0" indent="0">
              <a:buFont typeface="Wingdings 2" panose="05020102010507070707" pitchFamily="18" charset="2"/>
              <a:buNone/>
            </a:pPr>
            <a:r>
              <a:rPr lang="en-US" sz="2000" b="1" dirty="0">
                <a:solidFill>
                  <a:srgbClr val="FF0000"/>
                </a:solidFill>
                <a:latin typeface="Times New Roman" panose="02020603050405020304" pitchFamily="18" charset="0"/>
                <a:cs typeface="Times New Roman" panose="02020603050405020304" pitchFamily="18" charset="0"/>
              </a:rPr>
              <a:t>Syntax to declare a class:</a:t>
            </a:r>
          </a:p>
          <a:p>
            <a:pPr marL="0" indent="0">
              <a:buFont typeface="Wingdings 2" panose="05020102010507070707" pitchFamily="18" charset="2"/>
              <a:buNone/>
            </a:pPr>
            <a:r>
              <a:rPr lang="en-US" sz="2000" b="1" dirty="0">
                <a:latin typeface="Times New Roman" panose="02020603050405020304" pitchFamily="18" charset="0"/>
                <a:cs typeface="Times New Roman" panose="02020603050405020304" pitchFamily="18" charset="0"/>
              </a:rPr>
              <a:t>class &lt;</a:t>
            </a:r>
            <a:r>
              <a:rPr lang="en-US" sz="2000" b="1" dirty="0" err="1">
                <a:latin typeface="Times New Roman" panose="02020603050405020304" pitchFamily="18" charset="0"/>
                <a:cs typeface="Times New Roman" panose="02020603050405020304" pitchFamily="18" charset="0"/>
              </a:rPr>
              <a:t>class_name</a:t>
            </a:r>
            <a:r>
              <a:rPr lang="en-US" sz="2000" b="1" dirty="0">
                <a:latin typeface="Times New Roman" panose="02020603050405020304" pitchFamily="18" charset="0"/>
                <a:cs typeface="Times New Roman" panose="02020603050405020304" pitchFamily="18" charset="0"/>
              </a:rPr>
              <a:t>&gt;</a:t>
            </a:r>
          </a:p>
          <a:p>
            <a:pPr marL="0" indent="0">
              <a:buFont typeface="Wingdings 2" panose="05020102010507070707" pitchFamily="18" charset="2"/>
              <a:buNone/>
            </a:pPr>
            <a:r>
              <a:rPr lang="en-US" sz="2000" b="1" dirty="0">
                <a:latin typeface="Times New Roman" panose="02020603050405020304" pitchFamily="18" charset="0"/>
                <a:cs typeface="Times New Roman" panose="02020603050405020304" pitchFamily="18" charset="0"/>
              </a:rPr>
              <a:t>{  </a:t>
            </a:r>
          </a:p>
          <a:p>
            <a:pPr marL="0" indent="0">
              <a:buFont typeface="Wingdings 2" panose="05020102010507070707" pitchFamily="18" charset="2"/>
              <a:buNone/>
            </a:pPr>
            <a:r>
              <a:rPr lang="en-US" sz="2000" b="1" dirty="0">
                <a:latin typeface="Times New Roman" panose="02020603050405020304" pitchFamily="18" charset="0"/>
                <a:cs typeface="Times New Roman" panose="02020603050405020304" pitchFamily="18" charset="0"/>
              </a:rPr>
              <a:t>    field;  </a:t>
            </a:r>
          </a:p>
          <a:p>
            <a:pPr marL="0" indent="0">
              <a:buFont typeface="Wingdings 2" panose="05020102010507070707" pitchFamily="18" charset="2"/>
              <a:buNone/>
            </a:pPr>
            <a:r>
              <a:rPr lang="en-US" sz="2000" b="1" dirty="0">
                <a:latin typeface="Times New Roman" panose="02020603050405020304" pitchFamily="18" charset="0"/>
                <a:cs typeface="Times New Roman" panose="02020603050405020304" pitchFamily="18" charset="0"/>
              </a:rPr>
              <a:t>    method;  </a:t>
            </a:r>
          </a:p>
          <a:p>
            <a:pPr marL="0" indent="0">
              <a:buFont typeface="Wingdings 2" panose="05020102010507070707" pitchFamily="18" charset="2"/>
              <a:buNone/>
            </a:pPr>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6</a:t>
            </a:fld>
            <a:endParaRPr lang="en-US" altLang="en-US" dirty="0"/>
          </a:p>
        </p:txBody>
      </p:sp>
    </p:spTree>
    <p:extLst>
      <p:ext uri="{BB962C8B-B14F-4D97-AF65-F5344CB8AC3E}">
        <p14:creationId xmlns:p14="http://schemas.microsoft.com/office/powerpoint/2010/main" val="1198488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barn(inVertical)">
                                      <p:cBhvr>
                                        <p:cTn id="12" dur="500"/>
                                        <p:tgtEl>
                                          <p:spTgt spid="13">
                                            <p:txEl>
                                              <p:pRg st="2" end="2"/>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animEffect transition="in" filter="barn(inVertical)">
                                      <p:cBhvr>
                                        <p:cTn id="15" dur="500"/>
                                        <p:tgtEl>
                                          <p:spTgt spid="1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3">
                                            <p:txEl>
                                              <p:pRg st="4" end="4"/>
                                            </p:txEl>
                                          </p:spTgt>
                                        </p:tgtEl>
                                        <p:attrNameLst>
                                          <p:attrName>style.visibility</p:attrName>
                                        </p:attrNameLst>
                                      </p:cBhvr>
                                      <p:to>
                                        <p:strVal val="visible"/>
                                      </p:to>
                                    </p:set>
                                    <p:animEffect transition="in" filter="barn(inVertical)">
                                      <p:cBhvr>
                                        <p:cTn id="20" dur="500"/>
                                        <p:tgtEl>
                                          <p:spTgt spid="1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ppt_w</p:attrName>
                                        </p:attrNameLst>
                                      </p:cBhvr>
                                      <p:tavLst>
                                        <p:tav tm="0">
                                          <p:val>
                                            <p:fltVal val="0"/>
                                          </p:val>
                                        </p:tav>
                                        <p:tav tm="100000">
                                          <p:val>
                                            <p:strVal val="#ppt_w"/>
                                          </p:val>
                                        </p:tav>
                                      </p:tavLst>
                                    </p:anim>
                                    <p:anim calcmode="lin" valueType="num">
                                      <p:cBhvr>
                                        <p:cTn id="26" dur="500" fill="hold"/>
                                        <p:tgtEl>
                                          <p:spTgt spid="14"/>
                                        </p:tgtEl>
                                        <p:attrNameLst>
                                          <p:attrName>ppt_h</p:attrName>
                                        </p:attrNameLst>
                                      </p:cBhvr>
                                      <p:tavLst>
                                        <p:tav tm="0">
                                          <p:val>
                                            <p:fltVal val="0"/>
                                          </p:val>
                                        </p:tav>
                                        <p:tav tm="100000">
                                          <p:val>
                                            <p:strVal val="#ppt_h"/>
                                          </p:val>
                                        </p:tav>
                                      </p:tavLst>
                                    </p:anim>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500" fill="hold"/>
                                        <p:tgtEl>
                                          <p:spTgt spid="15"/>
                                        </p:tgtEl>
                                        <p:attrNameLst>
                                          <p:attrName>ppt_w</p:attrName>
                                        </p:attrNameLst>
                                      </p:cBhvr>
                                      <p:tavLst>
                                        <p:tav tm="0">
                                          <p:val>
                                            <p:fltVal val="0"/>
                                          </p:val>
                                        </p:tav>
                                        <p:tav tm="100000">
                                          <p:val>
                                            <p:strVal val="#ppt_w"/>
                                          </p:val>
                                        </p:tav>
                                      </p:tavLst>
                                    </p:anim>
                                    <p:anim calcmode="lin" valueType="num">
                                      <p:cBhvr>
                                        <p:cTn id="33" dur="500" fill="hold"/>
                                        <p:tgtEl>
                                          <p:spTgt spid="15"/>
                                        </p:tgtEl>
                                        <p:attrNameLst>
                                          <p:attrName>ppt_h</p:attrName>
                                        </p:attrNameLst>
                                      </p:cBhvr>
                                      <p:tavLst>
                                        <p:tav tm="0">
                                          <p:val>
                                            <p:fltVal val="0"/>
                                          </p:val>
                                        </p:tav>
                                        <p:tav tm="100000">
                                          <p:val>
                                            <p:strVal val="#ppt_h"/>
                                          </p:val>
                                        </p:tav>
                                      </p:tavLst>
                                    </p:anim>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animEffect transition="in" filter="fade">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562600" y="269831"/>
            <a:ext cx="54102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Classes contain data definitions</a:t>
            </a:r>
          </a:p>
        </p:txBody>
      </p:sp>
      <p:sp>
        <p:nvSpPr>
          <p:cNvPr id="5" name="Rectangle 3"/>
          <p:cNvSpPr txBox="1">
            <a:spLocks noChangeArrowheads="1"/>
          </p:cNvSpPr>
          <p:nvPr/>
        </p:nvSpPr>
        <p:spPr>
          <a:xfrm>
            <a:off x="228600" y="914400"/>
            <a:ext cx="8534400" cy="3352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latin typeface="Times New Roman" panose="02020603050405020304" pitchFamily="18" charset="0"/>
                <a:cs typeface="Times New Roman" panose="02020603050405020304" pitchFamily="18" charset="0"/>
              </a:rPr>
              <a:t>Classes describe the data held by each of its objects</a:t>
            </a:r>
          </a:p>
          <a:p>
            <a:r>
              <a:rPr lang="en-US" dirty="0" smtClean="0">
                <a:latin typeface="Times New Roman" panose="02020603050405020304" pitchFamily="18" charset="0"/>
                <a:cs typeface="Times New Roman" panose="02020603050405020304" pitchFamily="18" charset="0"/>
              </a:rPr>
              <a:t>Example:</a:t>
            </a:r>
          </a:p>
          <a:p>
            <a:pPr lvl="1"/>
            <a:r>
              <a:rPr lang="en-US" sz="2800" dirty="0" smtClean="0">
                <a:solidFill>
                  <a:schemeClr val="accent2"/>
                </a:solidFill>
                <a:latin typeface="Times New Roman" panose="02020603050405020304" pitchFamily="18" charset="0"/>
                <a:cs typeface="Times New Roman" panose="02020603050405020304" pitchFamily="18" charset="0"/>
              </a:rPr>
              <a:t>class Dog {</a:t>
            </a:r>
            <a:br>
              <a:rPr lang="en-US" sz="2800" dirty="0" smtClean="0">
                <a:solidFill>
                  <a:schemeClr val="accent2"/>
                </a:solidFill>
                <a:latin typeface="Times New Roman" panose="02020603050405020304" pitchFamily="18" charset="0"/>
                <a:cs typeface="Times New Roman" panose="02020603050405020304" pitchFamily="18" charset="0"/>
              </a:rPr>
            </a:br>
            <a:r>
              <a:rPr lang="en-US" sz="2800" dirty="0" smtClean="0">
                <a:solidFill>
                  <a:schemeClr val="accent2"/>
                </a:solidFill>
                <a:latin typeface="Times New Roman" panose="02020603050405020304" pitchFamily="18" charset="0"/>
                <a:cs typeface="Times New Roman" panose="02020603050405020304" pitchFamily="18" charset="0"/>
              </a:rPr>
              <a:t>    String name;</a:t>
            </a:r>
            <a:br>
              <a:rPr lang="en-US" sz="2800" dirty="0" smtClean="0">
                <a:solidFill>
                  <a:schemeClr val="accent2"/>
                </a:solidFill>
                <a:latin typeface="Times New Roman" panose="02020603050405020304" pitchFamily="18" charset="0"/>
                <a:cs typeface="Times New Roman" panose="02020603050405020304" pitchFamily="18" charset="0"/>
              </a:rPr>
            </a:br>
            <a:r>
              <a:rPr lang="en-US" sz="2800" dirty="0" smtClean="0">
                <a:solidFill>
                  <a:schemeClr val="accent2"/>
                </a:solidFill>
                <a:latin typeface="Times New Roman" panose="02020603050405020304" pitchFamily="18" charset="0"/>
                <a:cs typeface="Times New Roman" panose="02020603050405020304" pitchFamily="18" charset="0"/>
              </a:rPr>
              <a:t>    </a:t>
            </a:r>
            <a:r>
              <a:rPr lang="en-US" sz="2800" dirty="0" err="1" smtClean="0">
                <a:solidFill>
                  <a:schemeClr val="accent2"/>
                </a:solidFill>
                <a:latin typeface="Times New Roman" panose="02020603050405020304" pitchFamily="18" charset="0"/>
                <a:cs typeface="Times New Roman" panose="02020603050405020304" pitchFamily="18" charset="0"/>
              </a:rPr>
              <a:t>int</a:t>
            </a:r>
            <a:r>
              <a:rPr lang="en-US" sz="2800" dirty="0" smtClean="0">
                <a:solidFill>
                  <a:schemeClr val="accent2"/>
                </a:solidFill>
                <a:latin typeface="Times New Roman" panose="02020603050405020304" pitchFamily="18" charset="0"/>
                <a:cs typeface="Times New Roman" panose="02020603050405020304" pitchFamily="18" charset="0"/>
              </a:rPr>
              <a:t> age;</a:t>
            </a:r>
            <a:br>
              <a:rPr lang="en-US" sz="2800" dirty="0" smtClean="0">
                <a:solidFill>
                  <a:schemeClr val="accent2"/>
                </a:solidFill>
                <a:latin typeface="Times New Roman" panose="02020603050405020304" pitchFamily="18" charset="0"/>
                <a:cs typeface="Times New Roman" panose="02020603050405020304" pitchFamily="18" charset="0"/>
              </a:rPr>
            </a:b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i="1" dirty="0" smtClean="0">
                <a:solidFill>
                  <a:srgbClr val="00B0F0"/>
                </a:solidFill>
                <a:latin typeface="Times New Roman" panose="02020603050405020304" pitchFamily="18" charset="0"/>
                <a:cs typeface="Times New Roman" panose="02020603050405020304" pitchFamily="18" charset="0"/>
              </a:rPr>
              <a:t>...rest of the class...</a:t>
            </a:r>
            <a:r>
              <a:rPr lang="en-US" sz="2800" dirty="0" smtClean="0">
                <a:solidFill>
                  <a:srgbClr val="00B0F0"/>
                </a:solidFill>
                <a:latin typeface="Times New Roman" panose="02020603050405020304" pitchFamily="18" charset="0"/>
                <a:cs typeface="Times New Roman" panose="02020603050405020304" pitchFamily="18" charset="0"/>
              </a:rPr>
              <a:t/>
            </a:r>
            <a:br>
              <a:rPr lang="en-US" sz="2800" dirty="0" smtClean="0">
                <a:solidFill>
                  <a:srgbClr val="00B0F0"/>
                </a:solidFill>
                <a:latin typeface="Times New Roman" panose="02020603050405020304" pitchFamily="18" charset="0"/>
                <a:cs typeface="Times New Roman" panose="02020603050405020304" pitchFamily="18" charset="0"/>
              </a:rPr>
            </a:br>
            <a:r>
              <a:rPr lang="en-US" sz="2800" dirty="0" smtClean="0">
                <a:solidFill>
                  <a:schemeClr val="accent2"/>
                </a:solidFill>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grpSp>
        <p:nvGrpSpPr>
          <p:cNvPr id="6" name="Group 11"/>
          <p:cNvGrpSpPr>
            <a:grpSpLocks/>
          </p:cNvGrpSpPr>
          <p:nvPr/>
        </p:nvGrpSpPr>
        <p:grpSpPr bwMode="auto">
          <a:xfrm>
            <a:off x="1066800" y="1600200"/>
            <a:ext cx="5714999" cy="1905000"/>
            <a:chOff x="768" y="1296"/>
            <a:chExt cx="3600" cy="1056"/>
          </a:xfrm>
        </p:grpSpPr>
        <p:sp>
          <p:nvSpPr>
            <p:cNvPr id="7" name="Rectangle 4"/>
            <p:cNvSpPr>
              <a:spLocks noChangeArrowheads="1"/>
            </p:cNvSpPr>
            <p:nvPr/>
          </p:nvSpPr>
          <p:spPr bwMode="auto">
            <a:xfrm>
              <a:off x="768" y="1689"/>
              <a:ext cx="2016" cy="6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 name="Text Box 7"/>
            <p:cNvSpPr txBox="1">
              <a:spLocks noChangeArrowheads="1"/>
            </p:cNvSpPr>
            <p:nvPr/>
          </p:nvSpPr>
          <p:spPr bwMode="auto">
            <a:xfrm>
              <a:off x="1776" y="1296"/>
              <a:ext cx="25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Data usually goes first in a class</a:t>
              </a:r>
            </a:p>
          </p:txBody>
        </p:sp>
        <p:sp>
          <p:nvSpPr>
            <p:cNvPr id="9" name="Line 8"/>
            <p:cNvSpPr>
              <a:spLocks noChangeShapeType="1"/>
            </p:cNvSpPr>
            <p:nvPr/>
          </p:nvSpPr>
          <p:spPr bwMode="auto">
            <a:xfrm>
              <a:off x="1824" y="1536"/>
              <a:ext cx="2544"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latin typeface="Times New Roman" panose="02020603050405020304" pitchFamily="18" charset="0"/>
                <a:cs typeface="Times New Roman" panose="02020603050405020304" pitchFamily="18" charset="0"/>
              </a:endParaRPr>
            </a:p>
          </p:txBody>
        </p:sp>
        <p:sp>
          <p:nvSpPr>
            <p:cNvPr id="10" name="Line 9"/>
            <p:cNvSpPr>
              <a:spLocks noChangeShapeType="1"/>
            </p:cNvSpPr>
            <p:nvPr/>
          </p:nvSpPr>
          <p:spPr bwMode="auto">
            <a:xfrm flipH="1">
              <a:off x="2256" y="1536"/>
              <a:ext cx="768" cy="48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latin typeface="Times New Roman" panose="02020603050405020304" pitchFamily="18" charset="0"/>
                <a:cs typeface="Times New Roman" panose="02020603050405020304" pitchFamily="18" charset="0"/>
              </a:endParaRPr>
            </a:p>
          </p:txBody>
        </p:sp>
      </p:grpSp>
      <p:sp>
        <p:nvSpPr>
          <p:cNvPr id="11" name="Rectangle 10"/>
          <p:cNvSpPr txBox="1">
            <a:spLocks noChangeArrowheads="1"/>
          </p:cNvSpPr>
          <p:nvPr/>
        </p:nvSpPr>
        <p:spPr>
          <a:xfrm>
            <a:off x="228600" y="3886201"/>
            <a:ext cx="8555038" cy="1219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latin typeface="Times New Roman" panose="02020603050405020304" pitchFamily="18" charset="0"/>
                <a:cs typeface="Times New Roman" panose="02020603050405020304" pitchFamily="18" charset="0"/>
              </a:rPr>
              <a:t>A class may describe any number of objects</a:t>
            </a:r>
          </a:p>
          <a:p>
            <a:pPr lvl="1"/>
            <a:r>
              <a:rPr lang="en-US" sz="2000" dirty="0" smtClean="0">
                <a:latin typeface="Times New Roman" panose="02020603050405020304" pitchFamily="18" charset="0"/>
                <a:cs typeface="Times New Roman" panose="02020603050405020304" pitchFamily="18" charset="0"/>
              </a:rPr>
              <a:t>Examples:  "Fido", 3;  "Rover", 5;  "Spot", 3; </a:t>
            </a:r>
          </a:p>
          <a:p>
            <a:r>
              <a:rPr lang="en-US" sz="2400" dirty="0" smtClean="0">
                <a:latin typeface="Times New Roman" panose="02020603050405020304" pitchFamily="18" charset="0"/>
                <a:cs typeface="Times New Roman" panose="02020603050405020304" pitchFamily="18" charset="0"/>
              </a:rPr>
              <a:t>A class may describe a single object, or even no objects at all</a:t>
            </a:r>
            <a:endParaRPr lang="en-US" sz="2000" dirty="0">
              <a:latin typeface="Times New Roman" panose="02020603050405020304" pitchFamily="18" charset="0"/>
              <a:cs typeface="Times New Roman" panose="02020603050405020304" pitchFamily="18" charset="0"/>
            </a:endParaRPr>
          </a:p>
        </p:txBody>
      </p:sp>
      <p:sp>
        <p:nvSpPr>
          <p:cNvPr id="12"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7</a:t>
            </a:fld>
            <a:endParaRPr lang="en-US" altLang="en-US" dirty="0"/>
          </a:p>
        </p:txBody>
      </p:sp>
    </p:spTree>
    <p:extLst>
      <p:ext uri="{BB962C8B-B14F-4D97-AF65-F5344CB8AC3E}">
        <p14:creationId xmlns:p14="http://schemas.microsoft.com/office/powerpoint/2010/main" val="2741666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wipe(left)">
                                      <p:cBhvr>
                                        <p:cTn id="27" dur="500"/>
                                        <p:tgtEl>
                                          <p:spTgt spid="1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xEl>
                                              <p:pRg st="1" end="1"/>
                                            </p:txEl>
                                          </p:spTgt>
                                        </p:tgtEl>
                                        <p:attrNameLst>
                                          <p:attrName>style.visibility</p:attrName>
                                        </p:attrNameLst>
                                      </p:cBhvr>
                                      <p:to>
                                        <p:strVal val="visible"/>
                                      </p:to>
                                    </p:set>
                                    <p:animEffect transition="in" filter="wipe(left)">
                                      <p:cBhvr>
                                        <p:cTn id="32" dur="500"/>
                                        <p:tgtEl>
                                          <p:spTgt spid="11">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xEl>
                                              <p:pRg st="2" end="2"/>
                                            </p:txEl>
                                          </p:spTgt>
                                        </p:tgtEl>
                                        <p:attrNameLst>
                                          <p:attrName>style.visibility</p:attrName>
                                        </p:attrNameLst>
                                      </p:cBhvr>
                                      <p:to>
                                        <p:strVal val="visible"/>
                                      </p:to>
                                    </p:set>
                                    <p:animEffect transition="in" filter="wipe(left)">
                                      <p:cBhvr>
                                        <p:cTn id="3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autoUpdateAnimBg="0"/>
      <p:bldP spid="11" grpId="0" build="p" bldLvl="5"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922" y="717418"/>
            <a:ext cx="11414078" cy="1133965"/>
          </a:xfrm>
          <a:prstGeom prst="rect">
            <a:avLst/>
          </a:prstGeom>
        </p:spPr>
        <p:txBody>
          <a:bodyPr wrap="square">
            <a:sp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Salary</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8</a:t>
            </a:fld>
            <a:endParaRPr lang="en-US" altLang="en-US"/>
          </a:p>
        </p:txBody>
      </p:sp>
    </p:spTree>
    <p:extLst>
      <p:ext uri="{BB962C8B-B14F-4D97-AF65-F5344CB8AC3E}">
        <p14:creationId xmlns:p14="http://schemas.microsoft.com/office/powerpoint/2010/main" val="1964816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486400" y="278551"/>
            <a:ext cx="44958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Classes contain methods</a:t>
            </a:r>
          </a:p>
        </p:txBody>
      </p:sp>
      <p:sp>
        <p:nvSpPr>
          <p:cNvPr id="5" name="Rectangle 3"/>
          <p:cNvSpPr txBox="1">
            <a:spLocks noChangeArrowheads="1"/>
          </p:cNvSpPr>
          <p:nvPr/>
        </p:nvSpPr>
        <p:spPr>
          <a:xfrm>
            <a:off x="406186" y="830310"/>
            <a:ext cx="11328614" cy="33519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pPr>
            <a:r>
              <a:rPr lang="en-US" sz="2400" dirty="0" smtClean="0">
                <a:latin typeface="Times New Roman" panose="02020603050405020304" pitchFamily="18" charset="0"/>
                <a:cs typeface="Times New Roman" panose="02020603050405020304" pitchFamily="18" charset="0"/>
              </a:rPr>
              <a:t>A class may contain </a:t>
            </a:r>
            <a:r>
              <a:rPr lang="en-US" sz="2400" dirty="0" smtClean="0">
                <a:solidFill>
                  <a:srgbClr val="00B0F0"/>
                </a:solidFill>
                <a:latin typeface="Times New Roman" panose="02020603050405020304" pitchFamily="18" charset="0"/>
                <a:cs typeface="Times New Roman" panose="02020603050405020304" pitchFamily="18" charset="0"/>
              </a:rPr>
              <a:t>methods </a:t>
            </a:r>
            <a:r>
              <a:rPr lang="en-US" sz="2400" dirty="0" smtClean="0">
                <a:latin typeface="Times New Roman" panose="02020603050405020304" pitchFamily="18" charset="0"/>
                <a:cs typeface="Times New Roman" panose="02020603050405020304" pitchFamily="18" charset="0"/>
              </a:rPr>
              <a:t>that describe the behavior of objects</a:t>
            </a:r>
          </a:p>
          <a:p>
            <a:pPr>
              <a:lnSpc>
                <a:spcPct val="100000"/>
              </a:lnSpc>
              <a:spcBef>
                <a:spcPts val="600"/>
              </a:spcBef>
            </a:pPr>
            <a:r>
              <a:rPr lang="en-US" sz="2400" dirty="0">
                <a:latin typeface="Times New Roman" panose="02020603050405020304" pitchFamily="18" charset="0"/>
                <a:cs typeface="Times New Roman" panose="02020603050405020304" pitchFamily="18" charset="0"/>
              </a:rPr>
              <a:t>A method must be declared within a class. It is defined with the name of the method, followed by parentheses (). </a:t>
            </a:r>
            <a:endParaRPr lang="en-US" sz="2400" dirty="0" smtClean="0">
              <a:latin typeface="Times New Roman" panose="02020603050405020304" pitchFamily="18" charset="0"/>
              <a:cs typeface="Times New Roman" panose="02020603050405020304" pitchFamily="18" charset="0"/>
            </a:endParaRPr>
          </a:p>
          <a:p>
            <a:pPr>
              <a:lnSpc>
                <a:spcPct val="100000"/>
              </a:lnSpc>
              <a:spcBef>
                <a:spcPts val="600"/>
              </a:spcBef>
            </a:pPr>
            <a:r>
              <a:rPr lang="en-US" sz="2400" dirty="0" smtClean="0">
                <a:latin typeface="Times New Roman" panose="02020603050405020304" pitchFamily="18" charset="0"/>
                <a:cs typeface="Times New Roman" panose="02020603050405020304" pitchFamily="18" charset="0"/>
              </a:rPr>
              <a:t>Java </a:t>
            </a:r>
            <a:r>
              <a:rPr lang="en-US" sz="2400" dirty="0">
                <a:latin typeface="Times New Roman" panose="02020603050405020304" pitchFamily="18" charset="0"/>
                <a:cs typeface="Times New Roman" panose="02020603050405020304" pitchFamily="18" charset="0"/>
              </a:rPr>
              <a:t>provides some pre-defined methods, such as </a:t>
            </a:r>
            <a:r>
              <a:rPr lang="en-US" sz="2400" dirty="0" err="1">
                <a:latin typeface="Times New Roman" panose="02020603050405020304" pitchFamily="18" charset="0"/>
                <a:cs typeface="Times New Roman" panose="02020603050405020304" pitchFamily="18" charset="0"/>
              </a:rPr>
              <a:t>System.out.println</a:t>
            </a:r>
            <a:r>
              <a:rPr lang="en-US" sz="2400" dirty="0">
                <a:latin typeface="Times New Roman" panose="02020603050405020304" pitchFamily="18" charset="0"/>
                <a:cs typeface="Times New Roman" panose="02020603050405020304" pitchFamily="18" charset="0"/>
              </a:rPr>
              <a:t>(), but you can also create your own methods to perform certain actions</a:t>
            </a:r>
            <a:r>
              <a:rPr lang="en-US"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When we ask a </a:t>
            </a:r>
            <a:r>
              <a:rPr lang="en-US" sz="2400" i="1" dirty="0">
                <a:latin typeface="Times New Roman" panose="02020603050405020304" pitchFamily="18" charset="0"/>
                <a:cs typeface="Times New Roman" panose="02020603050405020304" pitchFamily="18" charset="0"/>
              </a:rPr>
              <a:t>particular</a:t>
            </a:r>
            <a:r>
              <a:rPr lang="en-US" sz="2400" dirty="0">
                <a:latin typeface="Times New Roman" panose="02020603050405020304" pitchFamily="18" charset="0"/>
                <a:cs typeface="Times New Roman" panose="02020603050405020304" pitchFamily="18" charset="0"/>
              </a:rPr>
              <a:t> Dog to bark, it says “</a:t>
            </a:r>
            <a:r>
              <a:rPr lang="en-US" sz="2400" dirty="0">
                <a:solidFill>
                  <a:srgbClr val="00B0F0"/>
                </a:solidFill>
                <a:latin typeface="Times New Roman" panose="02020603050405020304" pitchFamily="18" charset="0"/>
                <a:cs typeface="Times New Roman" panose="02020603050405020304" pitchFamily="18" charset="0"/>
              </a:rPr>
              <a:t>Woof</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Only Dog </a:t>
            </a:r>
            <a:r>
              <a:rPr lang="en-US" sz="2400" i="1" dirty="0">
                <a:latin typeface="Times New Roman" panose="02020603050405020304" pitchFamily="18" charset="0"/>
                <a:cs typeface="Times New Roman" panose="02020603050405020304" pitchFamily="18" charset="0"/>
              </a:rPr>
              <a:t>objects</a:t>
            </a:r>
            <a:r>
              <a:rPr lang="en-US" sz="2400" dirty="0">
                <a:latin typeface="Times New Roman" panose="02020603050405020304" pitchFamily="18" charset="0"/>
                <a:cs typeface="Times New Roman" panose="02020603050405020304" pitchFamily="18" charset="0"/>
              </a:rPr>
              <a:t> can bark; the </a:t>
            </a:r>
            <a:r>
              <a:rPr lang="en-US" sz="2400" i="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a:solidFill>
                  <a:schemeClr val="accent2"/>
                </a:solidFill>
                <a:latin typeface="Times New Roman" panose="02020603050405020304" pitchFamily="18" charset="0"/>
                <a:cs typeface="Times New Roman" panose="02020603050405020304" pitchFamily="18" charset="0"/>
              </a:rPr>
              <a:t>Dog</a:t>
            </a:r>
            <a:r>
              <a:rPr lang="en-US" sz="2400" dirty="0">
                <a:latin typeface="Times New Roman" panose="02020603050405020304" pitchFamily="18" charset="0"/>
                <a:cs typeface="Times New Roman" panose="02020603050405020304" pitchFamily="18" charset="0"/>
              </a:rPr>
              <a:t> cannot </a:t>
            </a:r>
            <a:r>
              <a:rPr lang="en-US" sz="2400" dirty="0" smtClean="0">
                <a:latin typeface="Times New Roman" panose="02020603050405020304" pitchFamily="18" charset="0"/>
                <a:cs typeface="Times New Roman" panose="02020603050405020304" pitchFamily="18" charset="0"/>
              </a:rPr>
              <a:t>bark</a:t>
            </a:r>
            <a:endParaRPr lang="en-US" sz="2400" dirty="0">
              <a:latin typeface="Times New Roman" panose="02020603050405020304" pitchFamily="18" charset="0"/>
              <a:cs typeface="Times New Roman" panose="02020603050405020304" pitchFamily="18" charset="0"/>
            </a:endParaRPr>
          </a:p>
        </p:txBody>
      </p:sp>
      <p:sp>
        <p:nvSpPr>
          <p:cNvPr id="11" name="Rectangle 9"/>
          <p:cNvSpPr txBox="1">
            <a:spLocks noChangeArrowheads="1"/>
          </p:cNvSpPr>
          <p:nvPr/>
        </p:nvSpPr>
        <p:spPr>
          <a:xfrm>
            <a:off x="406186" y="3062346"/>
            <a:ext cx="8574088" cy="1035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latin typeface="Times New Roman" panose="02020603050405020304" pitchFamily="18" charset="0"/>
              <a:cs typeface="Times New Roman" panose="02020603050405020304" pitchFamily="18" charset="0"/>
            </a:endParaRPr>
          </a:p>
        </p:txBody>
      </p:sp>
      <p:sp>
        <p:nvSpPr>
          <p:cNvPr id="12"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2" name="Rectangle 1"/>
          <p:cNvSpPr/>
          <p:nvPr/>
        </p:nvSpPr>
        <p:spPr>
          <a:xfrm>
            <a:off x="7620000" y="3580202"/>
            <a:ext cx="4260850" cy="2385268"/>
          </a:xfrm>
          <a:prstGeom prst="rect">
            <a:avLst/>
          </a:prstGeom>
          <a:ln>
            <a:noFill/>
          </a:ln>
        </p:spPr>
        <p:txBody>
          <a:bodyPr wrap="square">
            <a:spAutoFit/>
          </a:bodyPr>
          <a:lstStyle/>
          <a:p>
            <a:pPr>
              <a:spcBef>
                <a:spcPts val="600"/>
              </a:spcBef>
            </a:pPr>
            <a:r>
              <a:rPr lang="en-US" sz="2400" dirty="0">
                <a:latin typeface="Times New Roman" panose="02020603050405020304" pitchFamily="18" charset="0"/>
                <a:cs typeface="Times New Roman" panose="02020603050405020304" pitchFamily="18" charset="0"/>
              </a:rPr>
              <a:t>Example:</a:t>
            </a:r>
          </a:p>
          <a:p>
            <a:pPr lvl="1">
              <a:spcBef>
                <a:spcPts val="600"/>
              </a:spcBef>
            </a:pPr>
            <a:r>
              <a:rPr lang="en-US" sz="2000" dirty="0">
                <a:solidFill>
                  <a:schemeClr val="accent2"/>
                </a:solidFill>
                <a:latin typeface="Times New Roman" panose="02020603050405020304" pitchFamily="18" charset="0"/>
                <a:cs typeface="Times New Roman" panose="02020603050405020304" pitchFamily="18" charset="0"/>
              </a:rPr>
              <a:t>class Dog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void bark()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err="1">
                <a:solidFill>
                  <a:schemeClr val="accent2"/>
                </a:solidFill>
                <a:latin typeface="Times New Roman" panose="02020603050405020304" pitchFamily="18" charset="0"/>
                <a:cs typeface="Times New Roman" panose="02020603050405020304" pitchFamily="18" charset="0"/>
              </a:rPr>
              <a:t>System.out.println</a:t>
            </a:r>
            <a:r>
              <a:rPr lang="en-US" sz="2000" dirty="0">
                <a:solidFill>
                  <a:schemeClr val="accent2"/>
                </a:solidFill>
                <a:latin typeface="Times New Roman" panose="02020603050405020304" pitchFamily="18" charset="0"/>
                <a:cs typeface="Times New Roman" panose="02020603050405020304" pitchFamily="18" charset="0"/>
              </a:rPr>
              <a:t>("Woof!");</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a:t>
            </a:r>
          </a:p>
        </p:txBody>
      </p:sp>
      <p:grpSp>
        <p:nvGrpSpPr>
          <p:cNvPr id="6" name="Group 10"/>
          <p:cNvGrpSpPr>
            <a:grpSpLocks/>
          </p:cNvGrpSpPr>
          <p:nvPr/>
        </p:nvGrpSpPr>
        <p:grpSpPr bwMode="auto">
          <a:xfrm>
            <a:off x="4419600" y="4291842"/>
            <a:ext cx="7314703" cy="1422400"/>
            <a:chOff x="-2304" y="1397"/>
            <a:chExt cx="5671" cy="896"/>
          </a:xfrm>
        </p:grpSpPr>
        <p:sp>
          <p:nvSpPr>
            <p:cNvPr id="7" name="Rectangle 5"/>
            <p:cNvSpPr>
              <a:spLocks noChangeArrowheads="1"/>
            </p:cNvSpPr>
            <p:nvPr/>
          </p:nvSpPr>
          <p:spPr bwMode="auto">
            <a:xfrm>
              <a:off x="704" y="1619"/>
              <a:ext cx="2663" cy="67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600"/>
                </a:spcBef>
              </a:pPr>
              <a:endParaRPr lang="en-US">
                <a:latin typeface="Times New Roman" panose="02020603050405020304" pitchFamily="18" charset="0"/>
                <a:cs typeface="Times New Roman" panose="02020603050405020304" pitchFamily="18" charset="0"/>
              </a:endParaRPr>
            </a:p>
          </p:txBody>
        </p:sp>
        <p:sp>
          <p:nvSpPr>
            <p:cNvPr id="8" name="Text Box 6"/>
            <p:cNvSpPr txBox="1">
              <a:spLocks noChangeArrowheads="1"/>
            </p:cNvSpPr>
            <p:nvPr/>
          </p:nvSpPr>
          <p:spPr bwMode="auto">
            <a:xfrm>
              <a:off x="-2304" y="1397"/>
              <a:ext cx="273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en-US" sz="2000" dirty="0">
                  <a:latin typeface="Times New Roman" panose="02020603050405020304" pitchFamily="18" charset="0"/>
                  <a:cs typeface="Times New Roman" panose="02020603050405020304" pitchFamily="18" charset="0"/>
                </a:rPr>
                <a:t>Methods usually go after the data</a:t>
              </a:r>
            </a:p>
          </p:txBody>
        </p:sp>
        <p:sp>
          <p:nvSpPr>
            <p:cNvPr id="9" name="Line 7"/>
            <p:cNvSpPr>
              <a:spLocks noChangeShapeType="1"/>
            </p:cNvSpPr>
            <p:nvPr/>
          </p:nvSpPr>
          <p:spPr bwMode="auto">
            <a:xfrm flipV="1">
              <a:off x="-2256" y="1634"/>
              <a:ext cx="2589" cy="3"/>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spcBef>
                  <a:spcPts val="600"/>
                </a:spcBef>
              </a:pPr>
              <a:endParaRPr lang="en-US">
                <a:latin typeface="Times New Roman" panose="02020603050405020304" pitchFamily="18" charset="0"/>
                <a:cs typeface="Times New Roman" panose="02020603050405020304" pitchFamily="18" charset="0"/>
              </a:endParaRPr>
            </a:p>
          </p:txBody>
        </p:sp>
        <p:sp>
          <p:nvSpPr>
            <p:cNvPr id="10" name="Line 8"/>
            <p:cNvSpPr>
              <a:spLocks noChangeShapeType="1"/>
            </p:cNvSpPr>
            <p:nvPr/>
          </p:nvSpPr>
          <p:spPr bwMode="auto">
            <a:xfrm>
              <a:off x="-768" y="1640"/>
              <a:ext cx="1472" cy="241"/>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spcBef>
                  <a:spcPts val="600"/>
                </a:spcBef>
              </a:pPr>
              <a:endParaRPr lang="en-US">
                <a:latin typeface="Times New Roman" panose="02020603050405020304" pitchFamily="18" charset="0"/>
                <a:cs typeface="Times New Roman" panose="02020603050405020304" pitchFamily="18" charset="0"/>
              </a:endParaRPr>
            </a:p>
          </p:txBody>
        </p:sp>
      </p:grpSp>
      <p:sp>
        <p:nvSpPr>
          <p:cNvPr id="13" name="Slide Number Placeholder 12"/>
          <p:cNvSpPr>
            <a:spLocks noGrp="1"/>
          </p:cNvSpPr>
          <p:nvPr>
            <p:ph type="sldNum" sz="quarter" idx="12"/>
          </p:nvPr>
        </p:nvSpPr>
        <p:spPr/>
        <p:txBody>
          <a:bodyPr/>
          <a:lstStyle/>
          <a:p>
            <a:pPr>
              <a:defRPr/>
            </a:pPr>
            <a:fld id="{A01CA5F2-CD08-4EF5-BAD9-872B7BB27165}" type="slidenum">
              <a:rPr lang="en-US" altLang="en-US" smtClean="0"/>
              <a:pPr>
                <a:defRPr/>
              </a:pPr>
              <a:t>9</a:t>
            </a:fld>
            <a:endParaRPr lang="en-US" altLang="en-US" dirty="0"/>
          </a:p>
        </p:txBody>
      </p:sp>
    </p:spTree>
    <p:extLst>
      <p:ext uri="{BB962C8B-B14F-4D97-AF65-F5344CB8AC3E}">
        <p14:creationId xmlns:p14="http://schemas.microsoft.com/office/powerpoint/2010/main" val="126312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left)">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wipe(left)">
                                      <p:cBhvr>
                                        <p:cTn id="3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5" autoUpdateAnimBg="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486400" y="214007"/>
            <a:ext cx="64770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Methods contain </a:t>
            </a:r>
            <a:r>
              <a:rPr lang="en-US" sz="2800" dirty="0" smtClean="0">
                <a:solidFill>
                  <a:srgbClr val="FF0000"/>
                </a:solidFill>
                <a:latin typeface="Times New Roman" panose="02020603050405020304" pitchFamily="18" charset="0"/>
                <a:ea typeface="+mn-ea"/>
                <a:cs typeface="Times New Roman" panose="02020603050405020304" pitchFamily="18" charset="0"/>
              </a:rPr>
              <a:t>statements and Parameters</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sp>
        <p:nvSpPr>
          <p:cNvPr id="7" name="Rectangle 3"/>
          <p:cNvSpPr txBox="1">
            <a:spLocks noChangeArrowheads="1"/>
          </p:cNvSpPr>
          <p:nvPr/>
        </p:nvSpPr>
        <p:spPr>
          <a:xfrm>
            <a:off x="381000" y="914400"/>
            <a:ext cx="11582400" cy="2971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latin typeface="Times New Roman" panose="02020603050405020304" pitchFamily="18" charset="0"/>
                <a:cs typeface="Times New Roman" panose="02020603050405020304" pitchFamily="18" charset="0"/>
              </a:rPr>
              <a:t>A </a:t>
            </a:r>
            <a:r>
              <a:rPr lang="en-US" sz="2400" dirty="0" smtClean="0">
                <a:solidFill>
                  <a:srgbClr val="00B0F0"/>
                </a:solidFill>
                <a:latin typeface="Times New Roman" panose="02020603050405020304" pitchFamily="18" charset="0"/>
                <a:cs typeface="Times New Roman" panose="02020603050405020304" pitchFamily="18" charset="0"/>
              </a:rPr>
              <a:t>statement </a:t>
            </a:r>
            <a:r>
              <a:rPr lang="en-US" sz="2400" dirty="0" smtClean="0">
                <a:latin typeface="Times New Roman" panose="02020603050405020304" pitchFamily="18" charset="0"/>
                <a:cs typeface="Times New Roman" panose="02020603050405020304" pitchFamily="18" charset="0"/>
              </a:rPr>
              <a:t>causes the object to do something</a:t>
            </a:r>
          </a:p>
          <a:p>
            <a:pPr lvl="1"/>
            <a:r>
              <a:rPr lang="en-US" dirty="0" smtClean="0">
                <a:latin typeface="Times New Roman" panose="02020603050405020304" pitchFamily="18" charset="0"/>
                <a:cs typeface="Times New Roman" panose="02020603050405020304" pitchFamily="18" charset="0"/>
              </a:rPr>
              <a:t>(A better word would be “command”—but it isn’t)</a:t>
            </a:r>
          </a:p>
          <a:p>
            <a:r>
              <a:rPr lang="en-US" sz="2400" dirty="0" smtClean="0">
                <a:latin typeface="Times New Roman" panose="02020603050405020304" pitchFamily="18" charset="0"/>
                <a:cs typeface="Times New Roman" panose="02020603050405020304" pitchFamily="18" charset="0"/>
              </a:rPr>
              <a:t>Example:</a:t>
            </a:r>
          </a:p>
          <a:p>
            <a:pPr marL="457200" lvl="1" indent="0">
              <a:buNone/>
            </a:pPr>
            <a:r>
              <a:rPr lang="en-US" dirty="0" smtClean="0">
                <a:solidFill>
                  <a:schemeClr val="accent2"/>
                </a:solidFill>
                <a:latin typeface="Times New Roman" panose="02020603050405020304" pitchFamily="18" charset="0"/>
                <a:cs typeface="Times New Roman" panose="02020603050405020304" pitchFamily="18" charset="0"/>
              </a:rPr>
              <a:t>   </a:t>
            </a:r>
            <a:r>
              <a:rPr lang="en-US" dirty="0" err="1" smtClean="0">
                <a:solidFill>
                  <a:schemeClr val="accent2"/>
                </a:solidFill>
                <a:latin typeface="Times New Roman" panose="02020603050405020304" pitchFamily="18" charset="0"/>
                <a:cs typeface="Times New Roman" panose="02020603050405020304" pitchFamily="18" charset="0"/>
              </a:rPr>
              <a:t>System.out.println</a:t>
            </a:r>
            <a:r>
              <a:rPr lang="en-US" dirty="0" smtClean="0">
                <a:solidFill>
                  <a:schemeClr val="accent2"/>
                </a:solidFill>
                <a:latin typeface="Times New Roman" panose="02020603050405020304" pitchFamily="18" charset="0"/>
                <a:cs typeface="Times New Roman" panose="02020603050405020304" pitchFamily="18" charset="0"/>
              </a:rPr>
              <a:t>("Woof!");</a:t>
            </a:r>
            <a:endParaRPr lang="en-US" dirty="0" smtClean="0">
              <a:latin typeface="Times New Roman" panose="02020603050405020304" pitchFamily="18" charset="0"/>
              <a:cs typeface="Times New Roman" panose="02020603050405020304" pitchFamily="18" charset="0"/>
            </a:endParaRPr>
          </a:p>
          <a:p>
            <a:pPr lvl="1">
              <a:lnSpc>
                <a:spcPct val="100000"/>
              </a:lnSpc>
            </a:pPr>
            <a:r>
              <a:rPr lang="en-US" dirty="0" smtClean="0">
                <a:latin typeface="Times New Roman" panose="02020603050405020304" pitchFamily="18" charset="0"/>
                <a:cs typeface="Times New Roman" panose="02020603050405020304" pitchFamily="18" charset="0"/>
              </a:rPr>
              <a:t>This causes the particular </a:t>
            </a:r>
            <a:r>
              <a:rPr lang="en-US" dirty="0" smtClean="0">
                <a:solidFill>
                  <a:srgbClr val="00B0F0"/>
                </a:solidFill>
                <a:latin typeface="Times New Roman" panose="02020603050405020304" pitchFamily="18" charset="0"/>
                <a:cs typeface="Times New Roman" panose="02020603050405020304" pitchFamily="18" charset="0"/>
              </a:rPr>
              <a:t>Dog </a:t>
            </a:r>
            <a:r>
              <a:rPr lang="en-US" dirty="0" smtClean="0">
                <a:latin typeface="Times New Roman" panose="02020603050405020304" pitchFamily="18" charset="0"/>
                <a:cs typeface="Times New Roman" panose="02020603050405020304" pitchFamily="18" charset="0"/>
              </a:rPr>
              <a:t>to “print” (actually, display on the screen) the characters </a:t>
            </a:r>
            <a:r>
              <a:rPr lang="en-US" dirty="0" smtClean="0">
                <a:solidFill>
                  <a:srgbClr val="00B0F0"/>
                </a:solidFill>
                <a:latin typeface="Times New Roman" panose="02020603050405020304" pitchFamily="18" charset="0"/>
                <a:cs typeface="Times New Roman" panose="02020603050405020304" pitchFamily="18" charset="0"/>
              </a:rPr>
              <a:t>Woof</a:t>
            </a:r>
            <a:r>
              <a:rPr lang="en-US" dirty="0" smtClean="0">
                <a:solidFill>
                  <a:schemeClr val="accent2"/>
                </a:solidFill>
                <a:latin typeface="Times New Roman" panose="02020603050405020304" pitchFamily="18" charset="0"/>
                <a:cs typeface="Times New Roman" panose="02020603050405020304" pitchFamily="18" charset="0"/>
              </a:rPr>
              <a:t>!</a:t>
            </a:r>
            <a:endParaRPr lang="en-US" dirty="0">
              <a:solidFill>
                <a:schemeClr val="accent2"/>
              </a:solidFill>
              <a:latin typeface="Times New Roman" panose="02020603050405020304" pitchFamily="18" charset="0"/>
              <a:cs typeface="Times New Roman" panose="02020603050405020304" pitchFamily="18" charset="0"/>
            </a:endParaRPr>
          </a:p>
        </p:txBody>
      </p:sp>
      <p:sp>
        <p:nvSpPr>
          <p:cNvPr id="8"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10" name="Rectangle 3"/>
          <p:cNvSpPr txBox="1">
            <a:spLocks noChangeArrowheads="1"/>
          </p:cNvSpPr>
          <p:nvPr/>
        </p:nvSpPr>
        <p:spPr>
          <a:xfrm>
            <a:off x="381000" y="3505200"/>
            <a:ext cx="7467600" cy="180712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smtClean="0">
                <a:latin typeface="Times New Roman" panose="02020603050405020304" pitchFamily="18" charset="0"/>
                <a:cs typeface="Times New Roman" panose="02020603050405020304" pitchFamily="18" charset="0"/>
              </a:rPr>
              <a:t>Data described in a class exists in all objects of that class</a:t>
            </a:r>
          </a:p>
          <a:p>
            <a:pPr lvl="1"/>
            <a:r>
              <a:rPr lang="en-US" dirty="0" smtClean="0">
                <a:latin typeface="Times New Roman" panose="02020603050405020304" pitchFamily="18" charset="0"/>
                <a:cs typeface="Times New Roman" panose="02020603050405020304" pitchFamily="18" charset="0"/>
              </a:rPr>
              <a:t>Example: Every Dog has its own name and age</a:t>
            </a:r>
          </a:p>
          <a:p>
            <a:r>
              <a:rPr lang="en-US" sz="2400" dirty="0" smtClean="0">
                <a:latin typeface="Times New Roman" panose="02020603050405020304" pitchFamily="18" charset="0"/>
                <a:cs typeface="Times New Roman" panose="02020603050405020304" pitchFamily="18" charset="0"/>
              </a:rPr>
              <a:t>A method may contain local </a:t>
            </a:r>
            <a:r>
              <a:rPr lang="en-US" sz="2400" i="1" dirty="0" smtClean="0">
                <a:solidFill>
                  <a:srgbClr val="00B0F0"/>
                </a:solidFill>
                <a:latin typeface="Times New Roman" panose="02020603050405020304" pitchFamily="18" charset="0"/>
                <a:cs typeface="Times New Roman" panose="02020603050405020304" pitchFamily="18" charset="0"/>
              </a:rPr>
              <a:t>temporary</a:t>
            </a:r>
            <a:r>
              <a:rPr lang="en-US" sz="2400" dirty="0" smtClean="0">
                <a:latin typeface="Times New Roman" panose="02020603050405020304" pitchFamily="18" charset="0"/>
                <a:cs typeface="Times New Roman" panose="02020603050405020304" pitchFamily="18" charset="0"/>
              </a:rPr>
              <a:t> data that exists only until the method finishes(either as parameter or with in its body)</a:t>
            </a:r>
          </a:p>
        </p:txBody>
      </p:sp>
      <p:sp>
        <p:nvSpPr>
          <p:cNvPr id="11" name="Rectangle 10"/>
          <p:cNvSpPr/>
          <p:nvPr/>
        </p:nvSpPr>
        <p:spPr>
          <a:xfrm>
            <a:off x="7848600" y="3305888"/>
            <a:ext cx="4114800" cy="2554545"/>
          </a:xfrm>
          <a:prstGeom prst="rect">
            <a:avLst/>
          </a:prstGeom>
          <a:ln>
            <a:solidFill>
              <a:srgbClr val="990099"/>
            </a:solidFill>
          </a:ln>
        </p:spPr>
        <p:txBody>
          <a:bodyPr wrap="square">
            <a:spAutoFit/>
          </a:bodyPr>
          <a:lstStyle/>
          <a:p>
            <a:r>
              <a:rPr lang="en-US" sz="2000" dirty="0" smtClean="0">
                <a:latin typeface="Times New Roman" panose="02020603050405020304" pitchFamily="18" charset="0"/>
                <a:cs typeface="Times New Roman" panose="02020603050405020304" pitchFamily="18" charset="0"/>
              </a:rPr>
              <a:t>Example:</a:t>
            </a:r>
          </a:p>
          <a:p>
            <a:r>
              <a:rPr lang="en-US" sz="2000" dirty="0" smtClean="0">
                <a:solidFill>
                  <a:schemeClr val="accent2"/>
                </a:solidFill>
                <a:latin typeface="Times New Roman" panose="02020603050405020304" pitchFamily="18" charset="0"/>
                <a:cs typeface="Times New Roman" panose="02020603050405020304" pitchFamily="18" charset="0"/>
              </a:rPr>
              <a:t>void </a:t>
            </a:r>
            <a:r>
              <a:rPr lang="en-US" sz="2000" dirty="0" err="1">
                <a:solidFill>
                  <a:schemeClr val="accent2"/>
                </a:solidFill>
                <a:latin typeface="Times New Roman" panose="02020603050405020304" pitchFamily="18" charset="0"/>
                <a:cs typeface="Times New Roman" panose="02020603050405020304" pitchFamily="18" charset="0"/>
              </a:rPr>
              <a:t>wakeTheNeighbors</a:t>
            </a:r>
            <a:r>
              <a:rPr lang="en-US" sz="2000" dirty="0">
                <a:solidFill>
                  <a:schemeClr val="accent2"/>
                </a:solidFill>
                <a:latin typeface="Times New Roman" panose="02020603050405020304" pitchFamily="18" charset="0"/>
                <a:cs typeface="Times New Roman" panose="02020603050405020304" pitchFamily="18" charset="0"/>
              </a:rPr>
              <a:t>( )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err="1">
                <a:solidFill>
                  <a:schemeClr val="accent2"/>
                </a:solidFill>
                <a:latin typeface="Times New Roman" panose="02020603050405020304" pitchFamily="18" charset="0"/>
                <a:cs typeface="Times New Roman" panose="02020603050405020304" pitchFamily="18" charset="0"/>
              </a:rPr>
              <a:t>int</a:t>
            </a: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err="1">
                <a:solidFill>
                  <a:schemeClr val="accent2"/>
                </a:solidFill>
                <a:latin typeface="Times New Roman" panose="02020603050405020304" pitchFamily="18" charset="0"/>
                <a:cs typeface="Times New Roman" panose="02020603050405020304" pitchFamily="18" charset="0"/>
              </a:rPr>
              <a:t>i</a:t>
            </a:r>
            <a:r>
              <a:rPr lang="en-US" sz="2000" dirty="0">
                <a:solidFill>
                  <a:schemeClr val="accent2"/>
                </a:solidFill>
                <a:latin typeface="Times New Roman" panose="02020603050405020304" pitchFamily="18" charset="0"/>
                <a:cs typeface="Times New Roman" panose="02020603050405020304" pitchFamily="18" charset="0"/>
              </a:rPr>
              <a:t> = 50;  </a:t>
            </a:r>
            <a:r>
              <a:rPr lang="en-US" dirty="0" smtClean="0">
                <a:solidFill>
                  <a:schemeClr val="accent1"/>
                </a:solidFill>
                <a:latin typeface="Times New Roman" panose="02020603050405020304" pitchFamily="18" charset="0"/>
                <a:cs typeface="Times New Roman" panose="02020603050405020304" pitchFamily="18" charset="0"/>
              </a:rPr>
              <a:t>// </a:t>
            </a:r>
            <a:r>
              <a:rPr lang="en-US" dirty="0" err="1">
                <a:solidFill>
                  <a:schemeClr val="accent1"/>
                </a:solidFill>
                <a:latin typeface="Times New Roman" panose="02020603050405020304" pitchFamily="18" charset="0"/>
                <a:cs typeface="Times New Roman" panose="02020603050405020304" pitchFamily="18" charset="0"/>
              </a:rPr>
              <a:t>i</a:t>
            </a:r>
            <a:r>
              <a:rPr lang="en-US" dirty="0">
                <a:solidFill>
                  <a:schemeClr val="accent1"/>
                </a:solidFill>
                <a:latin typeface="Times New Roman" panose="02020603050405020304" pitchFamily="18" charset="0"/>
                <a:cs typeface="Times New Roman" panose="02020603050405020304" pitchFamily="18" charset="0"/>
              </a:rPr>
              <a:t> is a temporary variable</a:t>
            </a:r>
            <a:r>
              <a:rPr lang="en-US" sz="2000" dirty="0">
                <a:solidFill>
                  <a:schemeClr val="accent2"/>
                </a:solidFill>
                <a:latin typeface="Times New Roman" panose="02020603050405020304" pitchFamily="18" charset="0"/>
                <a:cs typeface="Times New Roman" panose="02020603050405020304" pitchFamily="18" charset="0"/>
              </a:rPr>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while (</a:t>
            </a:r>
            <a:r>
              <a:rPr lang="en-US" sz="2000" dirty="0" err="1">
                <a:solidFill>
                  <a:schemeClr val="accent2"/>
                </a:solidFill>
                <a:latin typeface="Times New Roman" panose="02020603050405020304" pitchFamily="18" charset="0"/>
                <a:cs typeface="Times New Roman" panose="02020603050405020304" pitchFamily="18" charset="0"/>
              </a:rPr>
              <a:t>i</a:t>
            </a:r>
            <a:r>
              <a:rPr lang="en-US" sz="2000" dirty="0">
                <a:solidFill>
                  <a:schemeClr val="accent2"/>
                </a:solidFill>
                <a:latin typeface="Times New Roman" panose="02020603050405020304" pitchFamily="18" charset="0"/>
                <a:cs typeface="Times New Roman" panose="02020603050405020304" pitchFamily="18" charset="0"/>
              </a:rPr>
              <a:t> &gt; 0)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bark(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err="1">
                <a:solidFill>
                  <a:schemeClr val="accent2"/>
                </a:solidFill>
                <a:latin typeface="Times New Roman" panose="02020603050405020304" pitchFamily="18" charset="0"/>
                <a:cs typeface="Times New Roman" panose="02020603050405020304" pitchFamily="18" charset="0"/>
              </a:rPr>
              <a:t>i</a:t>
            </a:r>
            <a:r>
              <a:rPr lang="en-US" sz="2000" dirty="0">
                <a:solidFill>
                  <a:schemeClr val="accent2"/>
                </a:solidFill>
                <a:latin typeface="Times New Roman" panose="02020603050405020304" pitchFamily="18" charset="0"/>
                <a:cs typeface="Times New Roman" panose="02020603050405020304" pitchFamily="18" charset="0"/>
              </a:rPr>
              <a:t> = </a:t>
            </a:r>
            <a:r>
              <a:rPr lang="en-US" sz="2000" dirty="0" err="1">
                <a:solidFill>
                  <a:schemeClr val="accent2"/>
                </a:solidFill>
                <a:latin typeface="Times New Roman" panose="02020603050405020304" pitchFamily="18" charset="0"/>
                <a:cs typeface="Times New Roman" panose="02020603050405020304" pitchFamily="18" charset="0"/>
              </a:rPr>
              <a:t>i</a:t>
            </a:r>
            <a:r>
              <a:rPr lang="en-US" sz="2000" dirty="0">
                <a:solidFill>
                  <a:schemeClr val="accent2"/>
                </a:solidFill>
                <a:latin typeface="Times New Roman" panose="02020603050405020304" pitchFamily="18" charset="0"/>
                <a:cs typeface="Times New Roman" panose="02020603050405020304" pitchFamily="18" charset="0"/>
              </a:rPr>
              <a:t> – 1;</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    }</a:t>
            </a:r>
            <a:br>
              <a:rPr lang="en-US" sz="2000" dirty="0">
                <a:solidFill>
                  <a:schemeClr val="accent2"/>
                </a:solidFill>
                <a:latin typeface="Times New Roman" panose="02020603050405020304" pitchFamily="18" charset="0"/>
                <a:cs typeface="Times New Roman" panose="02020603050405020304" pitchFamily="18" charset="0"/>
              </a:rPr>
            </a:br>
            <a:r>
              <a:rPr lang="en-US" sz="2000" dirty="0">
                <a:solidFill>
                  <a:schemeClr val="accent2"/>
                </a:solidFill>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10</a:t>
            </a:fld>
            <a:endParaRPr lang="en-US" altLang="en-US" dirty="0"/>
          </a:p>
        </p:txBody>
      </p:sp>
    </p:spTree>
    <p:extLst>
      <p:ext uri="{BB962C8B-B14F-4D97-AF65-F5344CB8AC3E}">
        <p14:creationId xmlns:p14="http://schemas.microsoft.com/office/powerpoint/2010/main" val="157684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187371"/>
            <a:ext cx="4343399" cy="5694907"/>
          </a:xfrm>
          <a:prstGeom prst="rect">
            <a:avLst/>
          </a:prstGeom>
        </p:spPr>
      </p:pic>
      <p:cxnSp>
        <p:nvCxnSpPr>
          <p:cNvPr id="9" name="Curved Connector 8"/>
          <p:cNvCxnSpPr/>
          <p:nvPr/>
        </p:nvCxnSpPr>
        <p:spPr>
          <a:xfrm rot="16200000" flipH="1">
            <a:off x="9601200" y="1828800"/>
            <a:ext cx="304800" cy="152400"/>
          </a:xfrm>
          <a:prstGeom prst="curved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p:cNvCxnSpPr/>
          <p:nvPr/>
        </p:nvCxnSpPr>
        <p:spPr>
          <a:xfrm rot="16200000" flipH="1">
            <a:off x="9906000" y="1828800"/>
            <a:ext cx="304800" cy="152400"/>
          </a:xfrm>
          <a:prstGeom prst="curvedConnector3">
            <a:avLst>
              <a:gd name="adj1" fmla="val 4104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p:cNvCxnSpPr/>
          <p:nvPr/>
        </p:nvCxnSpPr>
        <p:spPr>
          <a:xfrm rot="16200000" flipH="1">
            <a:off x="10591800" y="3657600"/>
            <a:ext cx="304800" cy="152400"/>
          </a:xfrm>
          <a:prstGeom prst="curved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p:cNvCxnSpPr/>
          <p:nvPr/>
        </p:nvCxnSpPr>
        <p:spPr>
          <a:xfrm rot="16200000" flipH="1">
            <a:off x="11125199" y="3638266"/>
            <a:ext cx="304800" cy="152400"/>
          </a:xfrm>
          <a:prstGeom prst="curvedConnector3">
            <a:avLst>
              <a:gd name="adj1" fmla="val 41045"/>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9296400" y="2057400"/>
            <a:ext cx="2057399" cy="457200"/>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Actual  Parameters</a:t>
            </a:r>
            <a:endParaRPr lang="en-US" dirty="0">
              <a:solidFill>
                <a:schemeClr val="tx1"/>
              </a:solidFill>
            </a:endParaRPr>
          </a:p>
        </p:txBody>
      </p:sp>
      <p:sp>
        <p:nvSpPr>
          <p:cNvPr id="15" name="Rectangle 14"/>
          <p:cNvSpPr/>
          <p:nvPr/>
        </p:nvSpPr>
        <p:spPr>
          <a:xfrm>
            <a:off x="9829800" y="3858905"/>
            <a:ext cx="2057399" cy="457200"/>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Formal Parameters</a:t>
            </a:r>
            <a:endParaRPr lang="en-US" dirty="0">
              <a:solidFill>
                <a:schemeClr val="tx1"/>
              </a:solidFill>
            </a:endParaRPr>
          </a:p>
        </p:txBody>
      </p:sp>
      <p:sp>
        <p:nvSpPr>
          <p:cNvPr id="16"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17" name="Rectangle 16"/>
          <p:cNvSpPr/>
          <p:nvPr/>
        </p:nvSpPr>
        <p:spPr>
          <a:xfrm>
            <a:off x="381000" y="955796"/>
            <a:ext cx="2008883" cy="584775"/>
          </a:xfrm>
          <a:prstGeom prst="rect">
            <a:avLst/>
          </a:prstGeo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p>
            <a:r>
              <a:rPr lang="en-US" sz="3200" dirty="0">
                <a:solidFill>
                  <a:srgbClr val="FF0000"/>
                </a:solidFill>
                <a:latin typeface="Times New Roman" panose="02020603050405020304" pitchFamily="18" charset="0"/>
                <a:cs typeface="Times New Roman" panose="02020603050405020304" pitchFamily="18" charset="0"/>
              </a:rPr>
              <a:t>Parameters</a:t>
            </a:r>
          </a:p>
        </p:txBody>
      </p:sp>
      <p:sp>
        <p:nvSpPr>
          <p:cNvPr id="18" name="Rectangle 4"/>
          <p:cNvSpPr txBox="1">
            <a:spLocks noChangeArrowheads="1"/>
          </p:cNvSpPr>
          <p:nvPr/>
        </p:nvSpPr>
        <p:spPr>
          <a:xfrm>
            <a:off x="381000" y="1523511"/>
            <a:ext cx="6017701" cy="16006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smtClean="0">
                <a:solidFill>
                  <a:srgbClr val="00B0F0"/>
                </a:solidFill>
                <a:latin typeface="Times New Roman" panose="02020603050405020304" pitchFamily="18" charset="0"/>
                <a:cs typeface="Times New Roman" panose="02020603050405020304" pitchFamily="18" charset="0"/>
              </a:rPr>
              <a:t>Actual Parameters</a:t>
            </a:r>
          </a:p>
          <a:p>
            <a:pPr>
              <a:lnSpc>
                <a:spcPct val="150000"/>
              </a:lnSpc>
            </a:pPr>
            <a:r>
              <a:rPr lang="en-US" dirty="0" smtClean="0">
                <a:solidFill>
                  <a:srgbClr val="00B0F0"/>
                </a:solidFill>
                <a:latin typeface="Times New Roman" panose="02020603050405020304" pitchFamily="18" charset="0"/>
                <a:cs typeface="Times New Roman" panose="02020603050405020304" pitchFamily="18" charset="0"/>
              </a:rPr>
              <a:t>Formal Parameters</a:t>
            </a:r>
            <a:endParaRPr lang="en-US" dirty="0">
              <a:solidFill>
                <a:srgbClr val="00B0F0"/>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11</a:t>
            </a:fld>
            <a:endParaRPr lang="en-US" altLang="en-US" dirty="0"/>
          </a:p>
        </p:txBody>
      </p:sp>
    </p:spTree>
    <p:extLst>
      <p:ext uri="{BB962C8B-B14F-4D97-AF65-F5344CB8AC3E}">
        <p14:creationId xmlns:p14="http://schemas.microsoft.com/office/powerpoint/2010/main" val="92078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922" y="717418"/>
            <a:ext cx="11414078" cy="1754326"/>
          </a:xfrm>
          <a:prstGeom prst="rect">
            <a:avLst/>
          </a:prstGeom>
        </p:spPr>
        <p:txBody>
          <a:bodyPr wrap="square">
            <a:sp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Salary</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Help Mr</a:t>
            </a:r>
            <a:r>
              <a:rPr lang="en-US" sz="2400" dirty="0">
                <a:latin typeface="Times New Roman" panose="02020603050405020304" pitchFamily="18" charset="0"/>
                <a:cs typeface="Times New Roman" panose="02020603050405020304" pitchFamily="18" charset="0"/>
              </a:rPr>
              <a:t>. John </a:t>
            </a:r>
            <a:r>
              <a:rPr lang="en-US" sz="2400" dirty="0" smtClean="0">
                <a:latin typeface="Times New Roman" panose="02020603050405020304" pitchFamily="18" charset="0"/>
                <a:cs typeface="Times New Roman" panose="02020603050405020304" pitchFamily="18" charset="0"/>
              </a:rPr>
              <a:t>to read/store the records and retrieve all </a:t>
            </a:r>
            <a:r>
              <a:rPr lang="en-US" sz="2400" dirty="0">
                <a:latin typeface="Times New Roman" panose="02020603050405020304" pitchFamily="18" charset="0"/>
                <a:cs typeface="Times New Roman" panose="02020603050405020304" pitchFamily="18" charset="0"/>
              </a:rPr>
              <a:t>the records which he has </a:t>
            </a:r>
            <a:r>
              <a:rPr lang="en-US" sz="2400" dirty="0" smtClean="0">
                <a:latin typeface="Times New Roman" panose="02020603050405020304" pitchFamily="18" charset="0"/>
                <a:cs typeface="Times New Roman" panose="02020603050405020304" pitchFamily="18" charset="0"/>
              </a:rPr>
              <a:t>stored.</a:t>
            </a: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12</a:t>
            </a:fld>
            <a:endParaRPr lang="en-US" altLang="en-US"/>
          </a:p>
        </p:txBody>
      </p:sp>
    </p:spTree>
    <p:extLst>
      <p:ext uri="{BB962C8B-B14F-4D97-AF65-F5344CB8AC3E}">
        <p14:creationId xmlns:p14="http://schemas.microsoft.com/office/powerpoint/2010/main" val="1847022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20237" y="914400"/>
            <a:ext cx="9867900" cy="2819400"/>
          </a:xfrm>
        </p:spPr>
        <p:txBody>
          <a:bodyPr rtlCol="0">
            <a:noAutofit/>
          </a:bodyPr>
          <a:lstStyle/>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Method </a:t>
            </a:r>
            <a:r>
              <a:rPr lang="en-US" sz="2400" dirty="0">
                <a:latin typeface="Times New Roman" panose="02020603050405020304" pitchFamily="18" charset="0"/>
                <a:cs typeface="Times New Roman" panose="02020603050405020304" pitchFamily="18" charset="0"/>
              </a:rPr>
              <a:t>overloading </a:t>
            </a:r>
            <a:endParaRPr lang="en-US" sz="2400" dirty="0" smtClean="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Activity on </a:t>
            </a:r>
            <a:r>
              <a:rPr lang="en-US" sz="2400" dirty="0">
                <a:latin typeface="Times New Roman" panose="02020603050405020304" pitchFamily="18" charset="0"/>
                <a:cs typeface="Times New Roman" panose="02020603050405020304" pitchFamily="18" charset="0"/>
              </a:rPr>
              <a:t>Method </a:t>
            </a:r>
            <a:r>
              <a:rPr lang="en-US" sz="2400" dirty="0" smtClean="0">
                <a:latin typeface="Times New Roman" panose="02020603050405020304" pitchFamily="18" charset="0"/>
                <a:cs typeface="Times New Roman" panose="02020603050405020304" pitchFamily="18" charset="0"/>
              </a:rPr>
              <a:t>overloading</a:t>
            </a:r>
          </a:p>
          <a:p>
            <a:pPr fontAlgn="auto">
              <a:lnSpc>
                <a:spcPct val="100000"/>
              </a:lnSpc>
              <a:spcBef>
                <a:spcPts val="1200"/>
              </a:spcBef>
              <a:spcAft>
                <a:spcPts val="0"/>
              </a:spcAft>
              <a:defRPr/>
            </a:pPr>
            <a:r>
              <a:rPr lang="en-US" sz="2400" dirty="0">
                <a:latin typeface="Times New Roman" panose="02020603050405020304" pitchFamily="18" charset="0"/>
                <a:cs typeface="Times New Roman" panose="02020603050405020304" pitchFamily="18" charset="0"/>
              </a:rPr>
              <a:t>Access </a:t>
            </a:r>
            <a:r>
              <a:rPr lang="en-US" sz="2400" dirty="0" smtClean="0">
                <a:latin typeface="Times New Roman" panose="02020603050405020304" pitchFamily="18" charset="0"/>
                <a:cs typeface="Times New Roman" panose="02020603050405020304" pitchFamily="18" charset="0"/>
              </a:rPr>
              <a:t>Specifiers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Adding Constructors to the class</a:t>
            </a:r>
          </a:p>
          <a:p>
            <a:pPr fontAlgn="auto">
              <a:lnSpc>
                <a:spcPct val="100000"/>
              </a:lnSpc>
              <a:spcBef>
                <a:spcPts val="1200"/>
              </a:spcBef>
              <a:spcAft>
                <a:spcPts val="0"/>
              </a:spcAft>
              <a:defRPr/>
            </a:pPr>
            <a:r>
              <a:rPr lang="en-US" sz="2400" dirty="0">
                <a:latin typeface="Times New Roman" panose="02020603050405020304" pitchFamily="18" charset="0"/>
                <a:cs typeface="Times New Roman" panose="02020603050405020304" pitchFamily="18" charset="0"/>
              </a:rPr>
              <a:t>Activity </a:t>
            </a:r>
            <a:r>
              <a:rPr lang="en-US" sz="2400" dirty="0" smtClean="0">
                <a:latin typeface="Times New Roman" panose="02020603050405020304" pitchFamily="18" charset="0"/>
                <a:cs typeface="Times New Roman" panose="02020603050405020304" pitchFamily="18" charset="0"/>
              </a:rPr>
              <a:t>on Constructors</a:t>
            </a:r>
          </a:p>
          <a:p>
            <a:pPr marL="0" indent="0" fontAlgn="auto">
              <a:lnSpc>
                <a:spcPct val="100000"/>
              </a:lnSpc>
              <a:spcBef>
                <a:spcPts val="1200"/>
              </a:spcBef>
              <a:spcAft>
                <a:spcPts val="0"/>
              </a:spcAft>
              <a:buNone/>
              <a:defRPr/>
            </a:pPr>
            <a:endParaRPr lang="en-US" sz="2400"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a:t>
            </a:fld>
            <a:endParaRPr lang="en-US" altLang="en-US"/>
          </a:p>
        </p:txBody>
      </p:sp>
      <p:sp>
        <p:nvSpPr>
          <p:cNvPr id="7" name="Title 1"/>
          <p:cNvSpPr>
            <a:spLocks noGrp="1"/>
          </p:cNvSpPr>
          <p:nvPr>
            <p:ph type="title"/>
          </p:nvPr>
        </p:nvSpPr>
        <p:spPr>
          <a:xfrm>
            <a:off x="419100" y="127427"/>
            <a:ext cx="17145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Contents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885363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14</a:t>
            </a:fld>
            <a:endParaRPr lang="en-US" altLang="en-US"/>
          </a:p>
        </p:txBody>
      </p:sp>
      <p:sp>
        <p:nvSpPr>
          <p:cNvPr id="6"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7" name="Rectangle 2"/>
          <p:cNvSpPr>
            <a:spLocks noGrp="1" noChangeArrowheads="1"/>
          </p:cNvSpPr>
          <p:nvPr>
            <p:ph type="title"/>
          </p:nvPr>
        </p:nvSpPr>
        <p:spPr>
          <a:xfrm>
            <a:off x="5562600" y="270590"/>
            <a:ext cx="51054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Methods </a:t>
            </a:r>
            <a:r>
              <a:rPr lang="en-US" sz="2800" dirty="0" smtClean="0">
                <a:solidFill>
                  <a:srgbClr val="FF0000"/>
                </a:solidFill>
                <a:latin typeface="Times New Roman" panose="02020603050405020304" pitchFamily="18" charset="0"/>
                <a:ea typeface="+mn-ea"/>
                <a:cs typeface="Times New Roman" panose="02020603050405020304" pitchFamily="18" charset="0"/>
              </a:rPr>
              <a:t>can be overloaded</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sp>
        <p:nvSpPr>
          <p:cNvPr id="8" name="Rectangle 7"/>
          <p:cNvSpPr/>
          <p:nvPr/>
        </p:nvSpPr>
        <p:spPr>
          <a:xfrm>
            <a:off x="228600" y="802085"/>
            <a:ext cx="11329916" cy="990600"/>
          </a:xfrm>
          <a:prstGeom prst="rect">
            <a:avLst/>
          </a:prstGeom>
        </p:spPr>
        <p:txBody>
          <a:bodyPr vert="horz" lIns="91440" tIns="45720" rIns="91440" bIns="45720" rtlCol="0">
            <a:normAutofit/>
          </a:bodyPr>
          <a:lstStyle/>
          <a:p>
            <a:pPr marL="228600" indent="-228600" eaLnBrk="1" hangingPunct="1">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Method overloading is a feature of Java in which a class has more than one method of the same name and their parameters are </a:t>
            </a:r>
            <a:r>
              <a:rPr lang="en-US" sz="2400" dirty="0" smtClean="0">
                <a:latin typeface="Times New Roman" panose="02020603050405020304" pitchFamily="18" charset="0"/>
                <a:cs typeface="Times New Roman" panose="02020603050405020304" pitchFamily="18" charset="0"/>
              </a:rPr>
              <a:t>different</a:t>
            </a:r>
            <a:endParaRPr lang="en-US" sz="2400" dirty="0">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3276600" y="1752600"/>
            <a:ext cx="8610600" cy="3693319"/>
          </a:xfrm>
          <a:ln>
            <a:noFill/>
          </a:ln>
        </p:spPr>
        <p:txBody>
          <a:bodyPr wrap="square">
            <a:spAutoFit/>
          </a:bodyPr>
          <a:lstStyle/>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class </a:t>
            </a:r>
            <a:r>
              <a:rPr lang="en-US" sz="2000" dirty="0" err="1">
                <a:solidFill>
                  <a:schemeClr val="accent2"/>
                </a:solidFill>
                <a:latin typeface="Times New Roman" panose="02020603050405020304" pitchFamily="18" charset="0"/>
                <a:cs typeface="Times New Roman" panose="02020603050405020304" pitchFamily="18" charset="0"/>
              </a:rPr>
              <a:t>CalculateSquare</a:t>
            </a:r>
            <a:r>
              <a:rPr lang="en-US" sz="2000" dirty="0">
                <a:solidFill>
                  <a:schemeClr val="accent2"/>
                </a:solidFill>
                <a:latin typeface="Times New Roman" panose="02020603050405020304" pitchFamily="18" charset="0"/>
                <a:cs typeface="Times New Roman" panose="02020603050405020304" pitchFamily="18" charset="0"/>
              </a:rPr>
              <a:t>  { </a:t>
            </a:r>
          </a:p>
          <a:p>
            <a:pPr marL="0" indent="0" eaLnBrk="0" hangingPunct="0">
              <a:spcBef>
                <a:spcPct val="0"/>
              </a:spcBef>
              <a:buNone/>
            </a:pPr>
            <a:r>
              <a:rPr lang="en-US" sz="2000" dirty="0" smtClean="0">
                <a:solidFill>
                  <a:schemeClr val="accent2"/>
                </a:solidFill>
                <a:latin typeface="Times New Roman" panose="02020603050405020304" pitchFamily="18" charset="0"/>
                <a:cs typeface="Times New Roman" panose="02020603050405020304" pitchFamily="18" charset="0"/>
              </a:rPr>
              <a:t>	void </a:t>
            </a:r>
            <a:r>
              <a:rPr lang="en-US" sz="2000" dirty="0">
                <a:solidFill>
                  <a:schemeClr val="accent2"/>
                </a:solidFill>
                <a:latin typeface="Times New Roman" panose="02020603050405020304" pitchFamily="18" charset="0"/>
                <a:cs typeface="Times New Roman" panose="02020603050405020304" pitchFamily="18" charset="0"/>
              </a:rPr>
              <a:t>square()  { </a:t>
            </a:r>
          </a:p>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err="1" smtClean="0">
                <a:solidFill>
                  <a:schemeClr val="accent2"/>
                </a:solidFill>
                <a:latin typeface="Times New Roman" panose="02020603050405020304" pitchFamily="18" charset="0"/>
                <a:cs typeface="Times New Roman" panose="02020603050405020304" pitchFamily="18" charset="0"/>
              </a:rPr>
              <a:t>System.out.println</a:t>
            </a:r>
            <a:r>
              <a:rPr lang="en-US" sz="2000" dirty="0">
                <a:solidFill>
                  <a:schemeClr val="accent2"/>
                </a:solidFill>
                <a:latin typeface="Times New Roman" panose="02020603050405020304" pitchFamily="18" charset="0"/>
                <a:cs typeface="Times New Roman" panose="02020603050405020304" pitchFamily="18" charset="0"/>
              </a:rPr>
              <a:t>("No Parameter Method Called");</a:t>
            </a:r>
          </a:p>
          <a:p>
            <a:pPr marL="0" indent="0" eaLnBrk="0" hangingPunct="0">
              <a:spcBef>
                <a:spcPct val="0"/>
              </a:spcBef>
              <a:buNone/>
            </a:pPr>
            <a:r>
              <a:rPr lang="en-US" sz="2000" dirty="0" smtClean="0">
                <a:solidFill>
                  <a:schemeClr val="accent2"/>
                </a:solidFill>
                <a:latin typeface="Times New Roman" panose="02020603050405020304" pitchFamily="18" charset="0"/>
                <a:cs typeface="Times New Roman" panose="02020603050405020304" pitchFamily="18" charset="0"/>
              </a:rPr>
              <a:t>	} </a:t>
            </a:r>
            <a:endParaRPr lang="en-US" sz="2000" dirty="0">
              <a:solidFill>
                <a:schemeClr val="accent2"/>
              </a:solidFill>
              <a:latin typeface="Times New Roman" panose="02020603050405020304" pitchFamily="18" charset="0"/>
              <a:cs typeface="Times New Roman" panose="02020603050405020304" pitchFamily="18" charset="0"/>
            </a:endParaRPr>
          </a:p>
          <a:p>
            <a:pPr marL="0" indent="0" eaLnBrk="0" hangingPunct="0">
              <a:spcBef>
                <a:spcPct val="0"/>
              </a:spcBef>
              <a:buNone/>
            </a:pP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err="1" smtClean="0">
                <a:solidFill>
                  <a:schemeClr val="accent2"/>
                </a:solidFill>
                <a:latin typeface="Times New Roman" panose="02020603050405020304" pitchFamily="18" charset="0"/>
                <a:cs typeface="Times New Roman" panose="02020603050405020304" pitchFamily="18" charset="0"/>
              </a:rPr>
              <a:t>int</a:t>
            </a: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a:solidFill>
                  <a:schemeClr val="accent2"/>
                </a:solidFill>
                <a:latin typeface="Times New Roman" panose="02020603050405020304" pitchFamily="18" charset="0"/>
                <a:cs typeface="Times New Roman" panose="02020603050405020304" pitchFamily="18" charset="0"/>
              </a:rPr>
              <a:t>square( </a:t>
            </a:r>
            <a:r>
              <a:rPr lang="en-US" sz="2000" dirty="0" err="1">
                <a:solidFill>
                  <a:schemeClr val="accent2"/>
                </a:solidFill>
                <a:latin typeface="Times New Roman" panose="02020603050405020304" pitchFamily="18" charset="0"/>
                <a:cs typeface="Times New Roman" panose="02020603050405020304" pitchFamily="18" charset="0"/>
              </a:rPr>
              <a:t>int</a:t>
            </a:r>
            <a:r>
              <a:rPr lang="en-US" sz="2000" dirty="0">
                <a:solidFill>
                  <a:schemeClr val="accent2"/>
                </a:solidFill>
                <a:latin typeface="Times New Roman" panose="02020603050405020304" pitchFamily="18" charset="0"/>
                <a:cs typeface="Times New Roman" panose="02020603050405020304" pitchFamily="18" charset="0"/>
              </a:rPr>
              <a:t> number )  {</a:t>
            </a:r>
          </a:p>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err="1" smtClean="0">
                <a:solidFill>
                  <a:schemeClr val="accent2"/>
                </a:solidFill>
                <a:latin typeface="Times New Roman" panose="02020603050405020304" pitchFamily="18" charset="0"/>
                <a:cs typeface="Times New Roman" panose="02020603050405020304" pitchFamily="18" charset="0"/>
              </a:rPr>
              <a:t>int</a:t>
            </a: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a:solidFill>
                  <a:schemeClr val="accent2"/>
                </a:solidFill>
                <a:latin typeface="Times New Roman" panose="02020603050405020304" pitchFamily="18" charset="0"/>
                <a:cs typeface="Times New Roman" panose="02020603050405020304" pitchFamily="18" charset="0"/>
              </a:rPr>
              <a:t>square = number * number;</a:t>
            </a:r>
          </a:p>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err="1" smtClean="0">
                <a:solidFill>
                  <a:schemeClr val="accent2"/>
                </a:solidFill>
                <a:latin typeface="Times New Roman" panose="02020603050405020304" pitchFamily="18" charset="0"/>
                <a:cs typeface="Times New Roman" panose="02020603050405020304" pitchFamily="18" charset="0"/>
              </a:rPr>
              <a:t>System.out.println</a:t>
            </a:r>
            <a:r>
              <a:rPr lang="en-US" sz="2000" dirty="0">
                <a:solidFill>
                  <a:schemeClr val="accent2"/>
                </a:solidFill>
                <a:latin typeface="Times New Roman" panose="02020603050405020304" pitchFamily="18" charset="0"/>
                <a:cs typeface="Times New Roman" panose="02020603050405020304" pitchFamily="18" charset="0"/>
              </a:rPr>
              <a:t>("Method with Integer Argument Called:"+square); </a:t>
            </a:r>
          </a:p>
          <a:p>
            <a:pPr marL="0" indent="0" eaLnBrk="0" hangingPunct="0">
              <a:spcBef>
                <a:spcPct val="0"/>
              </a:spcBef>
              <a:buNone/>
            </a:pPr>
            <a:r>
              <a:rPr lang="en-US" sz="2000" dirty="0" smtClean="0">
                <a:solidFill>
                  <a:schemeClr val="accent2"/>
                </a:solidFill>
                <a:latin typeface="Times New Roman" panose="02020603050405020304" pitchFamily="18" charset="0"/>
                <a:cs typeface="Times New Roman" panose="02020603050405020304" pitchFamily="18" charset="0"/>
              </a:rPr>
              <a:t>	}</a:t>
            </a:r>
            <a:endParaRPr lang="en-US" sz="2000" dirty="0">
              <a:solidFill>
                <a:schemeClr val="accent2"/>
              </a:solidFill>
              <a:latin typeface="Times New Roman" panose="02020603050405020304" pitchFamily="18" charset="0"/>
              <a:cs typeface="Times New Roman" panose="02020603050405020304" pitchFamily="18" charset="0"/>
            </a:endParaRPr>
          </a:p>
          <a:p>
            <a:pPr marL="0" indent="0" eaLnBrk="0" hangingPunct="0">
              <a:spcBef>
                <a:spcPct val="0"/>
              </a:spcBef>
              <a:buNone/>
            </a:pPr>
            <a:r>
              <a:rPr lang="en-US" sz="2000" dirty="0" smtClean="0">
                <a:solidFill>
                  <a:schemeClr val="accent2"/>
                </a:solidFill>
                <a:latin typeface="Times New Roman" panose="02020603050405020304" pitchFamily="18" charset="0"/>
                <a:cs typeface="Times New Roman" panose="02020603050405020304" pitchFamily="18" charset="0"/>
              </a:rPr>
              <a:t>	float </a:t>
            </a:r>
            <a:r>
              <a:rPr lang="en-US" sz="2000" dirty="0">
                <a:solidFill>
                  <a:schemeClr val="accent2"/>
                </a:solidFill>
                <a:latin typeface="Times New Roman" panose="02020603050405020304" pitchFamily="18" charset="0"/>
                <a:cs typeface="Times New Roman" panose="02020603050405020304" pitchFamily="18" charset="0"/>
              </a:rPr>
              <a:t>square( float number ) {</a:t>
            </a:r>
          </a:p>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smtClean="0">
                <a:solidFill>
                  <a:schemeClr val="accent2"/>
                </a:solidFill>
                <a:latin typeface="Times New Roman" panose="02020603050405020304" pitchFamily="18" charset="0"/>
                <a:cs typeface="Times New Roman" panose="02020603050405020304" pitchFamily="18" charset="0"/>
              </a:rPr>
              <a:t>    float </a:t>
            </a:r>
            <a:r>
              <a:rPr lang="en-US" sz="2000" dirty="0">
                <a:solidFill>
                  <a:schemeClr val="accent2"/>
                </a:solidFill>
                <a:latin typeface="Times New Roman" panose="02020603050405020304" pitchFamily="18" charset="0"/>
                <a:cs typeface="Times New Roman" panose="02020603050405020304" pitchFamily="18" charset="0"/>
              </a:rPr>
              <a:t>square = number * number;</a:t>
            </a:r>
          </a:p>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 	</a:t>
            </a:r>
            <a:r>
              <a:rPr lang="en-US" sz="2000" dirty="0" smtClean="0">
                <a:solidFill>
                  <a:schemeClr val="accent2"/>
                </a:solidFill>
                <a:latin typeface="Times New Roman" panose="02020603050405020304" pitchFamily="18" charset="0"/>
                <a:cs typeface="Times New Roman" panose="02020603050405020304" pitchFamily="18" charset="0"/>
              </a:rPr>
              <a:t>    </a:t>
            </a:r>
            <a:r>
              <a:rPr lang="en-US" sz="2000" dirty="0" err="1" smtClean="0">
                <a:solidFill>
                  <a:schemeClr val="accent2"/>
                </a:solidFill>
                <a:latin typeface="Times New Roman" panose="02020603050405020304" pitchFamily="18" charset="0"/>
                <a:cs typeface="Times New Roman" panose="02020603050405020304" pitchFamily="18" charset="0"/>
              </a:rPr>
              <a:t>System.out.println</a:t>
            </a:r>
            <a:r>
              <a:rPr lang="en-US" sz="2000" dirty="0">
                <a:solidFill>
                  <a:schemeClr val="accent2"/>
                </a:solidFill>
                <a:latin typeface="Times New Roman" panose="02020603050405020304" pitchFamily="18" charset="0"/>
                <a:cs typeface="Times New Roman" panose="02020603050405020304" pitchFamily="18" charset="0"/>
              </a:rPr>
              <a:t>("Method with float Argument Called:"+square); </a:t>
            </a:r>
          </a:p>
          <a:p>
            <a:pPr marL="0" indent="0" eaLnBrk="0" hangingPunct="0">
              <a:spcBef>
                <a:spcPct val="0"/>
              </a:spcBef>
              <a:buNone/>
            </a:pPr>
            <a:r>
              <a:rPr lang="en-US" sz="2000" dirty="0" smtClean="0">
                <a:solidFill>
                  <a:schemeClr val="accent2"/>
                </a:solidFill>
                <a:latin typeface="Times New Roman" panose="02020603050405020304" pitchFamily="18" charset="0"/>
                <a:cs typeface="Times New Roman" panose="02020603050405020304" pitchFamily="18" charset="0"/>
              </a:rPr>
              <a:t>	}</a:t>
            </a:r>
            <a:endParaRPr lang="en-US" sz="2000" dirty="0">
              <a:solidFill>
                <a:schemeClr val="accent2"/>
              </a:solidFill>
              <a:latin typeface="Times New Roman" panose="02020603050405020304" pitchFamily="18" charset="0"/>
              <a:cs typeface="Times New Roman" panose="02020603050405020304" pitchFamily="18" charset="0"/>
            </a:endParaRPr>
          </a:p>
          <a:p>
            <a:pPr marL="0" indent="0" eaLnBrk="0" hangingPunct="0">
              <a:spcBef>
                <a:spcPct val="0"/>
              </a:spcBef>
              <a:buNone/>
            </a:pPr>
            <a:r>
              <a:rPr lang="en-US" sz="2000" dirty="0">
                <a:solidFill>
                  <a:schemeClr val="accent2"/>
                </a:solidFill>
                <a:latin typeface="Times New Roman" panose="02020603050405020304" pitchFamily="18" charset="0"/>
                <a:cs typeface="Times New Roman" panose="02020603050405020304" pitchFamily="18" charset="0"/>
              </a:rPr>
              <a:t>} </a:t>
            </a:r>
            <a:endParaRPr lang="en-IN" sz="2000" dirty="0">
              <a:solidFill>
                <a:schemeClr val="accent2"/>
              </a:solidFill>
              <a:latin typeface="Times New Roman" panose="02020603050405020304" pitchFamily="18" charset="0"/>
              <a:cs typeface="Times New Roman" panose="02020603050405020304" pitchFamily="18" charset="0"/>
            </a:endParaRPr>
          </a:p>
        </p:txBody>
      </p:sp>
      <p:sp>
        <p:nvSpPr>
          <p:cNvPr id="10" name="Rectangle 9"/>
          <p:cNvSpPr/>
          <p:nvPr/>
        </p:nvSpPr>
        <p:spPr>
          <a:xfrm>
            <a:off x="1946168" y="1752600"/>
            <a:ext cx="1346844" cy="461665"/>
          </a:xfrm>
          <a:prstGeom prst="rect">
            <a:avLst/>
          </a:prstGeom>
          <a:ln>
            <a:noFill/>
          </a:ln>
        </p:spPr>
        <p:txBody>
          <a:bodyPr wrap="none">
            <a:spAutoFit/>
          </a:bodyPr>
          <a:lstStyle/>
          <a:p>
            <a:r>
              <a:rPr lang="en-US" sz="2400" b="1" dirty="0">
                <a:latin typeface="Times New Roman" panose="02020603050405020304" pitchFamily="18" charset="0"/>
                <a:cs typeface="Times New Roman" panose="02020603050405020304" pitchFamily="18" charset="0"/>
              </a:rPr>
              <a:t>Example</a:t>
            </a:r>
            <a:endParaRPr lang="en-US" sz="2400" b="1" dirty="0"/>
          </a:p>
        </p:txBody>
      </p:sp>
      <p:grpSp>
        <p:nvGrpSpPr>
          <p:cNvPr id="30" name="Group 29"/>
          <p:cNvGrpSpPr/>
          <p:nvPr/>
        </p:nvGrpSpPr>
        <p:grpSpPr>
          <a:xfrm>
            <a:off x="914400" y="2362200"/>
            <a:ext cx="6172200" cy="1905000"/>
            <a:chOff x="914400" y="2362200"/>
            <a:chExt cx="6172200" cy="1905000"/>
          </a:xfrm>
        </p:grpSpPr>
        <p:cxnSp>
          <p:nvCxnSpPr>
            <p:cNvPr id="14" name="Straight Connector 13"/>
            <p:cNvCxnSpPr/>
            <p:nvPr/>
          </p:nvCxnSpPr>
          <p:spPr>
            <a:xfrm>
              <a:off x="4267200" y="2362200"/>
              <a:ext cx="1447800"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267200" y="3200400"/>
              <a:ext cx="2362200"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305300" y="4267200"/>
              <a:ext cx="2781300"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743200" y="2362200"/>
              <a:ext cx="1524000" cy="85370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2743200" y="3195287"/>
              <a:ext cx="1562100" cy="4122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2743200" y="3258203"/>
              <a:ext cx="1562100" cy="1001739"/>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914400" y="2845539"/>
              <a:ext cx="1978427" cy="461665"/>
            </a:xfrm>
            <a:prstGeom prst="rect">
              <a:avLst/>
            </a:prstGeom>
            <a:ln>
              <a:noFill/>
            </a:ln>
          </p:spPr>
          <p:txBody>
            <a:bodyPr wrap="none">
              <a:spAutoFit/>
            </a:bodyPr>
            <a:lstStyle/>
            <a:p>
              <a:r>
                <a:rPr lang="en-US" sz="2400" b="1" u="sng" dirty="0" smtClean="0">
                  <a:solidFill>
                    <a:srgbClr val="7030A0"/>
                  </a:solidFill>
                  <a:latin typeface="Times New Roman" panose="02020603050405020304" pitchFamily="18" charset="0"/>
                  <a:cs typeface="Times New Roman" panose="02020603050405020304" pitchFamily="18" charset="0"/>
                </a:rPr>
                <a:t>Overloading  </a:t>
              </a:r>
              <a:endParaRPr lang="en-US" sz="2400" b="1" u="sng" dirty="0">
                <a:solidFill>
                  <a:srgbClr val="7030A0"/>
                </a:solidFill>
              </a:endParaRPr>
            </a:p>
          </p:txBody>
        </p:sp>
      </p:grpSp>
    </p:spTree>
    <p:extLst>
      <p:ext uri="{BB962C8B-B14F-4D97-AF65-F5344CB8AC3E}">
        <p14:creationId xmlns:p14="http://schemas.microsoft.com/office/powerpoint/2010/main" val="182986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barn(inVertical)">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barn(inVertical)">
                                      <p:cBhvr>
                                        <p:cTn id="20" dur="500"/>
                                        <p:tgtEl>
                                          <p:spTgt spid="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Effect transition="in" filter="barn(inVertical)">
                                      <p:cBhvr>
                                        <p:cTn id="25" dur="500"/>
                                        <p:tgtEl>
                                          <p:spTgt spid="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animEffect transition="in" filter="barn(inVertical)">
                                      <p:cBhvr>
                                        <p:cTn id="30" dur="500"/>
                                        <p:tgtEl>
                                          <p:spTgt spid="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animEffect transition="in" filter="barn(inVertical)">
                                      <p:cBhvr>
                                        <p:cTn id="35" dur="500"/>
                                        <p:tgtEl>
                                          <p:spTgt spid="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9">
                                            <p:txEl>
                                              <p:pRg st="5" end="5"/>
                                            </p:txEl>
                                          </p:spTgt>
                                        </p:tgtEl>
                                        <p:attrNameLst>
                                          <p:attrName>style.visibility</p:attrName>
                                        </p:attrNameLst>
                                      </p:cBhvr>
                                      <p:to>
                                        <p:strVal val="visible"/>
                                      </p:to>
                                    </p:set>
                                    <p:animEffect transition="in" filter="barn(inVertical)">
                                      <p:cBhvr>
                                        <p:cTn id="40" dur="500"/>
                                        <p:tgtEl>
                                          <p:spTgt spid="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9">
                                            <p:txEl>
                                              <p:pRg st="6" end="6"/>
                                            </p:txEl>
                                          </p:spTgt>
                                        </p:tgtEl>
                                        <p:attrNameLst>
                                          <p:attrName>style.visibility</p:attrName>
                                        </p:attrNameLst>
                                      </p:cBhvr>
                                      <p:to>
                                        <p:strVal val="visible"/>
                                      </p:to>
                                    </p:set>
                                    <p:animEffect transition="in" filter="barn(inVertical)">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animEffect transition="in" filter="barn(inVertical)">
                                      <p:cBhvr>
                                        <p:cTn id="50" dur="500"/>
                                        <p:tgtEl>
                                          <p:spTgt spid="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9">
                                            <p:txEl>
                                              <p:pRg st="8" end="8"/>
                                            </p:txEl>
                                          </p:spTgt>
                                        </p:tgtEl>
                                        <p:attrNameLst>
                                          <p:attrName>style.visibility</p:attrName>
                                        </p:attrNameLst>
                                      </p:cBhvr>
                                      <p:to>
                                        <p:strVal val="visible"/>
                                      </p:to>
                                    </p:set>
                                    <p:animEffect transition="in" filter="barn(inVertical)">
                                      <p:cBhvr>
                                        <p:cTn id="55" dur="500"/>
                                        <p:tgtEl>
                                          <p:spTgt spid="9">
                                            <p:txEl>
                                              <p:pRg st="8" end="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9">
                                            <p:txEl>
                                              <p:pRg st="9" end="9"/>
                                            </p:txEl>
                                          </p:spTgt>
                                        </p:tgtEl>
                                        <p:attrNameLst>
                                          <p:attrName>style.visibility</p:attrName>
                                        </p:attrNameLst>
                                      </p:cBhvr>
                                      <p:to>
                                        <p:strVal val="visible"/>
                                      </p:to>
                                    </p:set>
                                    <p:animEffect transition="in" filter="barn(inVertical)">
                                      <p:cBhvr>
                                        <p:cTn id="60" dur="500"/>
                                        <p:tgtEl>
                                          <p:spTgt spid="9">
                                            <p:txEl>
                                              <p:pRg st="9" end="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9">
                                            <p:txEl>
                                              <p:pRg st="10" end="10"/>
                                            </p:txEl>
                                          </p:spTgt>
                                        </p:tgtEl>
                                        <p:attrNameLst>
                                          <p:attrName>style.visibility</p:attrName>
                                        </p:attrNameLst>
                                      </p:cBhvr>
                                      <p:to>
                                        <p:strVal val="visible"/>
                                      </p:to>
                                    </p:set>
                                    <p:animEffect transition="in" filter="barn(inVertical)">
                                      <p:cBhvr>
                                        <p:cTn id="65" dur="500"/>
                                        <p:tgtEl>
                                          <p:spTgt spid="9">
                                            <p:txEl>
                                              <p:pRg st="10" end="1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9">
                                            <p:txEl>
                                              <p:pRg st="11" end="11"/>
                                            </p:txEl>
                                          </p:spTgt>
                                        </p:tgtEl>
                                        <p:attrNameLst>
                                          <p:attrName>style.visibility</p:attrName>
                                        </p:attrNameLst>
                                      </p:cBhvr>
                                      <p:to>
                                        <p:strVal val="visible"/>
                                      </p:to>
                                    </p:set>
                                    <p:animEffect transition="in" filter="barn(inVertical)">
                                      <p:cBhvr>
                                        <p:cTn id="70" dur="500"/>
                                        <p:tgtEl>
                                          <p:spTgt spid="9">
                                            <p:txEl>
                                              <p:pRg st="11" end="1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9">
                                            <p:txEl>
                                              <p:pRg st="12" end="12"/>
                                            </p:txEl>
                                          </p:spTgt>
                                        </p:tgtEl>
                                        <p:attrNameLst>
                                          <p:attrName>style.visibility</p:attrName>
                                        </p:attrNameLst>
                                      </p:cBhvr>
                                      <p:to>
                                        <p:strVal val="visible"/>
                                      </p:to>
                                    </p:set>
                                    <p:animEffect transition="in" filter="barn(inVertical)">
                                      <p:cBhvr>
                                        <p:cTn id="75" dur="500"/>
                                        <p:tgtEl>
                                          <p:spTgt spid="9">
                                            <p:txEl>
                                              <p:pRg st="12" end="12"/>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barn(inVertical)">
                                      <p:cBhvr>
                                        <p:cTn id="8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uild="p"/>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0915" y="838200"/>
            <a:ext cx="11414078" cy="3877985"/>
          </a:xfrm>
          <a:prstGeom prst="rect">
            <a:avLst/>
          </a:prstGeom>
        </p:spPr>
        <p:txBody>
          <a:bodyPr wrap="square">
            <a:spAutoFit/>
          </a:bodyPr>
          <a:lstStyle/>
          <a:p>
            <a:pPr algn="just">
              <a:spcAft>
                <a:spcPts val="1200"/>
              </a:spcAft>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a:t>
            </a:r>
            <a:r>
              <a:rPr lang="en-US" sz="2400" dirty="0" smtClean="0">
                <a:solidFill>
                  <a:srgbClr val="FF0000"/>
                </a:solidFill>
                <a:latin typeface="Times New Roman" panose="02020603050405020304" pitchFamily="18" charset="0"/>
                <a:cs typeface="Times New Roman" panose="02020603050405020304" pitchFamily="18" charset="0"/>
              </a:rPr>
              <a:t>Salary</a:t>
            </a:r>
            <a:r>
              <a:rPr lang="en-US" sz="2400" dirty="0" smtClean="0">
                <a:latin typeface="Times New Roman" panose="02020603050405020304" pitchFamily="18" charset="0"/>
                <a:cs typeface="Times New Roman" panose="02020603050405020304" pitchFamily="18" charset="0"/>
              </a:rPr>
              <a:t>. He has given a freedom to read/store the data in the database as shown below:</a:t>
            </a:r>
          </a:p>
          <a:p>
            <a:pPr marL="457200" indent="-457200" algn="just">
              <a:spcAft>
                <a:spcPts val="1200"/>
              </a:spcAft>
              <a:buAutoNum type="arabicPeriod"/>
            </a:pPr>
            <a:r>
              <a:rPr lang="en-US" sz="2400" dirty="0" smtClean="0">
                <a:latin typeface="Times New Roman" panose="02020603050405020304" pitchFamily="18" charset="0"/>
                <a:cs typeface="Times New Roman" panose="02020603050405020304" pitchFamily="18" charset="0"/>
              </a:rPr>
              <a:t>Read all the data by taking values from the user.</a:t>
            </a:r>
          </a:p>
          <a:p>
            <a:pPr marL="457200" indent="-457200" algn="just">
              <a:spcAft>
                <a:spcPts val="1200"/>
              </a:spcAft>
              <a:buAutoNum type="arabicPeriod"/>
            </a:pPr>
            <a:r>
              <a:rPr lang="en-US" sz="2400" dirty="0" smtClean="0">
                <a:latin typeface="Times New Roman" panose="02020603050405020304" pitchFamily="18" charset="0"/>
                <a:cs typeface="Times New Roman" panose="02020603050405020304" pitchFamily="18" charset="0"/>
              </a:rPr>
              <a:t>Read only Employee Id from the user and store some default values as he likes to name, age and Salary.</a:t>
            </a:r>
          </a:p>
          <a:p>
            <a:pPr marL="457200" indent="-457200" algn="just">
              <a:spcAft>
                <a:spcPts val="1200"/>
              </a:spcAft>
              <a:buAutoNum type="arabicPeriod"/>
            </a:pPr>
            <a:r>
              <a:rPr lang="en-US" sz="2400" dirty="0" smtClean="0">
                <a:latin typeface="Times New Roman" panose="02020603050405020304" pitchFamily="18" charset="0"/>
                <a:cs typeface="Times New Roman" panose="02020603050405020304" pitchFamily="18" charset="0"/>
              </a:rPr>
              <a:t>Read Employee Id and Name from the user </a:t>
            </a:r>
            <a:r>
              <a:rPr lang="en-US" sz="2400" dirty="0">
                <a:latin typeface="Times New Roman" panose="02020603050405020304" pitchFamily="18" charset="0"/>
                <a:cs typeface="Times New Roman" panose="02020603050405020304" pitchFamily="18" charset="0"/>
              </a:rPr>
              <a:t>and store some default values as he likes to </a:t>
            </a:r>
            <a:r>
              <a:rPr lang="en-US" sz="2400" dirty="0" smtClean="0">
                <a:latin typeface="Times New Roman" panose="02020603050405020304" pitchFamily="18" charset="0"/>
                <a:cs typeface="Times New Roman" panose="02020603050405020304" pitchFamily="18" charset="0"/>
              </a:rPr>
              <a:t>age </a:t>
            </a:r>
            <a:r>
              <a:rPr lang="en-US" sz="2400" dirty="0">
                <a:latin typeface="Times New Roman" panose="02020603050405020304" pitchFamily="18" charset="0"/>
                <a:cs typeface="Times New Roman" panose="02020603050405020304" pitchFamily="18" charset="0"/>
              </a:rPr>
              <a:t>and </a:t>
            </a:r>
            <a:r>
              <a:rPr lang="en-US" sz="2400" dirty="0" smtClean="0">
                <a:latin typeface="Times New Roman" panose="02020603050405020304" pitchFamily="18" charset="0"/>
                <a:cs typeface="Times New Roman" panose="02020603050405020304" pitchFamily="18" charset="0"/>
              </a:rPr>
              <a:t>Salary. </a:t>
            </a:r>
            <a:r>
              <a:rPr lang="en-US" sz="2400" dirty="0">
                <a:latin typeface="Times New Roman" panose="02020603050405020304" pitchFamily="18" charset="0"/>
                <a:cs typeface="Times New Roman" panose="02020603050405020304" pitchFamily="18" charset="0"/>
              </a:rPr>
              <a:t>Help </a:t>
            </a:r>
            <a:r>
              <a:rPr lang="en-US" sz="2400" dirty="0" smtClean="0">
                <a:latin typeface="Times New Roman" panose="02020603050405020304" pitchFamily="18" charset="0"/>
                <a:cs typeface="Times New Roman" panose="02020603050405020304" pitchFamily="18" charset="0"/>
              </a:rPr>
              <a:t>Mr</a:t>
            </a:r>
            <a:r>
              <a:rPr lang="en-US" sz="2400" dirty="0">
                <a:latin typeface="Times New Roman" panose="02020603050405020304" pitchFamily="18" charset="0"/>
                <a:cs typeface="Times New Roman" panose="02020603050405020304" pitchFamily="18" charset="0"/>
              </a:rPr>
              <a:t>. John </a:t>
            </a:r>
            <a:r>
              <a:rPr lang="en-US" sz="2400" dirty="0" smtClean="0">
                <a:latin typeface="Times New Roman" panose="02020603050405020304" pitchFamily="18" charset="0"/>
                <a:cs typeface="Times New Roman" panose="02020603050405020304" pitchFamily="18" charset="0"/>
              </a:rPr>
              <a:t>to store the records and retrieve all </a:t>
            </a:r>
            <a:r>
              <a:rPr lang="en-US" sz="2400" dirty="0">
                <a:latin typeface="Times New Roman" panose="02020603050405020304" pitchFamily="18" charset="0"/>
                <a:cs typeface="Times New Roman" panose="02020603050405020304" pitchFamily="18" charset="0"/>
              </a:rPr>
              <a:t>the records which he has </a:t>
            </a:r>
            <a:r>
              <a:rPr lang="en-US" sz="2400" dirty="0" smtClean="0">
                <a:latin typeface="Times New Roman" panose="02020603050405020304" pitchFamily="18" charset="0"/>
                <a:cs typeface="Times New Roman" panose="02020603050405020304" pitchFamily="18" charset="0"/>
              </a:rPr>
              <a:t>stored.</a:t>
            </a: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15</a:t>
            </a:fld>
            <a:endParaRPr lang="en-US" altLang="en-US"/>
          </a:p>
        </p:txBody>
      </p:sp>
    </p:spTree>
    <p:extLst>
      <p:ext uri="{BB962C8B-B14F-4D97-AF65-F5344CB8AC3E}">
        <p14:creationId xmlns:p14="http://schemas.microsoft.com/office/powerpoint/2010/main" val="3843066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52818" y="860776"/>
            <a:ext cx="3352200" cy="523220"/>
          </a:xfrm>
          <a:prstGeom prst="rect">
            <a:avLst/>
          </a:prstGeo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p>
            <a:pPr eaLnBrk="1" fontAlgn="auto" hangingPunct="1">
              <a:spcBef>
                <a:spcPts val="0"/>
              </a:spcBef>
              <a:spcAft>
                <a:spcPts val="0"/>
              </a:spcAft>
            </a:pPr>
            <a:r>
              <a:rPr lang="en-US" sz="2800" dirty="0" smtClean="0">
                <a:solidFill>
                  <a:srgbClr val="FF0000"/>
                </a:solidFill>
                <a:latin typeface="Times New Roman" panose="02020603050405020304" pitchFamily="18" charset="0"/>
                <a:cs typeface="Times New Roman" panose="02020603050405020304" pitchFamily="18" charset="0"/>
              </a:rPr>
              <a:t>ACESS SPECIFIERS</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228600" y="909282"/>
            <a:ext cx="2057400" cy="5334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en-US" sz="1400" b="1" dirty="0" smtClean="0">
                <a:solidFill>
                  <a:prstClr val="white"/>
                </a:solidFill>
                <a:latin typeface="Times New Roman" panose="02020603050405020304" pitchFamily="18" charset="0"/>
                <a:cs typeface="Times New Roman" panose="02020603050405020304" pitchFamily="18" charset="0"/>
              </a:rPr>
              <a:t>ACESS SPECIFIERS</a:t>
            </a:r>
            <a:endParaRPr lang="en-US" sz="1400" b="1" dirty="0">
              <a:solidFill>
                <a:prstClr val="white"/>
              </a:solidFill>
              <a:latin typeface="Times New Roman" panose="02020603050405020304" pitchFamily="18" charset="0"/>
              <a:cs typeface="Times New Roman" panose="02020603050405020304" pitchFamily="18" charset="0"/>
            </a:endParaRPr>
          </a:p>
        </p:txBody>
      </p:sp>
      <p:sp>
        <p:nvSpPr>
          <p:cNvPr id="8" name="Rectangle 7"/>
          <p:cNvSpPr/>
          <p:nvPr/>
        </p:nvSpPr>
        <p:spPr>
          <a:xfrm>
            <a:off x="767118" y="1618778"/>
            <a:ext cx="1524000" cy="743422"/>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en-US" sz="1600" b="1" dirty="0" smtClean="0">
                <a:solidFill>
                  <a:prstClr val="white"/>
                </a:solidFill>
                <a:latin typeface="Times New Roman" panose="02020603050405020304" pitchFamily="18" charset="0"/>
                <a:cs typeface="Times New Roman" panose="02020603050405020304" pitchFamily="18" charset="0"/>
              </a:rPr>
              <a:t>PUBLIC</a:t>
            </a:r>
            <a:endParaRPr lang="en-US" sz="1600" b="1" dirty="0">
              <a:solidFill>
                <a:prstClr val="white"/>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9060" y="2632134"/>
            <a:ext cx="1506940" cy="790242"/>
          </a:xfrm>
          <a:prstGeom prst="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en-US" sz="1600" b="1" dirty="0" smtClean="0">
                <a:solidFill>
                  <a:prstClr val="white"/>
                </a:solidFill>
                <a:latin typeface="Times New Roman" panose="02020603050405020304" pitchFamily="18" charset="0"/>
                <a:cs typeface="Times New Roman" panose="02020603050405020304" pitchFamily="18" charset="0"/>
              </a:rPr>
              <a:t>PROTECTED</a:t>
            </a:r>
            <a:endParaRPr lang="en-US" sz="1600" b="1" dirty="0">
              <a:solidFill>
                <a:prstClr val="white"/>
              </a:solidFill>
              <a:latin typeface="Times New Roman" panose="02020603050405020304" pitchFamily="18" charset="0"/>
              <a:cs typeface="Times New Roman" panose="02020603050405020304" pitchFamily="18" charset="0"/>
            </a:endParaRPr>
          </a:p>
        </p:txBody>
      </p:sp>
      <p:sp>
        <p:nvSpPr>
          <p:cNvPr id="10" name="Rectangle 9"/>
          <p:cNvSpPr/>
          <p:nvPr/>
        </p:nvSpPr>
        <p:spPr>
          <a:xfrm>
            <a:off x="779060" y="3657600"/>
            <a:ext cx="1506940" cy="533400"/>
          </a:xfrm>
          <a:prstGeom prst="rect">
            <a:avLst/>
          </a:prstGeom>
          <a:solidFill>
            <a:srgbClr val="FF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en-US" b="1" dirty="0" smtClean="0">
                <a:solidFill>
                  <a:prstClr val="white"/>
                </a:solidFill>
                <a:latin typeface="Times New Roman" panose="02020603050405020304" pitchFamily="18" charset="0"/>
                <a:cs typeface="Times New Roman" panose="02020603050405020304" pitchFamily="18" charset="0"/>
              </a:rPr>
              <a:t>PRIVATE</a:t>
            </a:r>
            <a:endParaRPr lang="en-US" b="1" dirty="0">
              <a:solidFill>
                <a:prstClr val="white"/>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62000" y="4343400"/>
            <a:ext cx="1524000" cy="750152"/>
          </a:xfrm>
          <a:prstGeom prst="rect">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en-US" b="1" dirty="0" smtClean="0">
                <a:solidFill>
                  <a:prstClr val="white"/>
                </a:solidFill>
                <a:latin typeface="Times New Roman" panose="02020603050405020304" pitchFamily="18" charset="0"/>
                <a:cs typeface="Times New Roman" panose="02020603050405020304" pitchFamily="18" charset="0"/>
              </a:rPr>
              <a:t>DEFAULT</a:t>
            </a:r>
            <a:endParaRPr lang="en-US" b="1" dirty="0">
              <a:solidFill>
                <a:prstClr val="white"/>
              </a:solidFill>
              <a:latin typeface="Times New Roman" panose="02020603050405020304" pitchFamily="18" charset="0"/>
              <a:cs typeface="Times New Roman" panose="02020603050405020304" pitchFamily="18" charset="0"/>
            </a:endParaRPr>
          </a:p>
        </p:txBody>
      </p:sp>
      <p:cxnSp>
        <p:nvCxnSpPr>
          <p:cNvPr id="13" name="Straight Connector 12"/>
          <p:cNvCxnSpPr/>
          <p:nvPr/>
        </p:nvCxnSpPr>
        <p:spPr>
          <a:xfrm>
            <a:off x="304800" y="1464291"/>
            <a:ext cx="0" cy="3488709"/>
          </a:xfrm>
          <a:prstGeom prst="line">
            <a:avLst/>
          </a:prstGeom>
          <a:ln w="38100">
            <a:solidFill>
              <a:schemeClr val="accent2"/>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04800" y="1975798"/>
            <a:ext cx="457200" cy="0"/>
          </a:xfrm>
          <a:prstGeom prst="straightConnector1">
            <a:avLst/>
          </a:prstGeom>
          <a:ln w="38100">
            <a:solidFill>
              <a:schemeClr val="accent2"/>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04800" y="2977024"/>
            <a:ext cx="457200" cy="0"/>
          </a:xfrm>
          <a:prstGeom prst="straightConnector1">
            <a:avLst/>
          </a:prstGeom>
          <a:ln w="38100">
            <a:solidFill>
              <a:schemeClr val="accent2"/>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1860" y="3959272"/>
            <a:ext cx="457200" cy="0"/>
          </a:xfrm>
          <a:prstGeom prst="straightConnector1">
            <a:avLst/>
          </a:prstGeom>
          <a:ln w="38100">
            <a:solidFill>
              <a:schemeClr val="accent2"/>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04800" y="4773588"/>
            <a:ext cx="457200" cy="0"/>
          </a:xfrm>
          <a:prstGeom prst="straightConnector1">
            <a:avLst/>
          </a:prstGeom>
          <a:ln w="38100">
            <a:solidFill>
              <a:schemeClr val="accent2"/>
            </a:solidFill>
            <a:tailEnd type="triangle"/>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471379" y="1524000"/>
            <a:ext cx="5034866" cy="830997"/>
          </a:xfrm>
          <a:prstGeom prst="rect">
            <a:avLst/>
          </a:prstGeom>
          <a:noFill/>
          <a:ln w="38100">
            <a:solidFill>
              <a:srgbClr val="00B050"/>
            </a:solidFill>
          </a:ln>
        </p:spPr>
        <p:txBody>
          <a:bodyPr wrap="square" rtlCol="0">
            <a:spAutoFit/>
          </a:bodyPr>
          <a:lstStyle/>
          <a:p>
            <a:pPr algn="just" eaLnBrk="1" fontAlgn="auto" hangingPunct="1">
              <a:spcBef>
                <a:spcPts val="0"/>
              </a:spcBef>
              <a:spcAft>
                <a:spcPts val="0"/>
              </a:spcAft>
            </a:pPr>
            <a:r>
              <a:rPr lang="en-US" sz="1600" dirty="0">
                <a:solidFill>
                  <a:prstClr val="black"/>
                </a:solidFill>
                <a:latin typeface="Times New Roman" panose="02020603050405020304" pitchFamily="18" charset="0"/>
                <a:cs typeface="Times New Roman" panose="02020603050405020304" pitchFamily="18" charset="0"/>
              </a:rPr>
              <a:t>The access level of a public modifier is everywhere. It can be accessed from within the class, outside the class, within the package and outside the package.</a:t>
            </a:r>
          </a:p>
        </p:txBody>
      </p:sp>
      <p:sp>
        <p:nvSpPr>
          <p:cNvPr id="21" name="TextBox 20"/>
          <p:cNvSpPr txBox="1"/>
          <p:nvPr/>
        </p:nvSpPr>
        <p:spPr>
          <a:xfrm>
            <a:off x="2479320" y="3599021"/>
            <a:ext cx="5026925" cy="584775"/>
          </a:xfrm>
          <a:prstGeom prst="rect">
            <a:avLst/>
          </a:prstGeom>
          <a:noFill/>
          <a:ln w="38100">
            <a:solidFill>
              <a:srgbClr val="FF0000"/>
            </a:solidFill>
          </a:ln>
        </p:spPr>
        <p:txBody>
          <a:bodyPr wrap="square" rtlCol="0">
            <a:spAutoFit/>
          </a:bodyPr>
          <a:lstStyle/>
          <a:p>
            <a:pPr algn="just" eaLnBrk="1" fontAlgn="auto" hangingPunct="1">
              <a:spcBef>
                <a:spcPts val="0"/>
              </a:spcBef>
              <a:spcAft>
                <a:spcPts val="0"/>
              </a:spcAft>
            </a:pPr>
            <a:r>
              <a:rPr lang="en-US" sz="1600" dirty="0" smtClean="0">
                <a:solidFill>
                  <a:prstClr val="black"/>
                </a:solidFill>
                <a:latin typeface="Times New Roman" panose="02020603050405020304" pitchFamily="18" charset="0"/>
                <a:cs typeface="Times New Roman" panose="02020603050405020304" pitchFamily="18" charset="0"/>
              </a:rPr>
              <a:t>The </a:t>
            </a:r>
            <a:r>
              <a:rPr lang="en-US" sz="1600" dirty="0">
                <a:solidFill>
                  <a:prstClr val="black"/>
                </a:solidFill>
                <a:latin typeface="Times New Roman" panose="02020603050405020304" pitchFamily="18" charset="0"/>
                <a:cs typeface="Times New Roman" panose="02020603050405020304" pitchFamily="18" charset="0"/>
              </a:rPr>
              <a:t>access level of a private modifier is only within the class. It cannot be accessed from outside the class.</a:t>
            </a:r>
          </a:p>
        </p:txBody>
      </p:sp>
      <p:sp>
        <p:nvSpPr>
          <p:cNvPr id="22" name="TextBox 21"/>
          <p:cNvSpPr txBox="1"/>
          <p:nvPr/>
        </p:nvSpPr>
        <p:spPr>
          <a:xfrm>
            <a:off x="2471379" y="2438400"/>
            <a:ext cx="5021242" cy="1077218"/>
          </a:xfrm>
          <a:prstGeom prst="rect">
            <a:avLst/>
          </a:prstGeom>
          <a:noFill/>
          <a:ln w="38100">
            <a:solidFill>
              <a:schemeClr val="accent2">
                <a:lumMod val="75000"/>
              </a:schemeClr>
            </a:solidFill>
          </a:ln>
        </p:spPr>
        <p:txBody>
          <a:bodyPr wrap="square" rtlCol="0">
            <a:spAutoFit/>
          </a:bodyPr>
          <a:lstStyle/>
          <a:p>
            <a:pPr algn="just" eaLnBrk="1" fontAlgn="auto" hangingPunct="1">
              <a:spcBef>
                <a:spcPts val="0"/>
              </a:spcBef>
              <a:spcAft>
                <a:spcPts val="0"/>
              </a:spcAft>
            </a:pPr>
            <a:r>
              <a:rPr lang="en-US" sz="1600" dirty="0">
                <a:solidFill>
                  <a:prstClr val="black"/>
                </a:solidFill>
                <a:latin typeface="Times New Roman" panose="02020603050405020304" pitchFamily="18" charset="0"/>
                <a:cs typeface="Times New Roman" panose="02020603050405020304" pitchFamily="18" charset="0"/>
              </a:rPr>
              <a:t>The access level of a protected modifier is within the package and outside the package through child class. If you do not make the child class, it cannot be accessed from outside the package.</a:t>
            </a:r>
          </a:p>
        </p:txBody>
      </p:sp>
      <p:sp>
        <p:nvSpPr>
          <p:cNvPr id="23" name="TextBox 22"/>
          <p:cNvSpPr txBox="1"/>
          <p:nvPr/>
        </p:nvSpPr>
        <p:spPr>
          <a:xfrm>
            <a:off x="2479319" y="4267199"/>
            <a:ext cx="5026925" cy="1077218"/>
          </a:xfrm>
          <a:prstGeom prst="rect">
            <a:avLst/>
          </a:prstGeom>
          <a:noFill/>
          <a:ln w="38100">
            <a:solidFill>
              <a:srgbClr val="00B0F0"/>
            </a:solidFill>
          </a:ln>
        </p:spPr>
        <p:txBody>
          <a:bodyPr wrap="square" rtlCol="0">
            <a:spAutoFit/>
          </a:bodyPr>
          <a:lstStyle/>
          <a:p>
            <a:pPr algn="just" eaLnBrk="1" fontAlgn="auto" hangingPunct="1">
              <a:spcBef>
                <a:spcPts val="0"/>
              </a:spcBef>
              <a:spcAft>
                <a:spcPts val="0"/>
              </a:spcAft>
            </a:pPr>
            <a:r>
              <a:rPr lang="en-US" sz="1600" dirty="0">
                <a:solidFill>
                  <a:prstClr val="black"/>
                </a:solidFill>
                <a:latin typeface="Times New Roman" panose="02020603050405020304" pitchFamily="18" charset="0"/>
                <a:cs typeface="Times New Roman" panose="02020603050405020304" pitchFamily="18" charset="0"/>
              </a:rPr>
              <a:t>The access level of a default modifier is only within the package. It cannot be accessed from outside the package</a:t>
            </a:r>
            <a:r>
              <a:rPr lang="en-US" sz="1600" dirty="0" smtClean="0">
                <a:solidFill>
                  <a:prstClr val="black"/>
                </a:solidFill>
                <a:latin typeface="Times New Roman" panose="02020603050405020304" pitchFamily="18" charset="0"/>
                <a:cs typeface="Times New Roman" panose="02020603050405020304" pitchFamily="18" charset="0"/>
              </a:rPr>
              <a:t>.</a:t>
            </a:r>
          </a:p>
          <a:p>
            <a:pPr algn="just" eaLnBrk="1" fontAlgn="auto" hangingPunct="1">
              <a:spcBef>
                <a:spcPts val="0"/>
              </a:spcBef>
              <a:spcAft>
                <a:spcPts val="0"/>
              </a:spcAft>
            </a:pPr>
            <a:r>
              <a:rPr lang="en-US" sz="1600" dirty="0" smtClean="0">
                <a:solidFill>
                  <a:prstClr val="black"/>
                </a:solidFill>
                <a:latin typeface="Times New Roman" panose="02020603050405020304" pitchFamily="18" charset="0"/>
                <a:cs typeface="Times New Roman" panose="02020603050405020304" pitchFamily="18" charset="0"/>
              </a:rPr>
              <a:t>If </a:t>
            </a:r>
            <a:r>
              <a:rPr lang="en-US" sz="1600" dirty="0">
                <a:solidFill>
                  <a:prstClr val="black"/>
                </a:solidFill>
                <a:latin typeface="Times New Roman" panose="02020603050405020304" pitchFamily="18" charset="0"/>
                <a:cs typeface="Times New Roman" panose="02020603050405020304" pitchFamily="18" charset="0"/>
              </a:rPr>
              <a:t>you do not specify any access level, it will be the default.</a:t>
            </a:r>
          </a:p>
        </p:txBody>
      </p:sp>
      <p:grpSp>
        <p:nvGrpSpPr>
          <p:cNvPr id="83" name="Group 82"/>
          <p:cNvGrpSpPr/>
          <p:nvPr/>
        </p:nvGrpSpPr>
        <p:grpSpPr>
          <a:xfrm>
            <a:off x="7760331" y="169000"/>
            <a:ext cx="4279269" cy="5779720"/>
            <a:chOff x="7760331" y="169000"/>
            <a:chExt cx="4279269" cy="5779720"/>
          </a:xfrm>
        </p:grpSpPr>
        <p:grpSp>
          <p:nvGrpSpPr>
            <p:cNvPr id="55" name="Group 54"/>
            <p:cNvGrpSpPr/>
            <p:nvPr/>
          </p:nvGrpSpPr>
          <p:grpSpPr>
            <a:xfrm>
              <a:off x="7772400" y="169000"/>
              <a:ext cx="4267200" cy="2650400"/>
              <a:chOff x="7772400" y="169000"/>
              <a:chExt cx="4267200" cy="2650400"/>
            </a:xfrm>
          </p:grpSpPr>
          <p:sp>
            <p:nvSpPr>
              <p:cNvPr id="24" name="Rectangle 23"/>
              <p:cNvSpPr/>
              <p:nvPr/>
            </p:nvSpPr>
            <p:spPr>
              <a:xfrm>
                <a:off x="8077200" y="909282"/>
                <a:ext cx="990600" cy="386118"/>
              </a:xfrm>
              <a:prstGeom prst="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a:solidFill>
                    <a:prstClr val="black"/>
                  </a:solidFill>
                  <a:latin typeface="Times New Roman" panose="02020603050405020304" pitchFamily="18" charset="0"/>
                  <a:cs typeface="Times New Roman" panose="02020603050405020304" pitchFamily="18" charset="0"/>
                </a:endParaRPr>
              </a:p>
            </p:txBody>
          </p:sp>
          <p:sp>
            <p:nvSpPr>
              <p:cNvPr id="25" name="Rectangle 24"/>
              <p:cNvSpPr/>
              <p:nvPr/>
            </p:nvSpPr>
            <p:spPr>
              <a:xfrm>
                <a:off x="8110182" y="1603191"/>
                <a:ext cx="990600" cy="386118"/>
              </a:xfrm>
              <a:prstGeom prst="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a:solidFill>
                    <a:prstClr val="black"/>
                  </a:solidFill>
                  <a:latin typeface="Times New Roman" panose="02020603050405020304" pitchFamily="18" charset="0"/>
                  <a:cs typeface="Times New Roman" panose="02020603050405020304" pitchFamily="18" charset="0"/>
                </a:endParaRPr>
              </a:p>
            </p:txBody>
          </p:sp>
          <p:sp>
            <p:nvSpPr>
              <p:cNvPr id="26" name="Rectangle 25"/>
              <p:cNvSpPr/>
              <p:nvPr/>
            </p:nvSpPr>
            <p:spPr>
              <a:xfrm>
                <a:off x="9596081" y="1600916"/>
                <a:ext cx="990600" cy="386118"/>
              </a:xfrm>
              <a:prstGeom prst="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a:solidFill>
                    <a:prstClr val="black"/>
                  </a:solidFill>
                  <a:latin typeface="Times New Roman" panose="02020603050405020304" pitchFamily="18" charset="0"/>
                  <a:cs typeface="Times New Roman" panose="02020603050405020304" pitchFamily="18" charset="0"/>
                </a:endParaRPr>
              </a:p>
            </p:txBody>
          </p:sp>
          <p:grpSp>
            <p:nvGrpSpPr>
              <p:cNvPr id="33" name="Group 32"/>
              <p:cNvGrpSpPr/>
              <p:nvPr/>
            </p:nvGrpSpPr>
            <p:grpSpPr>
              <a:xfrm>
                <a:off x="7772400" y="187372"/>
                <a:ext cx="4267200" cy="2632028"/>
                <a:chOff x="7772400" y="187372"/>
                <a:chExt cx="4267200" cy="2632028"/>
              </a:xfrm>
            </p:grpSpPr>
            <p:sp>
              <p:nvSpPr>
                <p:cNvPr id="29" name="Rounded Rectangle 28"/>
                <p:cNvSpPr/>
                <p:nvPr/>
              </p:nvSpPr>
              <p:spPr>
                <a:xfrm>
                  <a:off x="7772400" y="187372"/>
                  <a:ext cx="4267200" cy="2632028"/>
                </a:xfrm>
                <a:prstGeom prst="roundRect">
                  <a:avLst/>
                </a:prstGeom>
                <a:ln w="28575">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cxnSp>
              <p:nvCxnSpPr>
                <p:cNvPr id="32" name="Straight Connector 31"/>
                <p:cNvCxnSpPr/>
                <p:nvPr/>
              </p:nvCxnSpPr>
              <p:spPr>
                <a:xfrm>
                  <a:off x="7772400" y="490210"/>
                  <a:ext cx="4267200" cy="0"/>
                </a:xfrm>
                <a:prstGeom prst="line">
                  <a:avLst/>
                </a:prstGeom>
                <a:ln w="28575">
                  <a:solidFill>
                    <a:srgbClr val="990099"/>
                  </a:solidFill>
                </a:ln>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8077200" y="169000"/>
                <a:ext cx="1347613" cy="338554"/>
              </a:xfrm>
              <a:prstGeom prst="rect">
                <a:avLst/>
              </a:prstGeom>
              <a:noFill/>
            </p:spPr>
            <p:txBody>
              <a:bodyPr wrap="none" rtlCol="0">
                <a:spAutoFit/>
              </a:bodyPr>
              <a:lstStyle/>
              <a:p>
                <a:pPr eaLnBrk="1" fontAlgn="auto" hangingPunct="1">
                  <a:spcBef>
                    <a:spcPts val="0"/>
                  </a:spcBef>
                  <a:spcAft>
                    <a:spcPts val="0"/>
                  </a:spcAft>
                </a:pPr>
                <a:r>
                  <a:rPr lang="en-US" sz="1600" b="1" dirty="0" smtClean="0">
                    <a:solidFill>
                      <a:srgbClr val="7030A0"/>
                    </a:solidFill>
                    <a:latin typeface="Times New Roman" panose="02020603050405020304" pitchFamily="18" charset="0"/>
                    <a:cs typeface="Times New Roman" panose="02020603050405020304" pitchFamily="18" charset="0"/>
                  </a:rPr>
                  <a:t>PACKAGE 1</a:t>
                </a:r>
                <a:endParaRPr lang="en-US" sz="1600" b="1" dirty="0">
                  <a:solidFill>
                    <a:srgbClr val="7030A0"/>
                  </a:solidFill>
                  <a:latin typeface="Times New Roman" panose="02020603050405020304" pitchFamily="18" charset="0"/>
                  <a:cs typeface="Times New Roman" panose="02020603050405020304" pitchFamily="18" charset="0"/>
                </a:endParaRPr>
              </a:p>
            </p:txBody>
          </p:sp>
          <p:sp>
            <p:nvSpPr>
              <p:cNvPr id="35" name="Rectangle 34"/>
              <p:cNvSpPr/>
              <p:nvPr/>
            </p:nvSpPr>
            <p:spPr>
              <a:xfrm>
                <a:off x="7927073" y="696685"/>
                <a:ext cx="1833918" cy="1795224"/>
              </a:xfrm>
              <a:prstGeom prst="rect">
                <a:avLst/>
              </a:prstGeom>
              <a:ln>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sp>
            <p:nvSpPr>
              <p:cNvPr id="36" name="TextBox 35"/>
              <p:cNvSpPr txBox="1"/>
              <p:nvPr/>
            </p:nvSpPr>
            <p:spPr>
              <a:xfrm>
                <a:off x="7957815" y="723673"/>
                <a:ext cx="1761665" cy="1569660"/>
              </a:xfrm>
              <a:prstGeom prst="rect">
                <a:avLst/>
              </a:prstGeom>
              <a:noFill/>
            </p:spPr>
            <p:txBody>
              <a:bodyPr wrap="square" rtlCol="0">
                <a:spAutoFit/>
              </a:bodyPr>
              <a:lstStyle/>
              <a:p>
                <a:pPr eaLnBrk="1" fontAlgn="auto" hangingPunct="1">
                  <a:spcBef>
                    <a:spcPts val="0"/>
                  </a:spcBef>
                  <a:spcAft>
                    <a:spcPts val="0"/>
                  </a:spcAft>
                </a:pPr>
                <a:r>
                  <a:rPr lang="en-US" sz="1600" b="1" dirty="0" smtClean="0">
                    <a:solidFill>
                      <a:srgbClr val="7030A0"/>
                    </a:solidFill>
                    <a:latin typeface="Times New Roman" panose="02020603050405020304" pitchFamily="18" charset="0"/>
                    <a:cs typeface="Times New Roman" panose="02020603050405020304" pitchFamily="18" charset="0"/>
                  </a:rPr>
                  <a:t>Class one{</a:t>
                </a:r>
              </a:p>
              <a:p>
                <a:pPr eaLnBrk="1" fontAlgn="auto" hangingPunct="1">
                  <a:spcBef>
                    <a:spcPts val="0"/>
                  </a:spcBef>
                  <a:spcAft>
                    <a:spcPts val="0"/>
                  </a:spcAft>
                </a:pPr>
                <a:r>
                  <a:rPr lang="en-US" sz="1600" b="1" dirty="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7030A0"/>
                    </a:solidFill>
                    <a:latin typeface="Times New Roman" panose="02020603050405020304" pitchFamily="18" charset="0"/>
                    <a:cs typeface="Times New Roman" panose="02020603050405020304" pitchFamily="18" charset="0"/>
                  </a:rPr>
                  <a:t>   </a:t>
                </a:r>
                <a:r>
                  <a:rPr lang="en-US" sz="1600" b="1" dirty="0" err="1" smtClean="0">
                    <a:solidFill>
                      <a:srgbClr val="00B0F0"/>
                    </a:solidFill>
                    <a:latin typeface="Times New Roman" panose="02020603050405020304" pitchFamily="18" charset="0"/>
                    <a:cs typeface="Times New Roman" panose="02020603050405020304" pitchFamily="18" charset="0"/>
                  </a:rPr>
                  <a:t>int</a:t>
                </a:r>
                <a:r>
                  <a:rPr lang="en-US" sz="1600" b="1" dirty="0" smtClean="0">
                    <a:solidFill>
                      <a:srgbClr val="00B0F0"/>
                    </a:solidFill>
                    <a:latin typeface="Times New Roman" panose="02020603050405020304" pitchFamily="18" charset="0"/>
                    <a:cs typeface="Times New Roman" panose="02020603050405020304" pitchFamily="18" charset="0"/>
                  </a:rPr>
                  <a:t> d;</a:t>
                </a:r>
              </a:p>
              <a:p>
                <a:pPr eaLnBrk="1" fontAlgn="auto" hangingPunct="1">
                  <a:spcBef>
                    <a:spcPts val="0"/>
                  </a:spcBef>
                  <a:spcAft>
                    <a:spcPts val="0"/>
                  </a:spcAft>
                </a:pPr>
                <a:r>
                  <a:rPr lang="en-US" sz="1600" b="1" dirty="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FF0000"/>
                    </a:solidFill>
                    <a:latin typeface="Times New Roman" panose="02020603050405020304" pitchFamily="18" charset="0"/>
                    <a:cs typeface="Times New Roman" panose="02020603050405020304" pitchFamily="18" charset="0"/>
                  </a:rPr>
                  <a:t>private </a:t>
                </a:r>
                <a:r>
                  <a:rPr lang="en-US" sz="1600" b="1" dirty="0" err="1" smtClean="0">
                    <a:solidFill>
                      <a:srgbClr val="FF0000"/>
                    </a:solidFill>
                    <a:latin typeface="Times New Roman" panose="02020603050405020304" pitchFamily="18" charset="0"/>
                    <a:cs typeface="Times New Roman" panose="02020603050405020304" pitchFamily="18" charset="0"/>
                  </a:rPr>
                  <a:t>int</a:t>
                </a:r>
                <a:r>
                  <a:rPr lang="en-US" sz="1600" b="1" dirty="0" smtClean="0">
                    <a:solidFill>
                      <a:srgbClr val="FF0000"/>
                    </a:solidFill>
                    <a:latin typeface="Times New Roman" panose="02020603050405020304" pitchFamily="18" charset="0"/>
                    <a:cs typeface="Times New Roman" panose="02020603050405020304" pitchFamily="18" charset="0"/>
                  </a:rPr>
                  <a:t> a;</a:t>
                </a:r>
              </a:p>
              <a:p>
                <a:pPr eaLnBrk="1" fontAlgn="auto" hangingPunct="1">
                  <a:spcBef>
                    <a:spcPts val="0"/>
                  </a:spcBef>
                  <a:spcAft>
                    <a:spcPts val="0"/>
                  </a:spcAft>
                </a:pPr>
                <a:r>
                  <a:rPr lang="en-US" sz="1600" b="1" dirty="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00B050"/>
                    </a:solidFill>
                    <a:latin typeface="Times New Roman" panose="02020603050405020304" pitchFamily="18" charset="0"/>
                    <a:cs typeface="Times New Roman" panose="02020603050405020304" pitchFamily="18" charset="0"/>
                  </a:rPr>
                  <a:t>public </a:t>
                </a:r>
                <a:r>
                  <a:rPr lang="en-US" sz="1600" b="1" dirty="0" err="1" smtClean="0">
                    <a:solidFill>
                      <a:srgbClr val="00B050"/>
                    </a:solidFill>
                    <a:latin typeface="Times New Roman" panose="02020603050405020304" pitchFamily="18" charset="0"/>
                    <a:cs typeface="Times New Roman" panose="02020603050405020304" pitchFamily="18" charset="0"/>
                  </a:rPr>
                  <a:t>int</a:t>
                </a:r>
                <a:r>
                  <a:rPr lang="en-US" sz="1600" b="1" dirty="0" smtClean="0">
                    <a:solidFill>
                      <a:srgbClr val="00B050"/>
                    </a:solidFill>
                    <a:latin typeface="Times New Roman" panose="02020603050405020304" pitchFamily="18" charset="0"/>
                    <a:cs typeface="Times New Roman" panose="02020603050405020304" pitchFamily="18" charset="0"/>
                  </a:rPr>
                  <a:t> b;</a:t>
                </a:r>
              </a:p>
              <a:p>
                <a:pPr eaLnBrk="1" fontAlgn="auto" hangingPunct="1">
                  <a:spcBef>
                    <a:spcPts val="0"/>
                  </a:spcBef>
                  <a:spcAft>
                    <a:spcPts val="0"/>
                  </a:spcAft>
                </a:pPr>
                <a:r>
                  <a:rPr lang="en-US" sz="1600" b="1" dirty="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7030A0"/>
                    </a:solidFill>
                    <a:latin typeface="Times New Roman" panose="02020603050405020304" pitchFamily="18" charset="0"/>
                    <a:cs typeface="Times New Roman" panose="02020603050405020304" pitchFamily="18" charset="0"/>
                  </a:rPr>
                  <a:t>   </a:t>
                </a:r>
                <a:r>
                  <a:rPr lang="en-US" sz="1600" b="1" dirty="0" smtClean="0">
                    <a:solidFill>
                      <a:srgbClr val="ED7D31">
                        <a:lumMod val="75000"/>
                      </a:srgbClr>
                    </a:solidFill>
                    <a:latin typeface="Times New Roman" panose="02020603050405020304" pitchFamily="18" charset="0"/>
                    <a:cs typeface="Times New Roman" panose="02020603050405020304" pitchFamily="18" charset="0"/>
                  </a:rPr>
                  <a:t>protected </a:t>
                </a:r>
                <a:r>
                  <a:rPr lang="en-US" sz="1600" b="1" dirty="0" err="1" smtClean="0">
                    <a:solidFill>
                      <a:srgbClr val="ED7D31">
                        <a:lumMod val="75000"/>
                      </a:srgbClr>
                    </a:solidFill>
                    <a:latin typeface="Times New Roman" panose="02020603050405020304" pitchFamily="18" charset="0"/>
                    <a:cs typeface="Times New Roman" panose="02020603050405020304" pitchFamily="18" charset="0"/>
                  </a:rPr>
                  <a:t>int</a:t>
                </a:r>
                <a:r>
                  <a:rPr lang="en-US" sz="1600" b="1" dirty="0" smtClean="0">
                    <a:solidFill>
                      <a:srgbClr val="ED7D31">
                        <a:lumMod val="75000"/>
                      </a:srgbClr>
                    </a:solidFill>
                    <a:latin typeface="Times New Roman" panose="02020603050405020304" pitchFamily="18" charset="0"/>
                    <a:cs typeface="Times New Roman" panose="02020603050405020304" pitchFamily="18" charset="0"/>
                  </a:rPr>
                  <a:t> c;</a:t>
                </a:r>
                <a:endParaRPr lang="en-US" sz="1600" b="1" dirty="0">
                  <a:solidFill>
                    <a:srgbClr val="ED7D31">
                      <a:lumMod val="75000"/>
                    </a:srgbClr>
                  </a:solidFill>
                  <a:latin typeface="Times New Roman" panose="02020603050405020304" pitchFamily="18" charset="0"/>
                  <a:cs typeface="Times New Roman" panose="02020603050405020304" pitchFamily="18" charset="0"/>
                </a:endParaRPr>
              </a:p>
              <a:p>
                <a:pPr eaLnBrk="1" fontAlgn="auto" hangingPunct="1">
                  <a:spcBef>
                    <a:spcPts val="0"/>
                  </a:spcBef>
                  <a:spcAft>
                    <a:spcPts val="0"/>
                  </a:spcAft>
                </a:pPr>
                <a:r>
                  <a:rPr lang="en-US" sz="1600" b="1" dirty="0" smtClean="0">
                    <a:solidFill>
                      <a:srgbClr val="7030A0"/>
                    </a:solidFill>
                    <a:latin typeface="Times New Roman" panose="02020603050405020304" pitchFamily="18" charset="0"/>
                    <a:cs typeface="Times New Roman" panose="02020603050405020304" pitchFamily="18" charset="0"/>
                  </a:rPr>
                  <a:t>}</a:t>
                </a:r>
                <a:endParaRPr lang="en-US" sz="1600" b="1" dirty="0">
                  <a:solidFill>
                    <a:srgbClr val="7030A0"/>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10601557" y="781866"/>
                <a:ext cx="1304184" cy="640949"/>
              </a:xfrm>
              <a:prstGeom prst="rect">
                <a:avLst/>
              </a:prstGeom>
              <a:ln>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cxnSp>
            <p:nvCxnSpPr>
              <p:cNvPr id="39" name="Straight Connector 38"/>
              <p:cNvCxnSpPr/>
              <p:nvPr/>
            </p:nvCxnSpPr>
            <p:spPr>
              <a:xfrm>
                <a:off x="9808285" y="909282"/>
                <a:ext cx="774731" cy="0"/>
              </a:xfrm>
              <a:prstGeom prst="line">
                <a:avLst/>
              </a:prstGeom>
              <a:ln>
                <a:solidFill>
                  <a:srgbClr val="990099"/>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9788921" y="643593"/>
                <a:ext cx="843501" cy="307777"/>
              </a:xfrm>
              <a:prstGeom prst="rect">
                <a:avLst/>
              </a:prstGeom>
              <a:noFill/>
            </p:spPr>
            <p:txBody>
              <a:bodyPr wrap="none" rtlCol="0">
                <a:spAutoFit/>
              </a:bodyPr>
              <a:lstStyle/>
              <a:p>
                <a:pPr eaLnBrk="1" fontAlgn="auto" hangingPunct="1">
                  <a:spcBef>
                    <a:spcPts val="0"/>
                  </a:spcBef>
                  <a:spcAft>
                    <a:spcPts val="0"/>
                  </a:spcAft>
                </a:pPr>
                <a:r>
                  <a:rPr lang="en-US" sz="1400" b="1" dirty="0" smtClean="0">
                    <a:solidFill>
                      <a:srgbClr val="7030A0"/>
                    </a:solidFill>
                    <a:latin typeface="Times New Roman" panose="02020603050405020304" pitchFamily="18" charset="0"/>
                    <a:cs typeface="Times New Roman" panose="02020603050405020304" pitchFamily="18" charset="0"/>
                  </a:rPr>
                  <a:t>Subclass</a:t>
                </a:r>
                <a:endParaRPr lang="en-US" sz="1400" b="1" dirty="0">
                  <a:solidFill>
                    <a:srgbClr val="7030A0"/>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10571707" y="507206"/>
                <a:ext cx="918841" cy="307777"/>
              </a:xfrm>
              <a:prstGeom prst="rect">
                <a:avLst/>
              </a:prstGeom>
              <a:noFill/>
            </p:spPr>
            <p:txBody>
              <a:bodyPr wrap="none" rtlCol="0">
                <a:spAutoFit/>
              </a:bodyPr>
              <a:lstStyle/>
              <a:p>
                <a:pPr eaLnBrk="1" fontAlgn="auto" hangingPunct="1">
                  <a:spcBef>
                    <a:spcPts val="0"/>
                  </a:spcBef>
                  <a:spcAft>
                    <a:spcPts val="0"/>
                  </a:spcAft>
                </a:pPr>
                <a:r>
                  <a:rPr lang="en-US" sz="1400" b="1" dirty="0" smtClean="0">
                    <a:solidFill>
                      <a:srgbClr val="7030A0"/>
                    </a:solidFill>
                    <a:latin typeface="Times New Roman" panose="02020603050405020304" pitchFamily="18" charset="0"/>
                    <a:cs typeface="Times New Roman" panose="02020603050405020304" pitchFamily="18" charset="0"/>
                  </a:rPr>
                  <a:t>Class two</a:t>
                </a:r>
                <a:endParaRPr lang="en-US" sz="1400" b="1" dirty="0">
                  <a:solidFill>
                    <a:srgbClr val="7030A0"/>
                  </a:solidFill>
                  <a:latin typeface="Times New Roman" panose="02020603050405020304" pitchFamily="18" charset="0"/>
                  <a:cs typeface="Times New Roman" panose="02020603050405020304" pitchFamily="18" charset="0"/>
                </a:endParaRPr>
              </a:p>
            </p:txBody>
          </p:sp>
          <p:sp>
            <p:nvSpPr>
              <p:cNvPr id="44" name="Rectangle 43"/>
              <p:cNvSpPr/>
              <p:nvPr/>
            </p:nvSpPr>
            <p:spPr>
              <a:xfrm>
                <a:off x="10429888" y="1901735"/>
                <a:ext cx="1304184" cy="640949"/>
              </a:xfrm>
              <a:prstGeom prst="rect">
                <a:avLst/>
              </a:prstGeom>
              <a:ln>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sp>
            <p:nvSpPr>
              <p:cNvPr id="45" name="TextBox 44"/>
              <p:cNvSpPr txBox="1"/>
              <p:nvPr/>
            </p:nvSpPr>
            <p:spPr>
              <a:xfrm>
                <a:off x="10400038" y="1627075"/>
                <a:ext cx="1035796" cy="307777"/>
              </a:xfrm>
              <a:prstGeom prst="rect">
                <a:avLst/>
              </a:prstGeom>
              <a:noFill/>
            </p:spPr>
            <p:txBody>
              <a:bodyPr wrap="none" rtlCol="0">
                <a:spAutoFit/>
              </a:bodyPr>
              <a:lstStyle/>
              <a:p>
                <a:pPr eaLnBrk="1" fontAlgn="auto" hangingPunct="1">
                  <a:spcBef>
                    <a:spcPts val="0"/>
                  </a:spcBef>
                  <a:spcAft>
                    <a:spcPts val="0"/>
                  </a:spcAft>
                </a:pPr>
                <a:r>
                  <a:rPr lang="en-US" sz="1400" b="1" dirty="0" smtClean="0">
                    <a:solidFill>
                      <a:srgbClr val="7030A0"/>
                    </a:solidFill>
                    <a:latin typeface="Times New Roman" panose="02020603050405020304" pitchFamily="18" charset="0"/>
                    <a:cs typeface="Times New Roman" panose="02020603050405020304" pitchFamily="18" charset="0"/>
                  </a:rPr>
                  <a:t>Class three</a:t>
                </a:r>
                <a:endParaRPr lang="en-US" sz="1400" b="1" dirty="0">
                  <a:solidFill>
                    <a:srgbClr val="7030A0"/>
                  </a:solidFill>
                  <a:latin typeface="Times New Roman" panose="02020603050405020304" pitchFamily="18" charset="0"/>
                  <a:cs typeface="Times New Roman" panose="02020603050405020304" pitchFamily="18" charset="0"/>
                </a:endParaRPr>
              </a:p>
            </p:txBody>
          </p:sp>
          <p:sp>
            <p:nvSpPr>
              <p:cNvPr id="46" name="TextBox 45"/>
              <p:cNvSpPr txBox="1"/>
              <p:nvPr/>
            </p:nvSpPr>
            <p:spPr>
              <a:xfrm>
                <a:off x="10677861" y="950249"/>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a:solidFill>
                      <a:srgbClr val="00B0F0"/>
                    </a:solidFill>
                    <a:latin typeface="Times New Roman" panose="02020603050405020304" pitchFamily="18" charset="0"/>
                    <a:cs typeface="Times New Roman" panose="02020603050405020304" pitchFamily="18" charset="0"/>
                  </a:rPr>
                  <a:t>d</a:t>
                </a:r>
                <a:endParaRPr lang="en-US" sz="2000" b="1" dirty="0" smtClean="0">
                  <a:solidFill>
                    <a:srgbClr val="00B0F0"/>
                  </a:solidFill>
                  <a:latin typeface="Times New Roman" panose="02020603050405020304" pitchFamily="18" charset="0"/>
                  <a:cs typeface="Times New Roman" panose="02020603050405020304" pitchFamily="18" charset="0"/>
                </a:endParaRPr>
              </a:p>
            </p:txBody>
          </p:sp>
          <p:sp>
            <p:nvSpPr>
              <p:cNvPr id="47" name="TextBox 46"/>
              <p:cNvSpPr txBox="1"/>
              <p:nvPr/>
            </p:nvSpPr>
            <p:spPr>
              <a:xfrm>
                <a:off x="10969277" y="950249"/>
                <a:ext cx="32252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FF0000"/>
                    </a:solidFill>
                    <a:latin typeface="Times New Roman" panose="02020603050405020304" pitchFamily="18" charset="0"/>
                    <a:cs typeface="Times New Roman" panose="02020603050405020304" pitchFamily="18" charset="0"/>
                  </a:rPr>
                  <a:t>a</a:t>
                </a:r>
              </a:p>
            </p:txBody>
          </p:sp>
          <p:sp>
            <p:nvSpPr>
              <p:cNvPr id="48" name="TextBox 47"/>
              <p:cNvSpPr txBox="1"/>
              <p:nvPr/>
            </p:nvSpPr>
            <p:spPr>
              <a:xfrm>
                <a:off x="11241776" y="965861"/>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00B050"/>
                    </a:solidFill>
                    <a:latin typeface="Times New Roman" panose="02020603050405020304" pitchFamily="18" charset="0"/>
                    <a:cs typeface="Times New Roman" panose="02020603050405020304" pitchFamily="18" charset="0"/>
                  </a:rPr>
                  <a:t>b</a:t>
                </a:r>
              </a:p>
            </p:txBody>
          </p:sp>
          <p:sp>
            <p:nvSpPr>
              <p:cNvPr id="49" name="TextBox 48"/>
              <p:cNvSpPr txBox="1"/>
              <p:nvPr/>
            </p:nvSpPr>
            <p:spPr>
              <a:xfrm>
                <a:off x="11533192" y="950249"/>
                <a:ext cx="298480"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ED7D31">
                        <a:lumMod val="75000"/>
                      </a:srgbClr>
                    </a:solidFill>
                    <a:latin typeface="Times New Roman" panose="02020603050405020304" pitchFamily="18" charset="0"/>
                    <a:cs typeface="Times New Roman" panose="02020603050405020304" pitchFamily="18" charset="0"/>
                  </a:rPr>
                  <a:t>c</a:t>
                </a:r>
              </a:p>
            </p:txBody>
          </p:sp>
          <p:sp>
            <p:nvSpPr>
              <p:cNvPr id="50" name="TextBox 49"/>
              <p:cNvSpPr txBox="1"/>
              <p:nvPr/>
            </p:nvSpPr>
            <p:spPr>
              <a:xfrm>
                <a:off x="10516599" y="1975798"/>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a:solidFill>
                      <a:srgbClr val="00B0F0"/>
                    </a:solidFill>
                    <a:latin typeface="Times New Roman" panose="02020603050405020304" pitchFamily="18" charset="0"/>
                    <a:cs typeface="Times New Roman" panose="02020603050405020304" pitchFamily="18" charset="0"/>
                  </a:rPr>
                  <a:t>d</a:t>
                </a:r>
                <a:endParaRPr lang="en-US" sz="2000" b="1" dirty="0" smtClean="0">
                  <a:solidFill>
                    <a:srgbClr val="00B0F0"/>
                  </a:solidFill>
                  <a:latin typeface="Times New Roman" panose="02020603050405020304" pitchFamily="18" charset="0"/>
                  <a:cs typeface="Times New Roman" panose="02020603050405020304" pitchFamily="18" charset="0"/>
                </a:endParaRPr>
              </a:p>
            </p:txBody>
          </p:sp>
          <p:sp>
            <p:nvSpPr>
              <p:cNvPr id="51" name="TextBox 50"/>
              <p:cNvSpPr txBox="1"/>
              <p:nvPr/>
            </p:nvSpPr>
            <p:spPr>
              <a:xfrm>
                <a:off x="10808015" y="1975798"/>
                <a:ext cx="32252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FF0000"/>
                    </a:solidFill>
                    <a:latin typeface="Times New Roman" panose="02020603050405020304" pitchFamily="18" charset="0"/>
                    <a:cs typeface="Times New Roman" panose="02020603050405020304" pitchFamily="18" charset="0"/>
                  </a:rPr>
                  <a:t>a</a:t>
                </a:r>
              </a:p>
            </p:txBody>
          </p:sp>
          <p:sp>
            <p:nvSpPr>
              <p:cNvPr id="52" name="TextBox 51"/>
              <p:cNvSpPr txBox="1"/>
              <p:nvPr/>
            </p:nvSpPr>
            <p:spPr>
              <a:xfrm>
                <a:off x="11080514" y="1991410"/>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00B050"/>
                    </a:solidFill>
                    <a:latin typeface="Times New Roman" panose="02020603050405020304" pitchFamily="18" charset="0"/>
                    <a:cs typeface="Times New Roman" panose="02020603050405020304" pitchFamily="18" charset="0"/>
                  </a:rPr>
                  <a:t>b</a:t>
                </a:r>
              </a:p>
            </p:txBody>
          </p:sp>
          <p:sp>
            <p:nvSpPr>
              <p:cNvPr id="53" name="TextBox 52"/>
              <p:cNvSpPr txBox="1"/>
              <p:nvPr/>
            </p:nvSpPr>
            <p:spPr>
              <a:xfrm>
                <a:off x="11371930" y="1975798"/>
                <a:ext cx="298480"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ED7D31">
                        <a:lumMod val="75000"/>
                      </a:srgbClr>
                    </a:solidFill>
                    <a:latin typeface="Times New Roman" panose="02020603050405020304" pitchFamily="18" charset="0"/>
                    <a:cs typeface="Times New Roman" panose="02020603050405020304" pitchFamily="18" charset="0"/>
                  </a:rPr>
                  <a:t>c</a:t>
                </a:r>
              </a:p>
            </p:txBody>
          </p:sp>
        </p:grpSp>
        <p:grpSp>
          <p:nvGrpSpPr>
            <p:cNvPr id="56" name="Group 55"/>
            <p:cNvGrpSpPr/>
            <p:nvPr/>
          </p:nvGrpSpPr>
          <p:grpSpPr>
            <a:xfrm>
              <a:off x="7760331" y="3314651"/>
              <a:ext cx="4267200" cy="2634069"/>
              <a:chOff x="7772400" y="185331"/>
              <a:chExt cx="4267200" cy="2634069"/>
            </a:xfrm>
          </p:grpSpPr>
          <p:sp>
            <p:nvSpPr>
              <p:cNvPr id="57" name="Rectangle 56"/>
              <p:cNvSpPr/>
              <p:nvPr/>
            </p:nvSpPr>
            <p:spPr>
              <a:xfrm>
                <a:off x="8077200" y="909282"/>
                <a:ext cx="990600" cy="386118"/>
              </a:xfrm>
              <a:prstGeom prst="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a:solidFill>
                    <a:prstClr val="black"/>
                  </a:solidFill>
                  <a:latin typeface="Times New Roman" panose="02020603050405020304" pitchFamily="18" charset="0"/>
                  <a:cs typeface="Times New Roman" panose="02020603050405020304" pitchFamily="18" charset="0"/>
                </a:endParaRPr>
              </a:p>
            </p:txBody>
          </p:sp>
          <p:sp>
            <p:nvSpPr>
              <p:cNvPr id="58" name="Rectangle 57"/>
              <p:cNvSpPr/>
              <p:nvPr/>
            </p:nvSpPr>
            <p:spPr>
              <a:xfrm>
                <a:off x="8110182" y="1603191"/>
                <a:ext cx="990600" cy="386118"/>
              </a:xfrm>
              <a:prstGeom prst="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a:solidFill>
                    <a:prstClr val="black"/>
                  </a:solidFill>
                  <a:latin typeface="Times New Roman" panose="02020603050405020304" pitchFamily="18" charset="0"/>
                  <a:cs typeface="Times New Roman" panose="02020603050405020304" pitchFamily="18" charset="0"/>
                </a:endParaRPr>
              </a:p>
            </p:txBody>
          </p:sp>
          <p:sp>
            <p:nvSpPr>
              <p:cNvPr id="59" name="Rectangle 58"/>
              <p:cNvSpPr/>
              <p:nvPr/>
            </p:nvSpPr>
            <p:spPr>
              <a:xfrm>
                <a:off x="9596081" y="1600916"/>
                <a:ext cx="990600" cy="386118"/>
              </a:xfrm>
              <a:prstGeom prst="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a:solidFill>
                    <a:prstClr val="black"/>
                  </a:solidFill>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7772400" y="187372"/>
                <a:ext cx="4267200" cy="2632028"/>
                <a:chOff x="7772400" y="187372"/>
                <a:chExt cx="4267200" cy="2632028"/>
              </a:xfrm>
            </p:grpSpPr>
            <p:sp>
              <p:nvSpPr>
                <p:cNvPr id="78" name="Rounded Rectangle 77"/>
                <p:cNvSpPr/>
                <p:nvPr/>
              </p:nvSpPr>
              <p:spPr>
                <a:xfrm>
                  <a:off x="7772400" y="187372"/>
                  <a:ext cx="4267200" cy="2632028"/>
                </a:xfrm>
                <a:prstGeom prst="roundRect">
                  <a:avLst/>
                </a:prstGeom>
                <a:ln w="28575">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cxnSp>
              <p:nvCxnSpPr>
                <p:cNvPr id="79" name="Straight Connector 78"/>
                <p:cNvCxnSpPr/>
                <p:nvPr/>
              </p:nvCxnSpPr>
              <p:spPr>
                <a:xfrm>
                  <a:off x="7772400" y="490210"/>
                  <a:ext cx="4267200" cy="0"/>
                </a:xfrm>
                <a:prstGeom prst="line">
                  <a:avLst/>
                </a:prstGeom>
                <a:ln w="28575">
                  <a:solidFill>
                    <a:srgbClr val="990099"/>
                  </a:solidFill>
                </a:ln>
              </p:spPr>
              <p:style>
                <a:lnRef idx="1">
                  <a:schemeClr val="accent1"/>
                </a:lnRef>
                <a:fillRef idx="0">
                  <a:schemeClr val="accent1"/>
                </a:fillRef>
                <a:effectRef idx="0">
                  <a:schemeClr val="accent1"/>
                </a:effectRef>
                <a:fontRef idx="minor">
                  <a:schemeClr val="tx1"/>
                </a:fontRef>
              </p:style>
            </p:cxnSp>
          </p:grpSp>
          <p:sp>
            <p:nvSpPr>
              <p:cNvPr id="61" name="TextBox 60"/>
              <p:cNvSpPr txBox="1"/>
              <p:nvPr/>
            </p:nvSpPr>
            <p:spPr>
              <a:xfrm>
                <a:off x="10527669" y="185331"/>
                <a:ext cx="1347613" cy="338554"/>
              </a:xfrm>
              <a:prstGeom prst="rect">
                <a:avLst/>
              </a:prstGeom>
              <a:noFill/>
            </p:spPr>
            <p:txBody>
              <a:bodyPr wrap="none" rtlCol="0">
                <a:spAutoFit/>
              </a:bodyPr>
              <a:lstStyle/>
              <a:p>
                <a:pPr eaLnBrk="1" fontAlgn="auto" hangingPunct="1">
                  <a:spcBef>
                    <a:spcPts val="0"/>
                  </a:spcBef>
                  <a:spcAft>
                    <a:spcPts val="0"/>
                  </a:spcAft>
                </a:pPr>
                <a:r>
                  <a:rPr lang="en-US" sz="1600" b="1" dirty="0" smtClean="0">
                    <a:solidFill>
                      <a:srgbClr val="7030A0"/>
                    </a:solidFill>
                    <a:latin typeface="Times New Roman" panose="02020603050405020304" pitchFamily="18" charset="0"/>
                    <a:cs typeface="Times New Roman" panose="02020603050405020304" pitchFamily="18" charset="0"/>
                  </a:rPr>
                  <a:t>PACKAGE 2</a:t>
                </a:r>
                <a:endParaRPr lang="en-US" sz="1600" b="1" dirty="0">
                  <a:solidFill>
                    <a:srgbClr val="7030A0"/>
                  </a:solidFill>
                  <a:latin typeface="Times New Roman" panose="02020603050405020304" pitchFamily="18" charset="0"/>
                  <a:cs typeface="Times New Roman" panose="02020603050405020304" pitchFamily="18" charset="0"/>
                </a:endParaRPr>
              </a:p>
            </p:txBody>
          </p:sp>
          <p:sp>
            <p:nvSpPr>
              <p:cNvPr id="64" name="Rectangle 63"/>
              <p:cNvSpPr/>
              <p:nvPr/>
            </p:nvSpPr>
            <p:spPr>
              <a:xfrm>
                <a:off x="9168262" y="802982"/>
                <a:ext cx="1304184" cy="640949"/>
              </a:xfrm>
              <a:prstGeom prst="rect">
                <a:avLst/>
              </a:prstGeom>
              <a:ln>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cxnSp>
            <p:nvCxnSpPr>
              <p:cNvPr id="65" name="Straight Connector 64"/>
              <p:cNvCxnSpPr/>
              <p:nvPr/>
            </p:nvCxnSpPr>
            <p:spPr>
              <a:xfrm>
                <a:off x="8393531" y="1099691"/>
                <a:ext cx="774731" cy="0"/>
              </a:xfrm>
              <a:prstGeom prst="line">
                <a:avLst/>
              </a:prstGeom>
              <a:ln>
                <a:solidFill>
                  <a:srgbClr val="990099"/>
                </a:solidFill>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8398037" y="835414"/>
                <a:ext cx="843501" cy="307777"/>
              </a:xfrm>
              <a:prstGeom prst="rect">
                <a:avLst/>
              </a:prstGeom>
              <a:noFill/>
            </p:spPr>
            <p:txBody>
              <a:bodyPr wrap="none" rtlCol="0">
                <a:spAutoFit/>
              </a:bodyPr>
              <a:lstStyle/>
              <a:p>
                <a:pPr eaLnBrk="1" fontAlgn="auto" hangingPunct="1">
                  <a:spcBef>
                    <a:spcPts val="0"/>
                  </a:spcBef>
                  <a:spcAft>
                    <a:spcPts val="0"/>
                  </a:spcAft>
                </a:pPr>
                <a:r>
                  <a:rPr lang="en-US" sz="1400" b="1" dirty="0" smtClean="0">
                    <a:solidFill>
                      <a:srgbClr val="7030A0"/>
                    </a:solidFill>
                    <a:latin typeface="Times New Roman" panose="02020603050405020304" pitchFamily="18" charset="0"/>
                    <a:cs typeface="Times New Roman" panose="02020603050405020304" pitchFamily="18" charset="0"/>
                  </a:rPr>
                  <a:t>Subclass</a:t>
                </a:r>
                <a:endParaRPr lang="en-US" sz="1400" b="1" dirty="0">
                  <a:solidFill>
                    <a:srgbClr val="7030A0"/>
                  </a:solidFill>
                  <a:latin typeface="Times New Roman" panose="02020603050405020304" pitchFamily="18" charset="0"/>
                  <a:cs typeface="Times New Roman" panose="02020603050405020304" pitchFamily="18" charset="0"/>
                </a:endParaRPr>
              </a:p>
            </p:txBody>
          </p:sp>
          <p:sp>
            <p:nvSpPr>
              <p:cNvPr id="67" name="TextBox 66"/>
              <p:cNvSpPr txBox="1"/>
              <p:nvPr/>
            </p:nvSpPr>
            <p:spPr>
              <a:xfrm>
                <a:off x="9100782" y="527549"/>
                <a:ext cx="968535" cy="307777"/>
              </a:xfrm>
              <a:prstGeom prst="rect">
                <a:avLst/>
              </a:prstGeom>
              <a:noFill/>
            </p:spPr>
            <p:txBody>
              <a:bodyPr wrap="none" rtlCol="0">
                <a:spAutoFit/>
              </a:bodyPr>
              <a:lstStyle/>
              <a:p>
                <a:pPr eaLnBrk="1" fontAlgn="auto" hangingPunct="1">
                  <a:spcBef>
                    <a:spcPts val="0"/>
                  </a:spcBef>
                  <a:spcAft>
                    <a:spcPts val="0"/>
                  </a:spcAft>
                </a:pPr>
                <a:r>
                  <a:rPr lang="en-US" sz="1400" b="1" dirty="0" smtClean="0">
                    <a:solidFill>
                      <a:srgbClr val="7030A0"/>
                    </a:solidFill>
                    <a:latin typeface="Times New Roman" panose="02020603050405020304" pitchFamily="18" charset="0"/>
                    <a:cs typeface="Times New Roman" panose="02020603050405020304" pitchFamily="18" charset="0"/>
                  </a:rPr>
                  <a:t>Class four</a:t>
                </a:r>
                <a:endParaRPr lang="en-US" sz="1400" b="1" dirty="0">
                  <a:solidFill>
                    <a:srgbClr val="7030A0"/>
                  </a:solidFill>
                  <a:latin typeface="Times New Roman" panose="02020603050405020304" pitchFamily="18" charset="0"/>
                  <a:cs typeface="Times New Roman" panose="02020603050405020304" pitchFamily="18" charset="0"/>
                </a:endParaRPr>
              </a:p>
            </p:txBody>
          </p:sp>
          <p:sp>
            <p:nvSpPr>
              <p:cNvPr id="68" name="Rectangle 67"/>
              <p:cNvSpPr/>
              <p:nvPr/>
            </p:nvSpPr>
            <p:spPr>
              <a:xfrm>
                <a:off x="10429888" y="1901735"/>
                <a:ext cx="1304184" cy="640949"/>
              </a:xfrm>
              <a:prstGeom prst="rect">
                <a:avLst/>
              </a:prstGeom>
              <a:ln>
                <a:solidFill>
                  <a:srgbClr val="990099"/>
                </a:solidFill>
              </a:ln>
            </p:spPr>
            <p:style>
              <a:lnRef idx="2">
                <a:schemeClr val="accent6"/>
              </a:lnRef>
              <a:fillRef idx="1">
                <a:schemeClr val="lt1"/>
              </a:fillRef>
              <a:effectRef idx="0">
                <a:schemeClr val="accent6"/>
              </a:effectRef>
              <a:fontRef idx="minor">
                <a:schemeClr val="dk1"/>
              </a:fontRef>
            </p:style>
            <p:txBody>
              <a:bodyPr rtlCol="0" anchor="ctr"/>
              <a:lstStyle/>
              <a:p>
                <a:pPr algn="ctr" eaLnBrk="1" fontAlgn="auto" hangingPunct="1">
                  <a:spcBef>
                    <a:spcPts val="0"/>
                  </a:spcBef>
                  <a:spcAft>
                    <a:spcPts val="0"/>
                  </a:spcAft>
                </a:pPr>
                <a:endParaRPr lang="en-US" dirty="0">
                  <a:solidFill>
                    <a:prstClr val="black"/>
                  </a:solidFill>
                  <a:latin typeface="Times New Roman" panose="02020603050405020304" pitchFamily="18" charset="0"/>
                  <a:cs typeface="Times New Roman" panose="02020603050405020304" pitchFamily="18" charset="0"/>
                </a:endParaRPr>
              </a:p>
            </p:txBody>
          </p:sp>
          <p:sp>
            <p:nvSpPr>
              <p:cNvPr id="69" name="TextBox 68"/>
              <p:cNvSpPr txBox="1"/>
              <p:nvPr/>
            </p:nvSpPr>
            <p:spPr>
              <a:xfrm>
                <a:off x="10400038" y="1627075"/>
                <a:ext cx="918841" cy="307777"/>
              </a:xfrm>
              <a:prstGeom prst="rect">
                <a:avLst/>
              </a:prstGeom>
              <a:noFill/>
            </p:spPr>
            <p:txBody>
              <a:bodyPr wrap="none" rtlCol="0">
                <a:spAutoFit/>
              </a:bodyPr>
              <a:lstStyle/>
              <a:p>
                <a:pPr eaLnBrk="1" fontAlgn="auto" hangingPunct="1">
                  <a:spcBef>
                    <a:spcPts val="0"/>
                  </a:spcBef>
                  <a:spcAft>
                    <a:spcPts val="0"/>
                  </a:spcAft>
                </a:pPr>
                <a:r>
                  <a:rPr lang="en-US" sz="1400" b="1" dirty="0" smtClean="0">
                    <a:solidFill>
                      <a:srgbClr val="7030A0"/>
                    </a:solidFill>
                    <a:latin typeface="Times New Roman" panose="02020603050405020304" pitchFamily="18" charset="0"/>
                    <a:cs typeface="Times New Roman" panose="02020603050405020304" pitchFamily="18" charset="0"/>
                  </a:rPr>
                  <a:t>Class five</a:t>
                </a:r>
                <a:endParaRPr lang="en-US" sz="1400" b="1" dirty="0">
                  <a:solidFill>
                    <a:srgbClr val="7030A0"/>
                  </a:solidFill>
                  <a:latin typeface="Times New Roman" panose="02020603050405020304" pitchFamily="18" charset="0"/>
                  <a:cs typeface="Times New Roman" panose="02020603050405020304" pitchFamily="18" charset="0"/>
                </a:endParaRPr>
              </a:p>
            </p:txBody>
          </p:sp>
          <p:sp>
            <p:nvSpPr>
              <p:cNvPr id="70" name="TextBox 69"/>
              <p:cNvSpPr txBox="1"/>
              <p:nvPr/>
            </p:nvSpPr>
            <p:spPr>
              <a:xfrm>
                <a:off x="9244566" y="971365"/>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a:solidFill>
                      <a:srgbClr val="00B0F0"/>
                    </a:solidFill>
                    <a:latin typeface="Times New Roman" panose="02020603050405020304" pitchFamily="18" charset="0"/>
                    <a:cs typeface="Times New Roman" panose="02020603050405020304" pitchFamily="18" charset="0"/>
                  </a:rPr>
                  <a:t>d</a:t>
                </a:r>
                <a:endParaRPr lang="en-US" sz="2000" b="1" dirty="0" smtClean="0">
                  <a:solidFill>
                    <a:srgbClr val="00B0F0"/>
                  </a:solidFill>
                  <a:latin typeface="Times New Roman" panose="02020603050405020304" pitchFamily="18" charset="0"/>
                  <a:cs typeface="Times New Roman" panose="02020603050405020304" pitchFamily="18" charset="0"/>
                </a:endParaRPr>
              </a:p>
            </p:txBody>
          </p:sp>
          <p:sp>
            <p:nvSpPr>
              <p:cNvPr id="71" name="TextBox 70"/>
              <p:cNvSpPr txBox="1"/>
              <p:nvPr/>
            </p:nvSpPr>
            <p:spPr>
              <a:xfrm>
                <a:off x="9535982" y="971365"/>
                <a:ext cx="32252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FF0000"/>
                    </a:solidFill>
                    <a:latin typeface="Times New Roman" panose="02020603050405020304" pitchFamily="18" charset="0"/>
                    <a:cs typeface="Times New Roman" panose="02020603050405020304" pitchFamily="18" charset="0"/>
                  </a:rPr>
                  <a:t>a</a:t>
                </a:r>
              </a:p>
            </p:txBody>
          </p:sp>
          <p:sp>
            <p:nvSpPr>
              <p:cNvPr id="72" name="TextBox 71"/>
              <p:cNvSpPr txBox="1"/>
              <p:nvPr/>
            </p:nvSpPr>
            <p:spPr>
              <a:xfrm>
                <a:off x="9808481" y="986977"/>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00B050"/>
                    </a:solidFill>
                    <a:latin typeface="Times New Roman" panose="02020603050405020304" pitchFamily="18" charset="0"/>
                    <a:cs typeface="Times New Roman" panose="02020603050405020304" pitchFamily="18" charset="0"/>
                  </a:rPr>
                  <a:t>b</a:t>
                </a:r>
              </a:p>
            </p:txBody>
          </p:sp>
          <p:sp>
            <p:nvSpPr>
              <p:cNvPr id="73" name="TextBox 72"/>
              <p:cNvSpPr txBox="1"/>
              <p:nvPr/>
            </p:nvSpPr>
            <p:spPr>
              <a:xfrm>
                <a:off x="10099897" y="971365"/>
                <a:ext cx="298480"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ED7D31">
                        <a:lumMod val="75000"/>
                      </a:srgbClr>
                    </a:solidFill>
                    <a:latin typeface="Times New Roman" panose="02020603050405020304" pitchFamily="18" charset="0"/>
                    <a:cs typeface="Times New Roman" panose="02020603050405020304" pitchFamily="18" charset="0"/>
                  </a:rPr>
                  <a:t>c</a:t>
                </a:r>
              </a:p>
            </p:txBody>
          </p:sp>
          <p:sp>
            <p:nvSpPr>
              <p:cNvPr id="74" name="TextBox 73"/>
              <p:cNvSpPr txBox="1"/>
              <p:nvPr/>
            </p:nvSpPr>
            <p:spPr>
              <a:xfrm>
                <a:off x="10516599" y="1975798"/>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a:solidFill>
                      <a:srgbClr val="00B0F0"/>
                    </a:solidFill>
                    <a:latin typeface="Times New Roman" panose="02020603050405020304" pitchFamily="18" charset="0"/>
                    <a:cs typeface="Times New Roman" panose="02020603050405020304" pitchFamily="18" charset="0"/>
                  </a:rPr>
                  <a:t>d</a:t>
                </a:r>
                <a:endParaRPr lang="en-US" sz="2000" b="1" dirty="0" smtClean="0">
                  <a:solidFill>
                    <a:srgbClr val="00B0F0"/>
                  </a:solidFill>
                  <a:latin typeface="Times New Roman" panose="02020603050405020304" pitchFamily="18" charset="0"/>
                  <a:cs typeface="Times New Roman" panose="02020603050405020304" pitchFamily="18" charset="0"/>
                </a:endParaRPr>
              </a:p>
            </p:txBody>
          </p:sp>
          <p:sp>
            <p:nvSpPr>
              <p:cNvPr id="75" name="TextBox 74"/>
              <p:cNvSpPr txBox="1"/>
              <p:nvPr/>
            </p:nvSpPr>
            <p:spPr>
              <a:xfrm>
                <a:off x="10808015" y="1975798"/>
                <a:ext cx="32252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FF0000"/>
                    </a:solidFill>
                    <a:latin typeface="Times New Roman" panose="02020603050405020304" pitchFamily="18" charset="0"/>
                    <a:cs typeface="Times New Roman" panose="02020603050405020304" pitchFamily="18" charset="0"/>
                  </a:rPr>
                  <a:t>a</a:t>
                </a:r>
              </a:p>
            </p:txBody>
          </p:sp>
          <p:sp>
            <p:nvSpPr>
              <p:cNvPr id="76" name="TextBox 75"/>
              <p:cNvSpPr txBox="1"/>
              <p:nvPr/>
            </p:nvSpPr>
            <p:spPr>
              <a:xfrm>
                <a:off x="11080514" y="1991410"/>
                <a:ext cx="327334"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00B050"/>
                    </a:solidFill>
                    <a:latin typeface="Times New Roman" panose="02020603050405020304" pitchFamily="18" charset="0"/>
                    <a:cs typeface="Times New Roman" panose="02020603050405020304" pitchFamily="18" charset="0"/>
                  </a:rPr>
                  <a:t>b</a:t>
                </a:r>
              </a:p>
            </p:txBody>
          </p:sp>
          <p:sp>
            <p:nvSpPr>
              <p:cNvPr id="77" name="TextBox 76"/>
              <p:cNvSpPr txBox="1"/>
              <p:nvPr/>
            </p:nvSpPr>
            <p:spPr>
              <a:xfrm>
                <a:off x="11371930" y="1975798"/>
                <a:ext cx="298480" cy="400110"/>
              </a:xfrm>
              <a:prstGeom prst="rect">
                <a:avLst/>
              </a:prstGeom>
              <a:noFill/>
            </p:spPr>
            <p:txBody>
              <a:bodyPr wrap="none" rtlCol="0">
                <a:spAutoFit/>
              </a:bodyPr>
              <a:lstStyle/>
              <a:p>
                <a:pPr eaLnBrk="1" fontAlgn="auto" hangingPunct="1">
                  <a:spcBef>
                    <a:spcPts val="0"/>
                  </a:spcBef>
                  <a:spcAft>
                    <a:spcPts val="0"/>
                  </a:spcAft>
                </a:pPr>
                <a:r>
                  <a:rPr lang="en-US" sz="2000" b="1" dirty="0" smtClean="0">
                    <a:solidFill>
                      <a:srgbClr val="ED7D31">
                        <a:lumMod val="75000"/>
                      </a:srgbClr>
                    </a:solidFill>
                    <a:latin typeface="Times New Roman" panose="02020603050405020304" pitchFamily="18" charset="0"/>
                    <a:cs typeface="Times New Roman" panose="02020603050405020304" pitchFamily="18" charset="0"/>
                  </a:rPr>
                  <a:t>c</a:t>
                </a:r>
              </a:p>
            </p:txBody>
          </p:sp>
        </p:grpSp>
        <p:cxnSp>
          <p:nvCxnSpPr>
            <p:cNvPr id="81" name="Straight Connector 80"/>
            <p:cNvCxnSpPr/>
            <p:nvPr/>
          </p:nvCxnSpPr>
          <p:spPr>
            <a:xfrm>
              <a:off x="8381462" y="2491909"/>
              <a:ext cx="0" cy="1760867"/>
            </a:xfrm>
            <a:prstGeom prst="line">
              <a:avLst/>
            </a:prstGeom>
            <a:ln>
              <a:solidFill>
                <a:srgbClr val="990099"/>
              </a:solidFill>
            </a:ln>
          </p:spPr>
          <p:style>
            <a:lnRef idx="1">
              <a:schemeClr val="accent1"/>
            </a:lnRef>
            <a:fillRef idx="0">
              <a:schemeClr val="accent1"/>
            </a:fillRef>
            <a:effectRef idx="0">
              <a:schemeClr val="accent1"/>
            </a:effectRef>
            <a:fontRef idx="minor">
              <a:schemeClr val="tx1"/>
            </a:fontRef>
          </p:style>
        </p:cxnSp>
      </p:grpSp>
      <p:sp>
        <p:nvSpPr>
          <p:cNvPr id="80"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16</a:t>
            </a:fld>
            <a:endParaRPr lang="en-US" altLang="en-US" dirty="0"/>
          </a:p>
        </p:txBody>
      </p:sp>
    </p:spTree>
    <p:extLst>
      <p:ext uri="{BB962C8B-B14F-4D97-AF65-F5344CB8AC3E}">
        <p14:creationId xmlns:p14="http://schemas.microsoft.com/office/powerpoint/2010/main" val="317100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Vertical)">
                                      <p:cBhvr>
                                        <p:cTn id="15" dur="500"/>
                                        <p:tgtEl>
                                          <p:spTgt spid="15"/>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arn(inVertical)">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barn(inVertical)">
                                      <p:cBhvr>
                                        <p:cTn id="26" dur="500"/>
                                        <p:tgtEl>
                                          <p:spTgt spid="17"/>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arn(inVertical)">
                                      <p:cBhvr>
                                        <p:cTn id="29" dur="500"/>
                                        <p:tgtEl>
                                          <p:spTgt spid="9"/>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arn(inVertical)">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arn(inVertical)">
                                      <p:cBhvr>
                                        <p:cTn id="37" dur="500"/>
                                        <p:tgtEl>
                                          <p:spTgt spid="18"/>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arn(inVertical)">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barn(inVertical)">
                                      <p:cBhvr>
                                        <p:cTn id="48" dur="500"/>
                                        <p:tgtEl>
                                          <p:spTgt spid="19"/>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barn(inVertical)">
                                      <p:cBhvr>
                                        <p:cTn id="51" dur="500"/>
                                        <p:tgtEl>
                                          <p:spTgt spid="11"/>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barn(inVertical)">
                                      <p:cBhvr>
                                        <p:cTn id="54"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83"/>
                                        </p:tgtEl>
                                        <p:attrNameLst>
                                          <p:attrName>style.visibility</p:attrName>
                                        </p:attrNameLst>
                                      </p:cBhvr>
                                      <p:to>
                                        <p:strVal val="visible"/>
                                      </p:to>
                                    </p:set>
                                    <p:anim calcmode="lin" valueType="num">
                                      <p:cBhvr additive="base">
                                        <p:cTn id="59" dur="500" fill="hold"/>
                                        <p:tgtEl>
                                          <p:spTgt spid="83"/>
                                        </p:tgtEl>
                                        <p:attrNameLst>
                                          <p:attrName>ppt_x</p:attrName>
                                        </p:attrNameLst>
                                      </p:cBhvr>
                                      <p:tavLst>
                                        <p:tav tm="0">
                                          <p:val>
                                            <p:strVal val="#ppt_x"/>
                                          </p:val>
                                        </p:tav>
                                        <p:tav tm="100000">
                                          <p:val>
                                            <p:strVal val="#ppt_x"/>
                                          </p:val>
                                        </p:tav>
                                      </p:tavLst>
                                    </p:anim>
                                    <p:anim calcmode="lin" valueType="num">
                                      <p:cBhvr additive="base">
                                        <p:cTn id="60"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20" grpId="0" animBg="1"/>
      <p:bldP spid="21" grpId="0" animBg="1"/>
      <p:bldP spid="22"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5512558" y="251466"/>
            <a:ext cx="6146042"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Classes </a:t>
            </a:r>
            <a:r>
              <a:rPr lang="en-US" sz="2800" dirty="0" smtClean="0">
                <a:solidFill>
                  <a:srgbClr val="FF0000"/>
                </a:solidFill>
                <a:latin typeface="Times New Roman" panose="02020603050405020304" pitchFamily="18" charset="0"/>
                <a:ea typeface="+mn-ea"/>
                <a:cs typeface="Times New Roman" panose="02020603050405020304" pitchFamily="18" charset="0"/>
              </a:rPr>
              <a:t>can contain </a:t>
            </a:r>
            <a:r>
              <a:rPr lang="en-US" sz="2800" dirty="0">
                <a:solidFill>
                  <a:srgbClr val="FF0000"/>
                </a:solidFill>
                <a:latin typeface="Times New Roman" panose="02020603050405020304" pitchFamily="18" charset="0"/>
                <a:ea typeface="+mn-ea"/>
                <a:cs typeface="Times New Roman" panose="02020603050405020304" pitchFamily="18" charset="0"/>
              </a:rPr>
              <a:t>constructors</a:t>
            </a:r>
          </a:p>
        </p:txBody>
      </p:sp>
      <p:sp>
        <p:nvSpPr>
          <p:cNvPr id="6" name="Rectangle 3"/>
          <p:cNvSpPr txBox="1">
            <a:spLocks noChangeArrowheads="1"/>
          </p:cNvSpPr>
          <p:nvPr/>
        </p:nvSpPr>
        <p:spPr>
          <a:xfrm>
            <a:off x="228600" y="990600"/>
            <a:ext cx="11658600" cy="3810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1200"/>
              </a:spcBef>
            </a:pPr>
            <a:r>
              <a:rPr lang="en-US" sz="2400" dirty="0">
                <a:latin typeface="Times New Roman" panose="02020603050405020304" pitchFamily="18" charset="0"/>
                <a:cs typeface="Times New Roman" panose="02020603050405020304" pitchFamily="18" charset="0"/>
              </a:rPr>
              <a:t>In Java, a </a:t>
            </a:r>
            <a:r>
              <a:rPr lang="en-US" sz="2400" dirty="0">
                <a:solidFill>
                  <a:schemeClr val="tx2"/>
                </a:solidFill>
                <a:latin typeface="Times New Roman" panose="02020603050405020304" pitchFamily="18" charset="0"/>
                <a:cs typeface="Times New Roman" panose="02020603050405020304" pitchFamily="18" charset="0"/>
              </a:rPr>
              <a:t>constructor</a:t>
            </a:r>
            <a:r>
              <a:rPr lang="en-US" sz="2400" dirty="0">
                <a:latin typeface="Times New Roman" panose="02020603050405020304" pitchFamily="18" charset="0"/>
                <a:cs typeface="Times New Roman" panose="02020603050405020304" pitchFamily="18" charset="0"/>
              </a:rPr>
              <a:t> is a block of codes similar to the method. </a:t>
            </a:r>
            <a:endParaRPr lang="en-US" sz="2400" dirty="0" smtClean="0">
              <a:latin typeface="Times New Roman" panose="02020603050405020304" pitchFamily="18" charset="0"/>
              <a:cs typeface="Times New Roman" panose="02020603050405020304" pitchFamily="18" charset="0"/>
            </a:endParaRPr>
          </a:p>
          <a:p>
            <a:pPr algn="just">
              <a:lnSpc>
                <a:spcPct val="100000"/>
              </a:lnSpc>
              <a:spcBef>
                <a:spcPts val="1200"/>
              </a:spcBef>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called when an instance of the class is created. </a:t>
            </a:r>
            <a:endParaRPr lang="en-US" sz="2400" dirty="0" smtClean="0">
              <a:latin typeface="Times New Roman" panose="02020603050405020304" pitchFamily="18" charset="0"/>
              <a:cs typeface="Times New Roman" panose="02020603050405020304" pitchFamily="18" charset="0"/>
            </a:endParaRPr>
          </a:p>
          <a:p>
            <a:pPr algn="just">
              <a:lnSpc>
                <a:spcPct val="100000"/>
              </a:lnSpc>
              <a:spcBef>
                <a:spcPts val="1200"/>
              </a:spcBef>
            </a:pPr>
            <a:r>
              <a:rPr lang="en-US" sz="2400" dirty="0" smtClean="0">
                <a:latin typeface="Times New Roman" panose="02020603050405020304" pitchFamily="18" charset="0"/>
                <a:cs typeface="Times New Roman" panose="02020603050405020304" pitchFamily="18" charset="0"/>
              </a:rPr>
              <a:t>At </a:t>
            </a:r>
            <a:r>
              <a:rPr lang="en-US" sz="2400" dirty="0">
                <a:latin typeface="Times New Roman" panose="02020603050405020304" pitchFamily="18" charset="0"/>
                <a:cs typeface="Times New Roman" panose="02020603050405020304" pitchFamily="18" charset="0"/>
              </a:rPr>
              <a:t>the time of calling constructor, memory for the object is allocated in the memory</a:t>
            </a:r>
            <a:r>
              <a:rPr lang="en-US" sz="2400" dirty="0" smtClean="0">
                <a:latin typeface="Times New Roman" panose="02020603050405020304" pitchFamily="18" charset="0"/>
                <a:cs typeface="Times New Roman" panose="02020603050405020304" pitchFamily="18" charset="0"/>
              </a:rPr>
              <a:t>.</a:t>
            </a:r>
          </a:p>
          <a:p>
            <a:pPr algn="just">
              <a:lnSpc>
                <a:spcPct val="100000"/>
              </a:lnSpc>
              <a:spcBef>
                <a:spcPts val="1200"/>
              </a:spcBef>
            </a:pPr>
            <a:r>
              <a:rPr lang="en-US" sz="2400" dirty="0">
                <a:latin typeface="Times New Roman" panose="02020603050405020304" pitchFamily="18" charset="0"/>
                <a:cs typeface="Times New Roman" panose="02020603050405020304" pitchFamily="18" charset="0"/>
              </a:rPr>
              <a:t>Every time an object is created using </a:t>
            </a:r>
            <a:r>
              <a:rPr lang="en-US" sz="2400">
                <a:latin typeface="Times New Roman" panose="02020603050405020304" pitchFamily="18" charset="0"/>
                <a:cs typeface="Times New Roman" panose="02020603050405020304" pitchFamily="18" charset="0"/>
              </a:rPr>
              <a:t>the </a:t>
            </a:r>
            <a:r>
              <a:rPr lang="en-US" sz="2400" smtClean="0">
                <a:latin typeface="Times New Roman" panose="02020603050405020304" pitchFamily="18" charset="0"/>
                <a:cs typeface="Times New Roman" panose="02020603050405020304" pitchFamily="18" charset="0"/>
              </a:rPr>
              <a:t>new </a:t>
            </a:r>
            <a:r>
              <a:rPr lang="en-US" sz="2400" dirty="0">
                <a:latin typeface="Times New Roman" panose="02020603050405020304" pitchFamily="18" charset="0"/>
                <a:cs typeface="Times New Roman" panose="02020603050405020304" pitchFamily="18" charset="0"/>
              </a:rPr>
              <a:t>keyword, at least one constructor is </a:t>
            </a:r>
            <a:r>
              <a:rPr lang="en-US" sz="2400" dirty="0" smtClean="0">
                <a:latin typeface="Times New Roman" panose="02020603050405020304" pitchFamily="18" charset="0"/>
                <a:cs typeface="Times New Roman" panose="02020603050405020304" pitchFamily="18" charset="0"/>
              </a:rPr>
              <a:t>called.</a:t>
            </a:r>
            <a:endParaRPr lang="en-US" sz="2400" dirty="0">
              <a:latin typeface="Times New Roman" panose="02020603050405020304" pitchFamily="18" charset="0"/>
              <a:cs typeface="Times New Roman" panose="02020603050405020304" pitchFamily="18" charset="0"/>
            </a:endParaRPr>
          </a:p>
          <a:p>
            <a:pPr algn="just">
              <a:lnSpc>
                <a:spcPct val="100000"/>
              </a:lnSpc>
              <a:spcBef>
                <a:spcPts val="1200"/>
              </a:spcBef>
            </a:pPr>
            <a:r>
              <a:rPr lang="en-US" sz="2400" dirty="0">
                <a:latin typeface="Times New Roman" panose="02020603050405020304" pitchFamily="18" charset="0"/>
                <a:cs typeface="Times New Roman" panose="02020603050405020304" pitchFamily="18" charset="0"/>
              </a:rPr>
              <a:t>If you don’t write a constructor, Java defines one for you (behind the scenes), i.e. It calls a default constructor if there is no constructor available in the class. In such case, Java compiler provides a default constructor by default.</a:t>
            </a:r>
          </a:p>
          <a:p>
            <a:pPr algn="just">
              <a:lnSpc>
                <a:spcPct val="100000"/>
              </a:lnSpc>
              <a:spcBef>
                <a:spcPts val="1200"/>
              </a:spcBef>
            </a:pPr>
            <a:r>
              <a:rPr lang="en-US" sz="2400" dirty="0" smtClean="0">
                <a:latin typeface="Times New Roman" panose="02020603050405020304" pitchFamily="18" charset="0"/>
                <a:cs typeface="Times New Roman" panose="02020603050405020304" pitchFamily="18" charset="0"/>
              </a:rPr>
              <a:t>You can write your own constructors</a:t>
            </a:r>
          </a:p>
        </p:txBody>
      </p:sp>
      <p:sp>
        <p:nvSpPr>
          <p:cNvPr id="12"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17</a:t>
            </a:fld>
            <a:endParaRPr lang="en-US" altLang="en-US" dirty="0"/>
          </a:p>
        </p:txBody>
      </p:sp>
    </p:spTree>
    <p:extLst>
      <p:ext uri="{BB962C8B-B14F-4D97-AF65-F5344CB8AC3E}">
        <p14:creationId xmlns:p14="http://schemas.microsoft.com/office/powerpoint/2010/main" val="113834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Vertic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arn(inVertic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arn(inVertic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arn(inVertic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arn(inVertical)">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18</a:t>
            </a:fld>
            <a:endParaRPr lang="en-US" altLang="en-US"/>
          </a:p>
        </p:txBody>
      </p:sp>
      <p:sp>
        <p:nvSpPr>
          <p:cNvPr id="6" name="Rectangle 5"/>
          <p:cNvSpPr/>
          <p:nvPr/>
        </p:nvSpPr>
        <p:spPr>
          <a:xfrm>
            <a:off x="288856" y="914400"/>
            <a:ext cx="9388544" cy="4267200"/>
          </a:xfrm>
          <a:prstGeom prst="rect">
            <a:avLst/>
          </a:prstGeom>
        </p:spPr>
        <p:txBody>
          <a:bodyPr vert="horz" lIns="91440" tIns="45720" rIns="91440" bIns="45720" rtlCol="0">
            <a:normAutofit/>
          </a:bodyPr>
          <a:lstStyle/>
          <a:p>
            <a:pPr marL="457200" indent="-457200" eaLnBrk="1" hangingPunct="1">
              <a:spcBef>
                <a:spcPts val="600"/>
              </a:spcBef>
              <a:buFont typeface="Wingdings" panose="05000000000000000000" pitchFamily="2" charset="2"/>
              <a:buChar char="q"/>
            </a:pPr>
            <a:r>
              <a:rPr lang="en-US" sz="2800" b="1" dirty="0">
                <a:solidFill>
                  <a:srgbClr val="FF0000"/>
                </a:solidFill>
                <a:latin typeface="Times New Roman" panose="02020603050405020304" pitchFamily="18" charset="0"/>
                <a:cs typeface="Times New Roman" panose="02020603050405020304" pitchFamily="18" charset="0"/>
              </a:rPr>
              <a:t>Rules for creating Java </a:t>
            </a:r>
            <a:r>
              <a:rPr lang="en-US" sz="2800" b="1" dirty="0" smtClean="0">
                <a:solidFill>
                  <a:srgbClr val="FF0000"/>
                </a:solidFill>
                <a:latin typeface="Times New Roman" panose="02020603050405020304" pitchFamily="18" charset="0"/>
                <a:cs typeface="Times New Roman" panose="02020603050405020304" pitchFamily="18" charset="0"/>
              </a:rPr>
              <a:t>constructor</a:t>
            </a:r>
          </a:p>
          <a:p>
            <a:pPr marL="228600" indent="-228600" eaLnBrk="1" hangingPunct="1">
              <a:spcBef>
                <a:spcPts val="600"/>
              </a:spcBef>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Constructor </a:t>
            </a:r>
            <a:r>
              <a:rPr lang="en-US" sz="2400" dirty="0">
                <a:latin typeface="Times New Roman" panose="02020603050405020304" pitchFamily="18" charset="0"/>
                <a:cs typeface="Times New Roman" panose="02020603050405020304" pitchFamily="18" charset="0"/>
              </a:rPr>
              <a:t>name must be the same as its class name</a:t>
            </a:r>
          </a:p>
          <a:p>
            <a:pPr marL="228600" indent="-228600" eaLnBrk="1" hangingPunct="1">
              <a:spcBef>
                <a:spcPts val="600"/>
              </a:spcBef>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Constructor must have no explicit return </a:t>
            </a:r>
            <a:r>
              <a:rPr lang="en-US" sz="2400" dirty="0" smtClean="0">
                <a:latin typeface="Times New Roman" panose="02020603050405020304" pitchFamily="18" charset="0"/>
                <a:cs typeface="Times New Roman" panose="02020603050405020304" pitchFamily="18" charset="0"/>
              </a:rPr>
              <a:t>type</a:t>
            </a:r>
          </a:p>
          <a:p>
            <a:pPr marL="342900" indent="-342900" eaLnBrk="1" hangingPunct="1">
              <a:spcBef>
                <a:spcPts val="600"/>
              </a:spcBef>
              <a:buFont typeface="Wingdings" panose="05000000000000000000" pitchFamily="2" charset="2"/>
              <a:buChar char="q"/>
            </a:pPr>
            <a:r>
              <a:rPr lang="en-US" sz="2800" b="1" dirty="0">
                <a:solidFill>
                  <a:srgbClr val="FF0000"/>
                </a:solidFill>
                <a:latin typeface="Times New Roman" panose="02020603050405020304" pitchFamily="18" charset="0"/>
                <a:cs typeface="Times New Roman" panose="02020603050405020304" pitchFamily="18" charset="0"/>
              </a:rPr>
              <a:t>Types of  </a:t>
            </a:r>
            <a:r>
              <a:rPr lang="en-US" sz="2800" b="1" dirty="0" smtClean="0">
                <a:solidFill>
                  <a:srgbClr val="FF0000"/>
                </a:solidFill>
                <a:latin typeface="Times New Roman" panose="02020603050405020304" pitchFamily="18" charset="0"/>
                <a:cs typeface="Times New Roman" panose="02020603050405020304" pitchFamily="18" charset="0"/>
              </a:rPr>
              <a:t>constructors</a:t>
            </a:r>
          </a:p>
          <a:p>
            <a:pPr marL="342900" indent="-342900" eaLnBrk="1" hangingPunct="1">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Default constructor (no-</a:t>
            </a:r>
            <a:r>
              <a:rPr lang="en-US" sz="2400" dirty="0" err="1">
                <a:latin typeface="Times New Roman" panose="02020603050405020304" pitchFamily="18" charset="0"/>
                <a:cs typeface="Times New Roman" panose="02020603050405020304" pitchFamily="18" charset="0"/>
              </a:rPr>
              <a:t>arg</a:t>
            </a:r>
            <a:r>
              <a:rPr lang="en-US" sz="2400" dirty="0">
                <a:latin typeface="Times New Roman" panose="02020603050405020304" pitchFamily="18" charset="0"/>
                <a:cs typeface="Times New Roman" panose="02020603050405020304" pitchFamily="18" charset="0"/>
              </a:rPr>
              <a:t> constructor)</a:t>
            </a:r>
          </a:p>
          <a:p>
            <a:pPr marL="342900" indent="-342900" eaLnBrk="1" hangingPunct="1">
              <a:spcBef>
                <a:spcPts val="600"/>
              </a:spcBef>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Parameterized constructor</a:t>
            </a:r>
            <a:endParaRPr lang="en-US" sz="2400" dirty="0">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8" name="Rectangle 2"/>
          <p:cNvSpPr>
            <a:spLocks noGrp="1" noChangeArrowheads="1"/>
          </p:cNvSpPr>
          <p:nvPr>
            <p:ph type="title"/>
          </p:nvPr>
        </p:nvSpPr>
        <p:spPr>
          <a:xfrm>
            <a:off x="5566249" y="237788"/>
            <a:ext cx="6146042"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Classes </a:t>
            </a:r>
            <a:r>
              <a:rPr lang="en-US" sz="2800" dirty="0" smtClean="0">
                <a:solidFill>
                  <a:srgbClr val="FF0000"/>
                </a:solidFill>
                <a:latin typeface="Times New Roman" panose="02020603050405020304" pitchFamily="18" charset="0"/>
                <a:ea typeface="+mn-ea"/>
                <a:cs typeface="Times New Roman" panose="02020603050405020304" pitchFamily="18" charset="0"/>
              </a:rPr>
              <a:t>can contain </a:t>
            </a:r>
            <a:r>
              <a:rPr lang="en-US" sz="2800" dirty="0">
                <a:solidFill>
                  <a:srgbClr val="FF0000"/>
                </a:solidFill>
                <a:latin typeface="Times New Roman" panose="02020603050405020304" pitchFamily="18" charset="0"/>
                <a:ea typeface="+mn-ea"/>
                <a:cs typeface="Times New Roman" panose="02020603050405020304" pitchFamily="18" charset="0"/>
              </a:rPr>
              <a:t>constructors</a:t>
            </a:r>
          </a:p>
        </p:txBody>
      </p:sp>
      <p:sp>
        <p:nvSpPr>
          <p:cNvPr id="9" name="Rectangle 8"/>
          <p:cNvSpPr/>
          <p:nvPr/>
        </p:nvSpPr>
        <p:spPr>
          <a:xfrm>
            <a:off x="6781800" y="2971800"/>
            <a:ext cx="5105400" cy="3046988"/>
          </a:xfrm>
          <a:prstGeom prst="rect">
            <a:avLst/>
          </a:prstGeom>
        </p:spPr>
        <p:txBody>
          <a:bodyPr wrap="square">
            <a:spAutoFit/>
          </a:bodyPr>
          <a:lstStyle/>
          <a:p>
            <a:pPr lvl="0">
              <a:spcBef>
                <a:spcPts val="600"/>
              </a:spcBef>
            </a:pPr>
            <a:r>
              <a:rPr lang="en-US" sz="2400" dirty="0" smtClean="0">
                <a:solidFill>
                  <a:prstClr val="black"/>
                </a:solidFill>
                <a:latin typeface="Times New Roman" panose="02020603050405020304" pitchFamily="18" charset="0"/>
                <a:cs typeface="Times New Roman" panose="02020603050405020304" pitchFamily="18" charset="0"/>
              </a:rPr>
              <a:t>Example: </a:t>
            </a:r>
            <a:r>
              <a:rPr lang="en-US" sz="2400" dirty="0" smtClean="0">
                <a:solidFill>
                  <a:srgbClr val="ED7D31"/>
                </a:solidFill>
                <a:latin typeface="Times New Roman" panose="02020603050405020304" pitchFamily="18" charset="0"/>
                <a:cs typeface="Times New Roman" panose="02020603050405020304" pitchFamily="18" charset="0"/>
              </a:rPr>
              <a:t>class </a:t>
            </a:r>
            <a:r>
              <a:rPr lang="en-US" sz="2400" dirty="0">
                <a:solidFill>
                  <a:srgbClr val="ED7D31"/>
                </a:solidFill>
                <a:latin typeface="Times New Roman" panose="02020603050405020304" pitchFamily="18" charset="0"/>
                <a:cs typeface="Times New Roman" panose="02020603050405020304" pitchFamily="18" charset="0"/>
              </a:rPr>
              <a:t>Dog {</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String name;</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a:t>
            </a:r>
            <a:r>
              <a:rPr lang="en-US" sz="2400" dirty="0" err="1">
                <a:solidFill>
                  <a:srgbClr val="ED7D31"/>
                </a:solidFill>
                <a:latin typeface="Times New Roman" panose="02020603050405020304" pitchFamily="18" charset="0"/>
                <a:cs typeface="Times New Roman" panose="02020603050405020304" pitchFamily="18" charset="0"/>
              </a:rPr>
              <a:t>int</a:t>
            </a:r>
            <a:r>
              <a:rPr lang="en-US" sz="2400" dirty="0">
                <a:solidFill>
                  <a:srgbClr val="ED7D31"/>
                </a:solidFill>
                <a:latin typeface="Times New Roman" panose="02020603050405020304" pitchFamily="18" charset="0"/>
                <a:cs typeface="Times New Roman" panose="02020603050405020304" pitchFamily="18" charset="0"/>
              </a:rPr>
              <a:t> age;</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Dog(String n, </a:t>
            </a:r>
            <a:r>
              <a:rPr lang="en-US" sz="2400" dirty="0" err="1">
                <a:solidFill>
                  <a:srgbClr val="ED7D31"/>
                </a:solidFill>
                <a:latin typeface="Times New Roman" panose="02020603050405020304" pitchFamily="18" charset="0"/>
                <a:cs typeface="Times New Roman" panose="02020603050405020304" pitchFamily="18" charset="0"/>
              </a:rPr>
              <a:t>int</a:t>
            </a:r>
            <a:r>
              <a:rPr lang="en-US" sz="2400" dirty="0">
                <a:solidFill>
                  <a:srgbClr val="ED7D31"/>
                </a:solidFill>
                <a:latin typeface="Times New Roman" panose="02020603050405020304" pitchFamily="18" charset="0"/>
                <a:cs typeface="Times New Roman" panose="02020603050405020304" pitchFamily="18" charset="0"/>
              </a:rPr>
              <a:t> </a:t>
            </a:r>
            <a:r>
              <a:rPr lang="en-US" sz="2400" dirty="0" smtClean="0">
                <a:solidFill>
                  <a:srgbClr val="ED7D31"/>
                </a:solidFill>
                <a:latin typeface="Times New Roman" panose="02020603050405020304" pitchFamily="18" charset="0"/>
                <a:cs typeface="Times New Roman" panose="02020603050405020304" pitchFamily="18" charset="0"/>
              </a:rPr>
              <a:t>a) </a:t>
            </a:r>
            <a:r>
              <a:rPr lang="en-US" sz="2400" dirty="0">
                <a:solidFill>
                  <a:srgbClr val="ED7D31"/>
                </a:solidFill>
                <a:latin typeface="Times New Roman" panose="02020603050405020304" pitchFamily="18" charset="0"/>
                <a:cs typeface="Times New Roman" panose="02020603050405020304" pitchFamily="18" charset="0"/>
              </a:rPr>
              <a:t>{</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a:t>
            </a:r>
            <a:r>
              <a:rPr lang="en-US" sz="2400" dirty="0" smtClean="0">
                <a:solidFill>
                  <a:srgbClr val="ED7D31"/>
                </a:solidFill>
                <a:latin typeface="Times New Roman" panose="02020603050405020304" pitchFamily="18" charset="0"/>
                <a:cs typeface="Times New Roman" panose="02020603050405020304" pitchFamily="18" charset="0"/>
              </a:rPr>
              <a:t>	    name </a:t>
            </a:r>
            <a:r>
              <a:rPr lang="en-US" sz="2400" dirty="0">
                <a:solidFill>
                  <a:srgbClr val="ED7D31"/>
                </a:solidFill>
                <a:latin typeface="Times New Roman" panose="02020603050405020304" pitchFamily="18" charset="0"/>
                <a:cs typeface="Times New Roman" panose="02020603050405020304" pitchFamily="18" charset="0"/>
              </a:rPr>
              <a:t>= n;</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a:t>
            </a:r>
            <a:r>
              <a:rPr lang="en-US" sz="2400" dirty="0" smtClean="0">
                <a:solidFill>
                  <a:srgbClr val="ED7D31"/>
                </a:solidFill>
                <a:latin typeface="Times New Roman" panose="02020603050405020304" pitchFamily="18" charset="0"/>
                <a:cs typeface="Times New Roman" panose="02020603050405020304" pitchFamily="18" charset="0"/>
              </a:rPr>
              <a:t>    age </a:t>
            </a:r>
            <a:r>
              <a:rPr lang="en-US" sz="2400" dirty="0">
                <a:solidFill>
                  <a:srgbClr val="ED7D31"/>
                </a:solidFill>
                <a:latin typeface="Times New Roman" panose="02020603050405020304" pitchFamily="18" charset="0"/>
                <a:cs typeface="Times New Roman" panose="02020603050405020304" pitchFamily="18" charset="0"/>
              </a:rPr>
              <a:t>= </a:t>
            </a:r>
            <a:r>
              <a:rPr lang="en-US" sz="2400" dirty="0" smtClean="0">
                <a:solidFill>
                  <a:srgbClr val="ED7D31"/>
                </a:solidFill>
                <a:latin typeface="Times New Roman" panose="02020603050405020304" pitchFamily="18" charset="0"/>
                <a:cs typeface="Times New Roman" panose="02020603050405020304" pitchFamily="18" charset="0"/>
              </a:rPr>
              <a:t>a;</a:t>
            </a:r>
            <a:r>
              <a:rPr lang="en-US" sz="2400" dirty="0">
                <a:solidFill>
                  <a:srgbClr val="ED7D31"/>
                </a:solidFill>
                <a:latin typeface="Times New Roman" panose="02020603050405020304" pitchFamily="18" charset="0"/>
                <a:cs typeface="Times New Roman" panose="02020603050405020304" pitchFamily="18" charset="0"/>
              </a:rPr>
              <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a:t>
            </a:r>
            <a:r>
              <a:rPr lang="en-US" sz="2400" dirty="0" smtClean="0">
                <a:solidFill>
                  <a:srgbClr val="ED7D31"/>
                </a:solidFill>
                <a:latin typeface="Times New Roman" panose="02020603050405020304" pitchFamily="18" charset="0"/>
                <a:cs typeface="Times New Roman" panose="02020603050405020304" pitchFamily="18" charset="0"/>
              </a:rPr>
              <a:t>}</a:t>
            </a:r>
            <a:r>
              <a:rPr lang="en-US" sz="2400" dirty="0">
                <a:solidFill>
                  <a:srgbClr val="ED7D31"/>
                </a:solidFill>
                <a:latin typeface="Times New Roman" panose="02020603050405020304" pitchFamily="18" charset="0"/>
                <a:cs typeface="Times New Roman" panose="02020603050405020304" pitchFamily="18" charset="0"/>
              </a:rPr>
              <a:t/>
            </a:r>
            <a:br>
              <a:rPr lang="en-US" sz="2400" dirty="0">
                <a:solidFill>
                  <a:srgbClr val="ED7D31"/>
                </a:solidFill>
                <a:latin typeface="Times New Roman" panose="02020603050405020304" pitchFamily="18" charset="0"/>
                <a:cs typeface="Times New Roman" panose="02020603050405020304" pitchFamily="18" charset="0"/>
              </a:rPr>
            </a:br>
            <a:r>
              <a:rPr lang="en-US" sz="2400" dirty="0">
                <a:solidFill>
                  <a:srgbClr val="ED7D31"/>
                </a:solidFill>
                <a:latin typeface="Times New Roman" panose="02020603050405020304" pitchFamily="18" charset="0"/>
                <a:cs typeface="Times New Roman" panose="02020603050405020304" pitchFamily="18" charset="0"/>
              </a:rPr>
              <a:t>	 </a:t>
            </a:r>
            <a:r>
              <a:rPr lang="en-US" sz="2400" dirty="0" smtClean="0">
                <a:solidFill>
                  <a:srgbClr val="ED7D31"/>
                </a:solidFill>
                <a:latin typeface="Times New Roman" panose="02020603050405020304" pitchFamily="18" charset="0"/>
                <a:cs typeface="Times New Roman" panose="02020603050405020304" pitchFamily="18" charset="0"/>
              </a:rPr>
              <a:t>    }</a:t>
            </a:r>
            <a:endParaRPr lang="en-US" sz="2400" dirty="0">
              <a:solidFill>
                <a:srgbClr val="ED7D31"/>
              </a:solidFill>
              <a:latin typeface="Times New Roman" panose="02020603050405020304" pitchFamily="18" charset="0"/>
              <a:cs typeface="Times New Roman" panose="02020603050405020304" pitchFamily="18" charset="0"/>
            </a:endParaRPr>
          </a:p>
        </p:txBody>
      </p:sp>
      <p:grpSp>
        <p:nvGrpSpPr>
          <p:cNvPr id="10" name="Group 8"/>
          <p:cNvGrpSpPr>
            <a:grpSpLocks/>
          </p:cNvGrpSpPr>
          <p:nvPr/>
        </p:nvGrpSpPr>
        <p:grpSpPr bwMode="auto">
          <a:xfrm>
            <a:off x="3657837" y="4114295"/>
            <a:ext cx="8232775" cy="1455738"/>
            <a:chOff x="-1970" y="3127"/>
            <a:chExt cx="5186" cy="917"/>
          </a:xfrm>
        </p:grpSpPr>
        <p:sp>
          <p:nvSpPr>
            <p:cNvPr id="11" name="Rectangle 4"/>
            <p:cNvSpPr>
              <a:spLocks noChangeArrowheads="1"/>
            </p:cNvSpPr>
            <p:nvPr/>
          </p:nvSpPr>
          <p:spPr bwMode="auto">
            <a:xfrm>
              <a:off x="1054" y="3127"/>
              <a:ext cx="2162" cy="9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 name="Text Box 5"/>
            <p:cNvSpPr txBox="1">
              <a:spLocks noChangeArrowheads="1"/>
            </p:cNvSpPr>
            <p:nvPr/>
          </p:nvSpPr>
          <p:spPr bwMode="auto">
            <a:xfrm>
              <a:off x="-1970" y="3127"/>
              <a:ext cx="23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dirty="0">
                  <a:latin typeface="Times New Roman" panose="02020603050405020304" pitchFamily="18" charset="0"/>
                  <a:cs typeface="Times New Roman" panose="02020603050405020304" pitchFamily="18" charset="0"/>
                </a:rPr>
                <a:t>(This part is the constructor)</a:t>
              </a:r>
            </a:p>
          </p:txBody>
        </p:sp>
        <p:sp>
          <p:nvSpPr>
            <p:cNvPr id="13" name="Line 6"/>
            <p:cNvSpPr>
              <a:spLocks noChangeShapeType="1"/>
            </p:cNvSpPr>
            <p:nvPr/>
          </p:nvSpPr>
          <p:spPr bwMode="auto">
            <a:xfrm>
              <a:off x="-1874" y="3415"/>
              <a:ext cx="2112"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latin typeface="Times New Roman" panose="02020603050405020304" pitchFamily="18" charset="0"/>
                <a:cs typeface="Times New Roman" panose="02020603050405020304" pitchFamily="18" charset="0"/>
              </a:endParaRPr>
            </a:p>
          </p:txBody>
        </p:sp>
        <p:sp>
          <p:nvSpPr>
            <p:cNvPr id="14" name="Line 7"/>
            <p:cNvSpPr>
              <a:spLocks noChangeShapeType="1"/>
            </p:cNvSpPr>
            <p:nvPr/>
          </p:nvSpPr>
          <p:spPr bwMode="auto">
            <a:xfrm>
              <a:off x="-866" y="3412"/>
              <a:ext cx="1918" cy="147"/>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69784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down)">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arn(inVertical)">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wipe(down)">
                                      <p:cBhvr>
                                        <p:cTn id="25" dur="500"/>
                                        <p:tgtEl>
                                          <p:spTgt spid="6">
                                            <p:txEl>
                                              <p:pRg st="4" end="4"/>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wipe(down)">
                                      <p:cBhvr>
                                        <p:cTn id="28" dur="500"/>
                                        <p:tgtEl>
                                          <p:spTgt spid="6">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arn(inVertical)">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922" y="717418"/>
            <a:ext cx="11414078" cy="2862322"/>
          </a:xfrm>
          <a:prstGeom prst="rect">
            <a:avLst/>
          </a:prstGeom>
        </p:spPr>
        <p:txBody>
          <a:bodyPr wrap="square">
            <a:sp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Salary</a:t>
            </a:r>
            <a:r>
              <a:rPr lang="en-US" sz="2400" dirty="0" smtClean="0">
                <a:latin typeface="Times New Roman" panose="02020603050405020304" pitchFamily="18" charset="0"/>
                <a:cs typeface="Times New Roman" panose="02020603050405020304" pitchFamily="18" charset="0"/>
              </a:rPr>
              <a:t>. He also been permitted to </a:t>
            </a:r>
            <a:r>
              <a:rPr lang="en-US" sz="2400" b="1" dirty="0" smtClean="0">
                <a:latin typeface="Times New Roman" panose="02020603050405020304" pitchFamily="18" charset="0"/>
                <a:cs typeface="Times New Roman" panose="02020603050405020304" pitchFamily="18" charset="0"/>
              </a:rPr>
              <a:t>generate some default values</a:t>
            </a:r>
            <a:r>
              <a:rPr lang="en-US" sz="2400" dirty="0" smtClean="0">
                <a:latin typeface="Times New Roman" panose="02020603050405020304" pitchFamily="18" charset="0"/>
                <a:cs typeface="Times New Roman" panose="02020603050405020304" pitchFamily="18" charset="0"/>
              </a:rPr>
              <a:t> to the Employee data fields before adding employee records to the database. Help Mr</a:t>
            </a:r>
            <a:r>
              <a:rPr lang="en-US" sz="2400" dirty="0">
                <a:latin typeface="Times New Roman" panose="02020603050405020304" pitchFamily="18" charset="0"/>
                <a:cs typeface="Times New Roman" panose="02020603050405020304" pitchFamily="18" charset="0"/>
              </a:rPr>
              <a:t>. John </a:t>
            </a:r>
            <a:r>
              <a:rPr lang="en-US" sz="2400" dirty="0" smtClean="0">
                <a:latin typeface="Times New Roman" panose="02020603050405020304" pitchFamily="18" charset="0"/>
                <a:cs typeface="Times New Roman" panose="02020603050405020304" pitchFamily="18" charset="0"/>
              </a:rPr>
              <a:t>to store the records and retrieve all </a:t>
            </a:r>
            <a:r>
              <a:rPr lang="en-US" sz="2400" dirty="0">
                <a:latin typeface="Times New Roman" panose="02020603050405020304" pitchFamily="18" charset="0"/>
                <a:cs typeface="Times New Roman" panose="02020603050405020304" pitchFamily="18" charset="0"/>
              </a:rPr>
              <a:t>the records which he has </a:t>
            </a:r>
            <a:r>
              <a:rPr lang="en-US" sz="2400" dirty="0" smtClean="0">
                <a:latin typeface="Times New Roman" panose="02020603050405020304" pitchFamily="18" charset="0"/>
                <a:cs typeface="Times New Roman" panose="02020603050405020304" pitchFamily="18" charset="0"/>
              </a:rPr>
              <a:t>stored.</a:t>
            </a:r>
            <a:endParaRPr lang="en-US" sz="2400" dirty="0">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19</a:t>
            </a:fld>
            <a:endParaRPr lang="en-US" altLang="en-US"/>
          </a:p>
        </p:txBody>
      </p:sp>
    </p:spTree>
    <p:extLst>
      <p:ext uri="{BB962C8B-B14F-4D97-AF65-F5344CB8AC3E}">
        <p14:creationId xmlns:p14="http://schemas.microsoft.com/office/powerpoint/2010/main" val="1547442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19100" y="914400"/>
            <a:ext cx="9867900" cy="2286000"/>
          </a:xfrm>
        </p:spPr>
        <p:txBody>
          <a:bodyPr rtlCol="0">
            <a:noAutofit/>
          </a:bodyPr>
          <a:lstStyle/>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Constructor </a:t>
            </a:r>
            <a:r>
              <a:rPr lang="en-US" sz="2400" dirty="0">
                <a:latin typeface="Times New Roman" panose="02020603050405020304" pitchFamily="18" charset="0"/>
                <a:cs typeface="Times New Roman" panose="02020603050405020304" pitchFamily="18" charset="0"/>
              </a:rPr>
              <a:t>overloading</a:t>
            </a:r>
          </a:p>
          <a:p>
            <a:pPr fontAlgn="auto">
              <a:lnSpc>
                <a:spcPct val="100000"/>
              </a:lnSpc>
              <a:spcBef>
                <a:spcPts val="1200"/>
              </a:spcBef>
              <a:spcAft>
                <a:spcPts val="0"/>
              </a:spcAft>
              <a:defRPr/>
            </a:pPr>
            <a:r>
              <a:rPr lang="en-US" sz="2400" dirty="0">
                <a:latin typeface="Times New Roman" panose="02020603050405020304" pitchFamily="18" charset="0"/>
                <a:cs typeface="Times New Roman" panose="02020603050405020304" pitchFamily="18" charset="0"/>
              </a:rPr>
              <a:t>Activity on Constructor </a:t>
            </a:r>
            <a:r>
              <a:rPr lang="en-US" sz="2400" dirty="0" smtClean="0">
                <a:latin typeface="Times New Roman" panose="02020603050405020304" pitchFamily="18" charset="0"/>
                <a:cs typeface="Times New Roman" panose="02020603050405020304" pitchFamily="18" charset="0"/>
              </a:rPr>
              <a:t>overloading</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Review of Program structure</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Complete program demonstration</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a:t>
            </a:fld>
            <a:endParaRPr lang="en-US" altLang="en-US"/>
          </a:p>
        </p:txBody>
      </p:sp>
      <p:sp>
        <p:nvSpPr>
          <p:cNvPr id="7" name="Title 1"/>
          <p:cNvSpPr>
            <a:spLocks noGrp="1"/>
          </p:cNvSpPr>
          <p:nvPr>
            <p:ph type="title"/>
          </p:nvPr>
        </p:nvSpPr>
        <p:spPr>
          <a:xfrm>
            <a:off x="419100" y="127427"/>
            <a:ext cx="17145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Contents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04863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21</a:t>
            </a:fld>
            <a:endParaRPr lang="en-US" altLang="en-US"/>
          </a:p>
        </p:txBody>
      </p:sp>
      <p:sp>
        <p:nvSpPr>
          <p:cNvPr id="6"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7" name="Rectangle 2"/>
          <p:cNvSpPr>
            <a:spLocks noGrp="1" noChangeArrowheads="1"/>
          </p:cNvSpPr>
          <p:nvPr>
            <p:ph type="title"/>
          </p:nvPr>
        </p:nvSpPr>
        <p:spPr>
          <a:xfrm>
            <a:off x="5566249" y="237788"/>
            <a:ext cx="6146042"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smtClean="0">
                <a:solidFill>
                  <a:srgbClr val="FF0000"/>
                </a:solidFill>
                <a:latin typeface="Times New Roman" panose="02020603050405020304" pitchFamily="18" charset="0"/>
                <a:ea typeface="+mn-ea"/>
                <a:cs typeface="Times New Roman" panose="02020603050405020304" pitchFamily="18" charset="0"/>
              </a:rPr>
              <a:t>Constructors can be overloaded</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sp>
        <p:nvSpPr>
          <p:cNvPr id="8" name="Content Placeholder 2"/>
          <p:cNvSpPr>
            <a:spLocks noGrp="1"/>
          </p:cNvSpPr>
          <p:nvPr>
            <p:ph idx="1"/>
          </p:nvPr>
        </p:nvSpPr>
        <p:spPr>
          <a:xfrm>
            <a:off x="253621" y="914400"/>
            <a:ext cx="6223379" cy="4343400"/>
          </a:xfrm>
        </p:spPr>
        <p:txBody>
          <a:bodyPr/>
          <a:lstStyle/>
          <a:p>
            <a:pPr algn="just">
              <a:lnSpc>
                <a:spcPct val="100000"/>
              </a:lnSpc>
              <a:spcBef>
                <a:spcPts val="600"/>
              </a:spcBef>
            </a:pPr>
            <a:r>
              <a:rPr lang="en-US" sz="2400" dirty="0" smtClean="0">
                <a:latin typeface="Times New Roman" panose="02020603050405020304" pitchFamily="18" charset="0"/>
                <a:cs typeface="Times New Roman" panose="02020603050405020304" pitchFamily="18" charset="0"/>
              </a:rPr>
              <a:t>Constructor overloading in Java is a technique of having more than one constructor with different parameter lists. </a:t>
            </a:r>
          </a:p>
          <a:p>
            <a:pPr algn="just">
              <a:lnSpc>
                <a:spcPct val="100000"/>
              </a:lnSpc>
              <a:spcBef>
                <a:spcPts val="600"/>
              </a:spcBef>
            </a:pPr>
            <a:r>
              <a:rPr lang="en-US" sz="2400" dirty="0" smtClean="0">
                <a:latin typeface="Times New Roman" panose="02020603050405020304" pitchFamily="18" charset="0"/>
                <a:cs typeface="Times New Roman" panose="02020603050405020304" pitchFamily="18" charset="0"/>
              </a:rPr>
              <a:t>They are arranged in a way that each constructor performs a different task.</a:t>
            </a:r>
          </a:p>
          <a:p>
            <a:pPr algn="just">
              <a:lnSpc>
                <a:spcPct val="100000"/>
              </a:lnSpc>
              <a:spcBef>
                <a:spcPts val="600"/>
              </a:spcBef>
            </a:pPr>
            <a:r>
              <a:rPr lang="en-US" sz="2400" dirty="0" smtClean="0">
                <a:latin typeface="Times New Roman" panose="02020603050405020304" pitchFamily="18" charset="0"/>
                <a:cs typeface="Times New Roman" panose="02020603050405020304" pitchFamily="18" charset="0"/>
              </a:rPr>
              <a:t> They are differentiated by the compiler by the number of parameters in the list and their types.</a:t>
            </a:r>
          </a:p>
          <a:p>
            <a:pPr algn="just">
              <a:lnSpc>
                <a:spcPct val="100000"/>
              </a:lnSpc>
              <a:spcBef>
                <a:spcPts val="600"/>
              </a:spcBef>
            </a:pPr>
            <a:r>
              <a:rPr lang="en-US" sz="2400" dirty="0" smtClean="0">
                <a:latin typeface="Times New Roman" panose="02020603050405020304" pitchFamily="18" charset="0"/>
                <a:cs typeface="Times New Roman" panose="02020603050405020304" pitchFamily="18" charset="0"/>
              </a:rPr>
              <a:t>A constructor is just like a method but without return type. It can also be overloaded like Java methods.</a:t>
            </a:r>
            <a:endParaRPr lang="en-IN" sz="2400" dirty="0" smtClean="0">
              <a:latin typeface="Times New Roman" panose="02020603050405020304" pitchFamily="18" charset="0"/>
              <a:cs typeface="Times New Roman" panose="02020603050405020304" pitchFamily="18" charset="0"/>
            </a:endParaRPr>
          </a:p>
        </p:txBody>
      </p:sp>
      <p:sp>
        <p:nvSpPr>
          <p:cNvPr id="9" name="Rectangle 3"/>
          <p:cNvSpPr>
            <a:spLocks noChangeArrowheads="1"/>
          </p:cNvSpPr>
          <p:nvPr/>
        </p:nvSpPr>
        <p:spPr bwMode="auto">
          <a:xfrm>
            <a:off x="6705600" y="685800"/>
            <a:ext cx="525780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0"/>
              </a:spcBef>
            </a:pPr>
            <a:r>
              <a:rPr lang="en-IN" sz="2000" dirty="0" smtClean="0">
                <a:latin typeface="Times New Roman" panose="02020603050405020304" pitchFamily="18" charset="0"/>
                <a:cs typeface="Times New Roman" panose="02020603050405020304" pitchFamily="18" charset="0"/>
              </a:rPr>
              <a:t>Example: </a:t>
            </a:r>
          </a:p>
          <a:p>
            <a:pPr>
              <a:spcBef>
                <a:spcPts val="0"/>
              </a:spcBef>
            </a:pPr>
            <a:r>
              <a:rPr lang="en-IN" sz="2000" dirty="0" smtClean="0">
                <a:solidFill>
                  <a:srgbClr val="ED7D31"/>
                </a:solidFill>
                <a:latin typeface="Times New Roman" panose="02020603050405020304" pitchFamily="18" charset="0"/>
                <a:cs typeface="Times New Roman" panose="02020603050405020304" pitchFamily="18" charset="0"/>
              </a:rPr>
              <a:t>class </a:t>
            </a:r>
            <a:r>
              <a:rPr lang="en-IN" sz="2000" dirty="0">
                <a:solidFill>
                  <a:srgbClr val="ED7D31"/>
                </a:solidFill>
                <a:latin typeface="Times New Roman" panose="02020603050405020304" pitchFamily="18" charset="0"/>
                <a:cs typeface="Times New Roman" panose="02020603050405020304" pitchFamily="18" charset="0"/>
              </a:rPr>
              <a:t>Student5 {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a:t>
            </a:r>
            <a:r>
              <a:rPr lang="en-IN" sz="2000" dirty="0" err="1">
                <a:solidFill>
                  <a:srgbClr val="ED7D31"/>
                </a:solidFill>
                <a:latin typeface="Times New Roman" panose="02020603050405020304" pitchFamily="18" charset="0"/>
                <a:cs typeface="Times New Roman" panose="02020603050405020304" pitchFamily="18" charset="0"/>
              </a:rPr>
              <a:t>int</a:t>
            </a:r>
            <a:r>
              <a:rPr lang="en-IN" sz="2000" dirty="0">
                <a:solidFill>
                  <a:srgbClr val="ED7D31"/>
                </a:solidFill>
                <a:latin typeface="Times New Roman" panose="02020603050405020304" pitchFamily="18" charset="0"/>
                <a:cs typeface="Times New Roman" panose="02020603050405020304" pitchFamily="18" charset="0"/>
              </a:rPr>
              <a:t> id;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String name;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a:t>
            </a:r>
            <a:r>
              <a:rPr lang="en-IN" sz="2000" dirty="0" err="1">
                <a:solidFill>
                  <a:srgbClr val="ED7D31"/>
                </a:solidFill>
                <a:latin typeface="Times New Roman" panose="02020603050405020304" pitchFamily="18" charset="0"/>
                <a:cs typeface="Times New Roman" panose="02020603050405020304" pitchFamily="18" charset="0"/>
              </a:rPr>
              <a:t>int</a:t>
            </a:r>
            <a:r>
              <a:rPr lang="en-IN" sz="2000" dirty="0">
                <a:solidFill>
                  <a:srgbClr val="ED7D31"/>
                </a:solidFill>
                <a:latin typeface="Times New Roman" panose="02020603050405020304" pitchFamily="18" charset="0"/>
                <a:cs typeface="Times New Roman" panose="02020603050405020304" pitchFamily="18" charset="0"/>
              </a:rPr>
              <a:t> age;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Student5(</a:t>
            </a:r>
            <a:r>
              <a:rPr lang="en-IN" sz="2000" dirty="0" err="1">
                <a:solidFill>
                  <a:srgbClr val="ED7D31"/>
                </a:solidFill>
                <a:latin typeface="Times New Roman" panose="02020603050405020304" pitchFamily="18" charset="0"/>
                <a:cs typeface="Times New Roman" panose="02020603050405020304" pitchFamily="18" charset="0"/>
              </a:rPr>
              <a:t>int</a:t>
            </a:r>
            <a:r>
              <a:rPr lang="en-IN" sz="2000" dirty="0">
                <a:solidFill>
                  <a:srgbClr val="ED7D31"/>
                </a:solidFill>
                <a:latin typeface="Times New Roman" panose="02020603050405020304" pitchFamily="18" charset="0"/>
                <a:cs typeface="Times New Roman" panose="02020603050405020304" pitchFamily="18" charset="0"/>
              </a:rPr>
              <a:t> </a:t>
            </a:r>
            <a:r>
              <a:rPr lang="en-IN" sz="2000" dirty="0" err="1">
                <a:solidFill>
                  <a:srgbClr val="ED7D31"/>
                </a:solidFill>
                <a:latin typeface="Times New Roman" panose="02020603050405020304" pitchFamily="18" charset="0"/>
                <a:cs typeface="Times New Roman" panose="02020603050405020304" pitchFamily="18" charset="0"/>
              </a:rPr>
              <a:t>i</a:t>
            </a:r>
            <a:r>
              <a:rPr lang="en-IN" sz="2000" dirty="0" smtClean="0">
                <a:solidFill>
                  <a:srgbClr val="ED7D31"/>
                </a:solidFill>
                <a:latin typeface="Times New Roman" panose="02020603050405020304" pitchFamily="18" charset="0"/>
                <a:cs typeface="Times New Roman" panose="02020603050405020304" pitchFamily="18" charset="0"/>
              </a:rPr>
              <a:t>, String </a:t>
            </a:r>
            <a:r>
              <a:rPr lang="en-IN" sz="2000" dirty="0">
                <a:solidFill>
                  <a:srgbClr val="ED7D31"/>
                </a:solidFill>
                <a:latin typeface="Times New Roman" panose="02020603050405020304" pitchFamily="18" charset="0"/>
                <a:cs typeface="Times New Roman" panose="02020603050405020304" pitchFamily="18" charset="0"/>
              </a:rPr>
              <a:t>n) {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id = </a:t>
            </a:r>
            <a:r>
              <a:rPr lang="en-IN" sz="2000" dirty="0" err="1">
                <a:solidFill>
                  <a:srgbClr val="ED7D31"/>
                </a:solidFill>
                <a:latin typeface="Times New Roman" panose="02020603050405020304" pitchFamily="18" charset="0"/>
                <a:cs typeface="Times New Roman" panose="02020603050405020304" pitchFamily="18" charset="0"/>
              </a:rPr>
              <a:t>i</a:t>
            </a:r>
            <a:r>
              <a:rPr lang="en-IN" sz="2000" dirty="0">
                <a:solidFill>
                  <a:srgbClr val="ED7D31"/>
                </a:solidFill>
                <a:latin typeface="Times New Roman" panose="02020603050405020304" pitchFamily="18" charset="0"/>
                <a:cs typeface="Times New Roman" panose="02020603050405020304" pitchFamily="18" charset="0"/>
              </a:rPr>
              <a:t>;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name = n;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Student5(</a:t>
            </a:r>
            <a:r>
              <a:rPr lang="en-IN" sz="2000" dirty="0" err="1">
                <a:solidFill>
                  <a:srgbClr val="ED7D31"/>
                </a:solidFill>
                <a:latin typeface="Times New Roman" panose="02020603050405020304" pitchFamily="18" charset="0"/>
                <a:cs typeface="Times New Roman" panose="02020603050405020304" pitchFamily="18" charset="0"/>
              </a:rPr>
              <a:t>int</a:t>
            </a:r>
            <a:r>
              <a:rPr lang="en-IN" sz="2000" dirty="0">
                <a:solidFill>
                  <a:srgbClr val="ED7D31"/>
                </a:solidFill>
                <a:latin typeface="Times New Roman" panose="02020603050405020304" pitchFamily="18" charset="0"/>
                <a:cs typeface="Times New Roman" panose="02020603050405020304" pitchFamily="18" charset="0"/>
              </a:rPr>
              <a:t> </a:t>
            </a:r>
            <a:r>
              <a:rPr lang="en-IN" sz="2000" dirty="0" err="1">
                <a:solidFill>
                  <a:srgbClr val="ED7D31"/>
                </a:solidFill>
                <a:latin typeface="Times New Roman" panose="02020603050405020304" pitchFamily="18" charset="0"/>
                <a:cs typeface="Times New Roman" panose="02020603050405020304" pitchFamily="18" charset="0"/>
              </a:rPr>
              <a:t>i</a:t>
            </a:r>
            <a:r>
              <a:rPr lang="en-IN" sz="2000" dirty="0" smtClean="0">
                <a:solidFill>
                  <a:srgbClr val="ED7D31"/>
                </a:solidFill>
                <a:latin typeface="Times New Roman" panose="02020603050405020304" pitchFamily="18" charset="0"/>
                <a:cs typeface="Times New Roman" panose="02020603050405020304" pitchFamily="18" charset="0"/>
              </a:rPr>
              <a:t>, String </a:t>
            </a:r>
            <a:r>
              <a:rPr lang="en-IN" sz="2000" dirty="0">
                <a:solidFill>
                  <a:srgbClr val="ED7D31"/>
                </a:solidFill>
                <a:latin typeface="Times New Roman" panose="02020603050405020304" pitchFamily="18" charset="0"/>
                <a:cs typeface="Times New Roman" panose="02020603050405020304" pitchFamily="18" charset="0"/>
              </a:rPr>
              <a:t>n</a:t>
            </a:r>
            <a:r>
              <a:rPr lang="en-IN" sz="2000" dirty="0" smtClean="0">
                <a:solidFill>
                  <a:srgbClr val="ED7D31"/>
                </a:solidFill>
                <a:latin typeface="Times New Roman" panose="02020603050405020304" pitchFamily="18" charset="0"/>
                <a:cs typeface="Times New Roman" panose="02020603050405020304" pitchFamily="18" charset="0"/>
              </a:rPr>
              <a:t>, </a:t>
            </a:r>
            <a:r>
              <a:rPr lang="en-IN" sz="2000" dirty="0" err="1" smtClean="0">
                <a:solidFill>
                  <a:srgbClr val="ED7D31"/>
                </a:solidFill>
                <a:latin typeface="Times New Roman" panose="02020603050405020304" pitchFamily="18" charset="0"/>
                <a:cs typeface="Times New Roman" panose="02020603050405020304" pitchFamily="18" charset="0"/>
              </a:rPr>
              <a:t>int</a:t>
            </a:r>
            <a:r>
              <a:rPr lang="en-IN" sz="2000" dirty="0" smtClean="0">
                <a:solidFill>
                  <a:srgbClr val="ED7D31"/>
                </a:solidFill>
                <a:latin typeface="Times New Roman" panose="02020603050405020304" pitchFamily="18" charset="0"/>
                <a:cs typeface="Times New Roman" panose="02020603050405020304" pitchFamily="18" charset="0"/>
              </a:rPr>
              <a:t> </a:t>
            </a:r>
            <a:r>
              <a:rPr lang="en-IN" sz="2000" dirty="0">
                <a:solidFill>
                  <a:srgbClr val="ED7D31"/>
                </a:solidFill>
                <a:latin typeface="Times New Roman" panose="02020603050405020304" pitchFamily="18" charset="0"/>
                <a:cs typeface="Times New Roman" panose="02020603050405020304" pitchFamily="18" charset="0"/>
              </a:rPr>
              <a:t>a) {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id = </a:t>
            </a:r>
            <a:r>
              <a:rPr lang="en-IN" sz="2000" dirty="0" err="1">
                <a:solidFill>
                  <a:srgbClr val="ED7D31"/>
                </a:solidFill>
                <a:latin typeface="Times New Roman" panose="02020603050405020304" pitchFamily="18" charset="0"/>
                <a:cs typeface="Times New Roman" panose="02020603050405020304" pitchFamily="18" charset="0"/>
              </a:rPr>
              <a:t>i</a:t>
            </a:r>
            <a:r>
              <a:rPr lang="en-IN" sz="2000" dirty="0">
                <a:solidFill>
                  <a:srgbClr val="ED7D31"/>
                </a:solidFill>
                <a:latin typeface="Times New Roman" panose="02020603050405020304" pitchFamily="18" charset="0"/>
                <a:cs typeface="Times New Roman" panose="02020603050405020304" pitchFamily="18" charset="0"/>
              </a:rPr>
              <a:t>;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name = n;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age=a;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void display() { </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a:t>
            </a:r>
            <a:r>
              <a:rPr lang="en-IN" sz="2000" dirty="0" err="1">
                <a:solidFill>
                  <a:srgbClr val="ED7D31"/>
                </a:solidFill>
                <a:latin typeface="Times New Roman" panose="02020603050405020304" pitchFamily="18" charset="0"/>
                <a:cs typeface="Times New Roman" panose="02020603050405020304" pitchFamily="18" charset="0"/>
              </a:rPr>
              <a:t>System.out.println</a:t>
            </a:r>
            <a:r>
              <a:rPr lang="en-IN" sz="2000" dirty="0">
                <a:solidFill>
                  <a:srgbClr val="ED7D31"/>
                </a:solidFill>
                <a:latin typeface="Times New Roman" panose="02020603050405020304" pitchFamily="18" charset="0"/>
                <a:cs typeface="Times New Roman" panose="02020603050405020304" pitchFamily="18" charset="0"/>
              </a:rPr>
              <a:t>(id+" "+name+" "+age);</a:t>
            </a:r>
          </a:p>
          <a:p>
            <a:pPr>
              <a:spcBef>
                <a:spcPts val="0"/>
              </a:spcBef>
            </a:pPr>
            <a:r>
              <a:rPr lang="en-IN" sz="2000" dirty="0">
                <a:solidFill>
                  <a:srgbClr val="ED7D31"/>
                </a:solidFill>
                <a:latin typeface="Times New Roman" panose="02020603050405020304" pitchFamily="18" charset="0"/>
                <a:cs typeface="Times New Roman" panose="02020603050405020304" pitchFamily="18" charset="0"/>
              </a:rPr>
              <a:t>    }  } </a:t>
            </a:r>
          </a:p>
        </p:txBody>
      </p:sp>
      <p:grpSp>
        <p:nvGrpSpPr>
          <p:cNvPr id="10" name="Group 9"/>
          <p:cNvGrpSpPr/>
          <p:nvPr/>
        </p:nvGrpSpPr>
        <p:grpSpPr>
          <a:xfrm>
            <a:off x="7076789" y="2564661"/>
            <a:ext cx="4962811" cy="1227108"/>
            <a:chOff x="4155743" y="2412261"/>
            <a:chExt cx="4962811" cy="1227108"/>
          </a:xfrm>
        </p:grpSpPr>
        <p:cxnSp>
          <p:nvCxnSpPr>
            <p:cNvPr id="11" name="Straight Connector 10"/>
            <p:cNvCxnSpPr/>
            <p:nvPr/>
          </p:nvCxnSpPr>
          <p:spPr>
            <a:xfrm>
              <a:off x="4155743" y="2412261"/>
              <a:ext cx="2362200"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155743" y="3639369"/>
              <a:ext cx="2895600"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6517943" y="2412261"/>
              <a:ext cx="914400" cy="483339"/>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7051343" y="2845539"/>
              <a:ext cx="381000" cy="79383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294016" y="2458843"/>
              <a:ext cx="1824538" cy="461665"/>
            </a:xfrm>
            <a:prstGeom prst="rect">
              <a:avLst/>
            </a:prstGeom>
            <a:ln>
              <a:noFill/>
            </a:ln>
          </p:spPr>
          <p:txBody>
            <a:bodyPr wrap="none">
              <a:spAutoFit/>
            </a:bodyPr>
            <a:lstStyle/>
            <a:p>
              <a:r>
                <a:rPr lang="en-US" sz="2400" b="1" u="sng" dirty="0" smtClean="0">
                  <a:solidFill>
                    <a:srgbClr val="7030A0"/>
                  </a:solidFill>
                  <a:latin typeface="Times New Roman" panose="02020603050405020304" pitchFamily="18" charset="0"/>
                  <a:cs typeface="Times New Roman" panose="02020603050405020304" pitchFamily="18" charset="0"/>
                </a:rPr>
                <a:t>Overloading</a:t>
              </a:r>
              <a:endParaRPr lang="en-US" sz="2400" b="1" u="sng" dirty="0">
                <a:solidFill>
                  <a:srgbClr val="7030A0"/>
                </a:solidFill>
              </a:endParaRPr>
            </a:p>
          </p:txBody>
        </p:sp>
      </p:grpSp>
    </p:spTree>
    <p:extLst>
      <p:ext uri="{BB962C8B-B14F-4D97-AF65-F5344CB8AC3E}">
        <p14:creationId xmlns:p14="http://schemas.microsoft.com/office/powerpoint/2010/main" val="5231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Vertic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Vertic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arn(inVertic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922" y="717418"/>
            <a:ext cx="11414078" cy="4524315"/>
          </a:xfrm>
          <a:prstGeom prst="rect">
            <a:avLst/>
          </a:prstGeom>
        </p:spPr>
        <p:txBody>
          <a:bodyPr wrap="square">
            <a:sp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Salary</a:t>
            </a:r>
            <a:r>
              <a:rPr lang="en-US" sz="2400" dirty="0" smtClean="0">
                <a:latin typeface="Times New Roman" panose="02020603050405020304" pitchFamily="18" charset="0"/>
                <a:cs typeface="Times New Roman" panose="02020603050405020304" pitchFamily="18" charset="0"/>
              </a:rPr>
              <a:t>. He also been constrained to generate some default values to the Employee data fields before adding employee records to the database in the following fashion:</a:t>
            </a:r>
          </a:p>
          <a:p>
            <a:pPr marL="457200" indent="-457200" algn="just">
              <a:lnSpc>
                <a:spcPct val="150000"/>
              </a:lnSpc>
              <a:buAutoNum type="arabicPeriod"/>
            </a:pPr>
            <a:r>
              <a:rPr lang="en-US" sz="2400" dirty="0" smtClean="0">
                <a:latin typeface="Times New Roman" panose="02020603050405020304" pitchFamily="18" charset="0"/>
                <a:cs typeface="Times New Roman" panose="02020603050405020304" pitchFamily="18" charset="0"/>
              </a:rPr>
              <a:t>With default values as </a:t>
            </a:r>
            <a:r>
              <a:rPr lang="en-US" sz="2400" dirty="0" err="1" smtClean="0">
                <a:latin typeface="Times New Roman" panose="02020603050405020304" pitchFamily="18" charset="0"/>
                <a:cs typeface="Times New Roman" panose="02020603050405020304" pitchFamily="18" charset="0"/>
              </a:rPr>
              <a:t>EmpId</a:t>
            </a:r>
            <a:r>
              <a:rPr lang="en-US" sz="2400" dirty="0" smtClean="0">
                <a:latin typeface="Times New Roman" panose="02020603050405020304" pitchFamily="18" charset="0"/>
                <a:cs typeface="Times New Roman" panose="02020603050405020304" pitchFamily="18" charset="0"/>
              </a:rPr>
              <a:t>=123, Name=“PC-06”, Age=1 and Salary=20000.00.</a:t>
            </a:r>
          </a:p>
          <a:p>
            <a:pPr marL="457200" indent="-457200" algn="just">
              <a:lnSpc>
                <a:spcPct val="150000"/>
              </a:lnSpc>
              <a:buAutoNum type="arabicPeriod"/>
            </a:pPr>
            <a:r>
              <a:rPr lang="en-US" sz="2400" dirty="0" smtClean="0">
                <a:latin typeface="Times New Roman" panose="02020603050405020304" pitchFamily="18" charset="0"/>
                <a:cs typeface="Times New Roman" panose="02020603050405020304" pitchFamily="18" charset="0"/>
              </a:rPr>
              <a:t>With default values taken from user as parameters.</a:t>
            </a:r>
          </a:p>
          <a:p>
            <a:pPr marL="457200" indent="-457200" algn="just">
              <a:lnSpc>
                <a:spcPct val="150000"/>
              </a:lnSpc>
              <a:buAutoNum type="arabicPeriod"/>
            </a:pPr>
            <a:r>
              <a:rPr lang="en-US" sz="2400" dirty="0" smtClean="0">
                <a:latin typeface="Times New Roman" panose="02020603050405020304" pitchFamily="18" charset="0"/>
                <a:cs typeface="Times New Roman" panose="02020603050405020304" pitchFamily="18" charset="0"/>
              </a:rPr>
              <a:t>By copying already created employee record.</a:t>
            </a:r>
          </a:p>
          <a:p>
            <a:pPr algn="just">
              <a:lnSpc>
                <a:spcPct val="150000"/>
              </a:lnSpc>
            </a:pPr>
            <a:r>
              <a:rPr lang="en-US" sz="2400" dirty="0" smtClean="0">
                <a:latin typeface="Times New Roman" panose="02020603050405020304" pitchFamily="18" charset="0"/>
                <a:cs typeface="Times New Roman" panose="02020603050405020304" pitchFamily="18" charset="0"/>
              </a:rPr>
              <a:t>Help Mr</a:t>
            </a:r>
            <a:r>
              <a:rPr lang="en-US" sz="2400" dirty="0">
                <a:latin typeface="Times New Roman" panose="02020603050405020304" pitchFamily="18" charset="0"/>
                <a:cs typeface="Times New Roman" panose="02020603050405020304" pitchFamily="18" charset="0"/>
              </a:rPr>
              <a:t>. John </a:t>
            </a:r>
            <a:r>
              <a:rPr lang="en-US" sz="2400" dirty="0" smtClean="0">
                <a:latin typeface="Times New Roman" panose="02020603050405020304" pitchFamily="18" charset="0"/>
                <a:cs typeface="Times New Roman" panose="02020603050405020304" pitchFamily="18" charset="0"/>
              </a:rPr>
              <a:t>to store the records and retrieve all </a:t>
            </a:r>
            <a:r>
              <a:rPr lang="en-US" sz="2400" dirty="0">
                <a:latin typeface="Times New Roman" panose="02020603050405020304" pitchFamily="18" charset="0"/>
                <a:cs typeface="Times New Roman" panose="02020603050405020304" pitchFamily="18" charset="0"/>
              </a:rPr>
              <a:t>the records which he has </a:t>
            </a:r>
            <a:r>
              <a:rPr lang="en-US" sz="2400" dirty="0" smtClean="0">
                <a:latin typeface="Times New Roman" panose="02020603050405020304" pitchFamily="18" charset="0"/>
                <a:cs typeface="Times New Roman" panose="02020603050405020304" pitchFamily="18" charset="0"/>
              </a:rPr>
              <a:t>stored.</a:t>
            </a:r>
            <a:endParaRPr lang="en-US" sz="2400" dirty="0">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22</a:t>
            </a:fld>
            <a:endParaRPr lang="en-US" altLang="en-US"/>
          </a:p>
        </p:txBody>
      </p:sp>
    </p:spTree>
    <p:extLst>
      <p:ext uri="{BB962C8B-B14F-4D97-AF65-F5344CB8AC3E}">
        <p14:creationId xmlns:p14="http://schemas.microsoft.com/office/powerpoint/2010/main" val="14906515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486400" y="257616"/>
            <a:ext cx="53340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Diagram of program structure</a:t>
            </a:r>
          </a:p>
        </p:txBody>
      </p:sp>
      <p:sp>
        <p:nvSpPr>
          <p:cNvPr id="5" name="Rectangle 16"/>
          <p:cNvSpPr txBox="1">
            <a:spLocks noChangeArrowheads="1"/>
          </p:cNvSpPr>
          <p:nvPr/>
        </p:nvSpPr>
        <p:spPr>
          <a:xfrm>
            <a:off x="8458200" y="3581400"/>
            <a:ext cx="2895600" cy="1524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smtClean="0">
                <a:latin typeface="Times New Roman" panose="02020603050405020304" pitchFamily="18" charset="0"/>
                <a:cs typeface="Times New Roman" panose="02020603050405020304" pitchFamily="18" charset="0"/>
              </a:rPr>
              <a:t>A program consists of one or more classes</a:t>
            </a:r>
          </a:p>
          <a:p>
            <a:r>
              <a:rPr lang="en-US" sz="2000" dirty="0" smtClean="0">
                <a:latin typeface="Times New Roman" panose="02020603050405020304" pitchFamily="18" charset="0"/>
                <a:cs typeface="Times New Roman" panose="02020603050405020304" pitchFamily="18" charset="0"/>
              </a:rPr>
              <a:t>Typically, each class is in a separate </a:t>
            </a:r>
            <a:r>
              <a:rPr lang="en-US" sz="2000" dirty="0" smtClean="0">
                <a:solidFill>
                  <a:schemeClr val="accent2"/>
                </a:solidFill>
                <a:latin typeface="Times New Roman" panose="02020603050405020304" pitchFamily="18" charset="0"/>
                <a:cs typeface="Times New Roman" panose="02020603050405020304" pitchFamily="18" charset="0"/>
              </a:rPr>
              <a:t>.java</a:t>
            </a:r>
            <a:r>
              <a:rPr lang="en-US" sz="2000" dirty="0" smtClean="0">
                <a:latin typeface="Times New Roman" panose="02020603050405020304" pitchFamily="18" charset="0"/>
                <a:cs typeface="Times New Roman" panose="02020603050405020304" pitchFamily="18" charset="0"/>
              </a:rPr>
              <a:t> file</a:t>
            </a:r>
            <a:endParaRPr lang="en-US" sz="2000" dirty="0">
              <a:latin typeface="Times New Roman" panose="02020603050405020304" pitchFamily="18" charset="0"/>
              <a:cs typeface="Times New Roman" panose="02020603050405020304" pitchFamily="18" charset="0"/>
            </a:endParaRPr>
          </a:p>
        </p:txBody>
      </p:sp>
      <p:grpSp>
        <p:nvGrpSpPr>
          <p:cNvPr id="6" name="Group 10"/>
          <p:cNvGrpSpPr>
            <a:grpSpLocks/>
          </p:cNvGrpSpPr>
          <p:nvPr/>
        </p:nvGrpSpPr>
        <p:grpSpPr bwMode="auto">
          <a:xfrm>
            <a:off x="4267200" y="762000"/>
            <a:ext cx="7086600" cy="4800600"/>
            <a:chOff x="672" y="816"/>
            <a:chExt cx="4464" cy="3024"/>
          </a:xfrm>
        </p:grpSpPr>
        <p:sp>
          <p:nvSpPr>
            <p:cNvPr id="7" name="Rectangle 4"/>
            <p:cNvSpPr>
              <a:spLocks noChangeArrowheads="1"/>
            </p:cNvSpPr>
            <p:nvPr/>
          </p:nvSpPr>
          <p:spPr bwMode="auto">
            <a:xfrm>
              <a:off x="672" y="960"/>
              <a:ext cx="4464" cy="288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5"/>
            <p:cNvSpPr txBox="1">
              <a:spLocks noChangeArrowheads="1"/>
            </p:cNvSpPr>
            <p:nvPr/>
          </p:nvSpPr>
          <p:spPr bwMode="auto">
            <a:xfrm>
              <a:off x="2496" y="816"/>
              <a:ext cx="816" cy="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dirty="0">
                  <a:latin typeface="Times New Roman" panose="02020603050405020304" pitchFamily="18" charset="0"/>
                  <a:cs typeface="Times New Roman" panose="02020603050405020304" pitchFamily="18" charset="0"/>
                </a:rPr>
                <a:t>Program</a:t>
              </a:r>
            </a:p>
          </p:txBody>
        </p:sp>
      </p:grpSp>
      <p:grpSp>
        <p:nvGrpSpPr>
          <p:cNvPr id="9" name="Group 36"/>
          <p:cNvGrpSpPr>
            <a:grpSpLocks/>
          </p:cNvGrpSpPr>
          <p:nvPr/>
        </p:nvGrpSpPr>
        <p:grpSpPr bwMode="auto">
          <a:xfrm>
            <a:off x="4414838" y="1366838"/>
            <a:ext cx="6710362" cy="4195762"/>
            <a:chOff x="765" y="1197"/>
            <a:chExt cx="4227" cy="2643"/>
          </a:xfrm>
        </p:grpSpPr>
        <p:sp>
          <p:nvSpPr>
            <p:cNvPr id="10" name="AutoShape 6"/>
            <p:cNvSpPr>
              <a:spLocks noChangeArrowheads="1"/>
            </p:cNvSpPr>
            <p:nvPr/>
          </p:nvSpPr>
          <p:spPr bwMode="auto">
            <a:xfrm>
              <a:off x="765" y="1197"/>
              <a:ext cx="2451" cy="2643"/>
            </a:xfrm>
            <a:prstGeom prst="flowChartDocumen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AutoShape 7"/>
            <p:cNvSpPr>
              <a:spLocks noChangeArrowheads="1"/>
            </p:cNvSpPr>
            <p:nvPr/>
          </p:nvSpPr>
          <p:spPr bwMode="auto">
            <a:xfrm>
              <a:off x="3600" y="1200"/>
              <a:ext cx="528" cy="528"/>
            </a:xfrm>
            <a:prstGeom prst="flowChartDocumen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AutoShape 8"/>
            <p:cNvSpPr>
              <a:spLocks noChangeArrowheads="1"/>
            </p:cNvSpPr>
            <p:nvPr/>
          </p:nvSpPr>
          <p:spPr bwMode="auto">
            <a:xfrm>
              <a:off x="3600" y="1920"/>
              <a:ext cx="528" cy="528"/>
            </a:xfrm>
            <a:prstGeom prst="flowChartDocumen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AutoShape 9"/>
            <p:cNvSpPr>
              <a:spLocks noChangeArrowheads="1"/>
            </p:cNvSpPr>
            <p:nvPr/>
          </p:nvSpPr>
          <p:spPr bwMode="auto">
            <a:xfrm>
              <a:off x="4464" y="1200"/>
              <a:ext cx="528" cy="528"/>
            </a:xfrm>
            <a:prstGeom prst="flowChartDocumen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Text Box 11"/>
            <p:cNvSpPr txBox="1">
              <a:spLocks noChangeArrowheads="1"/>
            </p:cNvSpPr>
            <p:nvPr/>
          </p:nvSpPr>
          <p:spPr bwMode="auto">
            <a:xfrm>
              <a:off x="768" y="120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dirty="0">
                  <a:latin typeface="Times New Roman" panose="02020603050405020304" pitchFamily="18" charset="0"/>
                  <a:cs typeface="Times New Roman" panose="02020603050405020304" pitchFamily="18" charset="0"/>
                </a:rPr>
                <a:t>File</a:t>
              </a:r>
            </a:p>
          </p:txBody>
        </p:sp>
        <p:sp>
          <p:nvSpPr>
            <p:cNvPr id="15" name="Text Box 12"/>
            <p:cNvSpPr txBox="1">
              <a:spLocks noChangeArrowheads="1"/>
            </p:cNvSpPr>
            <p:nvPr/>
          </p:nvSpPr>
          <p:spPr bwMode="auto">
            <a:xfrm>
              <a:off x="3648" y="1200"/>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latin typeface="Times New Roman" panose="02020603050405020304" pitchFamily="18" charset="0"/>
                  <a:cs typeface="Times New Roman" panose="02020603050405020304" pitchFamily="18" charset="0"/>
                </a:rPr>
                <a:t>File</a:t>
              </a:r>
            </a:p>
          </p:txBody>
        </p:sp>
        <p:sp>
          <p:nvSpPr>
            <p:cNvPr id="16" name="Text Box 13"/>
            <p:cNvSpPr txBox="1">
              <a:spLocks noChangeArrowheads="1"/>
            </p:cNvSpPr>
            <p:nvPr/>
          </p:nvSpPr>
          <p:spPr bwMode="auto">
            <a:xfrm>
              <a:off x="3648" y="1920"/>
              <a:ext cx="3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latin typeface="Times New Roman" panose="02020603050405020304" pitchFamily="18" charset="0"/>
                  <a:cs typeface="Times New Roman" panose="02020603050405020304" pitchFamily="18" charset="0"/>
                </a:rPr>
                <a:t>File</a:t>
              </a:r>
            </a:p>
          </p:txBody>
        </p:sp>
        <p:sp>
          <p:nvSpPr>
            <p:cNvPr id="17" name="Text Box 14"/>
            <p:cNvSpPr txBox="1">
              <a:spLocks noChangeArrowheads="1"/>
            </p:cNvSpPr>
            <p:nvPr/>
          </p:nvSpPr>
          <p:spPr bwMode="auto">
            <a:xfrm>
              <a:off x="4512" y="1200"/>
              <a:ext cx="4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latin typeface="Times New Roman" panose="02020603050405020304" pitchFamily="18" charset="0"/>
                  <a:cs typeface="Times New Roman" panose="02020603050405020304" pitchFamily="18" charset="0"/>
                </a:rPr>
                <a:t>File</a:t>
              </a:r>
            </a:p>
          </p:txBody>
        </p:sp>
      </p:grpSp>
      <p:grpSp>
        <p:nvGrpSpPr>
          <p:cNvPr id="18" name="Group 37"/>
          <p:cNvGrpSpPr>
            <a:grpSpLocks/>
          </p:cNvGrpSpPr>
          <p:nvPr/>
        </p:nvGrpSpPr>
        <p:grpSpPr bwMode="auto">
          <a:xfrm>
            <a:off x="4572000" y="1619250"/>
            <a:ext cx="3505200" cy="2952750"/>
            <a:chOff x="864" y="1356"/>
            <a:chExt cx="2208" cy="1860"/>
          </a:xfrm>
        </p:grpSpPr>
        <p:sp>
          <p:nvSpPr>
            <p:cNvPr id="19" name="AutoShape 17"/>
            <p:cNvSpPr>
              <a:spLocks noChangeArrowheads="1"/>
            </p:cNvSpPr>
            <p:nvPr/>
          </p:nvSpPr>
          <p:spPr bwMode="auto">
            <a:xfrm>
              <a:off x="864" y="1392"/>
              <a:ext cx="2208" cy="1824"/>
            </a:xfrm>
            <a:prstGeom prst="flowChartAlternateProcess">
              <a:avLst/>
            </a:prstGeom>
            <a:solidFill>
              <a:srgbClr val="FFCC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 name="Text Box 18"/>
            <p:cNvSpPr txBox="1">
              <a:spLocks noChangeArrowheads="1"/>
            </p:cNvSpPr>
            <p:nvPr/>
          </p:nvSpPr>
          <p:spPr bwMode="auto">
            <a:xfrm>
              <a:off x="960" y="1356"/>
              <a:ext cx="480" cy="25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dirty="0">
                  <a:latin typeface="Times New Roman" panose="02020603050405020304" pitchFamily="18" charset="0"/>
                  <a:cs typeface="Times New Roman" panose="02020603050405020304" pitchFamily="18" charset="0"/>
                </a:rPr>
                <a:t>Class</a:t>
              </a:r>
            </a:p>
          </p:txBody>
        </p:sp>
      </p:grpSp>
      <p:grpSp>
        <p:nvGrpSpPr>
          <p:cNvPr id="21" name="Group 38"/>
          <p:cNvGrpSpPr>
            <a:grpSpLocks/>
          </p:cNvGrpSpPr>
          <p:nvPr/>
        </p:nvGrpSpPr>
        <p:grpSpPr bwMode="auto">
          <a:xfrm>
            <a:off x="4876800" y="1981203"/>
            <a:ext cx="2971800" cy="369888"/>
            <a:chOff x="1056" y="1584"/>
            <a:chExt cx="1872" cy="233"/>
          </a:xfrm>
        </p:grpSpPr>
        <p:sp>
          <p:nvSpPr>
            <p:cNvPr id="22" name="AutoShape 19"/>
            <p:cNvSpPr>
              <a:spLocks noChangeArrowheads="1"/>
            </p:cNvSpPr>
            <p:nvPr/>
          </p:nvSpPr>
          <p:spPr bwMode="auto">
            <a:xfrm>
              <a:off x="1056" y="1584"/>
              <a:ext cx="1872" cy="192"/>
            </a:xfrm>
            <a:prstGeom prst="flowChartProcess">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3" name="Text Box 20"/>
            <p:cNvSpPr txBox="1">
              <a:spLocks noChangeArrowheads="1"/>
            </p:cNvSpPr>
            <p:nvPr/>
          </p:nvSpPr>
          <p:spPr bwMode="auto">
            <a:xfrm>
              <a:off x="1056" y="1584"/>
              <a:ext cx="672"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Variables</a:t>
              </a:r>
            </a:p>
          </p:txBody>
        </p:sp>
      </p:grpSp>
      <p:grpSp>
        <p:nvGrpSpPr>
          <p:cNvPr id="24" name="Group 39"/>
          <p:cNvGrpSpPr>
            <a:grpSpLocks/>
          </p:cNvGrpSpPr>
          <p:nvPr/>
        </p:nvGrpSpPr>
        <p:grpSpPr bwMode="auto">
          <a:xfrm>
            <a:off x="4876800" y="2438404"/>
            <a:ext cx="2971800" cy="762001"/>
            <a:chOff x="1056" y="1872"/>
            <a:chExt cx="1872" cy="480"/>
          </a:xfrm>
        </p:grpSpPr>
        <p:sp>
          <p:nvSpPr>
            <p:cNvPr id="25" name="AutoShape 21"/>
            <p:cNvSpPr>
              <a:spLocks noChangeArrowheads="1"/>
            </p:cNvSpPr>
            <p:nvPr/>
          </p:nvSpPr>
          <p:spPr bwMode="auto">
            <a:xfrm>
              <a:off x="1056" y="1872"/>
              <a:ext cx="1872" cy="480"/>
            </a:xfrm>
            <a:prstGeom prst="flowChartProcess">
              <a:avLst/>
            </a:prstGeom>
            <a:solidFill>
              <a:srgbClr val="CC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 name="Text Box 23"/>
            <p:cNvSpPr txBox="1">
              <a:spLocks noChangeArrowheads="1"/>
            </p:cNvSpPr>
            <p:nvPr/>
          </p:nvSpPr>
          <p:spPr bwMode="auto">
            <a:xfrm>
              <a:off x="1056" y="1872"/>
              <a:ext cx="86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Constructors</a:t>
              </a:r>
            </a:p>
          </p:txBody>
        </p:sp>
      </p:grpSp>
      <p:grpSp>
        <p:nvGrpSpPr>
          <p:cNvPr id="27" name="Group 40"/>
          <p:cNvGrpSpPr>
            <a:grpSpLocks/>
          </p:cNvGrpSpPr>
          <p:nvPr/>
        </p:nvGrpSpPr>
        <p:grpSpPr bwMode="auto">
          <a:xfrm>
            <a:off x="4876800" y="3352804"/>
            <a:ext cx="2971800" cy="838201"/>
            <a:chOff x="1056" y="2448"/>
            <a:chExt cx="1872" cy="528"/>
          </a:xfrm>
        </p:grpSpPr>
        <p:sp>
          <p:nvSpPr>
            <p:cNvPr id="28" name="AutoShape 26"/>
            <p:cNvSpPr>
              <a:spLocks noChangeArrowheads="1"/>
            </p:cNvSpPr>
            <p:nvPr/>
          </p:nvSpPr>
          <p:spPr bwMode="auto">
            <a:xfrm>
              <a:off x="1056" y="2448"/>
              <a:ext cx="1872" cy="528"/>
            </a:xfrm>
            <a:prstGeom prst="flowChartProcess">
              <a:avLst/>
            </a:prstGeom>
            <a:solidFill>
              <a:srgbClr val="CC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9" name="Text Box 27"/>
            <p:cNvSpPr txBox="1">
              <a:spLocks noChangeArrowheads="1"/>
            </p:cNvSpPr>
            <p:nvPr/>
          </p:nvSpPr>
          <p:spPr bwMode="auto">
            <a:xfrm>
              <a:off x="1056" y="2448"/>
              <a:ext cx="62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Methods</a:t>
              </a:r>
            </a:p>
          </p:txBody>
        </p:sp>
      </p:grpSp>
      <p:grpSp>
        <p:nvGrpSpPr>
          <p:cNvPr id="30" name="Group 41"/>
          <p:cNvGrpSpPr>
            <a:grpSpLocks/>
          </p:cNvGrpSpPr>
          <p:nvPr/>
        </p:nvGrpSpPr>
        <p:grpSpPr bwMode="auto">
          <a:xfrm>
            <a:off x="6248400" y="2495551"/>
            <a:ext cx="1447800" cy="1328738"/>
            <a:chOff x="1920" y="1920"/>
            <a:chExt cx="912" cy="837"/>
          </a:xfrm>
        </p:grpSpPr>
        <p:sp>
          <p:nvSpPr>
            <p:cNvPr id="31" name="AutoShape 32"/>
            <p:cNvSpPr>
              <a:spLocks noChangeArrowheads="1"/>
            </p:cNvSpPr>
            <p:nvPr/>
          </p:nvSpPr>
          <p:spPr bwMode="auto">
            <a:xfrm>
              <a:off x="1920" y="1920"/>
              <a:ext cx="912" cy="192"/>
            </a:xfrm>
            <a:prstGeom prst="flowChartProcess">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2" name="Text Box 33"/>
            <p:cNvSpPr txBox="1">
              <a:spLocks noChangeArrowheads="1"/>
            </p:cNvSpPr>
            <p:nvPr/>
          </p:nvSpPr>
          <p:spPr bwMode="auto">
            <a:xfrm>
              <a:off x="1920" y="1920"/>
              <a:ext cx="672"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Variables</a:t>
              </a:r>
            </a:p>
          </p:txBody>
        </p:sp>
        <p:sp>
          <p:nvSpPr>
            <p:cNvPr id="33" name="AutoShape 34"/>
            <p:cNvSpPr>
              <a:spLocks noChangeArrowheads="1"/>
            </p:cNvSpPr>
            <p:nvPr/>
          </p:nvSpPr>
          <p:spPr bwMode="auto">
            <a:xfrm>
              <a:off x="1920" y="2524"/>
              <a:ext cx="912" cy="192"/>
            </a:xfrm>
            <a:prstGeom prst="flowChartProcess">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4" name="Text Box 35"/>
            <p:cNvSpPr txBox="1">
              <a:spLocks noChangeArrowheads="1"/>
            </p:cNvSpPr>
            <p:nvPr/>
          </p:nvSpPr>
          <p:spPr bwMode="auto">
            <a:xfrm>
              <a:off x="1920" y="2524"/>
              <a:ext cx="672"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Variables</a:t>
              </a:r>
            </a:p>
          </p:txBody>
        </p:sp>
      </p:grpSp>
      <p:grpSp>
        <p:nvGrpSpPr>
          <p:cNvPr id="35" name="Group 47"/>
          <p:cNvGrpSpPr>
            <a:grpSpLocks/>
          </p:cNvGrpSpPr>
          <p:nvPr/>
        </p:nvGrpSpPr>
        <p:grpSpPr bwMode="auto">
          <a:xfrm>
            <a:off x="6248400" y="2847976"/>
            <a:ext cx="1447800" cy="1328738"/>
            <a:chOff x="4704" y="1824"/>
            <a:chExt cx="912" cy="837"/>
          </a:xfrm>
        </p:grpSpPr>
        <p:sp>
          <p:nvSpPr>
            <p:cNvPr id="36" name="AutoShape 43"/>
            <p:cNvSpPr>
              <a:spLocks noChangeArrowheads="1"/>
            </p:cNvSpPr>
            <p:nvPr/>
          </p:nvSpPr>
          <p:spPr bwMode="auto">
            <a:xfrm>
              <a:off x="4704" y="1824"/>
              <a:ext cx="912" cy="192"/>
            </a:xfrm>
            <a:prstGeom prst="flowChartProcess">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7" name="Text Box 44"/>
            <p:cNvSpPr txBox="1">
              <a:spLocks noChangeArrowheads="1"/>
            </p:cNvSpPr>
            <p:nvPr/>
          </p:nvSpPr>
          <p:spPr bwMode="auto">
            <a:xfrm>
              <a:off x="4704" y="1824"/>
              <a:ext cx="86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Statements</a:t>
              </a:r>
            </a:p>
          </p:txBody>
        </p:sp>
        <p:sp>
          <p:nvSpPr>
            <p:cNvPr id="38" name="AutoShape 45"/>
            <p:cNvSpPr>
              <a:spLocks noChangeArrowheads="1"/>
            </p:cNvSpPr>
            <p:nvPr/>
          </p:nvSpPr>
          <p:spPr bwMode="auto">
            <a:xfrm>
              <a:off x="4704" y="2428"/>
              <a:ext cx="912" cy="192"/>
            </a:xfrm>
            <a:prstGeom prst="flowChartProcess">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9" name="Text Box 46"/>
            <p:cNvSpPr txBox="1">
              <a:spLocks noChangeArrowheads="1"/>
            </p:cNvSpPr>
            <p:nvPr/>
          </p:nvSpPr>
          <p:spPr bwMode="auto">
            <a:xfrm>
              <a:off x="4704" y="2428"/>
              <a:ext cx="81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latin typeface="Times New Roman" panose="02020603050405020304" pitchFamily="18" charset="0"/>
                  <a:cs typeface="Times New Roman" panose="02020603050405020304" pitchFamily="18" charset="0"/>
                </a:rPr>
                <a:t>Statements</a:t>
              </a:r>
            </a:p>
          </p:txBody>
        </p:sp>
      </p:grpSp>
      <p:sp>
        <p:nvSpPr>
          <p:cNvPr id="40"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23</a:t>
            </a:fld>
            <a:endParaRPr lang="en-US" altLang="en-US" dirty="0"/>
          </a:p>
        </p:txBody>
      </p:sp>
    </p:spTree>
    <p:extLst>
      <p:ext uri="{BB962C8B-B14F-4D97-AF65-F5344CB8AC3E}">
        <p14:creationId xmlns:p14="http://schemas.microsoft.com/office/powerpoint/2010/main" val="112954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up)">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up)">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up)">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wipe(up)">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562601" y="252319"/>
            <a:ext cx="38862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a:solidFill>
                  <a:srgbClr val="FF0000"/>
                </a:solidFill>
                <a:latin typeface="Times New Roman" panose="02020603050405020304" pitchFamily="18" charset="0"/>
                <a:ea typeface="+mn-ea"/>
                <a:cs typeface="Times New Roman" panose="02020603050405020304" pitchFamily="18" charset="0"/>
              </a:rPr>
              <a:t>A complete program</a:t>
            </a:r>
          </a:p>
        </p:txBody>
      </p:sp>
      <p:sp>
        <p:nvSpPr>
          <p:cNvPr id="5" name="Rectangle 3"/>
          <p:cNvSpPr txBox="1">
            <a:spLocks noChangeArrowheads="1"/>
          </p:cNvSpPr>
          <p:nvPr/>
        </p:nvSpPr>
        <p:spPr>
          <a:xfrm>
            <a:off x="457200" y="889379"/>
            <a:ext cx="4724401" cy="42160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
            </a:pPr>
            <a:r>
              <a:rPr lang="en-US" sz="2400" dirty="0" smtClean="0">
                <a:latin typeface="Times New Roman" panose="02020603050405020304" pitchFamily="18" charset="0"/>
                <a:cs typeface="Times New Roman" panose="02020603050405020304" pitchFamily="18" charset="0"/>
              </a:rPr>
              <a:t>class Dog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String name;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age;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Dog(String n,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name = n;</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age = a;</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void bark()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System.out.println</a:t>
            </a:r>
            <a:r>
              <a:rPr lang="en-US" sz="2400" dirty="0" smtClean="0">
                <a:latin typeface="Times New Roman" panose="02020603050405020304" pitchFamily="18" charset="0"/>
                <a:cs typeface="Times New Roman" panose="02020603050405020304" pitchFamily="18" charset="0"/>
              </a:rPr>
              <a:t>("Woof!");</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 </a:t>
            </a:r>
            <a:endParaRPr lang="en-US" sz="2400" dirty="0">
              <a:latin typeface="Times New Roman" panose="02020603050405020304" pitchFamily="18" charset="0"/>
              <a:cs typeface="Times New Roman" panose="02020603050405020304" pitchFamily="18" charset="0"/>
            </a:endParaRPr>
          </a:p>
        </p:txBody>
      </p:sp>
      <p:sp>
        <p:nvSpPr>
          <p:cNvPr id="6" name="Rectangle 4"/>
          <p:cNvSpPr txBox="1">
            <a:spLocks noChangeArrowheads="1"/>
          </p:cNvSpPr>
          <p:nvPr/>
        </p:nvSpPr>
        <p:spPr>
          <a:xfrm>
            <a:off x="5433873" y="891654"/>
            <a:ext cx="5943600" cy="49018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
            </a:pPr>
            <a:r>
              <a:rPr lang="en-US" sz="2400" dirty="0" smtClean="0">
                <a:latin typeface="Times New Roman" panose="02020603050405020304" pitchFamily="18" charset="0"/>
                <a:cs typeface="Times New Roman" panose="02020603050405020304" pitchFamily="18" charset="0"/>
              </a:rPr>
              <a:t>void </a:t>
            </a:r>
            <a:r>
              <a:rPr lang="en-US" sz="2400" dirty="0" err="1" smtClean="0">
                <a:latin typeface="Times New Roman" panose="02020603050405020304" pitchFamily="18" charset="0"/>
                <a:cs typeface="Times New Roman" panose="02020603050405020304" pitchFamily="18" charset="0"/>
              </a:rPr>
              <a:t>wakeTheNeighbors</a:t>
            </a:r>
            <a:r>
              <a:rPr lang="en-US" sz="2400" dirty="0" smtClean="0">
                <a:latin typeface="Times New Roman" panose="02020603050405020304" pitchFamily="18" charset="0"/>
                <a:cs typeface="Times New Roman" panose="02020603050405020304" pitchFamily="18" charset="0"/>
              </a:rPr>
              <a:t>( )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50;</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while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&gt; 0)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bark(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1;</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public static void main(String[ ] </a:t>
            </a:r>
            <a:r>
              <a:rPr lang="en-US" sz="2400" dirty="0" err="1" smtClean="0">
                <a:latin typeface="Times New Roman" panose="02020603050405020304" pitchFamily="18" charset="0"/>
                <a:cs typeface="Times New Roman" panose="02020603050405020304" pitchFamily="18" charset="0"/>
              </a:rPr>
              <a:t>args</a:t>
            </a: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 "/>
            </a:pPr>
            <a:endParaRPr lang="en-US" sz="2400" dirty="0">
              <a:solidFill>
                <a:srgbClr val="00B0F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
            </a:pPr>
            <a:r>
              <a:rPr lang="en-US"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
            </a:pPr>
            <a:r>
              <a:rPr lang="en-US" sz="2400" dirty="0" smtClean="0">
                <a:latin typeface="Times New Roman" panose="02020603050405020304" pitchFamily="18" charset="0"/>
                <a:cs typeface="Times New Roman" panose="02020603050405020304" pitchFamily="18" charset="0"/>
              </a:rPr>
              <a:t>} </a:t>
            </a:r>
            <a:r>
              <a:rPr lang="en-US" sz="2400" dirty="0" smtClean="0">
                <a:solidFill>
                  <a:srgbClr val="00B050"/>
                </a:solidFill>
                <a:latin typeface="Times New Roman" panose="02020603050405020304" pitchFamily="18" charset="0"/>
                <a:cs typeface="Times New Roman" panose="02020603050405020304" pitchFamily="18" charset="0"/>
              </a:rPr>
              <a:t>// ends the class</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8" name="Rectangle 7"/>
          <p:cNvSpPr/>
          <p:nvPr/>
        </p:nvSpPr>
        <p:spPr>
          <a:xfrm>
            <a:off x="6119673" y="3962400"/>
            <a:ext cx="4572000" cy="830997"/>
          </a:xfrm>
          <a:prstGeom prst="rect">
            <a:avLst/>
          </a:prstGeom>
          <a:ln>
            <a:solidFill>
              <a:srgbClr val="990099"/>
            </a:solidFill>
          </a:ln>
        </p:spPr>
        <p:txBody>
          <a:bodyPr wrap="square">
            <a:spAutoFit/>
          </a:bodyPr>
          <a:lstStyle/>
          <a:p>
            <a:pPr>
              <a:buFont typeface="Wingdings" panose="05000000000000000000" pitchFamily="2" charset="2"/>
              <a:buChar char=" "/>
            </a:pPr>
            <a:r>
              <a:rPr lang="en-US" sz="2400" dirty="0">
                <a:solidFill>
                  <a:srgbClr val="00B0F0"/>
                </a:solidFill>
                <a:latin typeface="Times New Roman" panose="02020603050405020304" pitchFamily="18" charset="0"/>
                <a:cs typeface="Times New Roman" panose="02020603050405020304" pitchFamily="18" charset="0"/>
              </a:rPr>
              <a:t>//Instantiate an </a:t>
            </a:r>
            <a:r>
              <a:rPr lang="en-US" sz="2400" dirty="0" smtClean="0">
                <a:solidFill>
                  <a:srgbClr val="00B0F0"/>
                </a:solidFill>
                <a:latin typeface="Times New Roman" panose="02020603050405020304" pitchFamily="18" charset="0"/>
                <a:cs typeface="Times New Roman" panose="02020603050405020304" pitchFamily="18" charset="0"/>
              </a:rPr>
              <a:t>object</a:t>
            </a:r>
          </a:p>
          <a:p>
            <a:pPr>
              <a:buFont typeface="Wingdings" panose="05000000000000000000" pitchFamily="2" charset="2"/>
              <a:buChar char=" "/>
            </a:pPr>
            <a:r>
              <a:rPr lang="en-US" sz="2400" dirty="0" smtClean="0">
                <a:solidFill>
                  <a:srgbClr val="00B0F0"/>
                </a:solidFill>
                <a:latin typeface="Times New Roman" panose="02020603050405020304" pitchFamily="18" charset="0"/>
                <a:cs typeface="Times New Roman" panose="02020603050405020304" pitchFamily="18" charset="0"/>
              </a:rPr>
              <a:t>// </a:t>
            </a:r>
            <a:r>
              <a:rPr lang="en-US" sz="2400" dirty="0">
                <a:solidFill>
                  <a:srgbClr val="00B0F0"/>
                </a:solidFill>
                <a:latin typeface="Times New Roman" panose="02020603050405020304" pitchFamily="18" charset="0"/>
                <a:cs typeface="Times New Roman" panose="02020603050405020304" pitchFamily="18" charset="0"/>
              </a:rPr>
              <a:t>Access the Members of Class</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24</a:t>
            </a:fld>
            <a:endParaRPr lang="en-US" altLang="en-US" dirty="0"/>
          </a:p>
        </p:txBody>
      </p:sp>
    </p:spTree>
    <p:extLst>
      <p:ext uri="{BB962C8B-B14F-4D97-AF65-F5344CB8AC3E}">
        <p14:creationId xmlns:p14="http://schemas.microsoft.com/office/powerpoint/2010/main" val="215334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19100" y="914400"/>
            <a:ext cx="9867900" cy="2438400"/>
          </a:xfrm>
        </p:spPr>
        <p:txBody>
          <a:bodyPr rtlCol="0">
            <a:noAutofit/>
          </a:bodyPr>
          <a:lstStyle/>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Objects Creation/Instantiation</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Accessing the Members of the class using object reference</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Classes and objects summary</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Why to use This keyword - Problem statement</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25</a:t>
            </a:fld>
            <a:endParaRPr lang="en-US" altLang="en-US"/>
          </a:p>
        </p:txBody>
      </p:sp>
      <p:sp>
        <p:nvSpPr>
          <p:cNvPr id="7" name="Title 1"/>
          <p:cNvSpPr txBox="1">
            <a:spLocks/>
          </p:cNvSpPr>
          <p:nvPr/>
        </p:nvSpPr>
        <p:spPr bwMode="auto">
          <a:xfrm>
            <a:off x="419100" y="127427"/>
            <a:ext cx="1714500" cy="454878"/>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smtClean="0">
                <a:solidFill>
                  <a:srgbClr val="002060"/>
                </a:solidFill>
                <a:latin typeface="Times New Roman" panose="02020603050405020304" pitchFamily="18" charset="0"/>
                <a:ea typeface="+mn-ea"/>
                <a:cs typeface="Times New Roman" panose="02020603050405020304" pitchFamily="18" charset="0"/>
              </a:rPr>
              <a:t>Contents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34947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6" name="Rectangle 4"/>
          <p:cNvSpPr txBox="1">
            <a:spLocks noChangeArrowheads="1"/>
          </p:cNvSpPr>
          <p:nvPr/>
        </p:nvSpPr>
        <p:spPr>
          <a:xfrm>
            <a:off x="6781800" y="2702629"/>
            <a:ext cx="5029200" cy="2057400"/>
          </a:xfrm>
          <a:prstGeom prst="rect">
            <a:avLst/>
          </a:prstGeom>
          <a:ln>
            <a:solidFill>
              <a:srgbClr val="7030A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public static void main(String[ ] </a:t>
            </a:r>
            <a:r>
              <a:rPr lang="en-US" sz="2000" dirty="0" err="1" smtClean="0">
                <a:latin typeface="Times New Roman" panose="02020603050405020304" pitchFamily="18" charset="0"/>
                <a:cs typeface="Times New Roman" panose="02020603050405020304" pitchFamily="18" charset="0"/>
              </a:rPr>
              <a:t>args</a:t>
            </a:r>
            <a:r>
              <a:rPr lang="en-US" sz="2000" dirty="0" smtClean="0">
                <a:latin typeface="Times New Roman" panose="02020603050405020304" pitchFamily="18" charset="0"/>
                <a:cs typeface="Times New Roman" panose="02020603050405020304" pitchFamily="18" charset="0"/>
              </a:rPr>
              <a:t>)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smtClean="0">
                <a:solidFill>
                  <a:srgbClr val="FF0000"/>
                </a:solidFill>
                <a:latin typeface="Times New Roman" panose="02020603050405020304" pitchFamily="18" charset="0"/>
                <a:cs typeface="Times New Roman" panose="02020603050405020304" pitchFamily="18" charset="0"/>
              </a:rPr>
              <a:t/>
            </a:r>
            <a:br>
              <a:rPr lang="en-US" sz="2000" dirty="0" smtClean="0">
                <a:solidFill>
                  <a:srgbClr val="FF0000"/>
                </a:solidFill>
                <a:latin typeface="Times New Roman" panose="02020603050405020304" pitchFamily="18" charset="0"/>
                <a:cs typeface="Times New Roman" panose="02020603050405020304" pitchFamily="18" charset="0"/>
              </a:rPr>
            </a:br>
            <a:r>
              <a:rPr lang="en-US" sz="2000" dirty="0" smtClean="0">
                <a:solidFill>
                  <a:srgbClr val="FF0000"/>
                </a:solidFill>
                <a:latin typeface="Times New Roman" panose="02020603050405020304" pitchFamily="18" charset="0"/>
                <a:cs typeface="Times New Roman" panose="02020603050405020304" pitchFamily="18" charset="0"/>
              </a:rPr>
              <a:t>    </a:t>
            </a:r>
            <a:br>
              <a:rPr lang="en-US" sz="2000" dirty="0" smtClean="0">
                <a:solidFill>
                  <a:srgbClr val="FF0000"/>
                </a:solidFill>
                <a:latin typeface="Times New Roman" panose="02020603050405020304" pitchFamily="18" charset="0"/>
                <a:cs typeface="Times New Roman" panose="02020603050405020304" pitchFamily="18" charset="0"/>
              </a:rPr>
            </a:br>
            <a:endParaRPr lang="en-US" sz="2000" dirty="0" smtClean="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 </a:t>
            </a:r>
            <a:r>
              <a:rPr lang="en-US" sz="2000" dirty="0" smtClean="0">
                <a:solidFill>
                  <a:srgbClr val="00B0F0"/>
                </a:solidFill>
                <a:latin typeface="Times New Roman" panose="02020603050405020304" pitchFamily="18" charset="0"/>
                <a:cs typeface="Times New Roman" panose="02020603050405020304" pitchFamily="18" charset="0"/>
              </a:rPr>
              <a:t>// ends the class</a:t>
            </a:r>
            <a:endParaRPr lang="en-US" sz="2000" dirty="0">
              <a:solidFill>
                <a:srgbClr val="00B0F0"/>
              </a:solidFill>
              <a:latin typeface="Times New Roman" panose="02020603050405020304" pitchFamily="18" charset="0"/>
              <a:cs typeface="Times New Roman" panose="02020603050405020304" pitchFamily="18" charset="0"/>
            </a:endParaRPr>
          </a:p>
        </p:txBody>
      </p:sp>
      <p:sp>
        <p:nvSpPr>
          <p:cNvPr id="4" name="Rectangle 2"/>
          <p:cNvSpPr>
            <a:spLocks noGrp="1" noChangeArrowheads="1"/>
          </p:cNvSpPr>
          <p:nvPr>
            <p:ph type="title"/>
          </p:nvPr>
        </p:nvSpPr>
        <p:spPr>
          <a:xfrm>
            <a:off x="5562601" y="252319"/>
            <a:ext cx="38862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smtClean="0">
                <a:solidFill>
                  <a:srgbClr val="FF0000"/>
                </a:solidFill>
                <a:latin typeface="Times New Roman" panose="02020603050405020304" pitchFamily="18" charset="0"/>
                <a:ea typeface="+mn-ea"/>
                <a:cs typeface="Times New Roman" panose="02020603050405020304" pitchFamily="18" charset="0"/>
              </a:rPr>
              <a:t>Object Instantiation</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grpSp>
        <p:nvGrpSpPr>
          <p:cNvPr id="3" name="Group 2"/>
          <p:cNvGrpSpPr/>
          <p:nvPr/>
        </p:nvGrpSpPr>
        <p:grpSpPr>
          <a:xfrm>
            <a:off x="6781800" y="838200"/>
            <a:ext cx="5029200" cy="1631216"/>
            <a:chOff x="6248400" y="1066800"/>
            <a:chExt cx="5562600" cy="1729503"/>
          </a:xfrm>
        </p:grpSpPr>
        <p:sp>
          <p:nvSpPr>
            <p:cNvPr id="2" name="Rectangle 1"/>
            <p:cNvSpPr/>
            <p:nvPr/>
          </p:nvSpPr>
          <p:spPr>
            <a:xfrm>
              <a:off x="6248400" y="1066800"/>
              <a:ext cx="5562600" cy="1729503"/>
            </a:xfrm>
            <a:prstGeom prst="rect">
              <a:avLst/>
            </a:prstGeom>
            <a:ln>
              <a:solidFill>
                <a:srgbClr val="7030A0"/>
              </a:solidFill>
            </a:ln>
          </p:spPr>
          <p:txBody>
            <a:bodyPr wrap="square">
              <a:spAutoFit/>
            </a:bodyPr>
            <a:lstStyle/>
            <a:p>
              <a:pPr>
                <a:buFont typeface="Wingdings" panose="05000000000000000000" pitchFamily="2" charset="2"/>
                <a:buChar char=" "/>
              </a:pPr>
              <a:r>
                <a:rPr lang="en-US" sz="2000" dirty="0">
                  <a:latin typeface="Times New Roman" panose="02020603050405020304" pitchFamily="18" charset="0"/>
                  <a:cs typeface="Times New Roman" panose="02020603050405020304" pitchFamily="18" charset="0"/>
                </a:rPr>
                <a:t>public static void main(String[ ]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
              </a:pPr>
              <a:endParaRPr lang="en-US" sz="2000" dirty="0">
                <a:solidFill>
                  <a:srgbClr val="00B0F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
              </a:pPr>
              <a:r>
                <a:rPr lang="en-US" sz="20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 "/>
              </a:pPr>
              <a:r>
                <a:rPr lang="en-US" sz="2000" dirty="0">
                  <a:latin typeface="Times New Roman" panose="02020603050405020304" pitchFamily="18" charset="0"/>
                  <a:cs typeface="Times New Roman" panose="02020603050405020304" pitchFamily="18" charset="0"/>
                </a:rPr>
                <a:t>} </a:t>
              </a:r>
              <a:r>
                <a:rPr lang="en-US" sz="2000" dirty="0">
                  <a:solidFill>
                    <a:srgbClr val="00B050"/>
                  </a:solidFill>
                  <a:latin typeface="Times New Roman" panose="02020603050405020304" pitchFamily="18" charset="0"/>
                  <a:cs typeface="Times New Roman" panose="02020603050405020304" pitchFamily="18" charset="0"/>
                </a:rPr>
                <a:t>// ends the class</a:t>
              </a:r>
            </a:p>
          </p:txBody>
        </p:sp>
        <p:sp>
          <p:nvSpPr>
            <p:cNvPr id="7" name="Rectangle 6"/>
            <p:cNvSpPr/>
            <p:nvPr/>
          </p:nvSpPr>
          <p:spPr>
            <a:xfrm>
              <a:off x="6934200" y="1524001"/>
              <a:ext cx="4495800" cy="750539"/>
            </a:xfrm>
            <a:prstGeom prst="rect">
              <a:avLst/>
            </a:prstGeom>
            <a:ln>
              <a:solidFill>
                <a:srgbClr val="7030A0"/>
              </a:solidFill>
            </a:ln>
          </p:spPr>
          <p:txBody>
            <a:bodyPr wrap="square">
              <a:spAutoFit/>
            </a:bodyPr>
            <a:lstStyle/>
            <a:p>
              <a:pPr>
                <a:buFont typeface="Wingdings" panose="05000000000000000000" pitchFamily="2" charset="2"/>
                <a:buChar char=" "/>
              </a:pPr>
              <a:r>
                <a:rPr lang="en-US" sz="2000" dirty="0">
                  <a:solidFill>
                    <a:srgbClr val="00B0F0"/>
                  </a:solidFill>
                  <a:latin typeface="Times New Roman" panose="02020603050405020304" pitchFamily="18" charset="0"/>
                  <a:cs typeface="Times New Roman" panose="02020603050405020304" pitchFamily="18" charset="0"/>
                </a:rPr>
                <a:t>//Instantiate an </a:t>
              </a:r>
              <a:r>
                <a:rPr lang="en-US" sz="2000" dirty="0" smtClean="0">
                  <a:solidFill>
                    <a:srgbClr val="00B0F0"/>
                  </a:solidFill>
                  <a:latin typeface="Times New Roman" panose="02020603050405020304" pitchFamily="18" charset="0"/>
                  <a:cs typeface="Times New Roman" panose="02020603050405020304" pitchFamily="18" charset="0"/>
                </a:rPr>
                <a:t>object</a:t>
              </a:r>
            </a:p>
            <a:p>
              <a:pPr>
                <a:buFont typeface="Wingdings" panose="05000000000000000000" pitchFamily="2" charset="2"/>
                <a:buChar char=" "/>
              </a:pPr>
              <a:r>
                <a:rPr lang="en-US" sz="2000" dirty="0" smtClean="0">
                  <a:solidFill>
                    <a:srgbClr val="00B0F0"/>
                  </a:solidFill>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Access the Members of Class</a:t>
              </a:r>
            </a:p>
          </p:txBody>
        </p:sp>
      </p:grpSp>
      <p:cxnSp>
        <p:nvCxnSpPr>
          <p:cNvPr id="9" name="Straight Arrow Connector 8"/>
          <p:cNvCxnSpPr>
            <a:stCxn id="2" idx="2"/>
            <a:endCxn id="6" idx="0"/>
          </p:cNvCxnSpPr>
          <p:nvPr/>
        </p:nvCxnSpPr>
        <p:spPr>
          <a:xfrm>
            <a:off x="9296400" y="2469416"/>
            <a:ext cx="0" cy="233213"/>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7383641" y="3495911"/>
            <a:ext cx="3405356" cy="400110"/>
          </a:xfrm>
          <a:prstGeom prst="rect">
            <a:avLst/>
          </a:prstGeom>
        </p:spPr>
        <p:txBody>
          <a:bodyPr wrap="none">
            <a:spAutoFit/>
          </a:bodyPr>
          <a:lstStyle/>
          <a:p>
            <a:r>
              <a:rPr lang="en-US" sz="2000" dirty="0">
                <a:solidFill>
                  <a:srgbClr val="00B0F0"/>
                </a:solidFill>
                <a:latin typeface="Times New Roman" panose="02020603050405020304" pitchFamily="18" charset="0"/>
                <a:cs typeface="Times New Roman" panose="02020603050405020304" pitchFamily="18" charset="0"/>
              </a:rPr>
              <a:t>// Access the Members of Class</a:t>
            </a:r>
          </a:p>
        </p:txBody>
      </p:sp>
      <p:sp>
        <p:nvSpPr>
          <p:cNvPr id="11" name="Rectangle 10"/>
          <p:cNvSpPr/>
          <p:nvPr/>
        </p:nvSpPr>
        <p:spPr>
          <a:xfrm>
            <a:off x="7383641" y="3083895"/>
            <a:ext cx="3485249" cy="400110"/>
          </a:xfrm>
          <a:prstGeom prst="rect">
            <a:avLst/>
          </a:prstGeom>
        </p:spPr>
        <p:txBody>
          <a:bodyPr wrap="none">
            <a:spAutoFit/>
          </a:bodyPr>
          <a:lstStyle/>
          <a:p>
            <a:r>
              <a:rPr lang="en-US" sz="2000" dirty="0" smtClean="0">
                <a:solidFill>
                  <a:srgbClr val="FF0000"/>
                </a:solidFill>
                <a:latin typeface="Times New Roman" panose="02020603050405020304" pitchFamily="18" charset="0"/>
                <a:cs typeface="Times New Roman" panose="02020603050405020304" pitchFamily="18" charset="0"/>
              </a:rPr>
              <a:t>Dog </a:t>
            </a:r>
            <a:r>
              <a:rPr lang="en-US" sz="2000" dirty="0" err="1">
                <a:solidFill>
                  <a:srgbClr val="FF0000"/>
                </a:solidFill>
                <a:latin typeface="Times New Roman" panose="02020603050405020304" pitchFamily="18" charset="0"/>
                <a:cs typeface="Times New Roman" panose="02020603050405020304" pitchFamily="18" charset="0"/>
              </a:rPr>
              <a:t>fido</a:t>
            </a:r>
            <a:r>
              <a:rPr lang="en-US" sz="2000" dirty="0">
                <a:solidFill>
                  <a:srgbClr val="FF0000"/>
                </a:solidFill>
                <a:latin typeface="Times New Roman" panose="02020603050405020304" pitchFamily="18" charset="0"/>
                <a:cs typeface="Times New Roman" panose="02020603050405020304" pitchFamily="18" charset="0"/>
              </a:rPr>
              <a:t> = new Dog("Fido", 5</a:t>
            </a:r>
            <a:r>
              <a:rPr lang="en-US" sz="2000" dirty="0" smtClean="0">
                <a:solidFill>
                  <a:srgbClr val="FF0000"/>
                </a:solidFill>
                <a:latin typeface="Times New Roman" panose="02020603050405020304" pitchFamily="18" charset="0"/>
                <a:cs typeface="Times New Roman" panose="02020603050405020304" pitchFamily="18" charset="0"/>
              </a:rPr>
              <a:t>);</a:t>
            </a:r>
            <a:endParaRPr lang="en-US" sz="2000" dirty="0"/>
          </a:p>
        </p:txBody>
      </p:sp>
      <p:sp>
        <p:nvSpPr>
          <p:cNvPr id="13" name="Rectangle 12"/>
          <p:cNvSpPr/>
          <p:nvPr/>
        </p:nvSpPr>
        <p:spPr>
          <a:xfrm>
            <a:off x="228600" y="801350"/>
            <a:ext cx="6386015" cy="4431983"/>
          </a:xfrm>
          <a:prstGeom prst="rect">
            <a:avLst/>
          </a:prstGeom>
        </p:spPr>
        <p:txBody>
          <a:bodyPr wrap="square">
            <a:spAutoFit/>
          </a:bodyPr>
          <a:lstStyle/>
          <a:p>
            <a:pPr marL="285750" indent="-285750" algn="just">
              <a:buFont typeface="Arial" panose="020B0604020202020204" pitchFamily="34" charset="0"/>
              <a:buChar char="•"/>
            </a:pPr>
            <a:r>
              <a:rPr lang="en-US" sz="2400" b="1" dirty="0" smtClean="0">
                <a:solidFill>
                  <a:srgbClr val="002060"/>
                </a:solidFill>
                <a:latin typeface="Times New Roman" panose="02020603050405020304" pitchFamily="18" charset="0"/>
                <a:cs typeface="Times New Roman" panose="02020603050405020304" pitchFamily="18" charset="0"/>
              </a:rPr>
              <a:t>Declaration</a:t>
            </a:r>
            <a:endParaRPr lang="en-US" sz="2000" dirty="0" smtClean="0">
              <a:latin typeface="Times New Roman" panose="02020603050405020304" pitchFamily="18" charset="0"/>
              <a:cs typeface="Times New Roman" panose="02020603050405020304" pitchFamily="18" charset="0"/>
            </a:endParaRPr>
          </a:p>
          <a:p>
            <a:pPr lvl="1" algn="just"/>
            <a:r>
              <a:rPr lang="en-US" sz="2000" dirty="0" smtClean="0">
                <a:latin typeface="Times New Roman" panose="02020603050405020304" pitchFamily="18" charset="0"/>
                <a:cs typeface="Times New Roman" panose="02020603050405020304" pitchFamily="18" charset="0"/>
              </a:rPr>
              <a:t>Declaring a variable that associate </a:t>
            </a:r>
            <a:r>
              <a:rPr lang="en-US" sz="2000" dirty="0">
                <a:latin typeface="Times New Roman" panose="02020603050405020304" pitchFamily="18" charset="0"/>
                <a:cs typeface="Times New Roman" panose="02020603050405020304" pitchFamily="18" charset="0"/>
              </a:rPr>
              <a:t>a variable name with an object type.</a:t>
            </a:r>
          </a:p>
          <a:p>
            <a:pPr lvl="1" algn="just">
              <a:lnSpc>
                <a:spcPct val="150000"/>
              </a:lnSpc>
            </a:pPr>
            <a:r>
              <a:rPr lang="en-US" sz="2000" dirty="0" smtClean="0">
                <a:latin typeface="Times New Roman" panose="02020603050405020304" pitchFamily="18" charset="0"/>
                <a:cs typeface="Times New Roman" panose="02020603050405020304" pitchFamily="18" charset="0"/>
              </a:rPr>
              <a:t>Ex: Dog D1;</a:t>
            </a: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b="1" dirty="0" smtClean="0">
                <a:solidFill>
                  <a:srgbClr val="002060"/>
                </a:solidFill>
                <a:latin typeface="Times New Roman" panose="02020603050405020304" pitchFamily="18" charset="0"/>
                <a:cs typeface="Times New Roman" panose="02020603050405020304" pitchFamily="18" charset="0"/>
              </a:rPr>
              <a:t>Instantiation</a:t>
            </a:r>
            <a:endParaRPr lang="en-US" sz="2000" dirty="0" smtClean="0">
              <a:latin typeface="Times New Roman" panose="02020603050405020304" pitchFamily="18" charset="0"/>
              <a:cs typeface="Times New Roman" panose="02020603050405020304" pitchFamily="18" charset="0"/>
            </a:endParaRPr>
          </a:p>
          <a:p>
            <a:pPr lvl="1"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new keyword is a Java operator that creates the object</a:t>
            </a:r>
            <a:r>
              <a:rPr lang="en-US" sz="2000" dirty="0" smtClean="0">
                <a:latin typeface="Times New Roman" panose="02020603050405020304" pitchFamily="18" charset="0"/>
                <a:cs typeface="Times New Roman" panose="02020603050405020304" pitchFamily="18" charset="0"/>
              </a:rPr>
              <a:t>.</a:t>
            </a:r>
          </a:p>
          <a:p>
            <a:pPr lvl="1" algn="just">
              <a:lnSpc>
                <a:spcPct val="150000"/>
              </a:lnSpc>
            </a:pPr>
            <a:r>
              <a:rPr lang="en-US" sz="2000" dirty="0" smtClean="0">
                <a:latin typeface="Times New Roman" panose="02020603050405020304" pitchFamily="18" charset="0"/>
                <a:cs typeface="Times New Roman" panose="02020603050405020304" pitchFamily="18" charset="0"/>
              </a:rPr>
              <a:t>Ex: Dog D1=new Dog();</a:t>
            </a: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b="1" dirty="0" smtClean="0">
                <a:solidFill>
                  <a:srgbClr val="002060"/>
                </a:solidFill>
                <a:latin typeface="Times New Roman" panose="02020603050405020304" pitchFamily="18" charset="0"/>
                <a:cs typeface="Times New Roman" panose="02020603050405020304" pitchFamily="18" charset="0"/>
              </a:rPr>
              <a:t>Initialization</a:t>
            </a:r>
            <a:endParaRPr lang="en-US" sz="2000" dirty="0" smtClean="0">
              <a:latin typeface="Times New Roman" panose="02020603050405020304" pitchFamily="18" charset="0"/>
              <a:cs typeface="Times New Roman" panose="02020603050405020304" pitchFamily="18" charset="0"/>
            </a:endParaRPr>
          </a:p>
          <a:p>
            <a:pPr lvl="1"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new operator is followed by a call to a constructor, which initializes the new object</a:t>
            </a:r>
            <a:r>
              <a:rPr lang="en-US" sz="2000" dirty="0" smtClean="0">
                <a:latin typeface="Times New Roman" panose="02020603050405020304" pitchFamily="18" charset="0"/>
                <a:cs typeface="Times New Roman" panose="02020603050405020304" pitchFamily="18" charset="0"/>
              </a:rPr>
              <a:t>.</a:t>
            </a:r>
          </a:p>
          <a:p>
            <a:pPr lvl="1" algn="just">
              <a:lnSpc>
                <a:spcPct val="150000"/>
              </a:lnSpc>
            </a:pPr>
            <a:r>
              <a:rPr lang="en-US" sz="2000" dirty="0" smtClean="0">
                <a:latin typeface="Times New Roman" panose="02020603050405020304" pitchFamily="18" charset="0"/>
                <a:cs typeface="Times New Roman" panose="02020603050405020304" pitchFamily="18" charset="0"/>
              </a:rPr>
              <a:t>Ex: Dog D1=new Dog(“Fido”,5);</a:t>
            </a:r>
            <a:endParaRPr lang="en-US" sz="2000" dirty="0">
              <a:latin typeface="Times New Roman" panose="02020603050405020304" pitchFamily="18" charset="0"/>
              <a:cs typeface="Times New Roman" panose="02020603050405020304" pitchFamily="18" charset="0"/>
            </a:endParaRPr>
          </a:p>
        </p:txBody>
      </p:sp>
      <p:sp>
        <p:nvSpPr>
          <p:cNvPr id="17" name="Rectangle 16"/>
          <p:cNvSpPr/>
          <p:nvPr/>
        </p:nvSpPr>
        <p:spPr>
          <a:xfrm>
            <a:off x="5482988" y="4920590"/>
            <a:ext cx="6556612" cy="707886"/>
          </a:xfrm>
          <a:prstGeom prst="rect">
            <a:avLst/>
          </a:prstGeom>
          <a:ln>
            <a:solidFill>
              <a:srgbClr val="7030A0"/>
            </a:solidFill>
          </a:ln>
        </p:spPr>
        <p:txBody>
          <a:bodyPr wrap="square">
            <a:spAutoFit/>
          </a:bodyPr>
          <a:lstStyle/>
          <a:p>
            <a:r>
              <a:rPr lang="en-US" sz="2000" b="1" dirty="0" smtClean="0">
                <a:solidFill>
                  <a:srgbClr val="00B0F0"/>
                </a:solidFill>
                <a:latin typeface="Times New Roman" panose="02020603050405020304" pitchFamily="18" charset="0"/>
                <a:cs typeface="Times New Roman" panose="02020603050405020304" pitchFamily="18" charset="0"/>
              </a:rPr>
              <a:t>Syntax: </a:t>
            </a:r>
          </a:p>
          <a:p>
            <a:pPr>
              <a:buFont typeface="Wingdings" panose="05000000000000000000" pitchFamily="2" charset="2"/>
              <a:buChar char=" "/>
            </a:pPr>
            <a:r>
              <a:rPr lang="en-US" sz="2000" b="1" dirty="0" err="1" smtClean="0">
                <a:solidFill>
                  <a:srgbClr val="00B050"/>
                </a:solidFill>
                <a:latin typeface="Times New Roman" panose="02020603050405020304" pitchFamily="18" charset="0"/>
                <a:cs typeface="Times New Roman" panose="02020603050405020304" pitchFamily="18" charset="0"/>
              </a:rPr>
              <a:t>Classname</a:t>
            </a:r>
            <a:r>
              <a:rPr lang="en-US" sz="2000" b="1" dirty="0" smtClean="0">
                <a:solidFill>
                  <a:srgbClr val="00B050"/>
                </a:solidFill>
                <a:latin typeface="Times New Roman" panose="02020603050405020304" pitchFamily="18" charset="0"/>
                <a:cs typeface="Times New Roman" panose="02020603050405020304" pitchFamily="18" charset="0"/>
              </a:rPr>
              <a:t> </a:t>
            </a:r>
            <a:r>
              <a:rPr lang="en-US" sz="2000" b="1" dirty="0" err="1" smtClean="0">
                <a:solidFill>
                  <a:srgbClr val="00B050"/>
                </a:solidFill>
                <a:latin typeface="Times New Roman" panose="02020603050405020304" pitchFamily="18" charset="0"/>
                <a:cs typeface="Times New Roman" panose="02020603050405020304" pitchFamily="18" charset="0"/>
              </a:rPr>
              <a:t>ObjectName</a:t>
            </a:r>
            <a:r>
              <a:rPr lang="en-US" sz="2000" b="1" dirty="0" smtClean="0">
                <a:solidFill>
                  <a:srgbClr val="00B050"/>
                </a:solidFill>
                <a:latin typeface="Times New Roman" panose="02020603050405020304" pitchFamily="18" charset="0"/>
                <a:cs typeface="Times New Roman" panose="02020603050405020304" pitchFamily="18" charset="0"/>
              </a:rPr>
              <a:t>=new Constructor(parameters);</a:t>
            </a:r>
          </a:p>
        </p:txBody>
      </p:sp>
      <p:sp>
        <p:nvSpPr>
          <p:cNvPr id="12" name="Slide Number Placeholder 11"/>
          <p:cNvSpPr>
            <a:spLocks noGrp="1"/>
          </p:cNvSpPr>
          <p:nvPr>
            <p:ph type="sldNum" sz="quarter" idx="12"/>
          </p:nvPr>
        </p:nvSpPr>
        <p:spPr/>
        <p:txBody>
          <a:bodyPr/>
          <a:lstStyle/>
          <a:p>
            <a:pPr>
              <a:defRPr/>
            </a:pPr>
            <a:fld id="{A01CA5F2-CD08-4EF5-BAD9-872B7BB27165}" type="slidenum">
              <a:rPr lang="en-US" altLang="en-US" smtClean="0"/>
              <a:pPr>
                <a:defRPr/>
              </a:pPr>
              <a:t>26</a:t>
            </a:fld>
            <a:endParaRPr lang="en-US" altLang="en-US" dirty="0"/>
          </a:p>
        </p:txBody>
      </p:sp>
    </p:spTree>
    <p:extLst>
      <p:ext uri="{BB962C8B-B14F-4D97-AF65-F5344CB8AC3E}">
        <p14:creationId xmlns:p14="http://schemas.microsoft.com/office/powerpoint/2010/main" val="355242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arn(inVertic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6" name="Rectangle 4"/>
          <p:cNvSpPr txBox="1">
            <a:spLocks noChangeArrowheads="1"/>
          </p:cNvSpPr>
          <p:nvPr/>
        </p:nvSpPr>
        <p:spPr>
          <a:xfrm>
            <a:off x="6781800" y="2702629"/>
            <a:ext cx="5029200" cy="2057400"/>
          </a:xfrm>
          <a:prstGeom prst="rect">
            <a:avLst/>
          </a:prstGeom>
          <a:ln>
            <a:solidFill>
              <a:srgbClr val="7030A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public static void main(String[ ] </a:t>
            </a:r>
            <a:r>
              <a:rPr lang="en-US" sz="2000" dirty="0" err="1" smtClean="0">
                <a:latin typeface="Times New Roman" panose="02020603050405020304" pitchFamily="18" charset="0"/>
                <a:cs typeface="Times New Roman" panose="02020603050405020304" pitchFamily="18" charset="0"/>
              </a:rPr>
              <a:t>args</a:t>
            </a:r>
            <a:r>
              <a:rPr lang="en-US" sz="2000" dirty="0" smtClean="0">
                <a:latin typeface="Times New Roman" panose="02020603050405020304" pitchFamily="18" charset="0"/>
                <a:cs typeface="Times New Roman" panose="02020603050405020304" pitchFamily="18" charset="0"/>
              </a:rPr>
              <a:t>)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smtClean="0">
                <a:solidFill>
                  <a:srgbClr val="FF0000"/>
                </a:solidFill>
                <a:latin typeface="Times New Roman" panose="02020603050405020304" pitchFamily="18" charset="0"/>
                <a:cs typeface="Times New Roman" panose="02020603050405020304" pitchFamily="18" charset="0"/>
              </a:rPr>
              <a:t/>
            </a:r>
            <a:br>
              <a:rPr lang="en-US" sz="2000" dirty="0" smtClean="0">
                <a:solidFill>
                  <a:srgbClr val="FF0000"/>
                </a:solidFill>
                <a:latin typeface="Times New Roman" panose="02020603050405020304" pitchFamily="18" charset="0"/>
                <a:cs typeface="Times New Roman" panose="02020603050405020304" pitchFamily="18" charset="0"/>
              </a:rPr>
            </a:br>
            <a:r>
              <a:rPr lang="en-US" sz="2000" dirty="0" smtClean="0">
                <a:solidFill>
                  <a:srgbClr val="FF0000"/>
                </a:solidFill>
                <a:latin typeface="Times New Roman" panose="02020603050405020304" pitchFamily="18" charset="0"/>
                <a:cs typeface="Times New Roman" panose="02020603050405020304" pitchFamily="18" charset="0"/>
              </a:rPr>
              <a:t>    </a:t>
            </a:r>
            <a:br>
              <a:rPr lang="en-US" sz="2000" dirty="0" smtClean="0">
                <a:solidFill>
                  <a:srgbClr val="FF0000"/>
                </a:solidFill>
                <a:latin typeface="Times New Roman" panose="02020603050405020304" pitchFamily="18" charset="0"/>
                <a:cs typeface="Times New Roman" panose="02020603050405020304" pitchFamily="18" charset="0"/>
              </a:rPr>
            </a:br>
            <a:endParaRPr lang="en-US" sz="2000" dirty="0" smtClean="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 </a:t>
            </a:r>
            <a:r>
              <a:rPr lang="en-US" sz="2000" dirty="0" smtClean="0">
                <a:solidFill>
                  <a:srgbClr val="00B0F0"/>
                </a:solidFill>
                <a:latin typeface="Times New Roman" panose="02020603050405020304" pitchFamily="18" charset="0"/>
                <a:cs typeface="Times New Roman" panose="02020603050405020304" pitchFamily="18" charset="0"/>
              </a:rPr>
              <a:t>// ends the class</a:t>
            </a:r>
            <a:endParaRPr lang="en-US" sz="2000" dirty="0">
              <a:solidFill>
                <a:srgbClr val="00B0F0"/>
              </a:solidFill>
              <a:latin typeface="Times New Roman" panose="02020603050405020304" pitchFamily="18" charset="0"/>
              <a:cs typeface="Times New Roman" panose="02020603050405020304" pitchFamily="18" charset="0"/>
            </a:endParaRPr>
          </a:p>
        </p:txBody>
      </p:sp>
      <p:sp>
        <p:nvSpPr>
          <p:cNvPr id="4" name="Rectangle 2"/>
          <p:cNvSpPr>
            <a:spLocks noGrp="1" noChangeArrowheads="1"/>
          </p:cNvSpPr>
          <p:nvPr>
            <p:ph type="title"/>
          </p:nvPr>
        </p:nvSpPr>
        <p:spPr>
          <a:xfrm>
            <a:off x="5562600" y="252318"/>
            <a:ext cx="6248399"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smtClean="0">
                <a:solidFill>
                  <a:srgbClr val="FF0000"/>
                </a:solidFill>
                <a:latin typeface="Times New Roman" panose="02020603050405020304" pitchFamily="18" charset="0"/>
                <a:ea typeface="+mn-ea"/>
                <a:cs typeface="Times New Roman" panose="02020603050405020304" pitchFamily="18" charset="0"/>
              </a:rPr>
              <a:t>Accessing Members through objects</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grpSp>
        <p:nvGrpSpPr>
          <p:cNvPr id="3" name="Group 2"/>
          <p:cNvGrpSpPr/>
          <p:nvPr/>
        </p:nvGrpSpPr>
        <p:grpSpPr>
          <a:xfrm>
            <a:off x="6781800" y="838200"/>
            <a:ext cx="5029200" cy="1631216"/>
            <a:chOff x="6248400" y="1066800"/>
            <a:chExt cx="5562600" cy="1729503"/>
          </a:xfrm>
        </p:grpSpPr>
        <p:sp>
          <p:nvSpPr>
            <p:cNvPr id="2" name="Rectangle 1"/>
            <p:cNvSpPr/>
            <p:nvPr/>
          </p:nvSpPr>
          <p:spPr>
            <a:xfrm>
              <a:off x="6248400" y="1066800"/>
              <a:ext cx="5562600" cy="1729503"/>
            </a:xfrm>
            <a:prstGeom prst="rect">
              <a:avLst/>
            </a:prstGeom>
            <a:ln>
              <a:solidFill>
                <a:srgbClr val="7030A0"/>
              </a:solidFill>
            </a:ln>
          </p:spPr>
          <p:txBody>
            <a:bodyPr wrap="square">
              <a:spAutoFit/>
            </a:bodyPr>
            <a:lstStyle/>
            <a:p>
              <a:pPr>
                <a:buFont typeface="Wingdings" panose="05000000000000000000" pitchFamily="2" charset="2"/>
                <a:buChar char=" "/>
              </a:pPr>
              <a:r>
                <a:rPr lang="en-US" sz="2000" dirty="0">
                  <a:latin typeface="Times New Roman" panose="02020603050405020304" pitchFamily="18" charset="0"/>
                  <a:cs typeface="Times New Roman" panose="02020603050405020304" pitchFamily="18" charset="0"/>
                </a:rPr>
                <a:t>public static void main(String[ ]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
              </a:pPr>
              <a:endParaRPr lang="en-US" sz="2000" dirty="0">
                <a:solidFill>
                  <a:srgbClr val="00B0F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
              </a:pPr>
              <a:r>
                <a:rPr lang="en-US" sz="20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 "/>
              </a:pPr>
              <a:r>
                <a:rPr lang="en-US" sz="2000" dirty="0">
                  <a:latin typeface="Times New Roman" panose="02020603050405020304" pitchFamily="18" charset="0"/>
                  <a:cs typeface="Times New Roman" panose="02020603050405020304" pitchFamily="18" charset="0"/>
                </a:rPr>
                <a:t>} </a:t>
              </a:r>
              <a:r>
                <a:rPr lang="en-US" sz="2000" dirty="0">
                  <a:solidFill>
                    <a:srgbClr val="00B050"/>
                  </a:solidFill>
                  <a:latin typeface="Times New Roman" panose="02020603050405020304" pitchFamily="18" charset="0"/>
                  <a:cs typeface="Times New Roman" panose="02020603050405020304" pitchFamily="18" charset="0"/>
                </a:rPr>
                <a:t>// ends the class</a:t>
              </a:r>
            </a:p>
          </p:txBody>
        </p:sp>
        <p:sp>
          <p:nvSpPr>
            <p:cNvPr id="7" name="Rectangle 6"/>
            <p:cNvSpPr/>
            <p:nvPr/>
          </p:nvSpPr>
          <p:spPr>
            <a:xfrm>
              <a:off x="6934200" y="1524001"/>
              <a:ext cx="4495800" cy="750539"/>
            </a:xfrm>
            <a:prstGeom prst="rect">
              <a:avLst/>
            </a:prstGeom>
            <a:ln>
              <a:solidFill>
                <a:srgbClr val="7030A0"/>
              </a:solidFill>
            </a:ln>
          </p:spPr>
          <p:txBody>
            <a:bodyPr wrap="square">
              <a:spAutoFit/>
            </a:bodyPr>
            <a:lstStyle/>
            <a:p>
              <a:pPr>
                <a:buFont typeface="Wingdings" panose="05000000000000000000" pitchFamily="2" charset="2"/>
                <a:buChar char=" "/>
              </a:pPr>
              <a:r>
                <a:rPr lang="en-US" sz="2000" dirty="0">
                  <a:solidFill>
                    <a:srgbClr val="00B0F0"/>
                  </a:solidFill>
                  <a:latin typeface="Times New Roman" panose="02020603050405020304" pitchFamily="18" charset="0"/>
                  <a:cs typeface="Times New Roman" panose="02020603050405020304" pitchFamily="18" charset="0"/>
                </a:rPr>
                <a:t>//Instantiate an </a:t>
              </a:r>
              <a:r>
                <a:rPr lang="en-US" sz="2000" dirty="0" smtClean="0">
                  <a:solidFill>
                    <a:srgbClr val="00B0F0"/>
                  </a:solidFill>
                  <a:latin typeface="Times New Roman" panose="02020603050405020304" pitchFamily="18" charset="0"/>
                  <a:cs typeface="Times New Roman" panose="02020603050405020304" pitchFamily="18" charset="0"/>
                </a:rPr>
                <a:t>object</a:t>
              </a:r>
            </a:p>
            <a:p>
              <a:pPr>
                <a:buFont typeface="Wingdings" panose="05000000000000000000" pitchFamily="2" charset="2"/>
                <a:buChar char=" "/>
              </a:pPr>
              <a:r>
                <a:rPr lang="en-US" sz="2000" dirty="0" smtClean="0">
                  <a:solidFill>
                    <a:srgbClr val="00B0F0"/>
                  </a:solidFill>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Access the Members of Class</a:t>
              </a:r>
            </a:p>
          </p:txBody>
        </p:sp>
      </p:grpSp>
      <p:cxnSp>
        <p:nvCxnSpPr>
          <p:cNvPr id="9" name="Straight Arrow Connector 8"/>
          <p:cNvCxnSpPr>
            <a:stCxn id="2" idx="2"/>
            <a:endCxn id="6" idx="0"/>
          </p:cNvCxnSpPr>
          <p:nvPr/>
        </p:nvCxnSpPr>
        <p:spPr>
          <a:xfrm>
            <a:off x="9296400" y="2469416"/>
            <a:ext cx="0" cy="233213"/>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7383641" y="3495911"/>
            <a:ext cx="2909771" cy="400110"/>
          </a:xfrm>
          <a:prstGeom prst="rect">
            <a:avLst/>
          </a:prstGeom>
        </p:spPr>
        <p:txBody>
          <a:bodyPr wrap="none">
            <a:spAutoFit/>
          </a:bodyPr>
          <a:lstStyle/>
          <a:p>
            <a:r>
              <a:rPr lang="en-US" sz="2000" dirty="0" err="1">
                <a:solidFill>
                  <a:srgbClr val="FF0000"/>
                </a:solidFill>
                <a:latin typeface="Times New Roman" panose="02020603050405020304" pitchFamily="18" charset="0"/>
                <a:cs typeface="Times New Roman" panose="02020603050405020304" pitchFamily="18" charset="0"/>
              </a:rPr>
              <a:t>fido.wakeTheNeighbors</a:t>
            </a:r>
            <a:r>
              <a:rPr lang="en-US" sz="2000" dirty="0">
                <a:solidFill>
                  <a:srgbClr val="FF0000"/>
                </a:solidFill>
                <a:latin typeface="Times New Roman" panose="02020603050405020304" pitchFamily="18" charset="0"/>
                <a:cs typeface="Times New Roman" panose="02020603050405020304" pitchFamily="18" charset="0"/>
              </a:rPr>
              <a:t>();</a:t>
            </a:r>
            <a:endParaRPr lang="en-US" sz="2000" dirty="0"/>
          </a:p>
        </p:txBody>
      </p:sp>
      <p:sp>
        <p:nvSpPr>
          <p:cNvPr id="11" name="Rectangle 10"/>
          <p:cNvSpPr/>
          <p:nvPr/>
        </p:nvSpPr>
        <p:spPr>
          <a:xfrm>
            <a:off x="7383641" y="3083895"/>
            <a:ext cx="3485249" cy="400110"/>
          </a:xfrm>
          <a:prstGeom prst="rect">
            <a:avLst/>
          </a:prstGeom>
        </p:spPr>
        <p:txBody>
          <a:bodyPr wrap="none">
            <a:spAutoFit/>
          </a:bodyPr>
          <a:lstStyle/>
          <a:p>
            <a:r>
              <a:rPr lang="en-US" sz="2000" dirty="0" smtClean="0">
                <a:solidFill>
                  <a:srgbClr val="FF0000"/>
                </a:solidFill>
                <a:latin typeface="Times New Roman" panose="02020603050405020304" pitchFamily="18" charset="0"/>
                <a:cs typeface="Times New Roman" panose="02020603050405020304" pitchFamily="18" charset="0"/>
              </a:rPr>
              <a:t>Dog </a:t>
            </a:r>
            <a:r>
              <a:rPr lang="en-US" sz="2000" dirty="0" err="1">
                <a:solidFill>
                  <a:srgbClr val="FF0000"/>
                </a:solidFill>
                <a:latin typeface="Times New Roman" panose="02020603050405020304" pitchFamily="18" charset="0"/>
                <a:cs typeface="Times New Roman" panose="02020603050405020304" pitchFamily="18" charset="0"/>
              </a:rPr>
              <a:t>fido</a:t>
            </a:r>
            <a:r>
              <a:rPr lang="en-US" sz="2000" dirty="0">
                <a:solidFill>
                  <a:srgbClr val="FF0000"/>
                </a:solidFill>
                <a:latin typeface="Times New Roman" panose="02020603050405020304" pitchFamily="18" charset="0"/>
                <a:cs typeface="Times New Roman" panose="02020603050405020304" pitchFamily="18" charset="0"/>
              </a:rPr>
              <a:t> = new Dog("Fido", 5</a:t>
            </a:r>
            <a:r>
              <a:rPr lang="en-US" sz="2000" dirty="0" smtClean="0">
                <a:solidFill>
                  <a:srgbClr val="FF0000"/>
                </a:solidFill>
                <a:latin typeface="Times New Roman" panose="02020603050405020304" pitchFamily="18" charset="0"/>
                <a:cs typeface="Times New Roman" panose="02020603050405020304" pitchFamily="18" charset="0"/>
              </a:rPr>
              <a:t>);</a:t>
            </a:r>
            <a:endParaRPr lang="en-US" sz="2000" dirty="0"/>
          </a:p>
        </p:txBody>
      </p:sp>
      <p:sp>
        <p:nvSpPr>
          <p:cNvPr id="17" name="Rectangle 16"/>
          <p:cNvSpPr/>
          <p:nvPr/>
        </p:nvSpPr>
        <p:spPr>
          <a:xfrm>
            <a:off x="685800" y="4341245"/>
            <a:ext cx="5410200" cy="707886"/>
          </a:xfrm>
          <a:prstGeom prst="rect">
            <a:avLst/>
          </a:prstGeom>
          <a:ln>
            <a:solidFill>
              <a:srgbClr val="7030A0"/>
            </a:solidFill>
          </a:ln>
        </p:spPr>
        <p:txBody>
          <a:bodyPr wrap="square">
            <a:spAutoFit/>
          </a:bodyPr>
          <a:lstStyle/>
          <a:p>
            <a:pPr>
              <a:buFont typeface="Wingdings" panose="05000000000000000000" pitchFamily="2" charset="2"/>
              <a:buChar char=" "/>
            </a:pPr>
            <a:r>
              <a:rPr lang="en-US" sz="2000" b="1" dirty="0" err="1" smtClean="0">
                <a:solidFill>
                  <a:srgbClr val="00B050"/>
                </a:solidFill>
                <a:latin typeface="Times New Roman" panose="02020603050405020304" pitchFamily="18" charset="0"/>
                <a:cs typeface="Times New Roman" panose="02020603050405020304" pitchFamily="18" charset="0"/>
              </a:rPr>
              <a:t>ObjectName</a:t>
            </a:r>
            <a:r>
              <a:rPr lang="en-US" sz="2000" b="1" dirty="0" smtClean="0">
                <a:solidFill>
                  <a:srgbClr val="00B050"/>
                </a:solidFill>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a:t>
            </a:r>
            <a:r>
              <a:rPr lang="en-US" sz="2000" b="1" dirty="0" smtClean="0">
                <a:solidFill>
                  <a:srgbClr val="00B050"/>
                </a:solidFill>
                <a:latin typeface="Times New Roman" panose="02020603050405020304" pitchFamily="18" charset="0"/>
                <a:cs typeface="Times New Roman" panose="02020603050405020304" pitchFamily="18" charset="0"/>
              </a:rPr>
              <a:t> Members(fields) of the class;</a:t>
            </a:r>
          </a:p>
        </p:txBody>
      </p:sp>
      <p:sp>
        <p:nvSpPr>
          <p:cNvPr id="8" name="Rectangle 7"/>
          <p:cNvSpPr/>
          <p:nvPr/>
        </p:nvSpPr>
        <p:spPr>
          <a:xfrm>
            <a:off x="228600" y="924028"/>
            <a:ext cx="6400800" cy="332398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Once </a:t>
            </a:r>
            <a:r>
              <a:rPr lang="en-US" sz="2000" dirty="0" smtClean="0">
                <a:solidFill>
                  <a:srgbClr val="000000"/>
                </a:solidFill>
                <a:latin typeface="Times New Roman" panose="02020603050405020304" pitchFamily="18" charset="0"/>
                <a:cs typeface="Times New Roman" panose="02020603050405020304" pitchFamily="18" charset="0"/>
              </a:rPr>
              <a:t>object is created, we want </a:t>
            </a:r>
            <a:r>
              <a:rPr lang="en-US" sz="2000" dirty="0">
                <a:solidFill>
                  <a:srgbClr val="000000"/>
                </a:solidFill>
                <a:latin typeface="Times New Roman" panose="02020603050405020304" pitchFamily="18" charset="0"/>
                <a:cs typeface="Times New Roman" panose="02020603050405020304" pitchFamily="18" charset="0"/>
              </a:rPr>
              <a:t>to use it for </a:t>
            </a:r>
            <a:r>
              <a:rPr lang="en-US" sz="2000" dirty="0" smtClean="0">
                <a:solidFill>
                  <a:srgbClr val="000000"/>
                </a:solidFill>
                <a:latin typeface="Times New Roman" panose="02020603050405020304" pitchFamily="18" charset="0"/>
                <a:cs typeface="Times New Roman" panose="02020603050405020304" pitchFamily="18" charset="0"/>
              </a:rPr>
              <a:t>something like </a:t>
            </a:r>
            <a:r>
              <a:rPr lang="en-US" sz="2000" dirty="0">
                <a:solidFill>
                  <a:srgbClr val="000000"/>
                </a:solidFill>
                <a:latin typeface="Times New Roman" panose="02020603050405020304" pitchFamily="18" charset="0"/>
                <a:cs typeface="Times New Roman" panose="02020603050405020304" pitchFamily="18" charset="0"/>
              </a:rPr>
              <a:t>w</a:t>
            </a:r>
            <a:r>
              <a:rPr lang="en-US" sz="2000" dirty="0" smtClean="0">
                <a:solidFill>
                  <a:srgbClr val="000000"/>
                </a:solidFill>
                <a:latin typeface="Times New Roman" panose="02020603050405020304" pitchFamily="18" charset="0"/>
                <a:cs typeface="Times New Roman" panose="02020603050405020304" pitchFamily="18" charset="0"/>
              </a:rPr>
              <a:t>e </a:t>
            </a:r>
            <a:r>
              <a:rPr lang="en-US" sz="2000" dirty="0">
                <a:solidFill>
                  <a:srgbClr val="000000"/>
                </a:solidFill>
                <a:latin typeface="Times New Roman" panose="02020603050405020304" pitchFamily="18" charset="0"/>
                <a:cs typeface="Times New Roman" panose="02020603050405020304" pitchFamily="18" charset="0"/>
              </a:rPr>
              <a:t>may need to use the value of one of its fields, change one of its fields, or call one of its methods to perform an action</a:t>
            </a:r>
            <a:r>
              <a:rPr lang="en-US" sz="2000" dirty="0" smtClean="0">
                <a:solidFill>
                  <a:srgbClr val="000000"/>
                </a:solidFill>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Code that is outside the object's class must use an object reference or expression, followed by the dot (.) operator, followed by a simple field name, as in:</a:t>
            </a:r>
          </a:p>
        </p:txBody>
      </p:sp>
      <p:sp>
        <p:nvSpPr>
          <p:cNvPr id="13" name="Slide Number Placeholder 12"/>
          <p:cNvSpPr>
            <a:spLocks noGrp="1"/>
          </p:cNvSpPr>
          <p:nvPr>
            <p:ph type="sldNum" sz="quarter" idx="12"/>
          </p:nvPr>
        </p:nvSpPr>
        <p:spPr/>
        <p:txBody>
          <a:bodyPr/>
          <a:lstStyle/>
          <a:p>
            <a:pPr>
              <a:defRPr/>
            </a:pPr>
            <a:fld id="{A01CA5F2-CD08-4EF5-BAD9-872B7BB27165}" type="slidenum">
              <a:rPr lang="en-US" altLang="en-US" smtClean="0"/>
              <a:pPr>
                <a:defRPr/>
              </a:pPr>
              <a:t>27</a:t>
            </a:fld>
            <a:endParaRPr lang="en-US" altLang="en-US" dirty="0"/>
          </a:p>
        </p:txBody>
      </p:sp>
    </p:spTree>
    <p:extLst>
      <p:ext uri="{BB962C8B-B14F-4D97-AF65-F5344CB8AC3E}">
        <p14:creationId xmlns:p14="http://schemas.microsoft.com/office/powerpoint/2010/main" val="190902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Vertic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arn(inVertical)">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1" grpId="0"/>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609600" y="1676400"/>
          <a:ext cx="11125200" cy="3461658"/>
        </p:xfrm>
        <a:graphic>
          <a:graphicData uri="http://schemas.openxmlformats.org/drawingml/2006/table">
            <a:tbl>
              <a:tblPr firstRow="1" bandRow="1">
                <a:tableStyleId>{5C22544A-7EE6-4342-B048-85BDC9FD1C3A}</a:tableStyleId>
              </a:tblPr>
              <a:tblGrid>
                <a:gridCol w="5029200"/>
                <a:gridCol w="6096000"/>
              </a:tblGrid>
              <a:tr h="466878">
                <a:tc>
                  <a:txBody>
                    <a:bodyPr/>
                    <a:lstStyle/>
                    <a:p>
                      <a:r>
                        <a:rPr lang="en-US" sz="2400" dirty="0" smtClean="0">
                          <a:latin typeface="Times New Roman" panose="02020603050405020304" pitchFamily="18" charset="0"/>
                          <a:cs typeface="Times New Roman" panose="02020603050405020304" pitchFamily="18" charset="0"/>
                        </a:rPr>
                        <a:t>Class </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Object</a:t>
                      </a:r>
                      <a:endParaRPr lang="en-US" sz="2400" dirty="0">
                        <a:latin typeface="Times New Roman" panose="02020603050405020304" pitchFamily="18" charset="0"/>
                        <a:cs typeface="Times New Roman" panose="02020603050405020304" pitchFamily="18" charset="0"/>
                      </a:endParaRPr>
                    </a:p>
                  </a:txBody>
                  <a:tcPr/>
                </a:tc>
              </a:tr>
              <a:tr h="523722">
                <a:tc>
                  <a:txBody>
                    <a:bodyPr/>
                    <a:lstStyle/>
                    <a:p>
                      <a:r>
                        <a:rPr lang="en-US" sz="2000" dirty="0" smtClean="0">
                          <a:latin typeface="Times New Roman" panose="02020603050405020304" pitchFamily="18" charset="0"/>
                          <a:cs typeface="Times New Roman" panose="02020603050405020304" pitchFamily="18" charset="0"/>
                        </a:rPr>
                        <a:t>It is Conceptual &amp; Independent Entity</a:t>
                      </a:r>
                    </a:p>
                  </a:txBody>
                  <a:tcPr/>
                </a:tc>
                <a:tc>
                  <a:txBody>
                    <a:bodyPr/>
                    <a:lstStyle/>
                    <a:p>
                      <a:r>
                        <a:rPr lang="en-US" sz="2000" dirty="0" smtClean="0">
                          <a:latin typeface="Times New Roman" panose="02020603050405020304" pitchFamily="18" charset="0"/>
                          <a:cs typeface="Times New Roman" panose="02020603050405020304" pitchFamily="18" charset="0"/>
                        </a:rPr>
                        <a:t>It is physical(having existence) and dependent Entity</a:t>
                      </a:r>
                    </a:p>
                  </a:txBody>
                  <a:tcPr/>
                </a:tc>
              </a:tr>
              <a:tr h="4668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It is a Blue print to object.</a:t>
                      </a:r>
                    </a:p>
                  </a:txBody>
                  <a:tcPr/>
                </a:tc>
                <a:tc>
                  <a:txBody>
                    <a:bodyPr/>
                    <a:lstStyle/>
                    <a:p>
                      <a:r>
                        <a:rPr lang="en-US" sz="2000" dirty="0" smtClean="0">
                          <a:latin typeface="Times New Roman" panose="02020603050405020304" pitchFamily="18" charset="0"/>
                          <a:cs typeface="Times New Roman" panose="02020603050405020304" pitchFamily="18" charset="0"/>
                        </a:rPr>
                        <a:t>Without Class object can’t be created</a:t>
                      </a:r>
                    </a:p>
                  </a:txBody>
                  <a:tcPr/>
                </a:tc>
              </a:tr>
              <a:tr h="805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It consists of Attributes and Behaviors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It is a instance of Attributes and Behaviors defined for a Class</a:t>
                      </a:r>
                    </a:p>
                  </a:txBody>
                  <a:tcPr/>
                </a:tc>
              </a:tr>
              <a:tr h="6210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Programmatically it is a user defined Data type.</a:t>
                      </a:r>
                    </a:p>
                  </a:txBody>
                  <a:tcPr/>
                </a:tc>
                <a:tc>
                  <a:txBody>
                    <a:bodyPr/>
                    <a:lstStyle/>
                    <a:p>
                      <a:r>
                        <a:rPr lang="en-US" sz="2000" dirty="0" smtClean="0">
                          <a:latin typeface="Times New Roman" panose="02020603050405020304" pitchFamily="18" charset="0"/>
                          <a:cs typeface="Times New Roman" panose="02020603050405020304" pitchFamily="18" charset="0"/>
                        </a:rPr>
                        <a:t>Programmatically it is a variable to a class type data type</a:t>
                      </a:r>
                    </a:p>
                  </a:txBody>
                  <a:tcPr/>
                </a:tc>
              </a:tr>
              <a:tr h="577246">
                <a:tc>
                  <a:txBody>
                    <a:bodyPr/>
                    <a:lstStyle/>
                    <a:p>
                      <a:pPr>
                        <a:defRPr/>
                      </a:pPr>
                      <a:r>
                        <a:rPr lang="en-US" sz="2000" dirty="0" smtClean="0">
                          <a:latin typeface="Times New Roman" panose="02020603050405020304" pitchFamily="18" charset="0"/>
                          <a:cs typeface="Times New Roman" panose="02020603050405020304" pitchFamily="18" charset="0"/>
                        </a:rPr>
                        <a:t>E. g :</a:t>
                      </a:r>
                      <a:r>
                        <a:rPr lang="en-US" sz="2000" baseline="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Student, Employee</a:t>
                      </a:r>
                    </a:p>
                  </a:txBody>
                  <a:tcPr/>
                </a:tc>
                <a:tc>
                  <a:txBody>
                    <a:bodyPr/>
                    <a:lstStyle/>
                    <a:p>
                      <a:r>
                        <a:rPr lang="en-US" sz="2000" dirty="0" smtClean="0">
                          <a:latin typeface="Times New Roman" panose="02020603050405020304" pitchFamily="18" charset="0"/>
                          <a:cs typeface="Times New Roman" panose="02020603050405020304" pitchFamily="18" charset="0"/>
                        </a:rPr>
                        <a:t>E. g: </a:t>
                      </a:r>
                      <a:r>
                        <a:rPr lang="en-US" sz="2000" dirty="0" err="1" smtClean="0">
                          <a:latin typeface="Times New Roman" panose="02020603050405020304" pitchFamily="18" charset="0"/>
                          <a:cs typeface="Times New Roman" panose="02020603050405020304" pitchFamily="18" charset="0"/>
                        </a:rPr>
                        <a:t>amit</a:t>
                      </a:r>
                      <a:r>
                        <a:rPr lang="en-US" sz="2000" dirty="0" smtClean="0">
                          <a:latin typeface="Times New Roman" panose="02020603050405020304" pitchFamily="18" charset="0"/>
                          <a:cs typeface="Times New Roman" panose="02020603050405020304" pitchFamily="18" charset="0"/>
                        </a:rPr>
                        <a:t> as student, </a:t>
                      </a:r>
                      <a:r>
                        <a:rPr lang="en-US" sz="2000" dirty="0" err="1" smtClean="0">
                          <a:latin typeface="Times New Roman" panose="02020603050405020304" pitchFamily="18" charset="0"/>
                          <a:cs typeface="Times New Roman" panose="02020603050405020304" pitchFamily="18" charset="0"/>
                        </a:rPr>
                        <a:t>ankit</a:t>
                      </a:r>
                      <a:r>
                        <a:rPr lang="en-US" sz="2000" dirty="0" smtClean="0">
                          <a:latin typeface="Times New Roman" panose="02020603050405020304" pitchFamily="18" charset="0"/>
                          <a:cs typeface="Times New Roman" panose="02020603050405020304" pitchFamily="18" charset="0"/>
                        </a:rPr>
                        <a:t> as Employee</a:t>
                      </a:r>
                    </a:p>
                  </a:txBody>
                  <a:tcPr/>
                </a:tc>
              </a:tr>
            </a:tbl>
          </a:graphicData>
        </a:graphic>
      </p:graphicFrame>
      <p:sp>
        <p:nvSpPr>
          <p:cNvPr id="5" name="Text Box 1"/>
          <p:cNvSpPr txBox="1">
            <a:spLocks noChangeArrowheads="1"/>
          </p:cNvSpPr>
          <p:nvPr/>
        </p:nvSpPr>
        <p:spPr bwMode="auto">
          <a:xfrm>
            <a:off x="228600" y="187372"/>
            <a:ext cx="5257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Classes, Objects and Methods</a:t>
            </a:r>
          </a:p>
        </p:txBody>
      </p:sp>
      <p:sp>
        <p:nvSpPr>
          <p:cNvPr id="3" name="Slide Number Placeholder 2"/>
          <p:cNvSpPr>
            <a:spLocks noGrp="1"/>
          </p:cNvSpPr>
          <p:nvPr>
            <p:ph type="sldNum" sz="quarter" idx="12"/>
          </p:nvPr>
        </p:nvSpPr>
        <p:spPr/>
        <p:txBody>
          <a:bodyPr/>
          <a:lstStyle/>
          <a:p>
            <a:pPr>
              <a:defRPr/>
            </a:pPr>
            <a:fld id="{A01CA5F2-CD08-4EF5-BAD9-872B7BB27165}" type="slidenum">
              <a:rPr lang="en-US" altLang="en-US" smtClean="0"/>
              <a:pPr>
                <a:defRPr/>
              </a:pPr>
              <a:t>28</a:t>
            </a:fld>
            <a:endParaRPr lang="en-US" altLang="en-US" dirty="0"/>
          </a:p>
        </p:txBody>
      </p:sp>
    </p:spTree>
    <p:extLst>
      <p:ext uri="{BB962C8B-B14F-4D97-AF65-F5344CB8AC3E}">
        <p14:creationId xmlns:p14="http://schemas.microsoft.com/office/powerpoint/2010/main" val="10347720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
          <p:cNvSpPr txBox="1">
            <a:spLocks noChangeArrowheads="1"/>
          </p:cNvSpPr>
          <p:nvPr/>
        </p:nvSpPr>
        <p:spPr bwMode="auto">
          <a:xfrm>
            <a:off x="228600" y="187372"/>
            <a:ext cx="2590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smtClean="0"/>
              <a:t>this keyword</a:t>
            </a:r>
            <a:endParaRPr lang="en-US" dirty="0"/>
          </a:p>
        </p:txBody>
      </p:sp>
      <p:sp>
        <p:nvSpPr>
          <p:cNvPr id="6" name="Rectangle 2"/>
          <p:cNvSpPr>
            <a:spLocks noGrp="1" noChangeArrowheads="1"/>
          </p:cNvSpPr>
          <p:nvPr>
            <p:ph type="title"/>
          </p:nvPr>
        </p:nvSpPr>
        <p:spPr>
          <a:xfrm>
            <a:off x="2971800" y="226791"/>
            <a:ext cx="32004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smtClean="0">
                <a:solidFill>
                  <a:srgbClr val="FF0000"/>
                </a:solidFill>
                <a:latin typeface="Times New Roman" panose="02020603050405020304" pitchFamily="18" charset="0"/>
                <a:ea typeface="+mn-ea"/>
                <a:cs typeface="Times New Roman" panose="02020603050405020304" pitchFamily="18" charset="0"/>
              </a:rPr>
              <a:t>Problem statement</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sp>
        <p:nvSpPr>
          <p:cNvPr id="7" name="Rectangle 3"/>
          <p:cNvSpPr txBox="1">
            <a:spLocks noChangeArrowheads="1"/>
          </p:cNvSpPr>
          <p:nvPr/>
        </p:nvSpPr>
        <p:spPr>
          <a:xfrm>
            <a:off x="7467600" y="990600"/>
            <a:ext cx="4343400" cy="4402114"/>
          </a:xfrm>
          <a:prstGeom prst="rect">
            <a:avLst/>
          </a:prstGeom>
          <a:ln>
            <a:solidFill>
              <a:srgbClr val="7030A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sz="2400" dirty="0" smtClean="0">
                <a:latin typeface="Times New Roman" panose="02020603050405020304" pitchFamily="18" charset="0"/>
                <a:cs typeface="Times New Roman" panose="02020603050405020304" pitchFamily="18" charset="0"/>
              </a:rPr>
              <a:t>class Dog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String </a:t>
            </a:r>
            <a:r>
              <a:rPr lang="en-US" sz="2400" dirty="0" smtClean="0">
                <a:solidFill>
                  <a:srgbClr val="FF0000"/>
                </a:solidFill>
                <a:latin typeface="Times New Roman" panose="02020603050405020304" pitchFamily="18" charset="0"/>
                <a:cs typeface="Times New Roman" panose="02020603050405020304" pitchFamily="18" charset="0"/>
              </a:rPr>
              <a:t>name</a:t>
            </a: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smtClean="0">
                <a:solidFill>
                  <a:srgbClr val="0070C0"/>
                </a:solidFill>
                <a:latin typeface="Times New Roman" panose="02020603050405020304" pitchFamily="18" charset="0"/>
                <a:cs typeface="Times New Roman" panose="02020603050405020304" pitchFamily="18" charset="0"/>
              </a:rPr>
              <a:t>age</a:t>
            </a: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Dog(String </a:t>
            </a:r>
            <a:r>
              <a:rPr lang="en-US" sz="2400" dirty="0" smtClean="0">
                <a:solidFill>
                  <a:srgbClr val="FF0000"/>
                </a:solidFill>
                <a:latin typeface="Times New Roman" panose="02020603050405020304" pitchFamily="18" charset="0"/>
                <a:cs typeface="Times New Roman" panose="02020603050405020304" pitchFamily="18" charset="0"/>
              </a:rPr>
              <a:t>name</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smtClean="0">
                <a:solidFill>
                  <a:srgbClr val="0070C0"/>
                </a:solidFill>
                <a:latin typeface="Times New Roman" panose="02020603050405020304" pitchFamily="18" charset="0"/>
                <a:cs typeface="Times New Roman" panose="02020603050405020304" pitchFamily="18" charset="0"/>
              </a:rPr>
              <a:t>age</a:t>
            </a: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name = name;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age = age;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void bark()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System.out.println</a:t>
            </a:r>
            <a:r>
              <a:rPr lang="en-US" sz="2400" dirty="0" smtClean="0">
                <a:latin typeface="Times New Roman" panose="02020603050405020304" pitchFamily="18" charset="0"/>
                <a:cs typeface="Times New Roman" panose="02020603050405020304" pitchFamily="18" charset="0"/>
              </a:rPr>
              <a:t>("Woof!");</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 </a:t>
            </a:r>
            <a:endParaRPr lang="en-US" sz="2400" dirty="0">
              <a:latin typeface="Times New Roman" panose="02020603050405020304" pitchFamily="18" charset="0"/>
              <a:cs typeface="Times New Roman" panose="02020603050405020304" pitchFamily="18" charset="0"/>
            </a:endParaRPr>
          </a:p>
        </p:txBody>
      </p:sp>
      <p:sp>
        <p:nvSpPr>
          <p:cNvPr id="10" name="Content Placeholder 2"/>
          <p:cNvSpPr>
            <a:spLocks noGrp="1"/>
          </p:cNvSpPr>
          <p:nvPr>
            <p:ph idx="1"/>
          </p:nvPr>
        </p:nvSpPr>
        <p:spPr>
          <a:xfrm>
            <a:off x="252484" y="914400"/>
            <a:ext cx="6910316" cy="4267200"/>
          </a:xfrm>
        </p:spPr>
        <p:txBody>
          <a:bodyPr>
            <a:noAutofit/>
          </a:bodyPr>
          <a:lstStyle/>
          <a:p>
            <a:pPr algn="just">
              <a:lnSpc>
                <a:spcPct val="100000"/>
              </a:lnSpc>
              <a:spcBef>
                <a:spcPts val="600"/>
              </a:spcBef>
              <a:defRPr/>
            </a:pPr>
            <a:r>
              <a:rPr lang="en-US" sz="2400" dirty="0" smtClean="0">
                <a:latin typeface="Times New Roman" panose="02020603050405020304" pitchFamily="18" charset="0"/>
                <a:cs typeface="Times New Roman" panose="02020603050405020304" pitchFamily="18" charset="0"/>
              </a:rPr>
              <a:t>Check is it possible to use the local and instance variable with same name or not in the given example.</a:t>
            </a:r>
          </a:p>
          <a:p>
            <a:pPr algn="just">
              <a:lnSpc>
                <a:spcPct val="100000"/>
              </a:lnSpc>
              <a:spcBef>
                <a:spcPts val="600"/>
              </a:spcBef>
              <a:defRPr/>
            </a:pPr>
            <a:r>
              <a:rPr lang="en-US" sz="2400" dirty="0" smtClean="0">
                <a:latin typeface="Times New Roman" panose="02020603050405020304" pitchFamily="18" charset="0"/>
                <a:cs typeface="Times New Roman" panose="02020603050405020304" pitchFamily="18" charset="0"/>
              </a:rPr>
              <a:t>Problem associated with this is called “</a:t>
            </a:r>
            <a:r>
              <a:rPr lang="en-US" sz="2400" b="1" dirty="0" smtClean="0">
                <a:solidFill>
                  <a:srgbClr val="FF0000"/>
                </a:solidFill>
                <a:latin typeface="Times New Roman" panose="02020603050405020304" pitchFamily="18" charset="0"/>
                <a:cs typeface="Times New Roman" panose="02020603050405020304" pitchFamily="18" charset="0"/>
              </a:rPr>
              <a:t>Instance variable Hiding</a:t>
            </a:r>
            <a:r>
              <a:rPr lang="en-US" sz="2400" dirty="0" smtClean="0">
                <a:latin typeface="Times New Roman" panose="02020603050405020304" pitchFamily="18" charset="0"/>
                <a:cs typeface="Times New Roman" panose="02020603050405020304" pitchFamily="18" charset="0"/>
              </a:rPr>
              <a:t>”.</a:t>
            </a:r>
          </a:p>
          <a:p>
            <a:pPr algn="just">
              <a:lnSpc>
                <a:spcPct val="100000"/>
              </a:lnSpc>
              <a:spcBef>
                <a:spcPts val="600"/>
              </a:spcBef>
              <a:defRPr/>
            </a:pPr>
            <a:r>
              <a:rPr lang="en-US" sz="2400" dirty="0" smtClean="0">
                <a:latin typeface="Times New Roman" panose="02020603050405020304" pitchFamily="18" charset="0"/>
                <a:cs typeface="Times New Roman" panose="02020603050405020304" pitchFamily="18" charset="0"/>
              </a:rPr>
              <a:t>Reason is, the local or formal parameter hides the meaning of instance variable thus causes compiler to be in panic mode.</a:t>
            </a:r>
          </a:p>
          <a:p>
            <a:pPr algn="just">
              <a:lnSpc>
                <a:spcPct val="100000"/>
              </a:lnSpc>
              <a:spcBef>
                <a:spcPts val="600"/>
              </a:spcBef>
              <a:defRPr/>
            </a:pPr>
            <a:r>
              <a:rPr lang="en-US" sz="2400" dirty="0" smtClean="0">
                <a:latin typeface="Times New Roman" panose="02020603050405020304" pitchFamily="18" charset="0"/>
                <a:cs typeface="Times New Roman" panose="02020603050405020304" pitchFamily="18" charset="0"/>
              </a:rPr>
              <a:t>The Solution to this problem is the use of </a:t>
            </a:r>
            <a:r>
              <a:rPr lang="en-US" sz="2400" b="1" dirty="0" smtClean="0">
                <a:solidFill>
                  <a:srgbClr val="00B050"/>
                </a:solidFill>
                <a:latin typeface="Times New Roman" panose="02020603050405020304" pitchFamily="18" charset="0"/>
                <a:cs typeface="Times New Roman" panose="02020603050405020304" pitchFamily="18" charset="0"/>
              </a:rPr>
              <a:t>this keyword</a:t>
            </a:r>
            <a:r>
              <a:rPr lang="en-US" sz="2400" dirty="0" smtClean="0">
                <a:latin typeface="Times New Roman" panose="02020603050405020304" pitchFamily="18" charset="0"/>
                <a:cs typeface="Times New Roman" panose="02020603050405020304" pitchFamily="18" charset="0"/>
              </a:rPr>
              <a:t>.</a:t>
            </a:r>
          </a:p>
        </p:txBody>
      </p:sp>
      <p:grpSp>
        <p:nvGrpSpPr>
          <p:cNvPr id="12" name="Group 11"/>
          <p:cNvGrpSpPr/>
          <p:nvPr/>
        </p:nvGrpSpPr>
        <p:grpSpPr>
          <a:xfrm>
            <a:off x="8077200" y="2743200"/>
            <a:ext cx="2819400" cy="703236"/>
            <a:chOff x="8077200" y="2743200"/>
            <a:chExt cx="2819400" cy="703236"/>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36060">
              <a:off x="10210800" y="2743200"/>
              <a:ext cx="685800" cy="703236"/>
            </a:xfrm>
            <a:prstGeom prst="rect">
              <a:avLst/>
            </a:prstGeom>
          </p:spPr>
        </p:pic>
        <p:sp>
          <p:nvSpPr>
            <p:cNvPr id="11" name="Rectangle 10"/>
            <p:cNvSpPr/>
            <p:nvPr/>
          </p:nvSpPr>
          <p:spPr>
            <a:xfrm>
              <a:off x="8077200" y="2743200"/>
              <a:ext cx="2010611" cy="685800"/>
            </a:xfrm>
            <a:prstGeom prst="rect">
              <a:avLst/>
            </a:prstGeom>
            <a:solidFill>
              <a:schemeClr val="lt1">
                <a:alpha val="5000"/>
              </a:schemeClr>
            </a:solidFill>
            <a:ln w="28575">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29</a:t>
            </a:fld>
            <a:endParaRPr lang="en-US" altLang="en-US" dirty="0"/>
          </a:p>
        </p:txBody>
      </p:sp>
    </p:spTree>
    <p:extLst>
      <p:ext uri="{BB962C8B-B14F-4D97-AF65-F5344CB8AC3E}">
        <p14:creationId xmlns:p14="http://schemas.microsoft.com/office/powerpoint/2010/main" val="68533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animEffect transition="in" filter="barn(inVertical)">
                                      <p:cBhvr>
                                        <p:cTn id="27" dur="500"/>
                                        <p:tgtEl>
                                          <p:spTgt spid="1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barn(inVertical)">
                                      <p:cBhvr>
                                        <p:cTn id="32" dur="500"/>
                                        <p:tgtEl>
                                          <p:spTgt spid="1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0">
                                            <p:txEl>
                                              <p:pRg st="3" end="3"/>
                                            </p:txEl>
                                          </p:spTgt>
                                        </p:tgtEl>
                                        <p:attrNameLst>
                                          <p:attrName>style.visibility</p:attrName>
                                        </p:attrNameLst>
                                      </p:cBhvr>
                                      <p:to>
                                        <p:strVal val="visible"/>
                                      </p:to>
                                    </p:set>
                                    <p:animEffect transition="in" filter="barn(inVertical)">
                                      <p:cBhvr>
                                        <p:cTn id="3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19100" y="838200"/>
            <a:ext cx="9867900" cy="2209800"/>
          </a:xfrm>
        </p:spPr>
        <p:txBody>
          <a:bodyPr rtlCol="0">
            <a:noAutofit/>
          </a:bodyPr>
          <a:lstStyle/>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This keyword</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Activity on this keyword</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Static </a:t>
            </a:r>
            <a:r>
              <a:rPr lang="en-US" sz="2400" dirty="0">
                <a:latin typeface="Times New Roman" panose="02020603050405020304" pitchFamily="18" charset="0"/>
                <a:cs typeface="Times New Roman" panose="02020603050405020304" pitchFamily="18" charset="0"/>
              </a:rPr>
              <a:t>keyword</a:t>
            </a:r>
          </a:p>
          <a:p>
            <a:pPr fontAlgn="auto">
              <a:lnSpc>
                <a:spcPct val="100000"/>
              </a:lnSpc>
              <a:spcBef>
                <a:spcPts val="1200"/>
              </a:spcBef>
              <a:spcAft>
                <a:spcPts val="0"/>
              </a:spcAft>
              <a:defRPr/>
            </a:pPr>
            <a:r>
              <a:rPr lang="en-US" sz="2400" dirty="0">
                <a:latin typeface="Times New Roman" panose="02020603050405020304" pitchFamily="18" charset="0"/>
                <a:cs typeface="Times New Roman" panose="02020603050405020304" pitchFamily="18" charset="0"/>
              </a:rPr>
              <a:t>Activity on </a:t>
            </a:r>
            <a:r>
              <a:rPr lang="en-US" sz="2400" dirty="0" smtClean="0">
                <a:latin typeface="Times New Roman" panose="02020603050405020304" pitchFamily="18" charset="0"/>
                <a:cs typeface="Times New Roman" panose="02020603050405020304" pitchFamily="18" charset="0"/>
              </a:rPr>
              <a:t>static keyword</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30</a:t>
            </a:fld>
            <a:endParaRPr lang="en-US" altLang="en-US"/>
          </a:p>
        </p:txBody>
      </p:sp>
      <p:sp>
        <p:nvSpPr>
          <p:cNvPr id="7" name="Title 1"/>
          <p:cNvSpPr>
            <a:spLocks noGrp="1"/>
          </p:cNvSpPr>
          <p:nvPr>
            <p:ph type="title"/>
          </p:nvPr>
        </p:nvSpPr>
        <p:spPr>
          <a:xfrm>
            <a:off x="419100" y="127427"/>
            <a:ext cx="17145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Contents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3234628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7467600" y="990600"/>
            <a:ext cx="4343400" cy="4402114"/>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sz="2400" dirty="0" smtClean="0">
                <a:latin typeface="Times New Roman" panose="02020603050405020304" pitchFamily="18" charset="0"/>
                <a:cs typeface="Times New Roman" panose="02020603050405020304" pitchFamily="18" charset="0"/>
              </a:rPr>
              <a:t>class Dog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String </a:t>
            </a:r>
            <a:r>
              <a:rPr lang="en-US" sz="2400" dirty="0" smtClean="0">
                <a:solidFill>
                  <a:srgbClr val="FF0000"/>
                </a:solidFill>
                <a:latin typeface="Times New Roman" panose="02020603050405020304" pitchFamily="18" charset="0"/>
                <a:cs typeface="Times New Roman" panose="02020603050405020304" pitchFamily="18" charset="0"/>
              </a:rPr>
              <a:t>name</a:t>
            </a: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smtClean="0">
                <a:solidFill>
                  <a:srgbClr val="0070C0"/>
                </a:solidFill>
                <a:latin typeface="Times New Roman" panose="02020603050405020304" pitchFamily="18" charset="0"/>
                <a:cs typeface="Times New Roman" panose="02020603050405020304" pitchFamily="18" charset="0"/>
              </a:rPr>
              <a:t>age</a:t>
            </a: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Dog(String </a:t>
            </a:r>
            <a:r>
              <a:rPr lang="en-US" sz="2400" dirty="0" smtClean="0">
                <a:solidFill>
                  <a:srgbClr val="FF0000"/>
                </a:solidFill>
                <a:latin typeface="Times New Roman" panose="02020603050405020304" pitchFamily="18" charset="0"/>
                <a:cs typeface="Times New Roman" panose="02020603050405020304" pitchFamily="18" charset="0"/>
              </a:rPr>
              <a:t>name</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smtClean="0">
                <a:solidFill>
                  <a:srgbClr val="0070C0"/>
                </a:solidFill>
                <a:latin typeface="Times New Roman" panose="02020603050405020304" pitchFamily="18" charset="0"/>
                <a:cs typeface="Times New Roman" panose="02020603050405020304" pitchFamily="18" charset="0"/>
              </a:rPr>
              <a:t>age</a:t>
            </a: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b="1" dirty="0" smtClean="0">
                <a:solidFill>
                  <a:srgbClr val="00B050"/>
                </a:solidFill>
                <a:latin typeface="Times New Roman" panose="02020603050405020304" pitchFamily="18" charset="0"/>
                <a:cs typeface="Times New Roman" panose="02020603050405020304" pitchFamily="18" charset="0"/>
              </a:rPr>
              <a:t>this.</a:t>
            </a:r>
            <a:r>
              <a:rPr lang="en-US" sz="2400" dirty="0" smtClean="0">
                <a:latin typeface="Times New Roman" panose="02020603050405020304" pitchFamily="18" charset="0"/>
                <a:cs typeface="Times New Roman" panose="02020603050405020304" pitchFamily="18" charset="0"/>
              </a:rPr>
              <a:t>name = name;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b="1" dirty="0" err="1" smtClean="0">
                <a:solidFill>
                  <a:srgbClr val="00B050"/>
                </a:solidFill>
                <a:latin typeface="Times New Roman" panose="02020603050405020304" pitchFamily="18" charset="0"/>
                <a:cs typeface="Times New Roman" panose="02020603050405020304" pitchFamily="18" charset="0"/>
              </a:rPr>
              <a:t>this.</a:t>
            </a:r>
            <a:r>
              <a:rPr lang="en-US" sz="2400" dirty="0" err="1" smtClean="0">
                <a:latin typeface="Times New Roman" panose="02020603050405020304" pitchFamily="18" charset="0"/>
                <a:cs typeface="Times New Roman" panose="02020603050405020304" pitchFamily="18" charset="0"/>
              </a:rPr>
              <a:t>age</a:t>
            </a:r>
            <a:r>
              <a:rPr lang="en-US" sz="2400" dirty="0" smtClean="0">
                <a:latin typeface="Times New Roman" panose="02020603050405020304" pitchFamily="18" charset="0"/>
                <a:cs typeface="Times New Roman" panose="02020603050405020304" pitchFamily="18" charset="0"/>
              </a:rPr>
              <a:t> = age;</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void bark()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System.out.println</a:t>
            </a:r>
            <a:r>
              <a:rPr lang="en-US" sz="2400" dirty="0" smtClean="0">
                <a:latin typeface="Times New Roman" panose="02020603050405020304" pitchFamily="18" charset="0"/>
                <a:cs typeface="Times New Roman" panose="02020603050405020304" pitchFamily="18" charset="0"/>
              </a:rPr>
              <a:t>("Woof!");</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 </a:t>
            </a:r>
            <a:endParaRPr lang="en-US" sz="2400" dirty="0">
              <a:latin typeface="Times New Roman" panose="02020603050405020304" pitchFamily="18" charset="0"/>
              <a:cs typeface="Times New Roman" panose="02020603050405020304" pitchFamily="18" charset="0"/>
            </a:endParaRPr>
          </a:p>
        </p:txBody>
      </p:sp>
      <p:sp>
        <p:nvSpPr>
          <p:cNvPr id="9" name="Rectangle 8"/>
          <p:cNvSpPr/>
          <p:nvPr/>
        </p:nvSpPr>
        <p:spPr>
          <a:xfrm>
            <a:off x="8077200" y="2667000"/>
            <a:ext cx="2438400" cy="685800"/>
          </a:xfrm>
          <a:prstGeom prst="rect">
            <a:avLst/>
          </a:prstGeom>
          <a:solidFill>
            <a:schemeClr val="lt1">
              <a:alpha val="5000"/>
            </a:schemeClr>
          </a:solid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Content Placeholder 2"/>
          <p:cNvSpPr>
            <a:spLocks noGrp="1"/>
          </p:cNvSpPr>
          <p:nvPr>
            <p:ph idx="1"/>
          </p:nvPr>
        </p:nvSpPr>
        <p:spPr>
          <a:xfrm>
            <a:off x="278642" y="876299"/>
            <a:ext cx="6910316" cy="4267200"/>
          </a:xfrm>
        </p:spPr>
        <p:txBody>
          <a:bodyPr>
            <a:noAutofit/>
          </a:bodyPr>
          <a:lstStyle/>
          <a:p>
            <a:pPr algn="just">
              <a:lnSpc>
                <a:spcPct val="150000"/>
              </a:lnSpc>
              <a:spcBef>
                <a:spcPts val="600"/>
              </a:spcBef>
              <a:defRPr/>
            </a:pPr>
            <a:r>
              <a:rPr lang="en-US" sz="2400" b="1" dirty="0">
                <a:solidFill>
                  <a:srgbClr val="00B050"/>
                </a:solidFill>
                <a:latin typeface="Times New Roman" panose="02020603050405020304" pitchFamily="18" charset="0"/>
                <a:cs typeface="Times New Roman" panose="02020603050405020304" pitchFamily="18" charset="0"/>
              </a:rPr>
              <a:t>t</a:t>
            </a:r>
            <a:r>
              <a:rPr lang="en-US" sz="2400" b="1" dirty="0" smtClean="0">
                <a:solidFill>
                  <a:srgbClr val="00B050"/>
                </a:solidFill>
                <a:latin typeface="Times New Roman" panose="02020603050405020304" pitchFamily="18" charset="0"/>
                <a:cs typeface="Times New Roman" panose="02020603050405020304" pitchFamily="18" charset="0"/>
              </a:rPr>
              <a:t>his</a:t>
            </a:r>
            <a:r>
              <a:rPr lang="en-US" sz="2400" dirty="0" smtClean="0">
                <a:solidFill>
                  <a:srgbClr val="00B050"/>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is the java keyword.</a:t>
            </a:r>
          </a:p>
          <a:p>
            <a:pPr algn="just">
              <a:lnSpc>
                <a:spcPct val="150000"/>
              </a:lnSpc>
              <a:spcBef>
                <a:spcPts val="600"/>
              </a:spcBef>
              <a:defRPr/>
            </a:pPr>
            <a:r>
              <a:rPr lang="en-US" sz="2400" dirty="0" smtClean="0">
                <a:latin typeface="Times New Roman" panose="02020603050405020304" pitchFamily="18" charset="0"/>
                <a:cs typeface="Times New Roman" panose="02020603050405020304" pitchFamily="18" charset="0"/>
              </a:rPr>
              <a:t>This keyword always refers to the current object on which the method is called.</a:t>
            </a:r>
          </a:p>
        </p:txBody>
      </p:sp>
      <p:sp>
        <p:nvSpPr>
          <p:cNvPr id="11" name="Rectangle 4"/>
          <p:cNvSpPr txBox="1">
            <a:spLocks noChangeArrowheads="1"/>
          </p:cNvSpPr>
          <p:nvPr/>
        </p:nvSpPr>
        <p:spPr>
          <a:xfrm>
            <a:off x="1143000" y="2887280"/>
            <a:ext cx="5029200" cy="1983670"/>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public static void main(String[ ] </a:t>
            </a:r>
            <a:r>
              <a:rPr lang="en-US" sz="2000" dirty="0" err="1" smtClean="0">
                <a:latin typeface="Times New Roman" panose="02020603050405020304" pitchFamily="18" charset="0"/>
                <a:cs typeface="Times New Roman" panose="02020603050405020304" pitchFamily="18" charset="0"/>
              </a:rPr>
              <a:t>args</a:t>
            </a:r>
            <a:r>
              <a:rPr lang="en-US" sz="2000" dirty="0" smtClean="0">
                <a:latin typeface="Times New Roman" panose="02020603050405020304" pitchFamily="18" charset="0"/>
                <a:cs typeface="Times New Roman" panose="02020603050405020304" pitchFamily="18" charset="0"/>
              </a:rPr>
              <a:t>)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Dog </a:t>
            </a:r>
            <a:r>
              <a:rPr lang="en-US" sz="2000" dirty="0" err="1">
                <a:solidFill>
                  <a:srgbClr val="FF0000"/>
                </a:solidFill>
                <a:latin typeface="Times New Roman" panose="02020603050405020304" pitchFamily="18" charset="0"/>
                <a:cs typeface="Times New Roman" panose="02020603050405020304" pitchFamily="18" charset="0"/>
              </a:rPr>
              <a:t>fido</a:t>
            </a:r>
            <a:r>
              <a:rPr lang="en-US" sz="2000" dirty="0">
                <a:solidFill>
                  <a:srgbClr val="FF0000"/>
                </a:solidFill>
                <a:latin typeface="Times New Roman" panose="02020603050405020304" pitchFamily="18" charset="0"/>
                <a:cs typeface="Times New Roman" panose="02020603050405020304" pitchFamily="18" charset="0"/>
              </a:rPr>
              <a:t> = new Dog("Fido", 5</a:t>
            </a:r>
            <a:r>
              <a:rPr lang="en-US" sz="2000" dirty="0" smtClean="0">
                <a:solidFill>
                  <a:srgbClr val="FF0000"/>
                </a:solidFill>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 "/>
            </a:pPr>
            <a:r>
              <a:rPr lang="en-US" sz="2000" dirty="0" smtClean="0">
                <a:solidFill>
                  <a:srgbClr val="FF0000"/>
                </a:solidFill>
                <a:latin typeface="Times New Roman" panose="02020603050405020304" pitchFamily="18" charset="0"/>
                <a:cs typeface="Times New Roman" panose="02020603050405020304" pitchFamily="18" charset="0"/>
              </a:rPr>
              <a:t>   </a:t>
            </a:r>
            <a:r>
              <a:rPr lang="en-US" sz="2000" dirty="0" err="1" smtClean="0">
                <a:solidFill>
                  <a:srgbClr val="FF0000"/>
                </a:solidFill>
                <a:latin typeface="Times New Roman" panose="02020603050405020304" pitchFamily="18" charset="0"/>
                <a:cs typeface="Times New Roman" panose="02020603050405020304" pitchFamily="18" charset="0"/>
              </a:rPr>
              <a:t>fido.wakeTheNeighbors</a:t>
            </a:r>
            <a:r>
              <a:rPr lang="en-US" sz="2000" dirty="0">
                <a:solidFill>
                  <a:srgbClr val="FF0000"/>
                </a:solidFill>
                <a:latin typeface="Times New Roman" panose="02020603050405020304" pitchFamily="18" charset="0"/>
                <a:cs typeface="Times New Roman" panose="02020603050405020304" pitchFamily="18" charset="0"/>
              </a:rPr>
              <a:t>();</a:t>
            </a:r>
            <a:endParaRPr lang="en-US" sz="2000" dirty="0"/>
          </a:p>
          <a:p>
            <a:pPr>
              <a:lnSpc>
                <a:spcPct val="150000"/>
              </a:lnSpc>
              <a:buFont typeface="Wingdings" panose="05000000000000000000" pitchFamily="2" charset="2"/>
              <a:buChar char=" "/>
            </a:pPr>
            <a:r>
              <a:rPr lang="en-US" sz="2000" dirty="0" smtClean="0">
                <a:latin typeface="Times New Roman" panose="02020603050405020304" pitchFamily="18" charset="0"/>
                <a:cs typeface="Times New Roman" panose="02020603050405020304" pitchFamily="18" charset="0"/>
              </a:rPr>
              <a:t>}</a:t>
            </a:r>
          </a:p>
        </p:txBody>
      </p:sp>
      <p:cxnSp>
        <p:nvCxnSpPr>
          <p:cNvPr id="25" name="Curved Connector 24"/>
          <p:cNvCxnSpPr>
            <a:endCxn id="36" idx="2"/>
          </p:cNvCxnSpPr>
          <p:nvPr/>
        </p:nvCxnSpPr>
        <p:spPr>
          <a:xfrm rot="10800000" flipV="1">
            <a:off x="2133600" y="2971799"/>
            <a:ext cx="5943600" cy="701308"/>
          </a:xfrm>
          <a:prstGeom prst="curvedConnector3">
            <a:avLst>
              <a:gd name="adj1" fmla="val 117885"/>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2133600" y="3467099"/>
            <a:ext cx="533400" cy="412016"/>
          </a:xfrm>
          <a:prstGeom prst="ellipse">
            <a:avLst/>
          </a:prstGeom>
          <a:solidFill>
            <a:schemeClr val="lt1">
              <a:alpha val="0"/>
            </a:schemeClr>
          </a:solidFill>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extBox 1"/>
          <p:cNvSpPr txBox="1"/>
          <p:nvPr/>
        </p:nvSpPr>
        <p:spPr>
          <a:xfrm>
            <a:off x="5798138" y="2860045"/>
            <a:ext cx="1951175" cy="461665"/>
          </a:xfrm>
          <a:prstGeom prst="rect">
            <a:avLst/>
          </a:prstGeom>
          <a:noFill/>
        </p:spPr>
        <p:txBody>
          <a:bodyPr wrap="none" rtlCol="0">
            <a:spAutoFit/>
          </a:bodyPr>
          <a:lstStyle/>
          <a:p>
            <a:r>
              <a:rPr lang="en-US" sz="2400" dirty="0" smtClean="0">
                <a:solidFill>
                  <a:srgbClr val="00B050"/>
                </a:solidFill>
                <a:latin typeface="Times New Roman" panose="02020603050405020304" pitchFamily="18" charset="0"/>
                <a:cs typeface="Times New Roman" panose="02020603050405020304" pitchFamily="18" charset="0"/>
              </a:rPr>
              <a:t>Current object</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2" name="Text Box 1"/>
          <p:cNvSpPr txBox="1">
            <a:spLocks noChangeArrowheads="1"/>
          </p:cNvSpPr>
          <p:nvPr/>
        </p:nvSpPr>
        <p:spPr bwMode="auto">
          <a:xfrm>
            <a:off x="228600" y="187372"/>
            <a:ext cx="25908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smtClean="0"/>
              <a:t>this keyword</a:t>
            </a:r>
            <a:endParaRPr lang="en-US" dirty="0"/>
          </a:p>
        </p:txBody>
      </p:sp>
      <p:sp>
        <p:nvSpPr>
          <p:cNvPr id="13" name="Rectangle 2"/>
          <p:cNvSpPr>
            <a:spLocks noGrp="1" noChangeArrowheads="1"/>
          </p:cNvSpPr>
          <p:nvPr>
            <p:ph type="title"/>
          </p:nvPr>
        </p:nvSpPr>
        <p:spPr>
          <a:xfrm>
            <a:off x="2971800" y="226791"/>
            <a:ext cx="3200400" cy="4801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2800" dirty="0" smtClean="0">
                <a:solidFill>
                  <a:srgbClr val="FF0000"/>
                </a:solidFill>
                <a:latin typeface="Times New Roman" panose="02020603050405020304" pitchFamily="18" charset="0"/>
                <a:ea typeface="+mn-ea"/>
                <a:cs typeface="Times New Roman" panose="02020603050405020304" pitchFamily="18" charset="0"/>
              </a:rPr>
              <a:t>Solution</a:t>
            </a:r>
            <a:endParaRPr lang="en-US" sz="2800" dirty="0">
              <a:solidFill>
                <a:srgbClr val="FF0000"/>
              </a:solidFill>
              <a:latin typeface="Times New Roman" panose="02020603050405020304" pitchFamily="18" charset="0"/>
              <a:ea typeface="+mn-ea"/>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EC70573A-83D9-4231-B1AE-60FA5B40A08E}" type="slidenum">
              <a:rPr lang="en-US" altLang="en-US" smtClean="0">
                <a:solidFill>
                  <a:prstClr val="black">
                    <a:tint val="75000"/>
                  </a:prstClr>
                </a:solidFill>
              </a:rPr>
              <a:pPr>
                <a:defRPr/>
              </a:pPr>
              <a:t>31</a:t>
            </a:fld>
            <a:endParaRPr lang="en-US" altLang="en-US" dirty="0">
              <a:solidFill>
                <a:prstClr val="black">
                  <a:tint val="75000"/>
                </a:prstClr>
              </a:solidFill>
            </a:endParaRPr>
          </a:p>
        </p:txBody>
      </p:sp>
    </p:spTree>
    <p:extLst>
      <p:ext uri="{BB962C8B-B14F-4D97-AF65-F5344CB8AC3E}">
        <p14:creationId xmlns:p14="http://schemas.microsoft.com/office/powerpoint/2010/main" val="15290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arn(inVertic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par>
                                <p:cTn id="33" presetID="16" presetClass="entr" presetSubtype="21"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arn(inVertical)">
                                      <p:cBhvr>
                                        <p:cTn id="35" dur="500"/>
                                        <p:tgtEl>
                                          <p:spTgt spid="25"/>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barn(inVertical)">
                                      <p:cBhvr>
                                        <p:cTn id="3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36" grpId="0" animBg="1"/>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922" y="717418"/>
            <a:ext cx="11414078" cy="2308324"/>
          </a:xfrm>
          <a:prstGeom prst="rect">
            <a:avLst/>
          </a:prstGeom>
        </p:spPr>
        <p:txBody>
          <a:bodyPr wrap="square">
            <a:sp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Salary</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Help Mr</a:t>
            </a:r>
            <a:r>
              <a:rPr lang="en-US" sz="2400" dirty="0">
                <a:latin typeface="Times New Roman" panose="02020603050405020304" pitchFamily="18" charset="0"/>
                <a:cs typeface="Times New Roman" panose="02020603050405020304" pitchFamily="18" charset="0"/>
              </a:rPr>
              <a:t>. John </a:t>
            </a:r>
            <a:r>
              <a:rPr lang="en-US" sz="2400" dirty="0" smtClean="0">
                <a:latin typeface="Times New Roman" panose="02020603050405020304" pitchFamily="18" charset="0"/>
                <a:cs typeface="Times New Roman" panose="02020603050405020304" pitchFamily="18" charset="0"/>
              </a:rPr>
              <a:t>to store the records and retrieve all </a:t>
            </a:r>
            <a:r>
              <a:rPr lang="en-US" sz="2400" dirty="0">
                <a:latin typeface="Times New Roman" panose="02020603050405020304" pitchFamily="18" charset="0"/>
                <a:cs typeface="Times New Roman" panose="02020603050405020304" pitchFamily="18" charset="0"/>
              </a:rPr>
              <a:t>the records which he has </a:t>
            </a:r>
            <a:r>
              <a:rPr lang="en-US" sz="2400" dirty="0" smtClean="0">
                <a:latin typeface="Times New Roman" panose="02020603050405020304" pitchFamily="18" charset="0"/>
                <a:cs typeface="Times New Roman" panose="02020603050405020304" pitchFamily="18" charset="0"/>
              </a:rPr>
              <a:t>stored:</a:t>
            </a:r>
          </a:p>
          <a:p>
            <a:pPr algn="ctr">
              <a:lnSpc>
                <a:spcPct val="150000"/>
              </a:lnSpc>
            </a:pPr>
            <a:r>
              <a:rPr lang="en-US" sz="2400" b="1" dirty="0" smtClean="0">
                <a:solidFill>
                  <a:srgbClr val="FF0000"/>
                </a:solidFill>
                <a:latin typeface="Times New Roman" panose="02020603050405020304" pitchFamily="18" charset="0"/>
                <a:cs typeface="Times New Roman" panose="02020603050405020304" pitchFamily="18" charset="0"/>
              </a:rPr>
              <a:t>Modify the above program using “this keyword”</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32</a:t>
            </a:fld>
            <a:endParaRPr lang="en-US" altLang="en-US"/>
          </a:p>
        </p:txBody>
      </p:sp>
    </p:spTree>
    <p:extLst>
      <p:ext uri="{BB962C8B-B14F-4D97-AF65-F5344CB8AC3E}">
        <p14:creationId xmlns:p14="http://schemas.microsoft.com/office/powerpoint/2010/main" val="41022645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
          <p:cNvSpPr txBox="1">
            <a:spLocks noChangeArrowheads="1"/>
          </p:cNvSpPr>
          <p:nvPr/>
        </p:nvSpPr>
        <p:spPr bwMode="auto">
          <a:xfrm>
            <a:off x="228600" y="187372"/>
            <a:ext cx="35052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smtClean="0"/>
              <a:t>static </a:t>
            </a:r>
            <a:r>
              <a:rPr lang="en-US" dirty="0"/>
              <a:t>keyword</a:t>
            </a:r>
          </a:p>
        </p:txBody>
      </p:sp>
      <p:sp>
        <p:nvSpPr>
          <p:cNvPr id="5" name="Content Placeholder 2"/>
          <p:cNvSpPr>
            <a:spLocks noGrp="1"/>
          </p:cNvSpPr>
          <p:nvPr>
            <p:ph idx="1"/>
          </p:nvPr>
        </p:nvSpPr>
        <p:spPr>
          <a:xfrm>
            <a:off x="228600" y="838200"/>
            <a:ext cx="11658600" cy="4267200"/>
          </a:xfrm>
        </p:spPr>
        <p:txBody>
          <a:bodyPr>
            <a:noAutofit/>
          </a:bodyPr>
          <a:lstStyle/>
          <a:p>
            <a:pPr algn="just">
              <a:lnSpc>
                <a:spcPct val="100000"/>
              </a:lnSpc>
              <a:spcBef>
                <a:spcPts val="1200"/>
              </a:spcBef>
              <a:defRPr/>
            </a:pPr>
            <a:r>
              <a:rPr lang="en-US" sz="2200" dirty="0" smtClean="0">
                <a:latin typeface="Times New Roman" panose="02020603050405020304" pitchFamily="18" charset="0"/>
                <a:cs typeface="Times New Roman" panose="02020603050405020304" pitchFamily="18" charset="0"/>
              </a:rPr>
              <a:t>The static keyword in Java is used for memory management mainly. </a:t>
            </a:r>
          </a:p>
          <a:p>
            <a:pPr algn="just">
              <a:lnSpc>
                <a:spcPct val="100000"/>
              </a:lnSpc>
              <a:spcBef>
                <a:spcPts val="1200"/>
              </a:spcBef>
              <a:defRPr/>
            </a:pPr>
            <a:r>
              <a:rPr lang="en-US" sz="2200" dirty="0" smtClean="0">
                <a:latin typeface="Times New Roman" panose="02020603050405020304" pitchFamily="18" charset="0"/>
                <a:cs typeface="Times New Roman" panose="02020603050405020304" pitchFamily="18" charset="0"/>
              </a:rPr>
              <a:t>We can apply static keyword with variables, methods, blocks and nested classes. </a:t>
            </a:r>
          </a:p>
          <a:p>
            <a:pPr algn="just">
              <a:lnSpc>
                <a:spcPct val="100000"/>
              </a:lnSpc>
              <a:spcBef>
                <a:spcPts val="1200"/>
              </a:spcBef>
              <a:defRPr/>
            </a:pPr>
            <a:r>
              <a:rPr lang="en-US" sz="2200" dirty="0" smtClean="0">
                <a:latin typeface="Times New Roman" panose="02020603050405020304" pitchFamily="18" charset="0"/>
                <a:cs typeface="Times New Roman" panose="02020603050405020304" pitchFamily="18" charset="0"/>
              </a:rPr>
              <a:t>The static keyword belongs to the class than an instance of the class.</a:t>
            </a:r>
          </a:p>
          <a:p>
            <a:pPr marL="0" indent="0" algn="just">
              <a:lnSpc>
                <a:spcPct val="100000"/>
              </a:lnSpc>
              <a:spcBef>
                <a:spcPts val="1200"/>
              </a:spcBef>
              <a:buNone/>
              <a:defRPr/>
            </a:pPr>
            <a:r>
              <a:rPr lang="en-US" sz="2200" dirty="0" smtClean="0">
                <a:latin typeface="Times New Roman" panose="02020603050405020304" pitchFamily="18" charset="0"/>
                <a:cs typeface="Times New Roman" panose="02020603050405020304" pitchFamily="18" charset="0"/>
              </a:rPr>
              <a:t>The static can be:</a:t>
            </a:r>
          </a:p>
          <a:p>
            <a:pPr algn="just">
              <a:lnSpc>
                <a:spcPct val="100000"/>
              </a:lnSpc>
              <a:spcBef>
                <a:spcPts val="1200"/>
              </a:spcBef>
              <a:buFont typeface="Wingdings" panose="05000000000000000000" pitchFamily="2" charset="2"/>
              <a:buChar char="q"/>
              <a:defRPr/>
            </a:pPr>
            <a:r>
              <a:rPr lang="en-US" sz="2200" b="1" dirty="0" smtClean="0">
                <a:solidFill>
                  <a:srgbClr val="FF0000"/>
                </a:solidFill>
                <a:latin typeface="Times New Roman" panose="02020603050405020304" pitchFamily="18" charset="0"/>
                <a:cs typeface="Times New Roman" panose="02020603050405020304" pitchFamily="18" charset="0"/>
              </a:rPr>
              <a:t>Variable (also known as a class variable)</a:t>
            </a:r>
          </a:p>
          <a:p>
            <a:pPr algn="just">
              <a:lnSpc>
                <a:spcPct val="100000"/>
              </a:lnSpc>
              <a:spcBef>
                <a:spcPts val="1200"/>
              </a:spcBef>
              <a:defRPr/>
            </a:pPr>
            <a:r>
              <a:rPr lang="en-US" sz="2200" dirty="0" smtClean="0">
                <a:latin typeface="Times New Roman" panose="02020603050405020304" pitchFamily="18" charset="0"/>
                <a:cs typeface="Times New Roman" panose="02020603050405020304" pitchFamily="18" charset="0"/>
              </a:rPr>
              <a:t>If </a:t>
            </a:r>
            <a:r>
              <a:rPr lang="en-US" sz="2200" dirty="0">
                <a:latin typeface="Times New Roman" panose="02020603050405020304" pitchFamily="18" charset="0"/>
                <a:cs typeface="Times New Roman" panose="02020603050405020304" pitchFamily="18" charset="0"/>
              </a:rPr>
              <a:t>you declare any variable as static, it is known as a static variable.</a:t>
            </a:r>
          </a:p>
          <a:p>
            <a:pPr algn="just">
              <a:lnSpc>
                <a:spcPct val="100000"/>
              </a:lnSpc>
              <a:spcBef>
                <a:spcPts val="1200"/>
              </a:spcBef>
              <a:defRPr/>
            </a:pPr>
            <a:r>
              <a:rPr lang="en-US" sz="2200" dirty="0">
                <a:latin typeface="Times New Roman" panose="02020603050405020304" pitchFamily="18" charset="0"/>
                <a:cs typeface="Times New Roman" panose="02020603050405020304" pitchFamily="18" charset="0"/>
              </a:rPr>
              <a:t>The static variable can be used to refer to the common property of all objects (which is not unique for each object), for example, the company name of employees, college name of students, etc.</a:t>
            </a:r>
          </a:p>
          <a:p>
            <a:pPr algn="just">
              <a:lnSpc>
                <a:spcPct val="100000"/>
              </a:lnSpc>
              <a:spcBef>
                <a:spcPts val="1200"/>
              </a:spcBef>
              <a:defRPr/>
            </a:pPr>
            <a:r>
              <a:rPr lang="en-US" sz="2200" dirty="0">
                <a:latin typeface="Times New Roman" panose="02020603050405020304" pitchFamily="18" charset="0"/>
                <a:cs typeface="Times New Roman" panose="02020603050405020304" pitchFamily="18" charset="0"/>
              </a:rPr>
              <a:t>The static variable gets memory only once in the class area at the time of class loading</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a:defRPr/>
            </a:pPr>
            <a:fld id="{EC70573A-83D9-4231-B1AE-60FA5B40A08E}" type="slidenum">
              <a:rPr lang="en-US" altLang="en-US" smtClean="0">
                <a:solidFill>
                  <a:prstClr val="black">
                    <a:tint val="75000"/>
                  </a:prstClr>
                </a:solidFill>
              </a:rPr>
              <a:pPr>
                <a:defRPr/>
              </a:pPr>
              <a:t>33</a:t>
            </a:fld>
            <a:endParaRPr lang="en-US" altLang="en-US" dirty="0">
              <a:solidFill>
                <a:prstClr val="black">
                  <a:tint val="75000"/>
                </a:prstClr>
              </a:solidFill>
            </a:endParaRPr>
          </a:p>
        </p:txBody>
      </p:sp>
    </p:spTree>
    <p:extLst>
      <p:ext uri="{BB962C8B-B14F-4D97-AF65-F5344CB8AC3E}">
        <p14:creationId xmlns:p14="http://schemas.microsoft.com/office/powerpoint/2010/main" val="47041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Vertic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inVertical)">
                                      <p:cBhvr>
                                        <p:cTn id="22" dur="500"/>
                                        <p:tgtEl>
                                          <p:spTgt spid="5">
                                            <p:txEl>
                                              <p:pRg st="3" end="3"/>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barn(inVertical)">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barn(inVertical)">
                                      <p:cBhvr>
                                        <p:cTn id="30" dur="500"/>
                                        <p:tgtEl>
                                          <p:spTgt spid="5">
                                            <p:txEl>
                                              <p:pRg st="5" end="5"/>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barn(inVertical)">
                                      <p:cBhvr>
                                        <p:cTn id="33" dur="500"/>
                                        <p:tgtEl>
                                          <p:spTgt spid="5">
                                            <p:txEl>
                                              <p:pRg st="6" end="6"/>
                                            </p:txEl>
                                          </p:spTgt>
                                        </p:tgtEl>
                                      </p:cBhvr>
                                    </p:animEffect>
                                  </p:childTnLst>
                                </p:cTn>
                              </p:par>
                              <p:par>
                                <p:cTn id="34" presetID="16" presetClass="entr" presetSubtype="21" fill="hold" nodeType="with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barn(inVertical)">
                                      <p:cBhvr>
                                        <p:cTn id="3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4994" y="720772"/>
            <a:ext cx="11582400" cy="4508927"/>
          </a:xfrm>
          <a:prstGeom prst="rect">
            <a:avLst/>
          </a:prstGeom>
        </p:spPr>
        <p:txBody>
          <a:bodyPr wrap="square">
            <a:spAutoFit/>
          </a:bodyPr>
          <a:lstStyle/>
          <a:p>
            <a:pPr marL="0" indent="0" algn="just">
              <a:spcBef>
                <a:spcPts val="600"/>
              </a:spcBef>
              <a:buNone/>
              <a:defRPr/>
            </a:pPr>
            <a:r>
              <a:rPr lang="en-US" sz="2200" dirty="0">
                <a:latin typeface="Times New Roman" panose="02020603050405020304" pitchFamily="18" charset="0"/>
                <a:cs typeface="Times New Roman" panose="02020603050405020304" pitchFamily="18" charset="0"/>
              </a:rPr>
              <a:t>The static can be</a:t>
            </a:r>
            <a:r>
              <a:rPr lang="en-US" sz="2200" dirty="0" smtClean="0">
                <a:latin typeface="Times New Roman" panose="02020603050405020304" pitchFamily="18" charset="0"/>
                <a:cs typeface="Times New Roman" panose="02020603050405020304" pitchFamily="18" charset="0"/>
              </a:rPr>
              <a:t>:</a:t>
            </a:r>
          </a:p>
          <a:p>
            <a:pPr marL="342900" indent="-342900" algn="just">
              <a:spcBef>
                <a:spcPts val="600"/>
              </a:spcBef>
              <a:buFont typeface="Wingdings" panose="05000000000000000000" pitchFamily="2" charset="2"/>
              <a:buChar char="q"/>
              <a:defRPr/>
            </a:pPr>
            <a:r>
              <a:rPr lang="en-US" sz="2200" b="1" dirty="0">
                <a:solidFill>
                  <a:srgbClr val="FF0000"/>
                </a:solidFill>
                <a:latin typeface="Times New Roman" panose="02020603050405020304" pitchFamily="18" charset="0"/>
                <a:cs typeface="Times New Roman" panose="02020603050405020304" pitchFamily="18" charset="0"/>
              </a:rPr>
              <a:t>B</a:t>
            </a:r>
            <a:r>
              <a:rPr lang="en-US" sz="2200" b="1" dirty="0" smtClean="0">
                <a:solidFill>
                  <a:srgbClr val="FF0000"/>
                </a:solidFill>
                <a:latin typeface="Times New Roman" panose="02020603050405020304" pitchFamily="18" charset="0"/>
                <a:cs typeface="Times New Roman" panose="02020603050405020304" pitchFamily="18" charset="0"/>
              </a:rPr>
              <a:t>lock(also </a:t>
            </a:r>
            <a:r>
              <a:rPr lang="en-US" sz="2200" b="1" dirty="0">
                <a:solidFill>
                  <a:srgbClr val="FF0000"/>
                </a:solidFill>
                <a:latin typeface="Times New Roman" panose="02020603050405020304" pitchFamily="18" charset="0"/>
                <a:cs typeface="Times New Roman" panose="02020603050405020304" pitchFamily="18" charset="0"/>
              </a:rPr>
              <a:t>known as a class method</a:t>
            </a:r>
            <a:r>
              <a:rPr lang="en-US" sz="2200" b="1" dirty="0" smtClean="0">
                <a:solidFill>
                  <a:srgbClr val="FF0000"/>
                </a:solidFill>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a:p>
            <a:pPr marL="342900" indent="-342900" algn="just">
              <a:spcBef>
                <a:spcPts val="600"/>
              </a:spcBef>
              <a:buFont typeface="Arial" panose="020B0604020202020204" pitchFamily="34" charset="0"/>
              <a:buChar char="•"/>
              <a:defRPr/>
            </a:pPr>
            <a:r>
              <a:rPr lang="en-US" sz="2200" dirty="0" smtClean="0">
                <a:latin typeface="Times New Roman" panose="02020603050405020304" pitchFamily="18" charset="0"/>
                <a:cs typeface="Times New Roman" panose="02020603050405020304" pitchFamily="18" charset="0"/>
              </a:rPr>
              <a:t>A static </a:t>
            </a:r>
            <a:r>
              <a:rPr lang="en-US" sz="2200" dirty="0">
                <a:latin typeface="Times New Roman" panose="02020603050405020304" pitchFamily="18" charset="0"/>
                <a:cs typeface="Times New Roman" panose="02020603050405020304" pitchFamily="18" charset="0"/>
              </a:rPr>
              <a:t>block (also called static clause) that can be used for static initializations of a class</a:t>
            </a:r>
          </a:p>
          <a:p>
            <a:pPr marL="342900" indent="-342900" algn="just">
              <a:spcBef>
                <a:spcPts val="600"/>
              </a:spcBef>
              <a:buFont typeface="Arial" panose="020B0604020202020204" pitchFamily="34" charset="0"/>
              <a:buChar char="•"/>
              <a:defRPr/>
            </a:pPr>
            <a:r>
              <a:rPr lang="en-US" sz="2200" dirty="0" smtClean="0">
                <a:latin typeface="Times New Roman" panose="02020603050405020304" pitchFamily="18" charset="0"/>
                <a:cs typeface="Times New Roman" panose="02020603050405020304" pitchFamily="18" charset="0"/>
              </a:rPr>
              <a:t>static </a:t>
            </a:r>
            <a:r>
              <a:rPr lang="en-US" sz="2200" dirty="0">
                <a:latin typeface="Times New Roman" panose="02020603050405020304" pitchFamily="18" charset="0"/>
                <a:cs typeface="Times New Roman" panose="02020603050405020304" pitchFamily="18" charset="0"/>
              </a:rPr>
              <a:t>block and static variables are executed in order they are present in a </a:t>
            </a:r>
            <a:r>
              <a:rPr lang="en-US" sz="2200" dirty="0" smtClean="0">
                <a:latin typeface="Times New Roman" panose="02020603050405020304" pitchFamily="18" charset="0"/>
                <a:cs typeface="Times New Roman" panose="02020603050405020304" pitchFamily="18" charset="0"/>
              </a:rPr>
              <a:t>program</a:t>
            </a:r>
          </a:p>
          <a:p>
            <a:pPr marL="342900" indent="-342900" algn="just">
              <a:spcBef>
                <a:spcPts val="600"/>
              </a:spcBef>
              <a:buFont typeface="Arial" panose="020B0604020202020204" pitchFamily="34" charset="0"/>
              <a:buChar char="•"/>
              <a:defRPr/>
            </a:pPr>
            <a:r>
              <a:rPr lang="en-US" sz="2200" dirty="0">
                <a:latin typeface="Times New Roman" panose="02020603050405020304" pitchFamily="18" charset="0"/>
                <a:cs typeface="Times New Roman" panose="02020603050405020304" pitchFamily="18" charset="0"/>
              </a:rPr>
              <a:t>static blocks are automatically called as soon as class is loaded in memory and there is nothing to do as we have to in case of calling methods and constructors inside main</a:t>
            </a:r>
            <a:r>
              <a:rPr lang="en-US" sz="2200" dirty="0" smtClean="0">
                <a:latin typeface="Times New Roman" panose="02020603050405020304" pitchFamily="18" charset="0"/>
                <a:cs typeface="Times New Roman" panose="02020603050405020304" pitchFamily="18" charset="0"/>
              </a:rPr>
              <a:t>()</a:t>
            </a:r>
          </a:p>
          <a:p>
            <a:pPr marL="342900" indent="-342900" algn="just">
              <a:spcBef>
                <a:spcPts val="600"/>
              </a:spcBef>
              <a:buFont typeface="Wingdings" panose="05000000000000000000" pitchFamily="2" charset="2"/>
              <a:buChar char="q"/>
              <a:defRPr/>
            </a:pPr>
            <a:r>
              <a:rPr lang="en-US" sz="2200" b="1" dirty="0" smtClean="0">
                <a:solidFill>
                  <a:srgbClr val="FF0000"/>
                </a:solidFill>
                <a:latin typeface="Times New Roman" panose="02020603050405020304" pitchFamily="18" charset="0"/>
                <a:cs typeface="Times New Roman" panose="02020603050405020304" pitchFamily="18" charset="0"/>
              </a:rPr>
              <a:t>Method </a:t>
            </a:r>
            <a:r>
              <a:rPr lang="en-US" sz="2200" b="1" dirty="0">
                <a:solidFill>
                  <a:srgbClr val="FF0000"/>
                </a:solidFill>
                <a:latin typeface="Times New Roman" panose="02020603050405020304" pitchFamily="18" charset="0"/>
                <a:cs typeface="Times New Roman" panose="02020603050405020304" pitchFamily="18" charset="0"/>
              </a:rPr>
              <a:t>(also known as a class method)</a:t>
            </a:r>
          </a:p>
          <a:p>
            <a:pPr marL="342900" indent="-342900">
              <a:spcBef>
                <a:spcPts val="600"/>
              </a:spcBef>
              <a:buFont typeface="Arial" panose="020B0604020202020204" pitchFamily="34" charset="0"/>
              <a:buChar char="•"/>
              <a:defRPr/>
            </a:pPr>
            <a:r>
              <a:rPr lang="en-US" sz="2200" dirty="0">
                <a:latin typeface="Times New Roman" panose="02020603050405020304" pitchFamily="18" charset="0"/>
                <a:cs typeface="Times New Roman" panose="02020603050405020304" pitchFamily="18" charset="0"/>
              </a:rPr>
              <a:t>If you apply static keyword with any method, it is known as static method.</a:t>
            </a:r>
          </a:p>
          <a:p>
            <a:pPr marL="342900" indent="-342900">
              <a:spcBef>
                <a:spcPts val="600"/>
              </a:spcBef>
              <a:buFont typeface="Arial" panose="020B0604020202020204" pitchFamily="34" charset="0"/>
              <a:buChar char="•"/>
              <a:defRPr/>
            </a:pPr>
            <a:r>
              <a:rPr lang="en-US" sz="2200" dirty="0" smtClean="0">
                <a:latin typeface="Times New Roman" panose="02020603050405020304" pitchFamily="18" charset="0"/>
                <a:cs typeface="Times New Roman" panose="02020603050405020304" pitchFamily="18" charset="0"/>
              </a:rPr>
              <a:t>A </a:t>
            </a:r>
            <a:r>
              <a:rPr lang="en-US" sz="2200" dirty="0">
                <a:latin typeface="Times New Roman" panose="02020603050405020304" pitchFamily="18" charset="0"/>
                <a:cs typeface="Times New Roman" panose="02020603050405020304" pitchFamily="18" charset="0"/>
              </a:rPr>
              <a:t>static method belongs to the class rather than the object of a class.</a:t>
            </a:r>
          </a:p>
          <a:p>
            <a:pPr marL="342900" indent="-342900">
              <a:spcBef>
                <a:spcPts val="600"/>
              </a:spcBef>
              <a:buFont typeface="Arial" panose="020B0604020202020204" pitchFamily="34" charset="0"/>
              <a:buChar char="•"/>
              <a:defRPr/>
            </a:pPr>
            <a:r>
              <a:rPr lang="en-US" sz="2200" dirty="0" smtClean="0">
                <a:latin typeface="Times New Roman" panose="02020603050405020304" pitchFamily="18" charset="0"/>
                <a:cs typeface="Times New Roman" panose="02020603050405020304" pitchFamily="18" charset="0"/>
              </a:rPr>
              <a:t>A </a:t>
            </a:r>
            <a:r>
              <a:rPr lang="en-US" sz="2200" dirty="0">
                <a:latin typeface="Times New Roman" panose="02020603050405020304" pitchFamily="18" charset="0"/>
                <a:cs typeface="Times New Roman" panose="02020603050405020304" pitchFamily="18" charset="0"/>
              </a:rPr>
              <a:t>static method can be invoked without the need for creating an instance of a class.</a:t>
            </a:r>
          </a:p>
          <a:p>
            <a:pPr marL="342900" indent="-342900">
              <a:spcBef>
                <a:spcPts val="600"/>
              </a:spcBef>
              <a:buFont typeface="Arial" panose="020B0604020202020204" pitchFamily="34" charset="0"/>
              <a:buChar char="•"/>
              <a:defRPr/>
            </a:pPr>
            <a:r>
              <a:rPr lang="en-US" sz="2200" dirty="0" smtClean="0">
                <a:latin typeface="Times New Roman" panose="02020603050405020304" pitchFamily="18" charset="0"/>
                <a:cs typeface="Times New Roman" panose="02020603050405020304" pitchFamily="18" charset="0"/>
              </a:rPr>
              <a:t>A </a:t>
            </a:r>
            <a:r>
              <a:rPr lang="en-US" sz="2200" dirty="0">
                <a:latin typeface="Times New Roman" panose="02020603050405020304" pitchFamily="18" charset="0"/>
                <a:cs typeface="Times New Roman" panose="02020603050405020304" pitchFamily="18" charset="0"/>
              </a:rPr>
              <a:t>static method can access static data member and can change the value of it</a:t>
            </a:r>
            <a:r>
              <a:rPr lang="en-US" sz="2200" dirty="0" smtClean="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
        <p:nvSpPr>
          <p:cNvPr id="5" name="Text Box 1"/>
          <p:cNvSpPr txBox="1">
            <a:spLocks noChangeArrowheads="1"/>
          </p:cNvSpPr>
          <p:nvPr/>
        </p:nvSpPr>
        <p:spPr bwMode="auto">
          <a:xfrm>
            <a:off x="228600" y="187372"/>
            <a:ext cx="3505200" cy="533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US" dirty="0"/>
              <a:t>Java static keyword</a:t>
            </a:r>
          </a:p>
        </p:txBody>
      </p:sp>
      <p:sp>
        <p:nvSpPr>
          <p:cNvPr id="3" name="Slide Number Placeholder 2"/>
          <p:cNvSpPr>
            <a:spLocks noGrp="1"/>
          </p:cNvSpPr>
          <p:nvPr>
            <p:ph type="sldNum" sz="quarter" idx="12"/>
          </p:nvPr>
        </p:nvSpPr>
        <p:spPr/>
        <p:txBody>
          <a:bodyPr/>
          <a:lstStyle/>
          <a:p>
            <a:pPr>
              <a:defRPr/>
            </a:pPr>
            <a:fld id="{EC70573A-83D9-4231-B1AE-60FA5B40A08E}" type="slidenum">
              <a:rPr lang="en-US" altLang="en-US" smtClean="0">
                <a:solidFill>
                  <a:prstClr val="black">
                    <a:tint val="75000"/>
                  </a:prstClr>
                </a:solidFill>
              </a:rPr>
              <a:pPr>
                <a:defRPr/>
              </a:pPr>
              <a:t>34</a:t>
            </a:fld>
            <a:endParaRPr lang="en-US" altLang="en-US" dirty="0">
              <a:solidFill>
                <a:prstClr val="black">
                  <a:tint val="75000"/>
                </a:prstClr>
              </a:solidFill>
            </a:endParaRPr>
          </a:p>
        </p:txBody>
      </p:sp>
    </p:spTree>
    <p:extLst>
      <p:ext uri="{BB962C8B-B14F-4D97-AF65-F5344CB8AC3E}">
        <p14:creationId xmlns:p14="http://schemas.microsoft.com/office/powerpoint/2010/main" val="326891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Vertical)">
                                      <p:cBhvr>
                                        <p:cTn id="16" dur="500"/>
                                        <p:tgtEl>
                                          <p:spTgt spid="4">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arn(inVertical)">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Vertical)">
                                      <p:cBhvr>
                                        <p:cTn id="24" dur="500"/>
                                        <p:tgtEl>
                                          <p:spTgt spid="4">
                                            <p:txEl>
                                              <p:pRg st="5" end="5"/>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Vertical)">
                                      <p:cBhvr>
                                        <p:cTn id="27" dur="500"/>
                                        <p:tgtEl>
                                          <p:spTgt spid="4">
                                            <p:txEl>
                                              <p:pRg st="6" end="6"/>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barn(inVertical)">
                                      <p:cBhvr>
                                        <p:cTn id="30" dur="500"/>
                                        <p:tgtEl>
                                          <p:spTgt spid="4">
                                            <p:txEl>
                                              <p:pRg st="7" end="7"/>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barn(inVertical)">
                                      <p:cBhvr>
                                        <p:cTn id="33" dur="500"/>
                                        <p:tgtEl>
                                          <p:spTgt spid="4">
                                            <p:txEl>
                                              <p:pRg st="8" end="8"/>
                                            </p:txEl>
                                          </p:spTgt>
                                        </p:tgtEl>
                                      </p:cBhvr>
                                    </p:animEffect>
                                  </p:childTnLst>
                                </p:cTn>
                              </p:par>
                              <p:par>
                                <p:cTn id="34" presetID="16" presetClass="entr" presetSubtype="21" fill="hold" nodeType="withEffect">
                                  <p:stCondLst>
                                    <p:cond delay="0"/>
                                  </p:stCondLst>
                                  <p:childTnLst>
                                    <p:set>
                                      <p:cBhvr>
                                        <p:cTn id="35" dur="1" fill="hold">
                                          <p:stCondLst>
                                            <p:cond delay="0"/>
                                          </p:stCondLst>
                                        </p:cTn>
                                        <p:tgtEl>
                                          <p:spTgt spid="4">
                                            <p:txEl>
                                              <p:pRg st="9" end="9"/>
                                            </p:txEl>
                                          </p:spTgt>
                                        </p:tgtEl>
                                        <p:attrNameLst>
                                          <p:attrName>style.visibility</p:attrName>
                                        </p:attrNameLst>
                                      </p:cBhvr>
                                      <p:to>
                                        <p:strVal val="visible"/>
                                      </p:to>
                                    </p:set>
                                    <p:animEffect transition="in" filter="barn(inVertical)">
                                      <p:cBhvr>
                                        <p:cTn id="36"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9" y="838200"/>
            <a:ext cx="11430001" cy="2308324"/>
          </a:xfrm>
          <a:prstGeom prst="rect">
            <a:avLst/>
          </a:prstGeom>
        </p:spPr>
        <p:txBody>
          <a:bodyPr wrap="square">
            <a:sp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Q1. Mr</a:t>
            </a:r>
            <a:r>
              <a:rPr lang="en-US" sz="2400" dirty="0">
                <a:latin typeface="Times New Roman" panose="02020603050405020304" pitchFamily="18" charset="0"/>
                <a:cs typeface="Times New Roman" panose="02020603050405020304" pitchFamily="18" charset="0"/>
              </a:rPr>
              <a:t>. John has joined </a:t>
            </a:r>
            <a:r>
              <a:rPr lang="en-US" sz="2400" dirty="0" smtClean="0">
                <a:latin typeface="Times New Roman" panose="02020603050405020304" pitchFamily="18" charset="0"/>
                <a:cs typeface="Times New Roman" panose="02020603050405020304" pitchFamily="18" charset="0"/>
              </a:rPr>
              <a:t>a Company </a:t>
            </a:r>
            <a:r>
              <a:rPr lang="en-US" sz="2400" dirty="0">
                <a:latin typeface="Times New Roman" panose="02020603050405020304" pitchFamily="18" charset="0"/>
                <a:cs typeface="Times New Roman" panose="02020603050405020304" pitchFamily="18" charset="0"/>
              </a:rPr>
              <a:t>as Database Administrator and his major role is to maintain </a:t>
            </a:r>
            <a:r>
              <a:rPr lang="en-US" sz="2400" dirty="0" smtClean="0">
                <a:latin typeface="Times New Roman" panose="02020603050405020304" pitchFamily="18" charset="0"/>
                <a:cs typeface="Times New Roman" panose="02020603050405020304" pitchFamily="18" charset="0"/>
              </a:rPr>
              <a:t>the Employee </a:t>
            </a:r>
            <a:r>
              <a:rPr lang="en-US" sz="2400" dirty="0">
                <a:latin typeface="Times New Roman" panose="02020603050405020304" pitchFamily="18" charset="0"/>
                <a:cs typeface="Times New Roman" panose="02020603050405020304" pitchFamily="18" charset="0"/>
              </a:rPr>
              <a:t>database which includes </a:t>
            </a:r>
            <a:r>
              <a:rPr lang="en-US" sz="2400" dirty="0">
                <a:solidFill>
                  <a:srgbClr val="FF0000"/>
                </a:solidFill>
                <a:latin typeface="Times New Roman" panose="02020603050405020304" pitchFamily="18" charset="0"/>
                <a:cs typeface="Times New Roman" panose="02020603050405020304" pitchFamily="18" charset="0"/>
              </a:rPr>
              <a:t>Employee Id, Name, Age and Salary</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lnSpc>
                <a:spcPct val="150000"/>
              </a:lnSpc>
            </a:pPr>
            <a:r>
              <a:rPr lang="en-US" sz="2400" dirty="0" smtClean="0">
                <a:latin typeface="Times New Roman" panose="02020603050405020304" pitchFamily="18" charset="0"/>
                <a:cs typeface="Times New Roman" panose="02020603050405020304" pitchFamily="18" charset="0"/>
              </a:rPr>
              <a:t>Help Mr</a:t>
            </a:r>
            <a:r>
              <a:rPr lang="en-US" sz="2400" dirty="0">
                <a:latin typeface="Times New Roman" panose="02020603050405020304" pitchFamily="18" charset="0"/>
                <a:cs typeface="Times New Roman" panose="02020603050405020304" pitchFamily="18" charset="0"/>
              </a:rPr>
              <a:t>. John </a:t>
            </a:r>
            <a:r>
              <a:rPr lang="en-US" sz="2400" dirty="0" smtClean="0">
                <a:latin typeface="Times New Roman" panose="02020603050405020304" pitchFamily="18" charset="0"/>
                <a:cs typeface="Times New Roman" panose="02020603050405020304" pitchFamily="18" charset="0"/>
              </a:rPr>
              <a:t>to display the “</a:t>
            </a:r>
            <a:r>
              <a:rPr lang="en-US" sz="2400" b="1" dirty="0" smtClean="0">
                <a:solidFill>
                  <a:srgbClr val="FF0000"/>
                </a:solidFill>
                <a:latin typeface="Times New Roman" panose="02020603050405020304" pitchFamily="18" charset="0"/>
                <a:cs typeface="Times New Roman" panose="02020603050405020304" pitchFamily="18" charset="0"/>
              </a:rPr>
              <a:t>total salary expenditure</a:t>
            </a:r>
            <a:r>
              <a:rPr lang="en-US" sz="2400" dirty="0" smtClean="0">
                <a:latin typeface="Times New Roman" panose="02020603050405020304" pitchFamily="18" charset="0"/>
                <a:cs typeface="Times New Roman" panose="02020603050405020304" pitchFamily="18" charset="0"/>
              </a:rPr>
              <a:t>” required for all the employees of the company in a month.</a:t>
            </a:r>
            <a:endParaRPr lang="en-US" sz="2400" dirty="0">
              <a:latin typeface="Times New Roman" panose="02020603050405020304" pitchFamily="18" charset="0"/>
              <a:cs typeface="Times New Roman" panose="02020603050405020304" pitchFamily="18" charset="0"/>
            </a:endParaRPr>
          </a:p>
        </p:txBody>
      </p:sp>
      <p:sp>
        <p:nvSpPr>
          <p:cNvPr id="7" name="Text Box 1"/>
          <p:cNvSpPr txBox="1">
            <a:spLocks noChangeArrowheads="1"/>
          </p:cNvSpPr>
          <p:nvPr/>
        </p:nvSpPr>
        <p:spPr bwMode="auto">
          <a:xfrm>
            <a:off x="304799" y="228600"/>
            <a:ext cx="16002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r>
              <a:rPr lang="en-IN" dirty="0" smtClean="0"/>
              <a:t>Activity</a:t>
            </a:r>
            <a:endParaRPr lang="en-US" dirty="0"/>
          </a:p>
        </p:txBody>
      </p:sp>
      <p:sp>
        <p:nvSpPr>
          <p:cNvPr id="9" name="Slide Number Placeholder 8"/>
          <p:cNvSpPr>
            <a:spLocks noGrp="1"/>
          </p:cNvSpPr>
          <p:nvPr>
            <p:ph type="sldNum" sz="quarter" idx="12"/>
          </p:nvPr>
        </p:nvSpPr>
        <p:spPr/>
        <p:txBody>
          <a:bodyPr/>
          <a:lstStyle/>
          <a:p>
            <a:pPr>
              <a:defRPr/>
            </a:pPr>
            <a:fld id="{772A8AC2-F0C4-4335-A6D7-C22D8A222454}" type="slidenum">
              <a:rPr lang="en-US" altLang="en-US" smtClean="0"/>
              <a:pPr>
                <a:defRPr/>
              </a:pPr>
              <a:t>35</a:t>
            </a:fld>
            <a:endParaRPr lang="en-US" altLang="en-US"/>
          </a:p>
        </p:txBody>
      </p:sp>
    </p:spTree>
    <p:extLst>
      <p:ext uri="{BB962C8B-B14F-4D97-AF65-F5344CB8AC3E}">
        <p14:creationId xmlns:p14="http://schemas.microsoft.com/office/powerpoint/2010/main" val="3677052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19100" y="838200"/>
            <a:ext cx="9867900" cy="2209800"/>
          </a:xfrm>
        </p:spPr>
        <p:txBody>
          <a:bodyPr rtlCol="0">
            <a:noAutofit/>
          </a:bodyPr>
          <a:lstStyle/>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Nested class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Static Nested Class</a:t>
            </a:r>
          </a:p>
          <a:p>
            <a:pPr fontAlgn="auto">
              <a:lnSpc>
                <a:spcPct val="100000"/>
              </a:lnSpc>
              <a:spcBef>
                <a:spcPts val="1200"/>
              </a:spcBef>
              <a:spcAft>
                <a:spcPts val="0"/>
              </a:spcAft>
              <a:defRPr/>
            </a:pPr>
            <a:r>
              <a:rPr lang="en-US" sz="2400" dirty="0" smtClean="0">
                <a:latin typeface="Times New Roman" panose="02020603050405020304" pitchFamily="18" charset="0"/>
                <a:cs typeface="Times New Roman" panose="02020603050405020304" pitchFamily="18" charset="0"/>
              </a:rPr>
              <a:t>Non Static Nested Class/Inner class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36</a:t>
            </a:fld>
            <a:endParaRPr lang="en-US" altLang="en-US"/>
          </a:p>
        </p:txBody>
      </p:sp>
      <p:sp>
        <p:nvSpPr>
          <p:cNvPr id="7" name="Title 1"/>
          <p:cNvSpPr>
            <a:spLocks noGrp="1"/>
          </p:cNvSpPr>
          <p:nvPr>
            <p:ph type="title"/>
          </p:nvPr>
        </p:nvSpPr>
        <p:spPr>
          <a:xfrm>
            <a:off x="419100" y="127427"/>
            <a:ext cx="17145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Contents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70118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37</a:t>
            </a:fld>
            <a:endParaRPr lang="en-US" altLang="en-US"/>
          </a:p>
        </p:txBody>
      </p:sp>
      <p:sp>
        <p:nvSpPr>
          <p:cNvPr id="6" name="Title 1"/>
          <p:cNvSpPr>
            <a:spLocks noGrp="1"/>
          </p:cNvSpPr>
          <p:nvPr>
            <p:ph type="title"/>
          </p:nvPr>
        </p:nvSpPr>
        <p:spPr>
          <a:xfrm>
            <a:off x="419100" y="154723"/>
            <a:ext cx="25527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Nested Class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8" name="Flowchart: Process 7"/>
          <p:cNvSpPr/>
          <p:nvPr/>
        </p:nvSpPr>
        <p:spPr>
          <a:xfrm>
            <a:off x="5105400" y="609601"/>
            <a:ext cx="1752600" cy="457200"/>
          </a:xfrm>
          <a:prstGeom prst="flowChartProcess">
            <a:avLst/>
          </a:prstGeom>
          <a:solidFill>
            <a:srgbClr val="FF00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smtClean="0">
                <a:latin typeface="Times New Roman" panose="02020603050405020304" pitchFamily="18" charset="0"/>
                <a:cs typeface="Times New Roman" panose="02020603050405020304" pitchFamily="18" charset="0"/>
              </a:rPr>
              <a:t>Nested Class</a:t>
            </a:r>
            <a:endParaRPr lang="en-US" sz="2000" b="1" dirty="0">
              <a:latin typeface="Times New Roman" panose="02020603050405020304" pitchFamily="18" charset="0"/>
              <a:cs typeface="Times New Roman" panose="02020603050405020304" pitchFamily="18" charset="0"/>
            </a:endParaRPr>
          </a:p>
        </p:txBody>
      </p:sp>
      <p:sp>
        <p:nvSpPr>
          <p:cNvPr id="9" name="Flowchart: Process 8"/>
          <p:cNvSpPr/>
          <p:nvPr/>
        </p:nvSpPr>
        <p:spPr>
          <a:xfrm>
            <a:off x="1371031" y="1905000"/>
            <a:ext cx="2590800" cy="457200"/>
          </a:xfrm>
          <a:prstGeom prst="flowChartProcess">
            <a:avLst/>
          </a:prstGeom>
          <a:solidFill>
            <a:srgbClr val="002060"/>
          </a:solidFill>
          <a:ln>
            <a:solidFill>
              <a:srgbClr val="00206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smtClean="0">
                <a:latin typeface="Times New Roman" panose="02020603050405020304" pitchFamily="18" charset="0"/>
                <a:cs typeface="Times New Roman" panose="02020603050405020304" pitchFamily="18" charset="0"/>
              </a:rPr>
              <a:t>Static Nested Class</a:t>
            </a:r>
            <a:endParaRPr lang="en-US" sz="2000" b="1" dirty="0">
              <a:latin typeface="Times New Roman" panose="02020603050405020304" pitchFamily="18" charset="0"/>
              <a:cs typeface="Times New Roman" panose="02020603050405020304" pitchFamily="18" charset="0"/>
            </a:endParaRPr>
          </a:p>
        </p:txBody>
      </p:sp>
      <p:sp>
        <p:nvSpPr>
          <p:cNvPr id="10" name="Flowchart: Process 9"/>
          <p:cNvSpPr/>
          <p:nvPr/>
        </p:nvSpPr>
        <p:spPr>
          <a:xfrm>
            <a:off x="7543800" y="1905000"/>
            <a:ext cx="2743200" cy="457200"/>
          </a:xfrm>
          <a:prstGeom prst="flowChartProcess">
            <a:avLst/>
          </a:prstGeom>
          <a:solidFill>
            <a:srgbClr val="00B050"/>
          </a:solidFill>
          <a:ln>
            <a:solidFill>
              <a:srgbClr val="00B05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smtClean="0">
                <a:latin typeface="Times New Roman" panose="02020603050405020304" pitchFamily="18" charset="0"/>
                <a:cs typeface="Times New Roman" panose="02020603050405020304" pitchFamily="18" charset="0"/>
              </a:rPr>
              <a:t>Inner Class</a:t>
            </a:r>
            <a:endParaRPr lang="en-US" sz="2000" b="1" dirty="0">
              <a:latin typeface="Times New Roman" panose="02020603050405020304" pitchFamily="18" charset="0"/>
              <a:cs typeface="Times New Roman" panose="02020603050405020304" pitchFamily="18" charset="0"/>
            </a:endParaRPr>
          </a:p>
        </p:txBody>
      </p:sp>
      <p:sp>
        <p:nvSpPr>
          <p:cNvPr id="14" name="Flowchart: Process 13"/>
          <p:cNvSpPr/>
          <p:nvPr/>
        </p:nvSpPr>
        <p:spPr>
          <a:xfrm>
            <a:off x="4876800" y="4340507"/>
            <a:ext cx="1676400" cy="762002"/>
          </a:xfrm>
          <a:prstGeom prst="flowChartProcess">
            <a:avLst/>
          </a:prstGeom>
          <a:solidFill>
            <a:srgbClr val="00B050"/>
          </a:solidFill>
          <a:ln>
            <a:solidFill>
              <a:srgbClr val="00B05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smtClean="0">
                <a:latin typeface="Times New Roman" panose="02020603050405020304" pitchFamily="18" charset="0"/>
                <a:cs typeface="Times New Roman" panose="02020603050405020304" pitchFamily="18" charset="0"/>
              </a:rPr>
              <a:t>Non-Static Inner Class</a:t>
            </a:r>
            <a:endParaRPr lang="en-US" sz="2000" b="1" dirty="0">
              <a:latin typeface="Times New Roman" panose="02020603050405020304" pitchFamily="18" charset="0"/>
              <a:cs typeface="Times New Roman" panose="02020603050405020304" pitchFamily="18" charset="0"/>
            </a:endParaRPr>
          </a:p>
        </p:txBody>
      </p:sp>
      <p:sp>
        <p:nvSpPr>
          <p:cNvPr id="15" name="Flowchart: Process 14"/>
          <p:cNvSpPr/>
          <p:nvPr/>
        </p:nvSpPr>
        <p:spPr>
          <a:xfrm>
            <a:off x="6858000" y="4340507"/>
            <a:ext cx="1600200" cy="762002"/>
          </a:xfrm>
          <a:prstGeom prst="flowChartProcess">
            <a:avLst/>
          </a:prstGeom>
          <a:solidFill>
            <a:srgbClr val="00B050"/>
          </a:solidFill>
          <a:ln>
            <a:solidFill>
              <a:srgbClr val="00B05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smtClean="0">
                <a:latin typeface="Times New Roman" panose="02020603050405020304" pitchFamily="18" charset="0"/>
                <a:cs typeface="Times New Roman" panose="02020603050405020304" pitchFamily="18" charset="0"/>
              </a:rPr>
              <a:t>Anonymous Inner Class</a:t>
            </a:r>
            <a:endParaRPr lang="en-US" sz="2000" b="1" dirty="0">
              <a:latin typeface="Times New Roman" panose="02020603050405020304" pitchFamily="18" charset="0"/>
              <a:cs typeface="Times New Roman" panose="02020603050405020304" pitchFamily="18" charset="0"/>
            </a:endParaRPr>
          </a:p>
        </p:txBody>
      </p:sp>
      <p:sp>
        <p:nvSpPr>
          <p:cNvPr id="16" name="Flowchart: Process 15"/>
          <p:cNvSpPr/>
          <p:nvPr/>
        </p:nvSpPr>
        <p:spPr>
          <a:xfrm>
            <a:off x="8763000" y="4310318"/>
            <a:ext cx="1676400" cy="762002"/>
          </a:xfrm>
          <a:prstGeom prst="flowChartProcess">
            <a:avLst/>
          </a:prstGeom>
          <a:solidFill>
            <a:srgbClr val="00B050"/>
          </a:solidFill>
          <a:ln>
            <a:solidFill>
              <a:srgbClr val="00B05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smtClean="0">
                <a:latin typeface="Times New Roman" panose="02020603050405020304" pitchFamily="18" charset="0"/>
                <a:cs typeface="Times New Roman" panose="02020603050405020304" pitchFamily="18" charset="0"/>
              </a:rPr>
              <a:t>Local Inner Class</a:t>
            </a:r>
            <a:endParaRPr lang="en-US" sz="2000" b="1" dirty="0">
              <a:latin typeface="Times New Roman" panose="02020603050405020304" pitchFamily="18" charset="0"/>
              <a:cs typeface="Times New Roman" panose="02020603050405020304" pitchFamily="18" charset="0"/>
            </a:endParaRPr>
          </a:p>
        </p:txBody>
      </p:sp>
      <p:grpSp>
        <p:nvGrpSpPr>
          <p:cNvPr id="17" name="Group 16"/>
          <p:cNvGrpSpPr/>
          <p:nvPr/>
        </p:nvGrpSpPr>
        <p:grpSpPr>
          <a:xfrm>
            <a:off x="2666431" y="1066801"/>
            <a:ext cx="6248400" cy="838199"/>
            <a:chOff x="2590231" y="1295401"/>
            <a:chExt cx="6248400" cy="838199"/>
          </a:xfrm>
        </p:grpSpPr>
        <p:cxnSp>
          <p:nvCxnSpPr>
            <p:cNvPr id="18" name="Straight Connector 17"/>
            <p:cNvCxnSpPr/>
            <p:nvPr/>
          </p:nvCxnSpPr>
          <p:spPr>
            <a:xfrm flipV="1">
              <a:off x="2590231" y="1828800"/>
              <a:ext cx="0" cy="30480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8819865" y="1828800"/>
              <a:ext cx="0" cy="30480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590231" y="1828800"/>
              <a:ext cx="6248400"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905500" y="1295401"/>
              <a:ext cx="0" cy="533399"/>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5181600" y="3997606"/>
            <a:ext cx="4495800" cy="342902"/>
            <a:chOff x="2590231" y="1828800"/>
            <a:chExt cx="6248400" cy="342902"/>
          </a:xfrm>
        </p:grpSpPr>
        <p:cxnSp>
          <p:nvCxnSpPr>
            <p:cNvPr id="23" name="Straight Connector 22"/>
            <p:cNvCxnSpPr/>
            <p:nvPr/>
          </p:nvCxnSpPr>
          <p:spPr>
            <a:xfrm flipV="1">
              <a:off x="2590231" y="1828800"/>
              <a:ext cx="0" cy="30480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8819865" y="1828800"/>
              <a:ext cx="0" cy="30480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590231" y="1828800"/>
              <a:ext cx="6248400"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873289" y="1828800"/>
              <a:ext cx="0" cy="342902"/>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27" name="Elbow Connector 26"/>
          <p:cNvCxnSpPr/>
          <p:nvPr/>
        </p:nvCxnSpPr>
        <p:spPr>
          <a:xfrm rot="5400000">
            <a:off x="7411613" y="2494388"/>
            <a:ext cx="1635406" cy="1371031"/>
          </a:xfrm>
          <a:prstGeom prst="bentConnector3">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12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1000"/>
                                        <p:tgtEl>
                                          <p:spTgt spid="17"/>
                                        </p:tgtEl>
                                      </p:cBhvr>
                                    </p:animEffect>
                                    <p:anim calcmode="lin" valueType="num">
                                      <p:cBhvr>
                                        <p:cTn id="12" dur="1000" fill="hold"/>
                                        <p:tgtEl>
                                          <p:spTgt spid="17"/>
                                        </p:tgtEl>
                                        <p:attrNameLst>
                                          <p:attrName>ppt_x</p:attrName>
                                        </p:attrNameLst>
                                      </p:cBhvr>
                                      <p:tavLst>
                                        <p:tav tm="0">
                                          <p:val>
                                            <p:strVal val="#ppt_x"/>
                                          </p:val>
                                        </p:tav>
                                        <p:tav tm="100000">
                                          <p:val>
                                            <p:strVal val="#ppt_x"/>
                                          </p:val>
                                        </p:tav>
                                      </p:tavLst>
                                    </p:anim>
                                    <p:anim calcmode="lin" valueType="num">
                                      <p:cBhvr>
                                        <p:cTn id="1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down)">
                                      <p:cBhvr>
                                        <p:cTn id="28" dur="500"/>
                                        <p:tgtEl>
                                          <p:spTgt spid="22"/>
                                        </p:tgtEl>
                                      </p:cBhvr>
                                    </p:animEffect>
                                  </p:childTnLst>
                                </p:cTn>
                              </p:par>
                              <p:par>
                                <p:cTn id="29" presetID="22" presetClass="entr" presetSubtype="4"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down)">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inVertical)">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arn(inVertical)">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4" grpId="0" animBg="1"/>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38</a:t>
            </a:fld>
            <a:endParaRPr lang="en-US" altLang="en-US" dirty="0"/>
          </a:p>
        </p:txBody>
      </p:sp>
      <p:sp>
        <p:nvSpPr>
          <p:cNvPr id="6" name="Title 1"/>
          <p:cNvSpPr>
            <a:spLocks noGrp="1"/>
          </p:cNvSpPr>
          <p:nvPr>
            <p:ph type="title"/>
          </p:nvPr>
        </p:nvSpPr>
        <p:spPr>
          <a:xfrm>
            <a:off x="419100" y="154723"/>
            <a:ext cx="25527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smtClean="0">
                <a:solidFill>
                  <a:srgbClr val="002060"/>
                </a:solidFill>
                <a:latin typeface="Times New Roman" panose="02020603050405020304" pitchFamily="18" charset="0"/>
                <a:ea typeface="+mn-ea"/>
                <a:cs typeface="Times New Roman" panose="02020603050405020304" pitchFamily="18" charset="0"/>
              </a:rPr>
              <a:t>Nested Class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2" name="TextBox 1"/>
          <p:cNvSpPr txBox="1"/>
          <p:nvPr/>
        </p:nvSpPr>
        <p:spPr>
          <a:xfrm>
            <a:off x="4568563" y="-18197"/>
            <a:ext cx="3134731" cy="57861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a:t>
            </a:r>
            <a:r>
              <a:rPr lang="en-US" sz="2000" dirty="0" smtClean="0">
                <a:latin typeface="Times New Roman" panose="02020603050405020304" pitchFamily="18" charset="0"/>
                <a:cs typeface="Times New Roman" panose="02020603050405020304" pitchFamily="18" charset="0"/>
              </a:rPr>
              <a:t>lass </a:t>
            </a:r>
            <a:r>
              <a:rPr lang="en-US" sz="2000" b="1" dirty="0" smtClean="0">
                <a:solidFill>
                  <a:srgbClr val="7030A0"/>
                </a:solidFill>
                <a:latin typeface="Times New Roman" panose="02020603050405020304" pitchFamily="18" charset="0"/>
                <a:cs typeface="Times New Roman" panose="02020603050405020304" pitchFamily="18" charset="0"/>
              </a:rPr>
              <a:t>Outer</a:t>
            </a:r>
          </a:p>
          <a:p>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a:lnSpc>
                <a:spcPct val="150000"/>
              </a:lnSpc>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124509" y="639741"/>
            <a:ext cx="2052165" cy="707886"/>
          </a:xfrm>
          <a:prstGeom prst="rect">
            <a:avLst/>
          </a:prstGeom>
          <a:noFill/>
          <a:ln w="28575">
            <a:solidFill>
              <a:srgbClr val="00B050"/>
            </a:solidFill>
          </a:ln>
        </p:spPr>
        <p:txBody>
          <a:bodyPr wrap="none" rtlCol="0">
            <a:spAutoFit/>
          </a:bodyPr>
          <a:lstStyle/>
          <a:p>
            <a:pPr>
              <a:spcBef>
                <a:spcPts val="0"/>
              </a:spcBef>
              <a:spcAft>
                <a:spcPts val="0"/>
              </a:spcAft>
            </a:pPr>
            <a:r>
              <a:rPr lang="en-US" sz="2000" dirty="0" smtClean="0">
                <a:latin typeface="Times New Roman" panose="02020603050405020304" pitchFamily="18" charset="0"/>
                <a:cs typeface="Times New Roman" panose="02020603050405020304" pitchFamily="18" charset="0"/>
              </a:rPr>
              <a:t>//instance variable</a:t>
            </a:r>
          </a:p>
          <a:p>
            <a:pPr>
              <a:spcBef>
                <a:spcPts val="0"/>
              </a:spcBef>
              <a:spcAft>
                <a:spcPts val="0"/>
              </a:spcAft>
            </a:pPr>
            <a:r>
              <a:rPr lang="en-US" sz="2000" dirty="0" smtClean="0">
                <a:latin typeface="Times New Roman" panose="02020603050405020304" pitchFamily="18" charset="0"/>
                <a:cs typeface="Times New Roman" panose="02020603050405020304" pitchFamily="18" charset="0"/>
              </a:rPr>
              <a:t>   </a:t>
            </a:r>
            <a:r>
              <a:rPr lang="en-US" sz="2000" b="1" dirty="0" err="1" smtClean="0">
                <a:solidFill>
                  <a:srgbClr val="7030A0"/>
                </a:solidFill>
                <a:latin typeface="Times New Roman" panose="02020603050405020304" pitchFamily="18" charset="0"/>
                <a:cs typeface="Times New Roman" panose="02020603050405020304" pitchFamily="18" charset="0"/>
              </a:rPr>
              <a:t>int</a:t>
            </a:r>
            <a:r>
              <a:rPr lang="en-US" sz="2000" b="1" dirty="0" smtClean="0">
                <a:solidFill>
                  <a:srgbClr val="7030A0"/>
                </a:solidFill>
                <a:latin typeface="Times New Roman" panose="02020603050405020304" pitchFamily="18" charset="0"/>
                <a:cs typeface="Times New Roman" panose="02020603050405020304" pitchFamily="18" charset="0"/>
              </a:rPr>
              <a:t> x=20;</a:t>
            </a:r>
            <a:endParaRPr lang="en-US" sz="2000" b="1" dirty="0">
              <a:solidFill>
                <a:srgbClr val="7030A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5124509" y="1436165"/>
            <a:ext cx="2000869" cy="707886"/>
          </a:xfrm>
          <a:prstGeom prst="rect">
            <a:avLst/>
          </a:prstGeom>
          <a:noFill/>
          <a:ln w="28575">
            <a:solidFill>
              <a:schemeClr val="accent2"/>
            </a:solidFill>
          </a:ln>
        </p:spPr>
        <p:txBody>
          <a:bodyPr wrap="none" rtlCol="0">
            <a:spAutoFit/>
          </a:bodyPr>
          <a:lstStyle/>
          <a:p>
            <a:pPr>
              <a:spcAft>
                <a:spcPts val="0"/>
              </a:spcAft>
            </a:pPr>
            <a:r>
              <a:rPr lang="en-US" sz="2000" dirty="0" smtClean="0">
                <a:latin typeface="Times New Roman" panose="02020603050405020304" pitchFamily="18" charset="0"/>
                <a:cs typeface="Times New Roman" panose="02020603050405020304" pitchFamily="18" charset="0"/>
              </a:rPr>
              <a:t>//static variable</a:t>
            </a:r>
          </a:p>
          <a:p>
            <a:pPr>
              <a:spcAft>
                <a:spcPts val="0"/>
              </a:spcAft>
            </a:pP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7030A0"/>
                </a:solidFill>
                <a:latin typeface="Times New Roman" panose="02020603050405020304" pitchFamily="18" charset="0"/>
                <a:cs typeface="Times New Roman" panose="02020603050405020304" pitchFamily="18" charset="0"/>
              </a:rPr>
              <a:t>static </a:t>
            </a:r>
            <a:r>
              <a:rPr lang="en-US" sz="2000" b="1" dirty="0" err="1" smtClean="0">
                <a:solidFill>
                  <a:srgbClr val="7030A0"/>
                </a:solidFill>
                <a:latin typeface="Times New Roman" panose="02020603050405020304" pitchFamily="18" charset="0"/>
                <a:cs typeface="Times New Roman" panose="02020603050405020304" pitchFamily="18" charset="0"/>
              </a:rPr>
              <a:t>int</a:t>
            </a:r>
            <a:r>
              <a:rPr lang="en-US" sz="2000" b="1" dirty="0" smtClean="0">
                <a:solidFill>
                  <a:srgbClr val="7030A0"/>
                </a:solidFill>
                <a:latin typeface="Times New Roman" panose="02020603050405020304" pitchFamily="18" charset="0"/>
                <a:cs typeface="Times New Roman" panose="02020603050405020304" pitchFamily="18" charset="0"/>
              </a:rPr>
              <a:t> y=20;</a:t>
            </a:r>
            <a:endParaRPr lang="en-US" sz="2000" b="1" dirty="0">
              <a:solidFill>
                <a:srgbClr val="7030A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105400" y="2282203"/>
            <a:ext cx="1412566" cy="1554272"/>
          </a:xfrm>
          <a:prstGeom prst="rect">
            <a:avLst/>
          </a:prstGeom>
          <a:noFill/>
          <a:ln w="28575">
            <a:solidFill>
              <a:srgbClr val="00B050"/>
            </a:solidFill>
          </a:ln>
        </p:spPr>
        <p:txBody>
          <a:bodyPr wrap="none" rtlCol="0">
            <a:spAutoFit/>
          </a:bodyPr>
          <a:lstStyle/>
          <a:p>
            <a:pPr>
              <a:spcAft>
                <a:spcPts val="600"/>
              </a:spcAft>
            </a:pPr>
            <a:r>
              <a:rPr lang="en-US" sz="2000" dirty="0" smtClean="0">
                <a:latin typeface="Times New Roman" panose="02020603050405020304" pitchFamily="18" charset="0"/>
                <a:cs typeface="Times New Roman" panose="02020603050405020304" pitchFamily="18" charset="0"/>
              </a:rPr>
              <a:t>//inner class</a:t>
            </a:r>
          </a:p>
          <a:p>
            <a:pPr>
              <a:spcAft>
                <a:spcPts val="600"/>
              </a:spcAft>
            </a:pPr>
            <a:r>
              <a:rPr lang="en-US" sz="2000" b="1" dirty="0">
                <a:solidFill>
                  <a:srgbClr val="00B050"/>
                </a:solidFill>
                <a:latin typeface="Times New Roman" panose="02020603050405020304" pitchFamily="18" charset="0"/>
                <a:cs typeface="Times New Roman" panose="02020603050405020304" pitchFamily="18" charset="0"/>
              </a:rPr>
              <a:t>c</a:t>
            </a:r>
            <a:r>
              <a:rPr lang="en-US" sz="2000" b="1" dirty="0" smtClean="0">
                <a:solidFill>
                  <a:srgbClr val="00B050"/>
                </a:solidFill>
                <a:latin typeface="Times New Roman" panose="02020603050405020304" pitchFamily="18" charset="0"/>
                <a:cs typeface="Times New Roman" panose="02020603050405020304" pitchFamily="18" charset="0"/>
              </a:rPr>
              <a:t>lass inner</a:t>
            </a:r>
          </a:p>
          <a:p>
            <a:pPr>
              <a:spcAft>
                <a:spcPts val="600"/>
              </a:spcAft>
            </a:pP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spcAft>
                <a:spcPts val="600"/>
              </a:spcAft>
            </a:pP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124509" y="3958603"/>
            <a:ext cx="2143536" cy="1554272"/>
          </a:xfrm>
          <a:prstGeom prst="rect">
            <a:avLst/>
          </a:prstGeom>
          <a:noFill/>
          <a:ln w="28575">
            <a:solidFill>
              <a:schemeClr val="accent2"/>
            </a:solidFill>
          </a:ln>
        </p:spPr>
        <p:txBody>
          <a:bodyPr wrap="none" rtlCol="0">
            <a:spAutoFit/>
          </a:bodyPr>
          <a:lstStyle/>
          <a:p>
            <a:pPr>
              <a:spcAft>
                <a:spcPts val="600"/>
              </a:spcAft>
            </a:pPr>
            <a:r>
              <a:rPr lang="en-US" sz="2000" dirty="0" smtClean="0">
                <a:latin typeface="Times New Roman" panose="02020603050405020304" pitchFamily="18" charset="0"/>
                <a:cs typeface="Times New Roman" panose="02020603050405020304" pitchFamily="18" charset="0"/>
              </a:rPr>
              <a:t>//static nested class</a:t>
            </a:r>
          </a:p>
          <a:p>
            <a:pPr>
              <a:spcAft>
                <a:spcPts val="600"/>
              </a:spcAft>
            </a:pPr>
            <a:r>
              <a:rPr lang="en-US" sz="2000" b="1" dirty="0">
                <a:solidFill>
                  <a:schemeClr val="accent2"/>
                </a:solidFill>
                <a:latin typeface="Times New Roman" panose="02020603050405020304" pitchFamily="18" charset="0"/>
                <a:cs typeface="Times New Roman" panose="02020603050405020304" pitchFamily="18" charset="0"/>
              </a:rPr>
              <a:t>s</a:t>
            </a:r>
            <a:r>
              <a:rPr lang="en-US" sz="2000" b="1" dirty="0" smtClean="0">
                <a:solidFill>
                  <a:schemeClr val="accent2"/>
                </a:solidFill>
                <a:latin typeface="Times New Roman" panose="02020603050405020304" pitchFamily="18" charset="0"/>
                <a:cs typeface="Times New Roman" panose="02020603050405020304" pitchFamily="18" charset="0"/>
              </a:rPr>
              <a:t>tatic class nested</a:t>
            </a:r>
          </a:p>
          <a:p>
            <a:pPr>
              <a:spcAft>
                <a:spcPts val="600"/>
              </a:spcAft>
            </a:pP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spcAft>
                <a:spcPts val="600"/>
              </a:spcAft>
            </a:pP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46092" y="2089843"/>
            <a:ext cx="4000500" cy="1938992"/>
          </a:xfrm>
          <a:prstGeom prst="rect">
            <a:avLst/>
          </a:prstGeom>
          <a:noFill/>
          <a:ln w="28575">
            <a:noFill/>
          </a:ln>
        </p:spPr>
        <p:txBody>
          <a:bodyPr wrap="square" rtlCol="0">
            <a:spAutoFit/>
          </a:bodyPr>
          <a:lstStyle/>
          <a:p>
            <a:pPr algn="ctr">
              <a:spcAft>
                <a:spcPts val="600"/>
              </a:spcAft>
            </a:pPr>
            <a:r>
              <a:rPr lang="en-US" sz="2000" dirty="0" smtClean="0">
                <a:solidFill>
                  <a:srgbClr val="00B050"/>
                </a:solidFill>
                <a:latin typeface="Times New Roman" panose="02020603050405020304" pitchFamily="18" charset="0"/>
                <a:cs typeface="Times New Roman" panose="02020603050405020304" pitchFamily="18" charset="0"/>
              </a:rPr>
              <a:t>Since non-static members and inner class both are strongly associated with outer class object. Without the object of outer class, non-static members and inner class does not exists.</a:t>
            </a:r>
            <a:endParaRPr lang="en-US" sz="2000" dirty="0">
              <a:solidFill>
                <a:srgbClr val="00B050"/>
              </a:solidFill>
              <a:latin typeface="Times New Roman" panose="02020603050405020304" pitchFamily="18" charset="0"/>
              <a:cs typeface="Times New Roman" panose="02020603050405020304" pitchFamily="18" charset="0"/>
            </a:endParaRPr>
          </a:p>
        </p:txBody>
      </p:sp>
      <p:cxnSp>
        <p:nvCxnSpPr>
          <p:cNvPr id="12" name="Straight Arrow Connector 11"/>
          <p:cNvCxnSpPr>
            <a:stCxn id="8" idx="1"/>
            <a:endCxn id="10" idx="3"/>
          </p:cNvCxnSpPr>
          <p:nvPr/>
        </p:nvCxnSpPr>
        <p:spPr>
          <a:xfrm flipH="1">
            <a:off x="4546592" y="3059339"/>
            <a:ext cx="558808"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10" idx="0"/>
            <a:endCxn id="3" idx="1"/>
          </p:cNvCxnSpPr>
          <p:nvPr/>
        </p:nvCxnSpPr>
        <p:spPr>
          <a:xfrm rot="5400000" flipH="1" flipV="1">
            <a:off x="3287346" y="252681"/>
            <a:ext cx="1096159" cy="2578167"/>
          </a:xfrm>
          <a:prstGeom prst="bentConnector2">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696200" y="2590800"/>
            <a:ext cx="4000500" cy="1938992"/>
          </a:xfrm>
          <a:prstGeom prst="rect">
            <a:avLst/>
          </a:prstGeom>
          <a:noFill/>
          <a:ln w="28575">
            <a:noFill/>
          </a:ln>
        </p:spPr>
        <p:txBody>
          <a:bodyPr wrap="square" rtlCol="0">
            <a:spAutoFit/>
          </a:bodyPr>
          <a:lstStyle/>
          <a:p>
            <a:pPr algn="ctr">
              <a:spcAft>
                <a:spcPts val="600"/>
              </a:spcAft>
            </a:pPr>
            <a:r>
              <a:rPr lang="en-US" sz="2000" dirty="0" smtClean="0">
                <a:solidFill>
                  <a:schemeClr val="accent2"/>
                </a:solidFill>
                <a:latin typeface="Times New Roman" panose="02020603050405020304" pitchFamily="18" charset="0"/>
                <a:cs typeface="Times New Roman" panose="02020603050405020304" pitchFamily="18" charset="0"/>
              </a:rPr>
              <a:t>Since static members and static nested class both are not strongly associated with outer class object. Without the object of outer class, static members and static nested class can exists.</a:t>
            </a:r>
            <a:endParaRPr lang="en-US" sz="2000" dirty="0">
              <a:solidFill>
                <a:schemeClr val="accent2"/>
              </a:solidFill>
              <a:latin typeface="Times New Roman" panose="02020603050405020304" pitchFamily="18" charset="0"/>
              <a:cs typeface="Times New Roman" panose="02020603050405020304" pitchFamily="18" charset="0"/>
            </a:endParaRPr>
          </a:p>
        </p:txBody>
      </p:sp>
      <p:cxnSp>
        <p:nvCxnSpPr>
          <p:cNvPr id="30" name="Elbow Connector 29"/>
          <p:cNvCxnSpPr>
            <a:stCxn id="9" idx="3"/>
            <a:endCxn id="28" idx="2"/>
          </p:cNvCxnSpPr>
          <p:nvPr/>
        </p:nvCxnSpPr>
        <p:spPr>
          <a:xfrm flipV="1">
            <a:off x="7268045" y="4529792"/>
            <a:ext cx="2428405" cy="205947"/>
          </a:xfrm>
          <a:prstGeom prst="bentConnector2">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28" idx="0"/>
            <a:endCxn id="7" idx="3"/>
          </p:cNvCxnSpPr>
          <p:nvPr/>
        </p:nvCxnSpPr>
        <p:spPr>
          <a:xfrm rot="16200000" flipV="1">
            <a:off x="8010568" y="904918"/>
            <a:ext cx="800692" cy="2571072"/>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12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1"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par>
                                <p:cTn id="33" presetID="22" presetClass="entr" presetSubtype="4" fill="hold" grpId="1"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par>
                                <p:cTn id="36" presetID="22" presetClass="entr" presetSubtype="4"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par>
                                <p:cTn id="42" presetID="22" presetClass="entr" presetSubtype="4"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1"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down)">
                                      <p:cBhvr>
                                        <p:cTn id="49" dur="500"/>
                                        <p:tgtEl>
                                          <p:spTgt spid="7"/>
                                        </p:tgtEl>
                                      </p:cBhvr>
                                    </p:animEffect>
                                  </p:childTnLst>
                                </p:cTn>
                              </p:par>
                              <p:par>
                                <p:cTn id="50" presetID="22" presetClass="entr" presetSubtype="4" fill="hold" grpId="1"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down)">
                                      <p:cBhvr>
                                        <p:cTn id="52" dur="500"/>
                                        <p:tgtEl>
                                          <p:spTgt spid="9"/>
                                        </p:tgtEl>
                                      </p:cBhvr>
                                    </p:animEffect>
                                  </p:childTnLst>
                                </p:cTn>
                              </p:par>
                              <p:par>
                                <p:cTn id="53" presetID="22" presetClass="entr" presetSubtype="4"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down)">
                                      <p:cBhvr>
                                        <p:cTn id="55" dur="500"/>
                                        <p:tgtEl>
                                          <p:spTgt spid="3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down)">
                                      <p:cBhvr>
                                        <p:cTn id="58" dur="500"/>
                                        <p:tgtEl>
                                          <p:spTgt spid="28"/>
                                        </p:tgtEl>
                                      </p:cBhvr>
                                    </p:animEffect>
                                  </p:childTnLst>
                                </p:cTn>
                              </p:par>
                              <p:par>
                                <p:cTn id="59" presetID="22" presetClass="entr" presetSubtype="4"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down)">
                                      <p:cBhvr>
                                        <p:cTn id="6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3" grpId="1" animBg="1"/>
      <p:bldP spid="7" grpId="0" animBg="1"/>
      <p:bldP spid="7" grpId="1" animBg="1"/>
      <p:bldP spid="8" grpId="0" animBg="1"/>
      <p:bldP spid="8" grpId="1" animBg="1"/>
      <p:bldP spid="9" grpId="0" animBg="1"/>
      <p:bldP spid="9" grpId="1" animBg="1"/>
      <p:bldP spid="10" grpId="0"/>
      <p:bldP spid="2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589496" y="6421129"/>
            <a:ext cx="2743200" cy="365125"/>
          </a:xfrm>
        </p:spPr>
        <p:txBody>
          <a:bodyPr/>
          <a:lstStyle/>
          <a:p>
            <a:pPr>
              <a:defRPr/>
            </a:pPr>
            <a:fld id="{A01CA5F2-CD08-4EF5-BAD9-872B7BB27165}" type="slidenum">
              <a:rPr lang="en-US" altLang="en-US" smtClean="0"/>
              <a:pPr>
                <a:defRPr/>
              </a:pPr>
              <a:t>39</a:t>
            </a:fld>
            <a:endParaRPr lang="en-US" altLang="en-US" dirty="0"/>
          </a:p>
        </p:txBody>
      </p:sp>
      <p:sp>
        <p:nvSpPr>
          <p:cNvPr id="6" name="Title 1"/>
          <p:cNvSpPr txBox="1">
            <a:spLocks/>
          </p:cNvSpPr>
          <p:nvPr/>
        </p:nvSpPr>
        <p:spPr bwMode="auto">
          <a:xfrm>
            <a:off x="419100" y="154723"/>
            <a:ext cx="2552700" cy="454878"/>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smtClean="0">
                <a:solidFill>
                  <a:srgbClr val="002060"/>
                </a:solidFill>
                <a:latin typeface="Times New Roman" panose="02020603050405020304" pitchFamily="18" charset="0"/>
                <a:ea typeface="+mn-ea"/>
                <a:cs typeface="Times New Roman" panose="02020603050405020304" pitchFamily="18" charset="0"/>
              </a:rPr>
              <a:t>Nested Class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2" name="TextBox 1"/>
          <p:cNvSpPr txBox="1"/>
          <p:nvPr/>
        </p:nvSpPr>
        <p:spPr>
          <a:xfrm>
            <a:off x="5092098" y="457200"/>
            <a:ext cx="1329210" cy="5016758"/>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c</a:t>
            </a:r>
            <a:r>
              <a:rPr lang="en-US" sz="2000" dirty="0" smtClean="0">
                <a:latin typeface="Times New Roman" panose="02020603050405020304" pitchFamily="18" charset="0"/>
                <a:cs typeface="Times New Roman" panose="02020603050405020304" pitchFamily="18" charset="0"/>
              </a:rPr>
              <a:t>lass Outer</a:t>
            </a:r>
          </a:p>
          <a:p>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600730" y="1087965"/>
            <a:ext cx="2194832" cy="400110"/>
          </a:xfrm>
          <a:prstGeom prst="rect">
            <a:avLst/>
          </a:prstGeom>
          <a:noFill/>
          <a:ln>
            <a:noFill/>
          </a:ln>
        </p:spPr>
        <p:txBody>
          <a:bodyPr wrap="square" rtlCol="0">
            <a:spAutoFit/>
          </a:bodyPr>
          <a:lstStyle/>
          <a:p>
            <a:r>
              <a:rPr lang="en-US" sz="2000" dirty="0">
                <a:latin typeface="Times New Roman" panose="02020603050405020304" pitchFamily="18" charset="0"/>
                <a:cs typeface="Times New Roman" panose="02020603050405020304" pitchFamily="18" charset="0"/>
              </a:rPr>
              <a:t>s</a:t>
            </a:r>
            <a:r>
              <a:rPr lang="en-US" sz="2000" dirty="0" smtClean="0">
                <a:latin typeface="Times New Roman" panose="02020603050405020304" pitchFamily="18" charset="0"/>
                <a:cs typeface="Times New Roman" panose="02020603050405020304" pitchFamily="18" charset="0"/>
              </a:rPr>
              <a:t>tatic members</a:t>
            </a:r>
            <a:endParaRPr lang="en-US" sz="20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600729" y="1488075"/>
            <a:ext cx="251115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non-static members</a:t>
            </a:r>
            <a:endParaRPr lang="en-US"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600730" y="2024896"/>
            <a:ext cx="2060179" cy="1785104"/>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static class Nested</a:t>
            </a:r>
          </a:p>
          <a:p>
            <a:pPr>
              <a:spcAft>
                <a:spcPts val="1200"/>
              </a:spcAft>
            </a:pP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576606" y="3704133"/>
            <a:ext cx="1285929" cy="1323439"/>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class Inner</a:t>
            </a:r>
          </a:p>
          <a:p>
            <a:r>
              <a:rPr lang="en-US" sz="2000" dirty="0" smtClean="0">
                <a:latin typeface="Times New Roman" panose="02020603050405020304" pitchFamily="18" charset="0"/>
                <a:cs typeface="Times New Roman" panose="02020603050405020304" pitchFamily="18" charset="0"/>
              </a:rPr>
              <a:t>{</a:t>
            </a: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5628870" y="1139697"/>
            <a:ext cx="1816320" cy="332327"/>
          </a:xfrm>
          <a:prstGeom prst="roundRect">
            <a:avLst/>
          </a:prstGeom>
          <a:solidFill>
            <a:schemeClr val="lt1">
              <a:alpha val="0"/>
            </a:schemeClr>
          </a:solid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ounded Rectangle 14"/>
          <p:cNvSpPr/>
          <p:nvPr/>
        </p:nvSpPr>
        <p:spPr>
          <a:xfrm>
            <a:off x="5596741" y="1555906"/>
            <a:ext cx="2172193" cy="332327"/>
          </a:xfrm>
          <a:prstGeom prst="roundRect">
            <a:avLst/>
          </a:prstGeom>
          <a:solidFill>
            <a:schemeClr val="lt1">
              <a:alpha val="0"/>
            </a:schemeClr>
          </a:solid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TextBox 17"/>
          <p:cNvSpPr txBox="1"/>
          <p:nvPr/>
        </p:nvSpPr>
        <p:spPr>
          <a:xfrm>
            <a:off x="5917052" y="2647890"/>
            <a:ext cx="2194832" cy="400110"/>
          </a:xfrm>
          <a:prstGeom prst="rect">
            <a:avLst/>
          </a:prstGeom>
          <a:noFill/>
          <a:ln>
            <a:noFill/>
          </a:ln>
        </p:spPr>
        <p:txBody>
          <a:bodyPr wrap="square" rtlCol="0">
            <a:spAutoFit/>
          </a:bodyPr>
          <a:lstStyle/>
          <a:p>
            <a:r>
              <a:rPr lang="en-US" sz="2000" dirty="0">
                <a:latin typeface="Times New Roman" panose="02020603050405020304" pitchFamily="18" charset="0"/>
                <a:cs typeface="Times New Roman" panose="02020603050405020304" pitchFamily="18" charset="0"/>
              </a:rPr>
              <a:t>s</a:t>
            </a:r>
            <a:r>
              <a:rPr lang="en-US" sz="2000" dirty="0" smtClean="0">
                <a:latin typeface="Times New Roman" panose="02020603050405020304" pitchFamily="18" charset="0"/>
                <a:cs typeface="Times New Roman" panose="02020603050405020304" pitchFamily="18" charset="0"/>
              </a:rPr>
              <a:t>tatic members</a:t>
            </a:r>
            <a:endParaRPr lang="en-US" sz="20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5917051" y="3028842"/>
            <a:ext cx="251115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non-static members</a:t>
            </a:r>
            <a:endParaRPr lang="en-US" sz="2000"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5945192" y="2680464"/>
            <a:ext cx="1816320" cy="332327"/>
          </a:xfrm>
          <a:prstGeom prst="roundRect">
            <a:avLst/>
          </a:prstGeom>
          <a:solidFill>
            <a:schemeClr val="lt1">
              <a:alpha val="0"/>
            </a:schemeClr>
          </a:solid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Rounded Rectangle 20"/>
          <p:cNvSpPr/>
          <p:nvPr/>
        </p:nvSpPr>
        <p:spPr>
          <a:xfrm>
            <a:off x="5913063" y="3096673"/>
            <a:ext cx="2172193" cy="332327"/>
          </a:xfrm>
          <a:prstGeom prst="roundRect">
            <a:avLst/>
          </a:prstGeom>
          <a:solidFill>
            <a:schemeClr val="lt1">
              <a:alpha val="0"/>
            </a:schemeClr>
          </a:solid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TextBox 21"/>
          <p:cNvSpPr txBox="1"/>
          <p:nvPr/>
        </p:nvSpPr>
        <p:spPr>
          <a:xfrm>
            <a:off x="5983251" y="4274787"/>
            <a:ext cx="251115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non-static members</a:t>
            </a:r>
            <a:endParaRPr lang="en-US" sz="2000" dirty="0">
              <a:latin typeface="Times New Roman" panose="02020603050405020304" pitchFamily="18" charset="0"/>
              <a:cs typeface="Times New Roman" panose="02020603050405020304" pitchFamily="18" charset="0"/>
            </a:endParaRPr>
          </a:p>
        </p:txBody>
      </p:sp>
      <p:sp>
        <p:nvSpPr>
          <p:cNvPr id="23" name="Rounded Rectangle 22"/>
          <p:cNvSpPr/>
          <p:nvPr/>
        </p:nvSpPr>
        <p:spPr>
          <a:xfrm>
            <a:off x="5979263" y="4342618"/>
            <a:ext cx="2172193" cy="332327"/>
          </a:xfrm>
          <a:prstGeom prst="roundRect">
            <a:avLst/>
          </a:prstGeom>
          <a:solidFill>
            <a:schemeClr val="lt1">
              <a:alpha val="0"/>
            </a:schemeClr>
          </a:solidFill>
          <a:ln w="285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38" name="Group 37"/>
          <p:cNvGrpSpPr/>
          <p:nvPr/>
        </p:nvGrpSpPr>
        <p:grpSpPr>
          <a:xfrm rot="10800000">
            <a:off x="6537030" y="593561"/>
            <a:ext cx="1602144" cy="228602"/>
            <a:chOff x="8151456" y="5084084"/>
            <a:chExt cx="1602144" cy="228602"/>
          </a:xfrm>
        </p:grpSpPr>
        <p:cxnSp>
          <p:nvCxnSpPr>
            <p:cNvPr id="35" name="Straight Connector 34"/>
            <p:cNvCxnSpPr/>
            <p:nvPr/>
          </p:nvCxnSpPr>
          <p:spPr>
            <a:xfrm>
              <a:off x="8151456" y="5198385"/>
              <a:ext cx="14497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Isosceles Triangle 36"/>
            <p:cNvSpPr/>
            <p:nvPr/>
          </p:nvSpPr>
          <p:spPr>
            <a:xfrm rot="5400000">
              <a:off x="9563099" y="5122185"/>
              <a:ext cx="228602" cy="152400"/>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p:cNvSpPr txBox="1"/>
          <p:nvPr/>
        </p:nvSpPr>
        <p:spPr>
          <a:xfrm>
            <a:off x="8120513" y="507806"/>
            <a:ext cx="3126144" cy="369332"/>
          </a:xfrm>
          <a:prstGeom prst="rect">
            <a:avLst/>
          </a:prstGeom>
          <a:noFill/>
          <a:ln>
            <a:noFill/>
          </a:ln>
        </p:spPr>
        <p:txBody>
          <a:bodyPr wrap="square" rtlCol="0">
            <a:spAutoFit/>
          </a:bodyPr>
          <a:lstStyle/>
          <a:p>
            <a:r>
              <a:rPr lang="en-US" dirty="0" smtClean="0">
                <a:solidFill>
                  <a:srgbClr val="00194C"/>
                </a:solidFill>
                <a:latin typeface="Times New Roman" panose="02020603050405020304" pitchFamily="18" charset="0"/>
                <a:cs typeface="Times New Roman" panose="02020603050405020304" pitchFamily="18" charset="0"/>
              </a:rPr>
              <a:t>Outer </a:t>
            </a:r>
            <a:r>
              <a:rPr lang="en-US" sz="1600" dirty="0" smtClean="0">
                <a:solidFill>
                  <a:srgbClr val="00194C"/>
                </a:solidFill>
                <a:latin typeface="Times New Roman" panose="02020603050405020304" pitchFamily="18" charset="0"/>
                <a:cs typeface="Times New Roman" panose="02020603050405020304" pitchFamily="18" charset="0"/>
              </a:rPr>
              <a:t>class/Top-level</a:t>
            </a:r>
            <a:r>
              <a:rPr lang="en-US" dirty="0" smtClean="0">
                <a:solidFill>
                  <a:srgbClr val="00194C"/>
                </a:solidFill>
                <a:latin typeface="Times New Roman" panose="02020603050405020304" pitchFamily="18" charset="0"/>
                <a:cs typeface="Times New Roman" panose="02020603050405020304" pitchFamily="18" charset="0"/>
              </a:rPr>
              <a:t> class</a:t>
            </a:r>
            <a:endParaRPr lang="en-US" dirty="0">
              <a:solidFill>
                <a:srgbClr val="00194C"/>
              </a:solidFill>
              <a:latin typeface="Times New Roman" panose="02020603050405020304" pitchFamily="18" charset="0"/>
              <a:cs typeface="Times New Roman" panose="02020603050405020304" pitchFamily="18" charset="0"/>
            </a:endParaRPr>
          </a:p>
        </p:txBody>
      </p:sp>
      <p:grpSp>
        <p:nvGrpSpPr>
          <p:cNvPr id="40" name="Group 39"/>
          <p:cNvGrpSpPr/>
          <p:nvPr/>
        </p:nvGrpSpPr>
        <p:grpSpPr>
          <a:xfrm rot="10800000">
            <a:off x="7503122" y="1166494"/>
            <a:ext cx="1721616" cy="222135"/>
            <a:chOff x="8151456" y="5084084"/>
            <a:chExt cx="1602144" cy="228602"/>
          </a:xfrm>
        </p:grpSpPr>
        <p:cxnSp>
          <p:nvCxnSpPr>
            <p:cNvPr id="41" name="Straight Connector 40"/>
            <p:cNvCxnSpPr/>
            <p:nvPr/>
          </p:nvCxnSpPr>
          <p:spPr>
            <a:xfrm>
              <a:off x="8151456" y="5198385"/>
              <a:ext cx="14497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Isosceles Triangle 41"/>
            <p:cNvSpPr/>
            <p:nvPr/>
          </p:nvSpPr>
          <p:spPr>
            <a:xfrm rot="5400000">
              <a:off x="9563099" y="5122185"/>
              <a:ext cx="228602" cy="152400"/>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p:cNvGrpSpPr/>
          <p:nvPr/>
        </p:nvGrpSpPr>
        <p:grpSpPr>
          <a:xfrm rot="10800000">
            <a:off x="7795562" y="1582838"/>
            <a:ext cx="1429176" cy="249307"/>
            <a:chOff x="8151456" y="5084084"/>
            <a:chExt cx="1602144" cy="228602"/>
          </a:xfrm>
        </p:grpSpPr>
        <p:cxnSp>
          <p:nvCxnSpPr>
            <p:cNvPr id="44" name="Straight Connector 43"/>
            <p:cNvCxnSpPr/>
            <p:nvPr/>
          </p:nvCxnSpPr>
          <p:spPr>
            <a:xfrm>
              <a:off x="8151456" y="5198385"/>
              <a:ext cx="14497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Isosceles Triangle 44"/>
            <p:cNvSpPr/>
            <p:nvPr/>
          </p:nvSpPr>
          <p:spPr>
            <a:xfrm rot="5400000">
              <a:off x="9563099" y="5122185"/>
              <a:ext cx="228602" cy="152400"/>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p:cNvSpPr txBox="1"/>
          <p:nvPr/>
        </p:nvSpPr>
        <p:spPr>
          <a:xfrm>
            <a:off x="7852166" y="2032199"/>
            <a:ext cx="2745144" cy="1077218"/>
          </a:xfrm>
          <a:prstGeom prst="rect">
            <a:avLst/>
          </a:prstGeom>
          <a:noFill/>
          <a:ln>
            <a:noFill/>
          </a:ln>
        </p:spPr>
        <p:txBody>
          <a:bodyPr wrap="square" rtlCol="0">
            <a:spAutoFit/>
          </a:bodyPr>
          <a:lstStyle/>
          <a:p>
            <a:pPr algn="ctr"/>
            <a:r>
              <a:rPr lang="en-US" sz="1600" dirty="0" smtClean="0">
                <a:solidFill>
                  <a:srgbClr val="00B0F0"/>
                </a:solidFill>
                <a:latin typeface="Times New Roman" panose="02020603050405020304" pitchFamily="18" charset="0"/>
                <a:cs typeface="Times New Roman" panose="02020603050405020304" pitchFamily="18" charset="0"/>
              </a:rPr>
              <a:t>A normal inner class can access any members of its outer class, regardless of their access modifiers.</a:t>
            </a:r>
            <a:endParaRPr lang="en-US" sz="1600" dirty="0">
              <a:solidFill>
                <a:srgbClr val="00B0F0"/>
              </a:solidFill>
              <a:latin typeface="Times New Roman" panose="02020603050405020304" pitchFamily="18" charset="0"/>
              <a:cs typeface="Times New Roman" panose="02020603050405020304" pitchFamily="18" charset="0"/>
            </a:endParaRPr>
          </a:p>
        </p:txBody>
      </p:sp>
      <p:grpSp>
        <p:nvGrpSpPr>
          <p:cNvPr id="47" name="Group 46"/>
          <p:cNvGrpSpPr/>
          <p:nvPr/>
        </p:nvGrpSpPr>
        <p:grpSpPr>
          <a:xfrm rot="10800000">
            <a:off x="6886798" y="3830736"/>
            <a:ext cx="2614077" cy="244761"/>
            <a:chOff x="8151456" y="5084084"/>
            <a:chExt cx="1602144" cy="228602"/>
          </a:xfrm>
        </p:grpSpPr>
        <p:cxnSp>
          <p:nvCxnSpPr>
            <p:cNvPr id="48" name="Straight Connector 47"/>
            <p:cNvCxnSpPr/>
            <p:nvPr/>
          </p:nvCxnSpPr>
          <p:spPr>
            <a:xfrm>
              <a:off x="8151456" y="5198385"/>
              <a:ext cx="14497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Isosceles Triangle 48"/>
            <p:cNvSpPr/>
            <p:nvPr/>
          </p:nvSpPr>
          <p:spPr>
            <a:xfrm rot="5400000">
              <a:off x="9563099" y="5122185"/>
              <a:ext cx="228602" cy="152400"/>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TextBox 49"/>
          <p:cNvSpPr txBox="1"/>
          <p:nvPr/>
        </p:nvSpPr>
        <p:spPr>
          <a:xfrm>
            <a:off x="9206879" y="3445416"/>
            <a:ext cx="1905000" cy="1200329"/>
          </a:xfrm>
          <a:prstGeom prst="rect">
            <a:avLst/>
          </a:prstGeom>
          <a:noFill/>
          <a:ln>
            <a:noFill/>
          </a:ln>
        </p:spPr>
        <p:txBody>
          <a:bodyPr wrap="square" rtlCol="0">
            <a:spAutoFit/>
          </a:bodyPr>
          <a:lstStyle/>
          <a:p>
            <a:pPr algn="ctr"/>
            <a:r>
              <a:rPr lang="en-US" dirty="0" smtClean="0">
                <a:solidFill>
                  <a:srgbClr val="00194C"/>
                </a:solidFill>
                <a:latin typeface="Times New Roman" panose="02020603050405020304" pitchFamily="18" charset="0"/>
                <a:cs typeface="Times New Roman" panose="02020603050405020304" pitchFamily="18" charset="0"/>
              </a:rPr>
              <a:t>A non-static nested class cannot have static members.</a:t>
            </a:r>
            <a:endParaRPr lang="en-US" dirty="0">
              <a:solidFill>
                <a:srgbClr val="00194C"/>
              </a:solidFill>
              <a:latin typeface="Times New Roman" panose="02020603050405020304" pitchFamily="18" charset="0"/>
              <a:cs typeface="Times New Roman" panose="02020603050405020304" pitchFamily="18" charset="0"/>
            </a:endParaRPr>
          </a:p>
        </p:txBody>
      </p:sp>
      <p:cxnSp>
        <p:nvCxnSpPr>
          <p:cNvPr id="52" name="Straight Connector 51"/>
          <p:cNvCxnSpPr>
            <a:endCxn id="46" idx="0"/>
          </p:cNvCxnSpPr>
          <p:nvPr/>
        </p:nvCxnSpPr>
        <p:spPr>
          <a:xfrm>
            <a:off x="9224738" y="1260724"/>
            <a:ext cx="0" cy="7714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46" idx="2"/>
          </p:cNvCxnSpPr>
          <p:nvPr/>
        </p:nvCxnSpPr>
        <p:spPr>
          <a:xfrm>
            <a:off x="9224738" y="3109417"/>
            <a:ext cx="0" cy="13993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23" idx="3"/>
          </p:cNvCxnSpPr>
          <p:nvPr/>
        </p:nvCxnSpPr>
        <p:spPr>
          <a:xfrm>
            <a:off x="8151456" y="4508782"/>
            <a:ext cx="107328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 name="Group 59"/>
          <p:cNvGrpSpPr/>
          <p:nvPr/>
        </p:nvGrpSpPr>
        <p:grpSpPr>
          <a:xfrm rot="10800000" flipH="1">
            <a:off x="2862650" y="1200750"/>
            <a:ext cx="2709115" cy="198783"/>
            <a:chOff x="8028521" y="5084084"/>
            <a:chExt cx="1725079" cy="228602"/>
          </a:xfrm>
        </p:grpSpPr>
        <p:cxnSp>
          <p:nvCxnSpPr>
            <p:cNvPr id="61" name="Straight Connector 60"/>
            <p:cNvCxnSpPr/>
            <p:nvPr/>
          </p:nvCxnSpPr>
          <p:spPr>
            <a:xfrm rot="10800000" flipH="1">
              <a:off x="8028521" y="5198385"/>
              <a:ext cx="1572680" cy="36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Isosceles Triangle 61"/>
            <p:cNvSpPr/>
            <p:nvPr/>
          </p:nvSpPr>
          <p:spPr>
            <a:xfrm rot="5400000">
              <a:off x="9563099" y="5122185"/>
              <a:ext cx="228602" cy="152400"/>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p:cNvGrpSpPr/>
          <p:nvPr/>
        </p:nvGrpSpPr>
        <p:grpSpPr>
          <a:xfrm rot="10800000" flipH="1">
            <a:off x="2590798" y="2667000"/>
            <a:ext cx="3309068" cy="202927"/>
            <a:chOff x="8336077" y="5108705"/>
            <a:chExt cx="1336409" cy="168076"/>
          </a:xfrm>
        </p:grpSpPr>
        <p:cxnSp>
          <p:nvCxnSpPr>
            <p:cNvPr id="64" name="Straight Connector 63"/>
            <p:cNvCxnSpPr/>
            <p:nvPr/>
          </p:nvCxnSpPr>
          <p:spPr>
            <a:xfrm rot="10800000" flipH="1">
              <a:off x="8336077" y="5198385"/>
              <a:ext cx="1265122" cy="134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Isosceles Triangle 64"/>
            <p:cNvSpPr/>
            <p:nvPr/>
          </p:nvSpPr>
          <p:spPr>
            <a:xfrm rot="5400000">
              <a:off x="9547647" y="5151941"/>
              <a:ext cx="168076" cy="81603"/>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p:cNvSpPr txBox="1"/>
          <p:nvPr/>
        </p:nvSpPr>
        <p:spPr>
          <a:xfrm>
            <a:off x="604284" y="1498958"/>
            <a:ext cx="4516732" cy="584775"/>
          </a:xfrm>
          <a:prstGeom prst="rect">
            <a:avLst/>
          </a:prstGeom>
          <a:noFill/>
          <a:ln>
            <a:noFill/>
          </a:ln>
        </p:spPr>
        <p:txBody>
          <a:bodyPr wrap="square" rtlCol="0">
            <a:spAutoFit/>
          </a:bodyPr>
          <a:lstStyle/>
          <a:p>
            <a:pPr algn="ctr"/>
            <a:r>
              <a:rPr lang="en-US" sz="1600" dirty="0" smtClean="0">
                <a:solidFill>
                  <a:srgbClr val="00B0F0"/>
                </a:solidFill>
                <a:latin typeface="Times New Roman" panose="02020603050405020304" pitchFamily="18" charset="0"/>
                <a:cs typeface="Times New Roman" panose="02020603050405020304" pitchFamily="18" charset="0"/>
              </a:rPr>
              <a:t>Both static and non-static members of a static nested class can access static members of its outer class.</a:t>
            </a:r>
            <a:endParaRPr lang="en-US" sz="1600" dirty="0">
              <a:solidFill>
                <a:srgbClr val="00B0F0"/>
              </a:solidFill>
              <a:latin typeface="Times New Roman" panose="02020603050405020304" pitchFamily="18" charset="0"/>
              <a:cs typeface="Times New Roman" panose="02020603050405020304" pitchFamily="18" charset="0"/>
            </a:endParaRPr>
          </a:p>
        </p:txBody>
      </p:sp>
      <p:sp>
        <p:nvSpPr>
          <p:cNvPr id="67" name="TextBox 66"/>
          <p:cNvSpPr txBox="1"/>
          <p:nvPr/>
        </p:nvSpPr>
        <p:spPr>
          <a:xfrm>
            <a:off x="1218228" y="3953116"/>
            <a:ext cx="2745144" cy="1077218"/>
          </a:xfrm>
          <a:prstGeom prst="rect">
            <a:avLst/>
          </a:prstGeom>
          <a:noFill/>
          <a:ln>
            <a:noFill/>
          </a:ln>
        </p:spPr>
        <p:txBody>
          <a:bodyPr wrap="square" rtlCol="0">
            <a:spAutoFit/>
          </a:bodyPr>
          <a:lstStyle/>
          <a:p>
            <a:pPr algn="ctr"/>
            <a:r>
              <a:rPr lang="en-US" sz="1600" dirty="0" smtClean="0">
                <a:solidFill>
                  <a:srgbClr val="00B0F0"/>
                </a:solidFill>
                <a:latin typeface="Times New Roman" panose="02020603050405020304" pitchFamily="18" charset="0"/>
                <a:cs typeface="Times New Roman" panose="02020603050405020304" pitchFamily="18" charset="0"/>
              </a:rPr>
              <a:t>A normal inner class can access static members of any static nested classes within the same outer class</a:t>
            </a:r>
            <a:endParaRPr lang="en-US" sz="1600" dirty="0">
              <a:solidFill>
                <a:srgbClr val="00B0F0"/>
              </a:solidFill>
              <a:latin typeface="Times New Roman" panose="02020603050405020304" pitchFamily="18" charset="0"/>
              <a:cs typeface="Times New Roman" panose="02020603050405020304" pitchFamily="18" charset="0"/>
            </a:endParaRPr>
          </a:p>
        </p:txBody>
      </p:sp>
      <p:cxnSp>
        <p:nvCxnSpPr>
          <p:cNvPr id="80" name="Straight Connector 79"/>
          <p:cNvCxnSpPr>
            <a:stCxn id="23" idx="1"/>
            <a:endCxn id="67" idx="3"/>
          </p:cNvCxnSpPr>
          <p:nvPr/>
        </p:nvCxnSpPr>
        <p:spPr>
          <a:xfrm flipH="1" flipV="1">
            <a:off x="3963372" y="4491725"/>
            <a:ext cx="2015891" cy="170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67" idx="0"/>
          </p:cNvCxnSpPr>
          <p:nvPr/>
        </p:nvCxnSpPr>
        <p:spPr>
          <a:xfrm flipV="1">
            <a:off x="2590800" y="2745459"/>
            <a:ext cx="0" cy="12076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2862649" y="2917448"/>
            <a:ext cx="3080951" cy="1306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endCxn id="66" idx="2"/>
          </p:cNvCxnSpPr>
          <p:nvPr/>
        </p:nvCxnSpPr>
        <p:spPr>
          <a:xfrm flipV="1">
            <a:off x="2862650" y="2083733"/>
            <a:ext cx="0" cy="11982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2862649" y="3264885"/>
            <a:ext cx="3016822" cy="883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66" idx="0"/>
          </p:cNvCxnSpPr>
          <p:nvPr/>
        </p:nvCxnSpPr>
        <p:spPr>
          <a:xfrm flipV="1">
            <a:off x="2862650" y="1283032"/>
            <a:ext cx="0" cy="2159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4" name="Group 123"/>
          <p:cNvGrpSpPr/>
          <p:nvPr/>
        </p:nvGrpSpPr>
        <p:grpSpPr>
          <a:xfrm rot="10800000" flipH="1">
            <a:off x="2590800" y="2169408"/>
            <a:ext cx="3043705" cy="242719"/>
            <a:chOff x="8151456" y="5084084"/>
            <a:chExt cx="1602144" cy="228602"/>
          </a:xfrm>
        </p:grpSpPr>
        <p:cxnSp>
          <p:nvCxnSpPr>
            <p:cNvPr id="125" name="Straight Connector 124"/>
            <p:cNvCxnSpPr/>
            <p:nvPr/>
          </p:nvCxnSpPr>
          <p:spPr>
            <a:xfrm>
              <a:off x="8151456" y="5198385"/>
              <a:ext cx="14497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Isosceles Triangle 125"/>
            <p:cNvSpPr/>
            <p:nvPr/>
          </p:nvSpPr>
          <p:spPr>
            <a:xfrm rot="5400000">
              <a:off x="9563099" y="5122185"/>
              <a:ext cx="228602" cy="152400"/>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7" name="TextBox 126"/>
          <p:cNvSpPr txBox="1"/>
          <p:nvPr/>
        </p:nvSpPr>
        <p:spPr>
          <a:xfrm>
            <a:off x="506618" y="2076758"/>
            <a:ext cx="2313838" cy="923330"/>
          </a:xfrm>
          <a:prstGeom prst="rect">
            <a:avLst/>
          </a:prstGeom>
          <a:noFill/>
          <a:ln>
            <a:noFill/>
          </a:ln>
        </p:spPr>
        <p:txBody>
          <a:bodyPr wrap="square" rtlCol="0">
            <a:spAutoFit/>
          </a:bodyPr>
          <a:lstStyle/>
          <a:p>
            <a:pPr algn="ctr"/>
            <a:r>
              <a:rPr lang="en-US" dirty="0" smtClean="0">
                <a:solidFill>
                  <a:srgbClr val="00194C"/>
                </a:solidFill>
                <a:latin typeface="Times New Roman" panose="02020603050405020304" pitchFamily="18" charset="0"/>
                <a:cs typeface="Times New Roman" panose="02020603050405020304" pitchFamily="18" charset="0"/>
              </a:rPr>
              <a:t>static nested class cannot have non static members. </a:t>
            </a:r>
            <a:endParaRPr lang="en-US" dirty="0">
              <a:solidFill>
                <a:srgbClr val="00194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81374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40</a:t>
            </a:fld>
            <a:endParaRPr lang="en-US" altLang="en-US" dirty="0"/>
          </a:p>
        </p:txBody>
      </p:sp>
      <p:graphicFrame>
        <p:nvGraphicFramePr>
          <p:cNvPr id="6" name="Table 5"/>
          <p:cNvGraphicFramePr>
            <a:graphicFrameLocks noGrp="1"/>
          </p:cNvGraphicFramePr>
          <p:nvPr>
            <p:extLst>
              <p:ext uri="{D42A27DB-BD31-4B8C-83A1-F6EECF244321}">
                <p14:modId xmlns:p14="http://schemas.microsoft.com/office/powerpoint/2010/main" val="3923819616"/>
              </p:ext>
            </p:extLst>
          </p:nvPr>
        </p:nvGraphicFramePr>
        <p:xfrm>
          <a:off x="1295400" y="1066800"/>
          <a:ext cx="10058400" cy="4060811"/>
        </p:xfrm>
        <a:graphic>
          <a:graphicData uri="http://schemas.openxmlformats.org/drawingml/2006/table">
            <a:tbl>
              <a:tblPr>
                <a:tableStyleId>{8A107856-5554-42FB-B03E-39F5DBC370BA}</a:tableStyleId>
              </a:tblPr>
              <a:tblGrid>
                <a:gridCol w="685800"/>
                <a:gridCol w="4311555"/>
                <a:gridCol w="5061045"/>
              </a:tblGrid>
              <a:tr h="453674">
                <a:tc>
                  <a:txBody>
                    <a:bodyPr/>
                    <a:lstStyle/>
                    <a:p>
                      <a:pPr algn="l" fontAlgn="base"/>
                      <a:r>
                        <a:rPr lang="en-US" sz="1800" b="1" dirty="0">
                          <a:solidFill>
                            <a:srgbClr val="00194C"/>
                          </a:solidFill>
                          <a:effectLst/>
                          <a:latin typeface="Times New Roman" panose="02020603050405020304" pitchFamily="18" charset="0"/>
                          <a:cs typeface="Times New Roman" panose="02020603050405020304" pitchFamily="18" charset="0"/>
                        </a:rPr>
                        <a:t>S.NO</a:t>
                      </a:r>
                    </a:p>
                  </a:txBody>
                  <a:tcPr marL="78149" marR="78149" marT="78149" marB="78149" anchor="ctr">
                    <a:solidFill>
                      <a:srgbClr val="FFC000"/>
                    </a:solidFill>
                  </a:tcPr>
                </a:tc>
                <a:tc>
                  <a:txBody>
                    <a:bodyPr/>
                    <a:lstStyle/>
                    <a:p>
                      <a:pPr algn="l" fontAlgn="base"/>
                      <a:r>
                        <a:rPr lang="en-US" sz="1800" b="1">
                          <a:solidFill>
                            <a:srgbClr val="00194C"/>
                          </a:solidFill>
                          <a:effectLst/>
                          <a:latin typeface="Times New Roman" panose="02020603050405020304" pitchFamily="18" charset="0"/>
                          <a:cs typeface="Times New Roman" panose="02020603050405020304" pitchFamily="18" charset="0"/>
                        </a:rPr>
                        <a:t>Normal/Regular inner class</a:t>
                      </a:r>
                    </a:p>
                  </a:txBody>
                  <a:tcPr marL="78149" marR="78149" marT="78149" marB="78149" anchor="ctr">
                    <a:solidFill>
                      <a:srgbClr val="FFC000"/>
                    </a:solidFill>
                  </a:tcPr>
                </a:tc>
                <a:tc>
                  <a:txBody>
                    <a:bodyPr/>
                    <a:lstStyle/>
                    <a:p>
                      <a:pPr algn="l" fontAlgn="base"/>
                      <a:r>
                        <a:rPr lang="en-US" sz="1800" b="1" dirty="0">
                          <a:solidFill>
                            <a:srgbClr val="00194C"/>
                          </a:solidFill>
                          <a:effectLst/>
                          <a:latin typeface="Times New Roman" panose="02020603050405020304" pitchFamily="18" charset="0"/>
                          <a:cs typeface="Times New Roman" panose="02020603050405020304" pitchFamily="18" charset="0"/>
                        </a:rPr>
                        <a:t>Static nested class</a:t>
                      </a:r>
                    </a:p>
                  </a:txBody>
                  <a:tcPr marL="78149" marR="78149" marT="78149" marB="78149" anchor="ctr">
                    <a:solidFill>
                      <a:srgbClr val="FFC000"/>
                    </a:solidFill>
                  </a:tcPr>
                </a:tc>
              </a:tr>
              <a:tr h="1176191">
                <a:tc>
                  <a:txBody>
                    <a:bodyPr/>
                    <a:lstStyle/>
                    <a:p>
                      <a:pPr algn="l" fontAlgn="base"/>
                      <a:r>
                        <a:rPr lang="en-US" sz="1600">
                          <a:effectLst/>
                          <a:latin typeface="Times New Roman" panose="02020603050405020304" pitchFamily="18" charset="0"/>
                          <a:cs typeface="Times New Roman" panose="02020603050405020304" pitchFamily="18" charset="0"/>
                        </a:rPr>
                        <a:t>1.</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dirty="0">
                          <a:effectLst/>
                          <a:latin typeface="Times New Roman" panose="02020603050405020304" pitchFamily="18" charset="0"/>
                          <a:cs typeface="Times New Roman" panose="02020603050405020304" pitchFamily="18" charset="0"/>
                        </a:rPr>
                        <a:t>Without an outer class object existing, there cannot be an inner class object. That is, the inner class object is always associated with the outer class object.</a:t>
                      </a:r>
                      <a:endParaRPr lang="en-US" sz="1600" b="0" dirty="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a:effectLst/>
                          <a:latin typeface="Times New Roman" panose="02020603050405020304" pitchFamily="18" charset="0"/>
                          <a:cs typeface="Times New Roman" panose="02020603050405020304" pitchFamily="18" charset="0"/>
                        </a:rPr>
                        <a:t>Without an outer class object existing, there may be a static nested class object. That is, static nested class object is not associated with the outer class object.</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r>
              <a:tr h="756123">
                <a:tc>
                  <a:txBody>
                    <a:bodyPr/>
                    <a:lstStyle/>
                    <a:p>
                      <a:pPr algn="l" fontAlgn="base"/>
                      <a:r>
                        <a:rPr lang="en-US" sz="1600" dirty="0">
                          <a:effectLst/>
                          <a:latin typeface="Times New Roman" panose="02020603050405020304" pitchFamily="18" charset="0"/>
                          <a:cs typeface="Times New Roman" panose="02020603050405020304" pitchFamily="18" charset="0"/>
                        </a:rPr>
                        <a:t>2.</a:t>
                      </a:r>
                      <a:endParaRPr lang="en-US" sz="1600" b="0" dirty="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a:effectLst/>
                          <a:latin typeface="Times New Roman" panose="02020603050405020304" pitchFamily="18" charset="0"/>
                          <a:cs typeface="Times New Roman" panose="02020603050405020304" pitchFamily="18" charset="0"/>
                        </a:rPr>
                        <a:t>Inside normal/regular inner class, static members can’t be declared.</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dirty="0">
                          <a:effectLst/>
                          <a:latin typeface="Times New Roman" panose="02020603050405020304" pitchFamily="18" charset="0"/>
                          <a:cs typeface="Times New Roman" panose="02020603050405020304" pitchFamily="18" charset="0"/>
                        </a:rPr>
                        <a:t>Inside static nested class, static members can be declared.</a:t>
                      </a:r>
                      <a:endParaRPr lang="en-US" sz="1600" b="0" dirty="0">
                        <a:effectLst/>
                        <a:latin typeface="Times New Roman" panose="02020603050405020304" pitchFamily="18" charset="0"/>
                        <a:cs typeface="Times New Roman" panose="02020603050405020304" pitchFamily="18" charset="0"/>
                      </a:endParaRPr>
                    </a:p>
                  </a:txBody>
                  <a:tcPr marL="78149" marR="78149" marT="109409" marB="109409" anchor="ctr"/>
                </a:tc>
              </a:tr>
              <a:tr h="904208">
                <a:tc>
                  <a:txBody>
                    <a:bodyPr/>
                    <a:lstStyle/>
                    <a:p>
                      <a:pPr algn="l" fontAlgn="base"/>
                      <a:r>
                        <a:rPr lang="en-US" sz="1600">
                          <a:effectLst/>
                          <a:latin typeface="Times New Roman" panose="02020603050405020304" pitchFamily="18" charset="0"/>
                          <a:cs typeface="Times New Roman" panose="02020603050405020304" pitchFamily="18" charset="0"/>
                        </a:rPr>
                        <a:t>3.</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a:effectLst/>
                          <a:latin typeface="Times New Roman" panose="02020603050405020304" pitchFamily="18" charset="0"/>
                          <a:cs typeface="Times New Roman" panose="02020603050405020304" pitchFamily="18" charset="0"/>
                        </a:rPr>
                        <a:t>As main() method can’t be declared, regular inner class can’t be invoked directly from the command prompt.</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dirty="0">
                          <a:effectLst/>
                          <a:latin typeface="Times New Roman" panose="02020603050405020304" pitchFamily="18" charset="0"/>
                          <a:cs typeface="Times New Roman" panose="02020603050405020304" pitchFamily="18" charset="0"/>
                        </a:rPr>
                        <a:t>As main() method can be declared, the static nested class can be invoked directly from the command prompt.</a:t>
                      </a:r>
                      <a:endParaRPr lang="en-US" sz="1600" b="0" dirty="0">
                        <a:effectLst/>
                        <a:latin typeface="Times New Roman" panose="02020603050405020304" pitchFamily="18" charset="0"/>
                        <a:cs typeface="Times New Roman" panose="02020603050405020304" pitchFamily="18" charset="0"/>
                      </a:endParaRPr>
                    </a:p>
                  </a:txBody>
                  <a:tcPr marL="78149" marR="78149" marT="109409" marB="109409" anchor="ctr"/>
                </a:tc>
              </a:tr>
              <a:tr h="672204">
                <a:tc>
                  <a:txBody>
                    <a:bodyPr/>
                    <a:lstStyle/>
                    <a:p>
                      <a:pPr algn="l" fontAlgn="base"/>
                      <a:r>
                        <a:rPr lang="en-US" sz="1600">
                          <a:effectLst/>
                          <a:latin typeface="Times New Roman" panose="02020603050405020304" pitchFamily="18" charset="0"/>
                          <a:cs typeface="Times New Roman" panose="02020603050405020304" pitchFamily="18" charset="0"/>
                        </a:rPr>
                        <a:t>4.</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a:effectLst/>
                          <a:latin typeface="Times New Roman" panose="02020603050405020304" pitchFamily="18" charset="0"/>
                          <a:cs typeface="Times New Roman" panose="02020603050405020304" pitchFamily="18" charset="0"/>
                        </a:rPr>
                        <a:t>Both static and non static members of outer class can be accessed directly.</a:t>
                      </a:r>
                      <a:endParaRPr lang="en-US" sz="1600" b="0">
                        <a:effectLst/>
                        <a:latin typeface="Times New Roman" panose="02020603050405020304" pitchFamily="18" charset="0"/>
                        <a:cs typeface="Times New Roman" panose="02020603050405020304" pitchFamily="18" charset="0"/>
                      </a:endParaRPr>
                    </a:p>
                  </a:txBody>
                  <a:tcPr marL="78149" marR="78149" marT="109409" marB="109409" anchor="ctr"/>
                </a:tc>
                <a:tc>
                  <a:txBody>
                    <a:bodyPr/>
                    <a:lstStyle/>
                    <a:p>
                      <a:pPr algn="l" fontAlgn="base"/>
                      <a:r>
                        <a:rPr lang="en-US" sz="1600" dirty="0">
                          <a:effectLst/>
                          <a:latin typeface="Times New Roman" panose="02020603050405020304" pitchFamily="18" charset="0"/>
                          <a:cs typeface="Times New Roman" panose="02020603050405020304" pitchFamily="18" charset="0"/>
                        </a:rPr>
                        <a:t>Only a static member of outer class can be accessed directly.</a:t>
                      </a:r>
                      <a:endParaRPr lang="en-US" sz="1600" b="0" dirty="0">
                        <a:effectLst/>
                        <a:latin typeface="Times New Roman" panose="02020603050405020304" pitchFamily="18" charset="0"/>
                        <a:cs typeface="Times New Roman" panose="02020603050405020304" pitchFamily="18" charset="0"/>
                      </a:endParaRPr>
                    </a:p>
                  </a:txBody>
                  <a:tcPr marL="78149" marR="78149" marT="109409" marB="109409" anchor="ctr"/>
                </a:tc>
              </a:tr>
            </a:tbl>
          </a:graphicData>
        </a:graphic>
      </p:graphicFrame>
      <p:sp>
        <p:nvSpPr>
          <p:cNvPr id="7" name="Title 1"/>
          <p:cNvSpPr txBox="1">
            <a:spLocks/>
          </p:cNvSpPr>
          <p:nvPr/>
        </p:nvSpPr>
        <p:spPr bwMode="auto">
          <a:xfrm>
            <a:off x="419100" y="154723"/>
            <a:ext cx="2552700" cy="454878"/>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smtClean="0">
                <a:solidFill>
                  <a:srgbClr val="002060"/>
                </a:solidFill>
                <a:latin typeface="Times New Roman" panose="02020603050405020304" pitchFamily="18" charset="0"/>
                <a:ea typeface="+mn-ea"/>
                <a:cs typeface="Times New Roman" panose="02020603050405020304" pitchFamily="18" charset="0"/>
              </a:rPr>
              <a:t>Nested Class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sp>
        <p:nvSpPr>
          <p:cNvPr id="8" name="Rectangle 2"/>
          <p:cNvSpPr>
            <a:spLocks noGrp="1" noChangeArrowheads="1"/>
          </p:cNvSpPr>
          <p:nvPr>
            <p:ph type="title"/>
          </p:nvPr>
        </p:nvSpPr>
        <p:spPr>
          <a:xfrm>
            <a:off x="3124200" y="154723"/>
            <a:ext cx="2133599" cy="5078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3000" dirty="0" smtClean="0">
                <a:solidFill>
                  <a:srgbClr val="FF0000"/>
                </a:solidFill>
                <a:latin typeface="Times New Roman" panose="02020603050405020304" pitchFamily="18" charset="0"/>
                <a:ea typeface="+mn-ea"/>
                <a:cs typeface="Times New Roman" panose="02020603050405020304" pitchFamily="18" charset="0"/>
              </a:rPr>
              <a:t>Comparison</a:t>
            </a:r>
            <a:endParaRPr lang="en-US" sz="3000"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838185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41</a:t>
            </a:fld>
            <a:endParaRPr lang="en-US" altLang="en-US" dirty="0"/>
          </a:p>
        </p:txBody>
      </p:sp>
      <p:sp>
        <p:nvSpPr>
          <p:cNvPr id="6" name="Title 1"/>
          <p:cNvSpPr txBox="1">
            <a:spLocks/>
          </p:cNvSpPr>
          <p:nvPr/>
        </p:nvSpPr>
        <p:spPr bwMode="auto">
          <a:xfrm>
            <a:off x="419100" y="154723"/>
            <a:ext cx="2552700" cy="454878"/>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a:extLst/>
        </p:spPr>
        <p:txBody>
          <a:bodyPr vert="horz" wrap="square" lIns="90000" tIns="46800" rIns="90000" bIns="4680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smtClean="0">
                <a:solidFill>
                  <a:srgbClr val="002060"/>
                </a:solidFill>
                <a:latin typeface="Times New Roman" panose="02020603050405020304" pitchFamily="18" charset="0"/>
                <a:ea typeface="+mn-ea"/>
                <a:cs typeface="Times New Roman" panose="02020603050405020304" pitchFamily="18" charset="0"/>
              </a:rPr>
              <a:t>Nested Class</a:t>
            </a:r>
            <a:endParaRPr lang="en-US" sz="3000" b="1" dirty="0">
              <a:solidFill>
                <a:srgbClr val="002060"/>
              </a:solidFill>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1"/>
            <a:ext cx="5951513" cy="5744012"/>
          </a:xfrm>
          <a:prstGeom prst="rect">
            <a:avLst/>
          </a:prstGeom>
        </p:spPr>
      </p:pic>
      <p:sp>
        <p:nvSpPr>
          <p:cNvPr id="3" name="TextBox 2"/>
          <p:cNvSpPr txBox="1"/>
          <p:nvPr/>
        </p:nvSpPr>
        <p:spPr>
          <a:xfrm>
            <a:off x="3810001" y="4019490"/>
            <a:ext cx="2362200" cy="400110"/>
          </a:xfrm>
          <a:prstGeom prst="rect">
            <a:avLst/>
          </a:prstGeom>
          <a:noFill/>
        </p:spPr>
        <p:txBody>
          <a:bodyPr wrap="square" rtlCol="0">
            <a:spAutoFit/>
          </a:bodyPr>
          <a:lstStyle/>
          <a:p>
            <a:r>
              <a:rPr lang="en-US" sz="2000" b="1" dirty="0" smtClean="0">
                <a:solidFill>
                  <a:srgbClr val="FF0000"/>
                </a:solidFill>
                <a:latin typeface="Times New Roman" panose="02020603050405020304" pitchFamily="18" charset="0"/>
                <a:cs typeface="Times New Roman" panose="02020603050405020304" pitchFamily="18" charset="0"/>
              </a:rPr>
              <a:t>Compilation Error</a:t>
            </a:r>
            <a:endParaRPr 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12" name="Straight Arrow Connector 11"/>
          <p:cNvCxnSpPr>
            <a:stCxn id="3" idx="3"/>
          </p:cNvCxnSpPr>
          <p:nvPr/>
        </p:nvCxnSpPr>
        <p:spPr>
          <a:xfrm>
            <a:off x="6172201" y="4219545"/>
            <a:ext cx="76199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476999" y="1495923"/>
            <a:ext cx="5410201" cy="1247277"/>
          </a:xfrm>
          <a:prstGeom prst="rect">
            <a:avLst/>
          </a:prstGeom>
          <a:solidFill>
            <a:schemeClr val="lt1">
              <a:alpha val="0"/>
            </a:schemeClr>
          </a:solidFill>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p:cNvSpPr/>
          <p:nvPr/>
        </p:nvSpPr>
        <p:spPr>
          <a:xfrm>
            <a:off x="6476999" y="352921"/>
            <a:ext cx="5410201" cy="1094879"/>
          </a:xfrm>
          <a:prstGeom prst="rect">
            <a:avLst/>
          </a:prstGeom>
          <a:solidFill>
            <a:schemeClr val="lt1">
              <a:alpha val="0"/>
            </a:schemeClr>
          </a:solidFill>
          <a:ln w="28575">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Rectangle 17"/>
          <p:cNvSpPr/>
          <p:nvPr/>
        </p:nvSpPr>
        <p:spPr>
          <a:xfrm>
            <a:off x="4173941" y="626640"/>
            <a:ext cx="1744686" cy="547440"/>
          </a:xfrm>
          <a:prstGeom prst="rect">
            <a:avLst/>
          </a:prstGeom>
          <a:solidFill>
            <a:schemeClr val="lt1">
              <a:alpha val="0"/>
            </a:schemeClr>
          </a:solidFill>
          <a:ln w="28575">
            <a:noFill/>
          </a:ln>
        </p:spPr>
        <p:style>
          <a:lnRef idx="2">
            <a:schemeClr val="accent6"/>
          </a:lnRef>
          <a:fillRef idx="1">
            <a:schemeClr val="lt1"/>
          </a:fillRef>
          <a:effectRef idx="0">
            <a:schemeClr val="accent6"/>
          </a:effectRef>
          <a:fontRef idx="minor">
            <a:schemeClr val="dk1"/>
          </a:fontRef>
        </p:style>
        <p:txBody>
          <a:bodyPr rtlCol="0" anchor="ctr"/>
          <a:lstStyle/>
          <a:p>
            <a:pPr algn="r"/>
            <a:r>
              <a:rPr lang="en-US" sz="2000" b="1" dirty="0" smtClean="0">
                <a:solidFill>
                  <a:srgbClr val="7030A0"/>
                </a:solidFill>
                <a:latin typeface="Times New Roman" panose="02020603050405020304" pitchFamily="18" charset="0"/>
                <a:cs typeface="Times New Roman" panose="02020603050405020304" pitchFamily="18" charset="0"/>
              </a:rPr>
              <a:t>Inner class</a:t>
            </a:r>
            <a:endParaRPr lang="en-US" sz="2000" b="1" dirty="0">
              <a:solidFill>
                <a:srgbClr val="7030A0"/>
              </a:solidFill>
              <a:latin typeface="Times New Roman" panose="02020603050405020304" pitchFamily="18" charset="0"/>
              <a:cs typeface="Times New Roman" panose="02020603050405020304" pitchFamily="18" charset="0"/>
            </a:endParaRPr>
          </a:p>
        </p:txBody>
      </p:sp>
      <p:cxnSp>
        <p:nvCxnSpPr>
          <p:cNvPr id="20" name="Straight Arrow Connector 19"/>
          <p:cNvCxnSpPr>
            <a:stCxn id="15" idx="1"/>
          </p:cNvCxnSpPr>
          <p:nvPr/>
        </p:nvCxnSpPr>
        <p:spPr>
          <a:xfrm flipH="1" flipV="1">
            <a:off x="5935687" y="900360"/>
            <a:ext cx="541312" cy="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173941" y="1744526"/>
            <a:ext cx="1744686" cy="547440"/>
          </a:xfrm>
          <a:prstGeom prst="rect">
            <a:avLst/>
          </a:prstGeom>
          <a:solidFill>
            <a:schemeClr val="lt1">
              <a:alpha val="0"/>
            </a:schemeClr>
          </a:solidFill>
          <a:ln w="28575">
            <a:noFill/>
          </a:ln>
        </p:spPr>
        <p:style>
          <a:lnRef idx="2">
            <a:schemeClr val="accent6"/>
          </a:lnRef>
          <a:fillRef idx="1">
            <a:schemeClr val="lt1"/>
          </a:fillRef>
          <a:effectRef idx="0">
            <a:schemeClr val="accent6"/>
          </a:effectRef>
          <a:fontRef idx="minor">
            <a:schemeClr val="dk1"/>
          </a:fontRef>
        </p:style>
        <p:txBody>
          <a:bodyPr rtlCol="0" anchor="ctr"/>
          <a:lstStyle/>
          <a:p>
            <a:pPr algn="r"/>
            <a:r>
              <a:rPr lang="en-US" sz="2000" b="1" dirty="0" smtClean="0">
                <a:solidFill>
                  <a:schemeClr val="accent2">
                    <a:lumMod val="75000"/>
                  </a:schemeClr>
                </a:solidFill>
                <a:latin typeface="Times New Roman" panose="02020603050405020304" pitchFamily="18" charset="0"/>
                <a:cs typeface="Times New Roman" panose="02020603050405020304" pitchFamily="18" charset="0"/>
              </a:rPr>
              <a:t>Static class</a:t>
            </a:r>
            <a:endParaRPr lang="en-US" sz="2000" b="1" dirty="0">
              <a:solidFill>
                <a:schemeClr val="accent2">
                  <a:lumMod val="75000"/>
                </a:schemeClr>
              </a:solidFill>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flipH="1" flipV="1">
            <a:off x="5935687" y="2018246"/>
            <a:ext cx="541312" cy="1"/>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
          <p:cNvSpPr>
            <a:spLocks noGrp="1" noChangeArrowheads="1"/>
          </p:cNvSpPr>
          <p:nvPr>
            <p:ph type="title"/>
          </p:nvPr>
        </p:nvSpPr>
        <p:spPr>
          <a:xfrm>
            <a:off x="3072973" y="166197"/>
            <a:ext cx="2133599" cy="507831"/>
          </a:xfrm>
          <a:noFill/>
          <a:ln>
            <a:noFill/>
          </a:ln>
          <a:effectLst>
            <a:outerShdw blurRad="50800" dist="38100" algn="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91440" tIns="45720" rIns="91440" bIns="45720" rtlCol="0" anchor="ctr">
            <a:spAutoFit/>
          </a:bodyPr>
          <a:lstStyle/>
          <a:p>
            <a:r>
              <a:rPr lang="en-US" sz="3000" dirty="0" smtClean="0">
                <a:solidFill>
                  <a:srgbClr val="FF0000"/>
                </a:solidFill>
                <a:latin typeface="Times New Roman" panose="02020603050405020304" pitchFamily="18" charset="0"/>
                <a:ea typeface="+mn-ea"/>
                <a:cs typeface="Times New Roman" panose="02020603050405020304" pitchFamily="18" charset="0"/>
              </a:rPr>
              <a:t>Example</a:t>
            </a:r>
            <a:endParaRPr lang="en-US" sz="3000" dirty="0">
              <a:solidFill>
                <a:srgbClr val="FF0000"/>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0887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par>
                                <p:cTn id="13" presetID="16" presetClass="entr" presetSubtype="21"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par>
                                <p:cTn id="24" presetID="16" presetClass="entr" presetSubtype="21"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inVertical)">
                                      <p:cBhvr>
                                        <p:cTn id="26" dur="500"/>
                                        <p:tgtEl>
                                          <p:spTgt spid="2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animBg="1"/>
      <p:bldP spid="18" grpId="0" animBg="1"/>
      <p:bldP spid="2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42</a:t>
            </a:fld>
            <a:endParaRPr lang="en-US" altLang="en-US" dirty="0"/>
          </a:p>
        </p:txBody>
      </p:sp>
      <p:sp>
        <p:nvSpPr>
          <p:cNvPr id="6" name="Text Box 1"/>
          <p:cNvSpPr txBox="1">
            <a:spLocks noChangeArrowheads="1"/>
          </p:cNvSpPr>
          <p:nvPr/>
        </p:nvSpPr>
        <p:spPr bwMode="auto">
          <a:xfrm>
            <a:off x="4133849" y="2590800"/>
            <a:ext cx="3924301" cy="4572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vert="horz" wrap="square" lIns="90000" tIns="46800" rIns="90000" bIns="46800" numCol="1" anchor="ctr" anchorCtr="0" compatLnSpc="1">
            <a:prstTxWarp prst="textNoShape">
              <a:avLst/>
            </a:prstTxWarp>
          </a:bodyPr>
          <a:lstStyle>
            <a:defPPr>
              <a:defRPr lang="en-US"/>
            </a:defPPr>
            <a:lvl1pPr defTabSz="457200">
              <a:lnSpc>
                <a:spcPct val="90000"/>
              </a:lnSpc>
              <a:buClr>
                <a:srgbClr val="000000"/>
              </a:buClr>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000" b="1">
                <a:solidFill>
                  <a:srgbClr val="002060"/>
                </a:solidFill>
                <a:latin typeface="Times New Roman" panose="02020603050405020304" pitchFamily="18" charset="0"/>
                <a:ea typeface="+mj-ea"/>
                <a:cs typeface="Times New Roman" panose="02020603050405020304" pitchFamily="18" charset="0"/>
              </a:defRPr>
            </a:lvl1pPr>
            <a:lvl2pPr>
              <a:lnSpc>
                <a:spcPct val="90000"/>
              </a:lnSpc>
              <a:defRPr sz="4400">
                <a:latin typeface="Calibri Light" panose="020F0302020204030204" pitchFamily="34" charset="0"/>
              </a:defRPr>
            </a:lvl2pPr>
            <a:lvl3pPr>
              <a:lnSpc>
                <a:spcPct val="90000"/>
              </a:lnSpc>
              <a:defRPr sz="4400">
                <a:latin typeface="Calibri Light" panose="020F0302020204030204" pitchFamily="34" charset="0"/>
              </a:defRPr>
            </a:lvl3pPr>
            <a:lvl4pPr>
              <a:lnSpc>
                <a:spcPct val="90000"/>
              </a:lnSpc>
              <a:defRPr sz="4400">
                <a:latin typeface="Calibri Light" panose="020F0302020204030204" pitchFamily="34" charset="0"/>
              </a:defRPr>
            </a:lvl4pPr>
            <a:lvl5pPr>
              <a:lnSpc>
                <a:spcPct val="90000"/>
              </a:lnSpc>
              <a:defRPr sz="4400">
                <a:latin typeface="Calibri Light" panose="020F0302020204030204" pitchFamily="34" charset="0"/>
              </a:defRPr>
            </a:lvl5pPr>
            <a:lvl6pPr marL="457200" fontAlgn="base">
              <a:lnSpc>
                <a:spcPct val="90000"/>
              </a:lnSpc>
              <a:spcBef>
                <a:spcPct val="0"/>
              </a:spcBef>
              <a:spcAft>
                <a:spcPct val="0"/>
              </a:spcAft>
              <a:defRPr sz="4400">
                <a:latin typeface="Calibri Light" panose="020F0302020204030204" pitchFamily="34" charset="0"/>
              </a:defRPr>
            </a:lvl6pPr>
            <a:lvl7pPr marL="914400" fontAlgn="base">
              <a:lnSpc>
                <a:spcPct val="90000"/>
              </a:lnSpc>
              <a:spcBef>
                <a:spcPct val="0"/>
              </a:spcBef>
              <a:spcAft>
                <a:spcPct val="0"/>
              </a:spcAft>
              <a:defRPr sz="4400">
                <a:latin typeface="Calibri Light" panose="020F0302020204030204" pitchFamily="34" charset="0"/>
              </a:defRPr>
            </a:lvl7pPr>
            <a:lvl8pPr marL="1371600" fontAlgn="base">
              <a:lnSpc>
                <a:spcPct val="90000"/>
              </a:lnSpc>
              <a:spcBef>
                <a:spcPct val="0"/>
              </a:spcBef>
              <a:spcAft>
                <a:spcPct val="0"/>
              </a:spcAft>
              <a:defRPr sz="4400">
                <a:latin typeface="Calibri Light" panose="020F0302020204030204" pitchFamily="34" charset="0"/>
              </a:defRPr>
            </a:lvl8pPr>
            <a:lvl9pPr marL="1828800" fontAlgn="base">
              <a:lnSpc>
                <a:spcPct val="90000"/>
              </a:lnSpc>
              <a:spcBef>
                <a:spcPct val="0"/>
              </a:spcBef>
              <a:spcAft>
                <a:spcPct val="0"/>
              </a:spcAft>
              <a:defRPr sz="4400">
                <a:latin typeface="Calibri Light" panose="020F0302020204030204" pitchFamily="34" charset="0"/>
              </a:defRPr>
            </a:lvl9pPr>
          </a:lstStyle>
          <a:p>
            <a:pPr algn="ctr"/>
            <a:r>
              <a:rPr lang="en-IN" dirty="0" smtClean="0"/>
              <a:t>Module – 1 Completed</a:t>
            </a:r>
            <a:endParaRPr lang="en-US" dirty="0"/>
          </a:p>
        </p:txBody>
      </p:sp>
    </p:spTree>
    <p:extLst>
      <p:ext uri="{BB962C8B-B14F-4D97-AF65-F5344CB8AC3E}">
        <p14:creationId xmlns:p14="http://schemas.microsoft.com/office/powerpoint/2010/main" val="26799498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15223</TotalTime>
  <Words>2942</Words>
  <Application>Microsoft Office PowerPoint</Application>
  <PresentationFormat>Custom</PresentationFormat>
  <Paragraphs>511</Paragraphs>
  <Slides>42</Slides>
  <Notes>13</Notes>
  <HiddenSlides>0</HiddenSlides>
  <MMClips>0</MMClip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Office Theme</vt:lpstr>
      <vt:lpstr>1_Office Theme</vt:lpstr>
      <vt:lpstr>PowerPoint Presentation</vt:lpstr>
      <vt:lpstr>Contents</vt:lpstr>
      <vt:lpstr>Object Oriented Concepts</vt:lpstr>
      <vt:lpstr>Object Oriented Concepts</vt:lpstr>
      <vt:lpstr>Object Oriented Concepts</vt:lpstr>
      <vt:lpstr>Classes and Objects</vt:lpstr>
      <vt:lpstr>Classes contain data definitions</vt:lpstr>
      <vt:lpstr>PowerPoint Presentation</vt:lpstr>
      <vt:lpstr>Classes contain methods</vt:lpstr>
      <vt:lpstr>Methods contain statements and Parameters</vt:lpstr>
      <vt:lpstr>PowerPoint Presentation</vt:lpstr>
      <vt:lpstr>PowerPoint Presentation</vt:lpstr>
      <vt:lpstr>Contents</vt:lpstr>
      <vt:lpstr>Methods can be overloaded</vt:lpstr>
      <vt:lpstr>PowerPoint Presentation</vt:lpstr>
      <vt:lpstr>PowerPoint Presentation</vt:lpstr>
      <vt:lpstr>Classes can contain constructors</vt:lpstr>
      <vt:lpstr>Classes can contain constructors</vt:lpstr>
      <vt:lpstr>PowerPoint Presentation</vt:lpstr>
      <vt:lpstr>Contents</vt:lpstr>
      <vt:lpstr>Constructors can be overloaded</vt:lpstr>
      <vt:lpstr>PowerPoint Presentation</vt:lpstr>
      <vt:lpstr>Diagram of program structure</vt:lpstr>
      <vt:lpstr>A complete program</vt:lpstr>
      <vt:lpstr>PowerPoint Presentation</vt:lpstr>
      <vt:lpstr>Object Instantiation</vt:lpstr>
      <vt:lpstr>Accessing Members through objects</vt:lpstr>
      <vt:lpstr>PowerPoint Presentation</vt:lpstr>
      <vt:lpstr>Problem statement</vt:lpstr>
      <vt:lpstr>Contents</vt:lpstr>
      <vt:lpstr>Solution</vt:lpstr>
      <vt:lpstr>PowerPoint Presentation</vt:lpstr>
      <vt:lpstr>PowerPoint Presentation</vt:lpstr>
      <vt:lpstr>PowerPoint Presentation</vt:lpstr>
      <vt:lpstr>PowerPoint Presentation</vt:lpstr>
      <vt:lpstr>Contents</vt:lpstr>
      <vt:lpstr>Nested Class</vt:lpstr>
      <vt:lpstr>Nested Class</vt:lpstr>
      <vt:lpstr>PowerPoint Presentation</vt:lpstr>
      <vt:lpstr>Comparison</vt:lpstr>
      <vt:lpstr>Example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OM</cp:lastModifiedBy>
  <cp:revision>472</cp:revision>
  <dcterms:created xsi:type="dcterms:W3CDTF">2007-08-28T09:12:38Z</dcterms:created>
  <dcterms:modified xsi:type="dcterms:W3CDTF">2022-10-21T03:29:13Z</dcterms:modified>
  <cp:contentStatus/>
</cp:coreProperties>
</file>