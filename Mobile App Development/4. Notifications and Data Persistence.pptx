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0"/>
  </p:notesMasterIdLst>
  <p:sldIdLst>
    <p:sldId id="316" r:id="rId5"/>
    <p:sldId id="644" r:id="rId6"/>
    <p:sldId id="258" r:id="rId7"/>
    <p:sldId id="261" r:id="rId8"/>
    <p:sldId id="262" r:id="rId9"/>
    <p:sldId id="263" r:id="rId10"/>
    <p:sldId id="266" r:id="rId11"/>
    <p:sldId id="267" r:id="rId12"/>
    <p:sldId id="647" r:id="rId13"/>
    <p:sldId id="648" r:id="rId14"/>
    <p:sldId id="265" r:id="rId15"/>
    <p:sldId id="260" r:id="rId16"/>
    <p:sldId id="283" r:id="rId17"/>
    <p:sldId id="281" r:id="rId18"/>
    <p:sldId id="280" r:id="rId19"/>
    <p:sldId id="278" r:id="rId20"/>
    <p:sldId id="277" r:id="rId21"/>
    <p:sldId id="276" r:id="rId22"/>
    <p:sldId id="272" r:id="rId23"/>
    <p:sldId id="270" r:id="rId24"/>
    <p:sldId id="269" r:id="rId25"/>
    <p:sldId id="268" r:id="rId26"/>
    <p:sldId id="646" r:id="rId27"/>
    <p:sldId id="555" r:id="rId28"/>
    <p:sldId id="444"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B493979-1346-467C-A3A9-53EE23BBA654}">
          <p14:sldIdLst>
            <p14:sldId id="316"/>
            <p14:sldId id="644"/>
            <p14:sldId id="258"/>
            <p14:sldId id="261"/>
            <p14:sldId id="262"/>
            <p14:sldId id="263"/>
            <p14:sldId id="266"/>
            <p14:sldId id="267"/>
            <p14:sldId id="647"/>
            <p14:sldId id="648"/>
            <p14:sldId id="265"/>
            <p14:sldId id="260"/>
            <p14:sldId id="283"/>
            <p14:sldId id="281"/>
            <p14:sldId id="280"/>
            <p14:sldId id="278"/>
            <p14:sldId id="277"/>
            <p14:sldId id="276"/>
            <p14:sldId id="272"/>
            <p14:sldId id="270"/>
            <p14:sldId id="269"/>
            <p14:sldId id="268"/>
            <p14:sldId id="646"/>
            <p14:sldId id="555"/>
            <p14:sldId id="44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416BD65-B0B3-C555-EBDA-CE7451F6D8F8}" v="265" dt="2021-08-18T05:11:40.6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26" autoAdjust="0"/>
    <p:restoredTop sz="94434" autoAdjust="0"/>
  </p:normalViewPr>
  <p:slideViewPr>
    <p:cSldViewPr snapToGrid="0">
      <p:cViewPr varScale="1">
        <p:scale>
          <a:sx n="61" d="100"/>
          <a:sy n="61" d="100"/>
        </p:scale>
        <p:origin x="1104" y="78"/>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shmita Kumari-Asst. Prof-CSE" userId="S::sushmitakumari@presidencyuniversity.in::4295f502-0da5-438e-aa82-058e58931625" providerId="AD" clId="Web-{F416BD65-B0B3-C555-EBDA-CE7451F6D8F8}"/>
    <pc:docChg chg="modSld">
      <pc:chgData name="Sushmita Kumari-Asst. Prof-CSE" userId="S::sushmitakumari@presidencyuniversity.in::4295f502-0da5-438e-aa82-058e58931625" providerId="AD" clId="Web-{F416BD65-B0B3-C555-EBDA-CE7451F6D8F8}" dt="2021-08-18T05:11:18.609" v="210"/>
      <pc:docMkLst>
        <pc:docMk/>
      </pc:docMkLst>
      <pc:sldChg chg="modSp">
        <pc:chgData name="Sushmita Kumari-Asst. Prof-CSE" userId="S::sushmitakumari@presidencyuniversity.in::4295f502-0da5-438e-aa82-058e58931625" providerId="AD" clId="Web-{F416BD65-B0B3-C555-EBDA-CE7451F6D8F8}" dt="2021-08-18T05:07:51.466" v="63" actId="20577"/>
        <pc:sldMkLst>
          <pc:docMk/>
          <pc:sldMk cId="1960524587" sldId="316"/>
        </pc:sldMkLst>
        <pc:spChg chg="mod">
          <ac:chgData name="Sushmita Kumari-Asst. Prof-CSE" userId="S::sushmitakumari@presidencyuniversity.in::4295f502-0da5-438e-aa82-058e58931625" providerId="AD" clId="Web-{F416BD65-B0B3-C555-EBDA-CE7451F6D8F8}" dt="2021-08-18T05:07:51.466" v="63" actId="20577"/>
          <ac:spMkLst>
            <pc:docMk/>
            <pc:sldMk cId="1960524587" sldId="316"/>
            <ac:spMk id="9" creationId="{00000000-0000-0000-0000-000000000000}"/>
          </ac:spMkLst>
        </pc:spChg>
      </pc:sldChg>
      <pc:sldChg chg="modSp">
        <pc:chgData name="Sushmita Kumari-Asst. Prof-CSE" userId="S::sushmitakumari@presidencyuniversity.in::4295f502-0da5-438e-aa82-058e58931625" providerId="AD" clId="Web-{F416BD65-B0B3-C555-EBDA-CE7451F6D8F8}" dt="2021-08-18T05:11:18.609" v="210"/>
        <pc:sldMkLst>
          <pc:docMk/>
          <pc:sldMk cId="1581720083" sldId="320"/>
        </pc:sldMkLst>
        <pc:graphicFrameChg chg="mod modGraphic">
          <ac:chgData name="Sushmita Kumari-Asst. Prof-CSE" userId="S::sushmitakumari@presidencyuniversity.in::4295f502-0da5-438e-aa82-058e58931625" providerId="AD" clId="Web-{F416BD65-B0B3-C555-EBDA-CE7451F6D8F8}" dt="2021-08-18T05:11:18.609" v="210"/>
          <ac:graphicFrameMkLst>
            <pc:docMk/>
            <pc:sldMk cId="1581720083" sldId="320"/>
            <ac:graphicFrameMk id="3" creationId="{00000000-0000-0000-0000-00000000000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DF1B3B-B306-4D45-A67D-85F2A56A4CDC}" type="datetimeFigureOut">
              <a:rPr lang="en-US" smtClean="0"/>
              <a:t>11/7/2023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C163B0-53B0-42D2-A9F9-D67B6219025F}" type="slidenum">
              <a:rPr lang="en-US" smtClean="0"/>
              <a:t>‹#›</a:t>
            </a:fld>
            <a:endParaRPr lang="en-US"/>
          </a:p>
        </p:txBody>
      </p:sp>
    </p:spTree>
    <p:extLst>
      <p:ext uri="{BB962C8B-B14F-4D97-AF65-F5344CB8AC3E}">
        <p14:creationId xmlns:p14="http://schemas.microsoft.com/office/powerpoint/2010/main" val="39878288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txBox="1">
            <a:spLocks noGrp="1" noChangeArrowheads="1"/>
          </p:cNvSpPr>
          <p:nvPr/>
        </p:nvSpPr>
        <p:spPr bwMode="auto">
          <a:xfrm>
            <a:off x="3883025" y="9613900"/>
            <a:ext cx="2971800"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930" tIns="46465" rIns="92930" bIns="46465" anchor="b"/>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r"/>
            <a:fld id="{BDB58AF8-DD79-4852-918D-DEA312CB74B9}" type="slidenum">
              <a:rPr lang="en-US" altLang="en-US" sz="1200">
                <a:latin typeface="Times New Roman" panose="02020603050405020304" pitchFamily="18" charset="0"/>
              </a:rPr>
              <a:pPr algn="r"/>
              <a:t>25</a:t>
            </a:fld>
            <a:endParaRPr lang="en-US" altLang="en-US" sz="1200">
              <a:latin typeface="Times New Roman" panose="02020603050405020304" pitchFamily="18" charset="0"/>
            </a:endParaRPr>
          </a:p>
        </p:txBody>
      </p:sp>
      <p:sp>
        <p:nvSpPr>
          <p:cNvPr id="10137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138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extLst>
      <p:ext uri="{BB962C8B-B14F-4D97-AF65-F5344CB8AC3E}">
        <p14:creationId xmlns:p14="http://schemas.microsoft.com/office/powerpoint/2010/main" val="22848590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096237"/>
            <a:ext cx="103632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18AA6201-6C0A-41A0-A7A8-D4322D28CC13}" type="datetime1">
              <a:rPr lang="en-US">
                <a:solidFill>
                  <a:prstClr val="black">
                    <a:tint val="75000"/>
                  </a:prstClr>
                </a:solidFill>
              </a:rPr>
              <a:pPr>
                <a:defRPr/>
              </a:pPr>
              <a:t>11/7/2023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a:xfrm>
            <a:off x="9446684" y="6381751"/>
            <a:ext cx="2743200" cy="365125"/>
          </a:xfrm>
        </p:spPr>
        <p:txBody>
          <a:bodyPr/>
          <a:lstStyle>
            <a:lvl1pPr>
              <a:defRPr sz="1600" b="1">
                <a:solidFill>
                  <a:schemeClr val="bg1"/>
                </a:solidFill>
                <a:latin typeface="Cambria" panose="02040503050406030204" pitchFamily="18" charset="0"/>
              </a:defRPr>
            </a:lvl1pPr>
          </a:lstStyle>
          <a:p>
            <a:pPr>
              <a:defRPr/>
            </a:pPr>
            <a:fld id="{E4CB50F8-5155-4DE3-85C9-6A53229912FA}" type="slidenum">
              <a:rPr lang="en-US">
                <a:solidFill>
                  <a:prstClr val="white"/>
                </a:solidFill>
              </a:rPr>
              <a:pPr>
                <a:defRPr/>
              </a:pPr>
              <a:t>‹#›</a:t>
            </a:fld>
            <a:endParaRPr lang="en-US">
              <a:solidFill>
                <a:prstClr val="white"/>
              </a:solidFill>
            </a:endParaRPr>
          </a:p>
        </p:txBody>
      </p:sp>
    </p:spTree>
    <p:extLst>
      <p:ext uri="{BB962C8B-B14F-4D97-AF65-F5344CB8AC3E}">
        <p14:creationId xmlns:p14="http://schemas.microsoft.com/office/powerpoint/2010/main" val="3921482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12875"/>
            <a:ext cx="10515600" cy="832370"/>
          </a:xfrm>
        </p:spPr>
        <p:txBody>
          <a:bodyPr/>
          <a:lstStyle/>
          <a:p>
            <a:r>
              <a:rPr lang="en-US"/>
              <a:t>Click to edit Master title style</a:t>
            </a:r>
            <a:endParaRPr lang="en-US" dirty="0"/>
          </a:p>
        </p:txBody>
      </p:sp>
      <p:sp>
        <p:nvSpPr>
          <p:cNvPr id="3" name="Content Placeholder 2"/>
          <p:cNvSpPr>
            <a:spLocks noGrp="1"/>
          </p:cNvSpPr>
          <p:nvPr>
            <p:ph idx="1"/>
          </p:nvPr>
        </p:nvSpPr>
        <p:spPr>
          <a:xfrm>
            <a:off x="838200" y="1306286"/>
            <a:ext cx="10515600" cy="387966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6420D92F-E528-45A2-84BF-2357365708EB}" type="datetime1">
              <a:rPr lang="en-US">
                <a:solidFill>
                  <a:prstClr val="black">
                    <a:tint val="75000"/>
                  </a:prstClr>
                </a:solidFill>
              </a:rPr>
              <a:pPr>
                <a:defRPr/>
              </a:pPr>
              <a:t>11/7/2023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a:xfrm>
            <a:off x="9414933" y="6429376"/>
            <a:ext cx="2743200" cy="365125"/>
          </a:xfrm>
        </p:spPr>
        <p:txBody>
          <a:bodyPr/>
          <a:lstStyle>
            <a:lvl1pPr>
              <a:defRPr sz="1400" b="1">
                <a:solidFill>
                  <a:schemeClr val="bg1"/>
                </a:solidFill>
              </a:defRPr>
            </a:lvl1pPr>
          </a:lstStyle>
          <a:p>
            <a:pPr>
              <a:defRPr/>
            </a:pPr>
            <a:fld id="{882D827A-045F-4F8B-BED3-F1EC0FC2FCF3}" type="slidenum">
              <a:rPr lang="en-US">
                <a:solidFill>
                  <a:prstClr val="white"/>
                </a:solidFill>
              </a:rPr>
              <a:pPr>
                <a:defRPr/>
              </a:pPr>
              <a:t>‹#›</a:t>
            </a:fld>
            <a:endParaRPr lang="en-US">
              <a:solidFill>
                <a:prstClr val="white"/>
              </a:solidFill>
            </a:endParaRPr>
          </a:p>
        </p:txBody>
      </p:sp>
    </p:spTree>
    <p:extLst>
      <p:ext uri="{BB962C8B-B14F-4D97-AF65-F5344CB8AC3E}">
        <p14:creationId xmlns:p14="http://schemas.microsoft.com/office/powerpoint/2010/main" val="42404680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730024"/>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1" y="3727316"/>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vl1pPr>
          </a:lstStyle>
          <a:p>
            <a:pPr>
              <a:defRPr/>
            </a:pPr>
            <a:fld id="{39E5B230-EA38-4665-ADC0-71B3345C5F6E}" type="datetime1">
              <a:rPr lang="en-US">
                <a:solidFill>
                  <a:prstClr val="black">
                    <a:tint val="75000"/>
                  </a:prstClr>
                </a:solidFill>
              </a:rPr>
              <a:pPr>
                <a:defRPr/>
              </a:pPr>
              <a:t>11/7/2023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0EE491E9-2B1D-45C6-8F4D-3DE62C53D0EB}" type="slidenum">
              <a:rPr lang="en-US"/>
              <a:pPr>
                <a:defRPr/>
              </a:pPr>
              <a:t>‹#›</a:t>
            </a:fld>
            <a:endParaRPr lang="en-US"/>
          </a:p>
        </p:txBody>
      </p:sp>
    </p:spTree>
    <p:extLst>
      <p:ext uri="{BB962C8B-B14F-4D97-AF65-F5344CB8AC3E}">
        <p14:creationId xmlns:p14="http://schemas.microsoft.com/office/powerpoint/2010/main" val="40217566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EB2E8AB0-6A41-4AC8-B2A3-68A06B67AD5F}" type="datetime1">
              <a:rPr lang="en-US">
                <a:solidFill>
                  <a:prstClr val="black">
                    <a:tint val="75000"/>
                  </a:prstClr>
                </a:solidFill>
              </a:rPr>
              <a:pPr>
                <a:defRPr/>
              </a:pPr>
              <a:t>11/7/2023</a:t>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9F17AFDE-F40A-4509-AE29-94F0020A3158}" type="slidenum">
              <a:rPr lang="en-US"/>
              <a:pPr>
                <a:defRPr/>
              </a:pPr>
              <a:t>‹#›</a:t>
            </a:fld>
            <a:endParaRPr lang="en-US"/>
          </a:p>
        </p:txBody>
      </p:sp>
    </p:spTree>
    <p:extLst>
      <p:ext uri="{BB962C8B-B14F-4D97-AF65-F5344CB8AC3E}">
        <p14:creationId xmlns:p14="http://schemas.microsoft.com/office/powerpoint/2010/main" val="36179065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A30AEB85-EE21-4F28-9D93-6E28763E6CA1}" type="datetime1">
              <a:rPr lang="en-US">
                <a:solidFill>
                  <a:prstClr val="black">
                    <a:tint val="75000"/>
                  </a:prstClr>
                </a:solidFill>
              </a:rPr>
              <a:pPr>
                <a:defRPr/>
              </a:pPr>
              <a:t>11/7/2023</a:t>
            </a:fld>
            <a:endParaRPr lang="en-US">
              <a:solidFill>
                <a:prstClr val="black">
                  <a:tint val="75000"/>
                </a:prstClr>
              </a:solidFill>
            </a:endParaRPr>
          </a:p>
        </p:txBody>
      </p:sp>
      <p:sp>
        <p:nvSpPr>
          <p:cNvPr id="8"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7341EB68-FD2E-411E-B95B-9EC0482F52F3}" type="slidenum">
              <a:rPr lang="en-US"/>
              <a:pPr>
                <a:defRPr/>
              </a:pPr>
              <a:t>‹#›</a:t>
            </a:fld>
            <a:endParaRPr lang="en-US"/>
          </a:p>
        </p:txBody>
      </p:sp>
    </p:spTree>
    <p:extLst>
      <p:ext uri="{BB962C8B-B14F-4D97-AF65-F5344CB8AC3E}">
        <p14:creationId xmlns:p14="http://schemas.microsoft.com/office/powerpoint/2010/main" val="1712611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pPr>
              <a:defRPr/>
            </a:pPr>
            <a:fld id="{61EB22E0-0A4C-43BB-8A8C-84674D9A7369}" type="datetime1">
              <a:rPr lang="en-US">
                <a:solidFill>
                  <a:prstClr val="black">
                    <a:tint val="75000"/>
                  </a:prstClr>
                </a:solidFill>
              </a:rPr>
              <a:pPr>
                <a:defRPr/>
              </a:pPr>
              <a:t>11/7/2023</a:t>
            </a:fld>
            <a:endParaRPr lang="en-US">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9EAC4614-64CD-4DB6-9E09-658715B23FED}" type="slidenum">
              <a:rPr lang="en-US"/>
              <a:pPr>
                <a:defRPr/>
              </a:pPr>
              <a:t>‹#›</a:t>
            </a:fld>
            <a:endParaRPr lang="en-US"/>
          </a:p>
        </p:txBody>
      </p:sp>
    </p:spTree>
    <p:extLst>
      <p:ext uri="{BB962C8B-B14F-4D97-AF65-F5344CB8AC3E}">
        <p14:creationId xmlns:p14="http://schemas.microsoft.com/office/powerpoint/2010/main" val="4380199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F28F74C7-ECFA-481D-979C-1810367CC7C5}" type="datetime1">
              <a:rPr lang="en-US">
                <a:solidFill>
                  <a:prstClr val="black">
                    <a:tint val="75000"/>
                  </a:prstClr>
                </a:solidFill>
              </a:rPr>
              <a:pPr>
                <a:defRPr/>
              </a:pPr>
              <a:t>11/7/2023</a:t>
            </a:fld>
            <a:endParaRPr lang="en-US">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6D2A2DA5-6117-49B0-9646-4A73369C9556}" type="slidenum">
              <a:rPr lang="en-US"/>
              <a:pPr>
                <a:defRPr/>
              </a:pPr>
              <a:t>‹#›</a:t>
            </a:fld>
            <a:endParaRPr lang="en-US"/>
          </a:p>
        </p:txBody>
      </p:sp>
    </p:spTree>
    <p:extLst>
      <p:ext uri="{BB962C8B-B14F-4D97-AF65-F5344CB8AC3E}">
        <p14:creationId xmlns:p14="http://schemas.microsoft.com/office/powerpoint/2010/main" val="42359737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7DFC1D2D-F9B1-4676-95C8-CAAB0578BADA}" type="datetime1">
              <a:rPr lang="en-US">
                <a:solidFill>
                  <a:prstClr val="black">
                    <a:tint val="75000"/>
                  </a:prstClr>
                </a:solidFill>
              </a:rPr>
              <a:pPr>
                <a:defRPr/>
              </a:pPr>
              <a:t>11/7/2023</a:t>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FC95D9AF-2F62-485D-862D-BBE1E5B421D0}" type="slidenum">
              <a:rPr lang="en-US"/>
              <a:pPr>
                <a:defRPr/>
              </a:pPr>
              <a:t>‹#›</a:t>
            </a:fld>
            <a:endParaRPr lang="en-US"/>
          </a:p>
        </p:txBody>
      </p:sp>
    </p:spTree>
    <p:extLst>
      <p:ext uri="{BB962C8B-B14F-4D97-AF65-F5344CB8AC3E}">
        <p14:creationId xmlns:p14="http://schemas.microsoft.com/office/powerpoint/2010/main" val="960026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7"/>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966851A0-4B6C-429C-A547-3DB53B10F2E7}" type="datetime1">
              <a:rPr lang="en-US">
                <a:solidFill>
                  <a:prstClr val="black">
                    <a:tint val="75000"/>
                  </a:prstClr>
                </a:solidFill>
              </a:rPr>
              <a:pPr>
                <a:defRPr/>
              </a:pPr>
              <a:t>11/7/2023</a:t>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6B2E89B0-5AF0-41BE-BCF8-9908C14E1820}" type="slidenum">
              <a:rPr lang="en-US"/>
              <a:pPr>
                <a:defRPr/>
              </a:pPr>
              <a:t>‹#›</a:t>
            </a:fld>
            <a:endParaRPr lang="en-US"/>
          </a:p>
        </p:txBody>
      </p:sp>
    </p:spTree>
    <p:extLst>
      <p:ext uri="{BB962C8B-B14F-4D97-AF65-F5344CB8AC3E}">
        <p14:creationId xmlns:p14="http://schemas.microsoft.com/office/powerpoint/2010/main" val="898142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2B8B53A7-320D-4314-8C9D-647B69376B8D}" type="datetime1">
              <a:rPr lang="en-US">
                <a:solidFill>
                  <a:prstClr val="black">
                    <a:tint val="75000"/>
                  </a:prstClr>
                </a:solidFill>
              </a:rPr>
              <a:pPr>
                <a:defRPr/>
              </a:pPr>
              <a:t>11/7/2023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1A6D5356-D1E2-4E06-B917-A98F2D69F716}" type="slidenum">
              <a:rPr lang="en-US"/>
              <a:pPr>
                <a:defRPr/>
              </a:pPr>
              <a:t>‹#›</a:t>
            </a:fld>
            <a:endParaRPr lang="en-US"/>
          </a:p>
        </p:txBody>
      </p:sp>
    </p:spTree>
    <p:extLst>
      <p:ext uri="{BB962C8B-B14F-4D97-AF65-F5344CB8AC3E}">
        <p14:creationId xmlns:p14="http://schemas.microsoft.com/office/powerpoint/2010/main" val="23057757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0DA3BB23-D479-4DF6-82B3-47A5CC4F17C6}" type="datetime1">
              <a:rPr lang="en-US">
                <a:solidFill>
                  <a:prstClr val="black">
                    <a:tint val="75000"/>
                  </a:prstClr>
                </a:solidFill>
              </a:rPr>
              <a:pPr>
                <a:defRPr/>
              </a:pPr>
              <a:t>11/7/2023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2A5ADF47-D22A-4CDF-8E2F-9816AA8117DC}" type="slidenum">
              <a:rPr lang="en-US"/>
              <a:pPr>
                <a:defRPr/>
              </a:pPr>
              <a:t>‹#›</a:t>
            </a:fld>
            <a:endParaRPr lang="en-US"/>
          </a:p>
        </p:txBody>
      </p:sp>
    </p:spTree>
    <p:extLst>
      <p:ext uri="{BB962C8B-B14F-4D97-AF65-F5344CB8AC3E}">
        <p14:creationId xmlns:p14="http://schemas.microsoft.com/office/powerpoint/2010/main" val="9528914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6"/>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pPr defTabSz="457200">
              <a:defRPr/>
            </a:pPr>
            <a:fld id="{D8F58730-5AF0-4627-86C6-A9E8465AA91E}" type="datetime1">
              <a:rPr lang="en-US" smtClean="0">
                <a:solidFill>
                  <a:prstClr val="black">
                    <a:tint val="75000"/>
                  </a:prstClr>
                </a:solidFill>
              </a:rPr>
              <a:pPr defTabSz="457200">
                <a:defRPr/>
              </a:pPr>
              <a:t>11/7/2023</a:t>
            </a:fld>
            <a:endParaRPr lang="en-US">
              <a:solidFill>
                <a:prstClr val="black">
                  <a:tint val="75000"/>
                </a:prstClr>
              </a:solidFill>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defTabSz="457200">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defTabSz="457200" fontAlgn="base">
              <a:spcBef>
                <a:spcPct val="0"/>
              </a:spcBef>
              <a:spcAft>
                <a:spcPct val="0"/>
              </a:spcAft>
              <a:defRPr/>
            </a:pPr>
            <a:fld id="{D5517BA3-8007-43DA-93AD-FF09F12BB036}" type="slidenum">
              <a:rPr lang="en-US" smtClean="0">
                <a:cs typeface="Arial" panose="020B0604020202020204" pitchFamily="34" charset="0"/>
              </a:rPr>
              <a:pPr defTabSz="457200" fontAlgn="base">
                <a:spcBef>
                  <a:spcPct val="0"/>
                </a:spcBef>
                <a:spcAft>
                  <a:spcPct val="0"/>
                </a:spcAft>
                <a:defRPr/>
              </a:pPr>
              <a:t>‹#›</a:t>
            </a:fld>
            <a:endParaRPr lang="en-US">
              <a:cs typeface="Arial" panose="020B0604020202020204" pitchFamily="34" charset="0"/>
            </a:endParaRPr>
          </a:p>
        </p:txBody>
      </p:sp>
      <p:pic>
        <p:nvPicPr>
          <p:cNvPr id="1031" name="Picture 7"/>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5153026"/>
            <a:ext cx="12192000" cy="170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1576591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0" fontAlgn="base" hangingPunct="0">
        <a:lnSpc>
          <a:spcPct val="90000"/>
        </a:lnSpc>
        <a:spcBef>
          <a:spcPct val="0"/>
        </a:spcBef>
        <a:spcAft>
          <a:spcPct val="0"/>
        </a:spcAft>
        <a:defRPr sz="4400" kern="1200">
          <a:solidFill>
            <a:srgbClr val="203864"/>
          </a:solidFill>
          <a:latin typeface="Cambria" panose="02040503050406030204" pitchFamily="18" charset="0"/>
          <a:ea typeface="Cambria" panose="02040503050406030204" pitchFamily="18" charset="0"/>
          <a:cs typeface="Cambria" panose="02040503050406030204" pitchFamily="18" charset="0"/>
        </a:defRPr>
      </a:lvl1pPr>
      <a:lvl2pPr algn="l" rtl="0" eaLnBrk="0" fontAlgn="base" hangingPunct="0">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2pPr>
      <a:lvl3pPr algn="l" rtl="0" eaLnBrk="0" fontAlgn="base" hangingPunct="0">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3pPr>
      <a:lvl4pPr algn="l" rtl="0" eaLnBrk="0" fontAlgn="base" hangingPunct="0">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4pPr>
      <a:lvl5pPr algn="l" rtl="0" eaLnBrk="0" fontAlgn="base" hangingPunct="0">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5pPr>
      <a:lvl6pPr marL="457200" algn="l" rtl="0" fontAlgn="base">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6pPr>
      <a:lvl7pPr marL="914400" algn="l" rtl="0" fontAlgn="base">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7pPr>
      <a:lvl8pPr marL="1371600" algn="l" rtl="0" fontAlgn="base">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8pPr>
      <a:lvl9pPr marL="1828800" algn="l" rtl="0" fontAlgn="base">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Cambria" panose="02040503050406030204" pitchFamily="18" charset="0"/>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Cambria" panose="02040503050406030204" pitchFamily="18" charset="0"/>
          <a:ea typeface="Cambria" panose="02040503050406030204" pitchFamily="18" charset="0"/>
          <a:cs typeface="Cambria" panose="02040503050406030204" pitchFamily="18" charset="0"/>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Cambria" panose="02040503050406030204" pitchFamily="18" charset="0"/>
          <a:ea typeface="Cambria" panose="02040503050406030204" pitchFamily="18" charset="0"/>
          <a:cs typeface="Cambria" panose="02040503050406030204" pitchFamily="18" charset="0"/>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Cambria" panose="02040503050406030204" pitchFamily="18" charset="0"/>
          <a:ea typeface="Cambria" panose="02040503050406030204" pitchFamily="18" charset="0"/>
          <a:cs typeface="Cambria" panose="02040503050406030204" pitchFamily="18" charset="0"/>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Cambria" panose="02040503050406030204" pitchFamily="18" charset="0"/>
          <a:ea typeface="Cambria" panose="02040503050406030204" pitchFamily="18" charset="0"/>
          <a:cs typeface="Cambria" panose="020405030504060302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developer.android.com/reference/androidx/core/app/NotificationCompat.Builder#setWhen(long)" TargetMode="External"/><Relationship Id="rId7" Type="http://schemas.openxmlformats.org/officeDocument/2006/relationships/hyperlink" Target="https://developer.android.com/reference/androidx/core/app/NotificationCompat.Builder#setContentText(java.lang.CharSequence)" TargetMode="External"/><Relationship Id="rId2" Type="http://schemas.openxmlformats.org/officeDocument/2006/relationships/hyperlink" Target="https://developer.android.com/reference/androidx/core/app/NotificationCompat.Builder#setSmallIcon(int)" TargetMode="External"/><Relationship Id="rId1" Type="http://schemas.openxmlformats.org/officeDocument/2006/relationships/slideLayout" Target="../slideLayouts/slideLayout7.xml"/><Relationship Id="rId6" Type="http://schemas.openxmlformats.org/officeDocument/2006/relationships/hyperlink" Target="https://developer.android.com/reference/androidx/core/app/NotificationCompat.Builder#setContentTitle(java.lang.CharSequence)" TargetMode="External"/><Relationship Id="rId5" Type="http://schemas.openxmlformats.org/officeDocument/2006/relationships/hyperlink" Target="https://developer.android.com/reference/androidx/core/app/NotificationCompat.Builder#setLargeIcon(android.graphics.Bitmap)" TargetMode="External"/><Relationship Id="rId4" Type="http://schemas.openxmlformats.org/officeDocument/2006/relationships/hyperlink" Target="https://developer.android.com/reference/androidx/core/app/NotificationCompat.Builder#setShowWhen(boolean)"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hyperlink" Target="https://developer.android.com/reference/android/database/sqlite/package-summary"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hyperlink" Target="https://developer.android.com/reference/android/database/sqlite/SQLiteOpenHelper#onDowngrade(android.database.sqlite.SQLiteDatabase,%20int,%20int)" TargetMode="External"/><Relationship Id="rId3" Type="http://schemas.openxmlformats.org/officeDocument/2006/relationships/hyperlink" Target="https://developer.android.com/reference/android/database/sqlite/SQLiteOpenHelper" TargetMode="External"/><Relationship Id="rId7" Type="http://schemas.openxmlformats.org/officeDocument/2006/relationships/hyperlink" Target="https://developer.android.com/reference/android/database/sqlite/SQLiteOpenHelper#onUpgrade(android.database.sqlite.SQLiteDatabase,%20int,%20int)" TargetMode="External"/><Relationship Id="rId2" Type="http://schemas.openxmlformats.org/officeDocument/2006/relationships/hyperlink" Target="https://developer.android.com/guide/topics/data/data-storage#filesInternal" TargetMode="External"/><Relationship Id="rId1" Type="http://schemas.openxmlformats.org/officeDocument/2006/relationships/slideLayout" Target="../slideLayouts/slideLayout7.xml"/><Relationship Id="rId6" Type="http://schemas.openxmlformats.org/officeDocument/2006/relationships/hyperlink" Target="https://developer.android.com/reference/android/database/sqlite/SQLiteOpenHelper#onCreate(android.database.sqlite.SQLiteDatabase)" TargetMode="External"/><Relationship Id="rId5" Type="http://schemas.openxmlformats.org/officeDocument/2006/relationships/hyperlink" Target="https://developer.android.com/reference/android/database/sqlite/SQLiteOpenHelper#getReadableDatabase()" TargetMode="External"/><Relationship Id="rId4" Type="http://schemas.openxmlformats.org/officeDocument/2006/relationships/hyperlink" Target="https://developer.android.com/reference/android/database/sqlite/SQLiteOpenHelper#getWritableDatabase()" TargetMode="External"/><Relationship Id="rId9" Type="http://schemas.openxmlformats.org/officeDocument/2006/relationships/hyperlink" Target="https://developer.android.com/reference/android/database/sqlite/SQLiteOpenHelper#onOpen(android.database.sqlite.SQLiteDatabase)" TargetMode="External"/></Relationships>
</file>

<file path=ppt/slides/_rels/slide14.xml.rels><?xml version="1.0" encoding="UTF-8" standalone="yes"?>
<Relationships xmlns="http://schemas.openxmlformats.org/package/2006/relationships"><Relationship Id="rId2" Type="http://schemas.openxmlformats.org/officeDocument/2006/relationships/hyperlink" Target="https://developer.android.com/reference/android/database/sqlite/SQLiteOpenHelper" TargetMode="Externa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hyperlink" Target="https://developer.android.com/reference/android/database/sqlite/SQLiteOpenHelper" TargetMode="Externa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s://developer.android.com/reference/android/database/sqlite/SQLiteDatabase#insert(java.lang.String,%20java.lang.String,%20android.content.ContentValues)" TargetMode="External"/><Relationship Id="rId2" Type="http://schemas.openxmlformats.org/officeDocument/2006/relationships/hyperlink" Target="https://developer.android.com/reference/android/content/ContentValues"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developer.android.com/reference/android/content/ContentValues" TargetMode="External"/><Relationship Id="rId2" Type="http://schemas.openxmlformats.org/officeDocument/2006/relationships/hyperlink" Target="https://developer.android.com/reference/android/database/sqlite/SQLiteDatabase#insert(java.lang.String,%20java.lang.String,%20android.content.ContentValues)" TargetMode="External"/><Relationship Id="rId1" Type="http://schemas.openxmlformats.org/officeDocument/2006/relationships/slideLayout" Target="../slideLayouts/slideLayout7.xml"/><Relationship Id="rId4" Type="http://schemas.openxmlformats.org/officeDocument/2006/relationships/hyperlink" Target="https://developer.android.com/reference/android/content/ContentValues#put(java.lang.String,%20byte[])"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developer.android.com/reference/android/database/sqlite/SQLiteDatabase#insert(java.lang.String,%20java.lang.String,%20android.content.ContentValues)" TargetMode="External"/><Relationship Id="rId2" Type="http://schemas.openxmlformats.org/officeDocument/2006/relationships/hyperlink" Target="https://developer.android.com/reference/android/database/sqlite/SQLiteDatabase#query(java.lang.String,%20java.lang.String[],%20java.lang.String,%20java.lang.String[],%20java.lang.String,%20java.lang.String,%20java.lang.String)" TargetMode="External"/><Relationship Id="rId1" Type="http://schemas.openxmlformats.org/officeDocument/2006/relationships/slideLayout" Target="../slideLayouts/slideLayout2.xml"/><Relationship Id="rId5" Type="http://schemas.openxmlformats.org/officeDocument/2006/relationships/hyperlink" Target="https://developer.android.com/reference/android/database/Cursor" TargetMode="External"/><Relationship Id="rId4" Type="http://schemas.openxmlformats.org/officeDocument/2006/relationships/hyperlink" Target="https://developer.android.com/reference/android/database/sqlite/SQLiteDatabase#update(java.lang.String,%20android.content.ContentValues,%20java.lang.String,%20java.lang.String[])" TargetMode="External"/></Relationships>
</file>

<file path=ppt/slides/_rels/slide19.xml.rels><?xml version="1.0" encoding="UTF-8" standalone="yes"?>
<Relationships xmlns="http://schemas.openxmlformats.org/package/2006/relationships"><Relationship Id="rId8" Type="http://schemas.openxmlformats.org/officeDocument/2006/relationships/hyperlink" Target="https://developer.android.com/reference/android/database/Cursorclose()" TargetMode="External"/><Relationship Id="rId3" Type="http://schemas.openxmlformats.org/officeDocument/2006/relationships/hyperlink" Target="https://developer.android.com/reference/android/database/Cursor#moveToNext()" TargetMode="External"/><Relationship Id="rId7" Type="http://schemas.openxmlformats.org/officeDocument/2006/relationships/hyperlink" Target="https://developer.android.com/reference/android/database/CursorgetColumnIndexOrThrow(java.lang.String)" TargetMode="External"/><Relationship Id="rId2" Type="http://schemas.openxmlformats.org/officeDocument/2006/relationships/hyperlink" Target="https://developer.android.com/reference/android/database/Cursor" TargetMode="External"/><Relationship Id="rId1" Type="http://schemas.openxmlformats.org/officeDocument/2006/relationships/slideLayout" Target="../slideLayouts/slideLayout7.xml"/><Relationship Id="rId6" Type="http://schemas.openxmlformats.org/officeDocument/2006/relationships/hyperlink" Target="https://developer.android.com/reference/android/database/CursorgetColumnIndex(java.lang.String)" TargetMode="External"/><Relationship Id="rId5" Type="http://schemas.openxmlformats.org/officeDocument/2006/relationships/hyperlink" Target="https://developer.android.com/reference/android/database/Cursor#getLong(int)" TargetMode="External"/><Relationship Id="rId4" Type="http://schemas.openxmlformats.org/officeDocument/2006/relationships/hyperlink" Target="https://developer.android.com/reference/android/database/Cursor#getString(int)"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developer.android.com/reference/android/database/sqlite/SQLiteDatabase#query(boolean,%20java.lang.String,%20java.lang.String[],%20java.lang.String,%20java.lang.String[],%20java.lang.String,%20java.lang.String,%20java.lang.String,%20java.lang.String)" TargetMode="External"/><Relationship Id="rId2" Type="http://schemas.openxmlformats.org/officeDocument/2006/relationships/hyperlink" Target="https://developer.android.com/reference/android/database/sqlite/SQLiteDatabase#delete(java.lang.String,%20java.lang.String,%20java.lang.String[])"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hyperlink" Target="https://developer.android.com/reference/android/content/ContentValues" TargetMode="External"/><Relationship Id="rId2" Type="http://schemas.openxmlformats.org/officeDocument/2006/relationships/hyperlink" Target="https://developer.android.com/reference/android/database/sqlite/SQLiteDatabase#update(java.lang.String,%20android.content.ContentValues,%20java.lang.String,%20java.lang.String[])" TargetMode="External"/><Relationship Id="rId1" Type="http://schemas.openxmlformats.org/officeDocument/2006/relationships/slideLayout" Target="../slideLayouts/slideLayout2.xml"/><Relationship Id="rId5" Type="http://schemas.openxmlformats.org/officeDocument/2006/relationships/hyperlink" Target="https://developer.android.com/reference/android/database/sqlite/SQLiteDatabase#delete(java.lang.String,%20java.lang.String,%20java.lang.String[])" TargetMode="External"/><Relationship Id="rId4" Type="http://schemas.openxmlformats.org/officeDocument/2006/relationships/hyperlink" Target="https://developer.android.com/reference/android/database/sqlite/SQLiteDatabase#insert(java.lang.String,%20java.lang.String,%20android.content.ContentValues)"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hyperlink" Target="https://www.geeksforgeeks.org/how-to-add-external-library-in-android-studio/" TargetMode="External"/><Relationship Id="rId3" Type="http://schemas.openxmlformats.org/officeDocument/2006/relationships/hyperlink" Target="https://developer.android.com/training/data-storage/shared-preferences" TargetMode="External"/><Relationship Id="rId7" Type="http://schemas.openxmlformats.org/officeDocument/2006/relationships/hyperlink" Target="https://developer.android.com/studio/projects/android-library" TargetMode="External"/><Relationship Id="rId2" Type="http://schemas.openxmlformats.org/officeDocument/2006/relationships/hyperlink" Target="https://developer.android.com/develop/ui/views/notifications" TargetMode="External"/><Relationship Id="rId1" Type="http://schemas.openxmlformats.org/officeDocument/2006/relationships/slideLayout" Target="../slideLayouts/slideLayout2.xml"/><Relationship Id="rId6" Type="http://schemas.openxmlformats.org/officeDocument/2006/relationships/hyperlink" Target="https://www.geeksforgeeks.org/how-to-create-and-add-data-to-sqlite-database-in-android/" TargetMode="External"/><Relationship Id="rId5" Type="http://schemas.openxmlformats.org/officeDocument/2006/relationships/hyperlink" Target="https://developer.android.com/reference/android/database/sqlite/SQLiteDatabase" TargetMode="External"/><Relationship Id="rId4" Type="http://schemas.openxmlformats.org/officeDocument/2006/relationships/hyperlink" Target="https://www.geeksforgeeks.org/shared-preferences-in-android-with-examples/" TargetMode="Externa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3"/>
          <p:cNvSpPr>
            <a:spLocks noGrp="1"/>
          </p:cNvSpPr>
          <p:nvPr>
            <p:ph type="sldNum" sz="quarter" idx="12"/>
          </p:nvPr>
        </p:nvSpPr>
        <p:spPr/>
        <p:txBody>
          <a:bodyPr/>
          <a:lstStyle>
            <a:lvl1pPr>
              <a:lnSpc>
                <a:spcPct val="90000"/>
              </a:lnSpc>
              <a:spcBef>
                <a:spcPts val="1000"/>
              </a:spcBef>
              <a:buFont typeface="Arial" panose="020B0604020202020204" pitchFamily="34" charset="0"/>
              <a:buChar char="•"/>
              <a:defRPr sz="2800">
                <a:solidFill>
                  <a:schemeClr val="tx1"/>
                </a:solidFill>
                <a:latin typeface="Cambria" panose="02040503050406030204" pitchFamily="18" charset="0"/>
                <a:ea typeface="Cambria" panose="02040503050406030204" pitchFamily="18" charset="0"/>
                <a:cs typeface="Cambria" panose="02040503050406030204" pitchFamily="18" charset="0"/>
              </a:defRPr>
            </a:lvl1pPr>
            <a:lvl2pPr marL="742950" indent="-285750">
              <a:lnSpc>
                <a:spcPct val="90000"/>
              </a:lnSpc>
              <a:spcBef>
                <a:spcPts val="500"/>
              </a:spcBef>
              <a:buFont typeface="Arial" panose="020B0604020202020204" pitchFamily="34" charset="0"/>
              <a:buChar char="•"/>
              <a:defRPr sz="2400">
                <a:solidFill>
                  <a:schemeClr val="tx1"/>
                </a:solidFill>
                <a:latin typeface="Cambria" panose="02040503050406030204" pitchFamily="18" charset="0"/>
                <a:ea typeface="Cambria" panose="02040503050406030204" pitchFamily="18" charset="0"/>
                <a:cs typeface="Cambria" panose="02040503050406030204" pitchFamily="18"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9pPr>
          </a:lstStyle>
          <a:p>
            <a:pPr>
              <a:buNone/>
            </a:pPr>
            <a:r>
              <a:rPr lang="en-US" dirty="0">
                <a:solidFill>
                  <a:schemeClr val="bg1"/>
                </a:solidFill>
              </a:rPr>
              <a:t>1</a:t>
            </a:r>
          </a:p>
        </p:txBody>
      </p:sp>
      <p:sp>
        <p:nvSpPr>
          <p:cNvPr id="8" name="Title 1"/>
          <p:cNvSpPr>
            <a:spLocks noGrp="1"/>
          </p:cNvSpPr>
          <p:nvPr>
            <p:ph type="ctrTitle"/>
          </p:nvPr>
        </p:nvSpPr>
        <p:spPr>
          <a:xfrm>
            <a:off x="1332930" y="317146"/>
            <a:ext cx="9144000" cy="774675"/>
          </a:xfr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r>
              <a:rPr lang="en-US" sz="4400" b="1" dirty="0">
                <a:solidFill>
                  <a:srgbClr val="002060"/>
                </a:solidFill>
              </a:rPr>
              <a:t>Course Details</a:t>
            </a:r>
          </a:p>
        </p:txBody>
      </p:sp>
      <p:sp>
        <p:nvSpPr>
          <p:cNvPr id="9" name="Subtitle 2"/>
          <p:cNvSpPr>
            <a:spLocks noGrp="1"/>
          </p:cNvSpPr>
          <p:nvPr>
            <p:ph type="subTitle" idx="1"/>
          </p:nvPr>
        </p:nvSpPr>
        <p:spPr>
          <a:xfrm>
            <a:off x="792081" y="1284596"/>
            <a:ext cx="10820799" cy="3423882"/>
          </a:xfrm>
        </p:spPr>
        <p:txBody>
          <a:bodyPr/>
          <a:lstStyle/>
          <a:p>
            <a:pPr algn="l">
              <a:lnSpc>
                <a:spcPct val="150000"/>
              </a:lnSpc>
            </a:pPr>
            <a:r>
              <a:rPr lang="x-none" sz="3200" b="1" dirty="0"/>
              <a:t>Course  Code :</a:t>
            </a:r>
            <a:r>
              <a:rPr lang="en-US" sz="3200" b="1" dirty="0"/>
              <a:t> </a:t>
            </a:r>
            <a:r>
              <a:rPr lang="en-US" sz="3200" b="1" dirty="0">
                <a:solidFill>
                  <a:srgbClr val="FF0000"/>
                </a:solidFill>
              </a:rPr>
              <a:t>CSE 3075</a:t>
            </a:r>
            <a:endParaRPr lang="en-US" sz="3200" dirty="0">
              <a:solidFill>
                <a:srgbClr val="FF0000"/>
              </a:solidFill>
            </a:endParaRPr>
          </a:p>
          <a:p>
            <a:pPr algn="l">
              <a:lnSpc>
                <a:spcPct val="150000"/>
              </a:lnSpc>
            </a:pPr>
            <a:r>
              <a:rPr lang="x-none" sz="3200" b="1" dirty="0"/>
              <a:t>Course Name: </a:t>
            </a:r>
            <a:r>
              <a:rPr lang="en-US" sz="3200" b="1" dirty="0">
                <a:solidFill>
                  <a:srgbClr val="FF0000"/>
                </a:solidFill>
              </a:rPr>
              <a:t>Mobile Application Development [</a:t>
            </a:r>
            <a:r>
              <a:rPr lang="en-US" sz="3200" b="1" dirty="0"/>
              <a:t>MAD</a:t>
            </a:r>
            <a:r>
              <a:rPr lang="en-US" sz="3200" b="1" dirty="0">
                <a:solidFill>
                  <a:srgbClr val="FF0000"/>
                </a:solidFill>
              </a:rPr>
              <a:t>]</a:t>
            </a:r>
            <a:br>
              <a:rPr lang="en-US" sz="3200" dirty="0"/>
            </a:br>
            <a:r>
              <a:rPr lang="en-US" sz="3200" b="1" dirty="0"/>
              <a:t>Credit Structure: </a:t>
            </a:r>
            <a:r>
              <a:rPr lang="en-US" sz="3200" b="1" dirty="0">
                <a:solidFill>
                  <a:srgbClr val="FF0000"/>
                </a:solidFill>
              </a:rPr>
              <a:t>3 Credits (L=1, P=4, C=3)</a:t>
            </a:r>
            <a:endParaRPr lang="en-IN" sz="3200" b="1" dirty="0">
              <a:solidFill>
                <a:srgbClr val="FF0000"/>
              </a:solidFill>
            </a:endParaRPr>
          </a:p>
          <a:p>
            <a:pPr algn="l">
              <a:lnSpc>
                <a:spcPct val="150000"/>
              </a:lnSpc>
            </a:pPr>
            <a:r>
              <a:rPr lang="en-US" sz="3200" b="1" dirty="0">
                <a:latin typeface="Cambria"/>
                <a:ea typeface="Cambria"/>
              </a:rPr>
              <a:t>Instructor In-Charge &amp; Instructor: </a:t>
            </a:r>
            <a:r>
              <a:rPr lang="en-US" sz="3200" b="1" dirty="0">
                <a:solidFill>
                  <a:srgbClr val="FF0000"/>
                </a:solidFill>
                <a:latin typeface="Cambria"/>
                <a:ea typeface="Cambria"/>
              </a:rPr>
              <a:t>Ms. B Prema </a:t>
            </a:r>
            <a:r>
              <a:rPr lang="en-US" sz="3200" b="1" dirty="0" err="1">
                <a:solidFill>
                  <a:srgbClr val="FF0000"/>
                </a:solidFill>
                <a:latin typeface="Cambria"/>
                <a:ea typeface="Cambria"/>
              </a:rPr>
              <a:t>Sindhuri</a:t>
            </a:r>
            <a:r>
              <a:rPr lang="en-US" sz="3200" b="1" dirty="0">
                <a:solidFill>
                  <a:srgbClr val="FF0000"/>
                </a:solidFill>
                <a:latin typeface="Cambria"/>
                <a:ea typeface="Cambria"/>
              </a:rPr>
              <a:t> &amp; Dr. Blessed Prince</a:t>
            </a:r>
            <a:br>
              <a:rPr lang="en-US" sz="3000" b="1" dirty="0">
                <a:latin typeface="Cambria"/>
                <a:ea typeface="Cambria"/>
              </a:rPr>
            </a:br>
            <a:endParaRPr lang="en-US" dirty="0">
              <a:latin typeface="Cambria"/>
              <a:ea typeface="Cambria"/>
            </a:endParaRPr>
          </a:p>
        </p:txBody>
      </p:sp>
    </p:spTree>
    <p:extLst>
      <p:ext uri="{BB962C8B-B14F-4D97-AF65-F5344CB8AC3E}">
        <p14:creationId xmlns:p14="http://schemas.microsoft.com/office/powerpoint/2010/main" val="19605245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267581"/>
            <a:ext cx="12158132" cy="832370"/>
          </a:xfr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indent="0" algn="ctr">
              <a:lnSpc>
                <a:spcPct val="100000"/>
              </a:lnSpc>
              <a:spcBef>
                <a:spcPts val="0"/>
              </a:spcBef>
              <a:spcAft>
                <a:spcPts val="600"/>
              </a:spcAft>
              <a:buNone/>
            </a:pPr>
            <a:r>
              <a:rPr lang="en-US" sz="4000" b="1" dirty="0"/>
              <a:t>MODULE 4</a:t>
            </a:r>
          </a:p>
        </p:txBody>
      </p:sp>
      <p:sp>
        <p:nvSpPr>
          <p:cNvPr id="3" name="Content Placeholder 2"/>
          <p:cNvSpPr>
            <a:spLocks noGrp="1"/>
          </p:cNvSpPr>
          <p:nvPr>
            <p:ph idx="1"/>
          </p:nvPr>
        </p:nvSpPr>
        <p:spPr>
          <a:xfrm>
            <a:off x="381126" y="1099951"/>
            <a:ext cx="11395881" cy="455893"/>
          </a:xfrm>
        </p:spPr>
        <p:txBody>
          <a:bodyPr/>
          <a:lstStyle/>
          <a:p>
            <a:pPr marL="0" indent="0" algn="ctr">
              <a:lnSpc>
                <a:spcPct val="100000"/>
              </a:lnSpc>
              <a:spcBef>
                <a:spcPts val="0"/>
              </a:spcBef>
              <a:spcAft>
                <a:spcPts val="600"/>
              </a:spcAft>
              <a:buNone/>
            </a:pPr>
            <a:r>
              <a:rPr lang="en-US" sz="2400" b="1" dirty="0">
                <a:solidFill>
                  <a:srgbClr val="FF0000"/>
                </a:solidFill>
              </a:rPr>
              <a:t>Notifications and Data Persistence – Application Level (15 </a:t>
            </a:r>
            <a:r>
              <a:rPr lang="en-US" sz="2400" b="1" dirty="0" err="1">
                <a:solidFill>
                  <a:srgbClr val="FF0000"/>
                </a:solidFill>
              </a:rPr>
              <a:t>hrs</a:t>
            </a:r>
            <a:r>
              <a:rPr lang="en-US" sz="2400" b="1" dirty="0">
                <a:solidFill>
                  <a:srgbClr val="FF0000"/>
                </a:solidFill>
              </a:rPr>
              <a:t>)</a:t>
            </a:r>
            <a:endParaRPr lang="en-US" sz="2400" dirty="0">
              <a:solidFill>
                <a:srgbClr val="FF0000"/>
              </a:solidFill>
            </a:endParaRPr>
          </a:p>
        </p:txBody>
      </p:sp>
      <p:sp>
        <p:nvSpPr>
          <p:cNvPr id="4" name="Slide Number Placeholder 3"/>
          <p:cNvSpPr>
            <a:spLocks noGrp="1"/>
          </p:cNvSpPr>
          <p:nvPr>
            <p:ph type="sldNum" sz="quarter" idx="12"/>
          </p:nvPr>
        </p:nvSpPr>
        <p:spPr/>
        <p:txBody>
          <a:bodyPr/>
          <a:lstStyle/>
          <a:p>
            <a:pPr>
              <a:defRPr/>
            </a:pPr>
            <a:fld id="{882D827A-045F-4F8B-BED3-F1EC0FC2FCF3}" type="slidenum">
              <a:rPr lang="en-US" smtClean="0">
                <a:solidFill>
                  <a:prstClr val="white"/>
                </a:solidFill>
              </a:rPr>
              <a:pPr>
                <a:defRPr/>
              </a:pPr>
              <a:t>2</a:t>
            </a:fld>
            <a:endParaRPr lang="en-US">
              <a:solidFill>
                <a:prstClr val="white"/>
              </a:solidFill>
            </a:endParaRPr>
          </a:p>
        </p:txBody>
      </p:sp>
      <p:sp>
        <p:nvSpPr>
          <p:cNvPr id="6" name="Content Placeholder 2"/>
          <p:cNvSpPr txBox="1">
            <a:spLocks/>
          </p:cNvSpPr>
          <p:nvPr/>
        </p:nvSpPr>
        <p:spPr bwMode="auto">
          <a:xfrm>
            <a:off x="381125" y="1575605"/>
            <a:ext cx="11395881" cy="455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Cambria" panose="02040503050406030204" pitchFamily="18" charset="0"/>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Cambria" panose="02040503050406030204" pitchFamily="18" charset="0"/>
                <a:ea typeface="Cambria" panose="02040503050406030204" pitchFamily="18" charset="0"/>
                <a:cs typeface="Cambria" panose="02040503050406030204" pitchFamily="18" charset="0"/>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Cambria" panose="02040503050406030204" pitchFamily="18" charset="0"/>
                <a:ea typeface="Cambria" panose="02040503050406030204" pitchFamily="18" charset="0"/>
                <a:cs typeface="Cambria" panose="02040503050406030204" pitchFamily="18" charset="0"/>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Cambria" panose="02040503050406030204" pitchFamily="18" charset="0"/>
                <a:ea typeface="Cambria" panose="02040503050406030204" pitchFamily="18" charset="0"/>
                <a:cs typeface="Cambria" panose="02040503050406030204" pitchFamily="18" charset="0"/>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Cambria" panose="02040503050406030204" pitchFamily="18" charset="0"/>
                <a:ea typeface="Cambria" panose="02040503050406030204" pitchFamily="18" charset="0"/>
                <a:cs typeface="Cambria" panose="020405030504060302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spcAft>
                <a:spcPts val="600"/>
              </a:spcAft>
              <a:buFont typeface="Arial" panose="020B0604020202020204" pitchFamily="34" charset="0"/>
              <a:buNone/>
            </a:pPr>
            <a:r>
              <a:rPr lang="en-US" sz="2400" b="1" dirty="0">
                <a:solidFill>
                  <a:srgbClr val="00B050"/>
                </a:solidFill>
              </a:rPr>
              <a:t>Lecture Hours: 5 and Practical Hours: 10</a:t>
            </a:r>
            <a:endParaRPr lang="en-US" sz="2400" dirty="0">
              <a:solidFill>
                <a:srgbClr val="00B050"/>
              </a:solidFill>
            </a:endParaRPr>
          </a:p>
        </p:txBody>
      </p:sp>
      <p:grpSp>
        <p:nvGrpSpPr>
          <p:cNvPr id="9" name="Group 8"/>
          <p:cNvGrpSpPr/>
          <p:nvPr/>
        </p:nvGrpSpPr>
        <p:grpSpPr>
          <a:xfrm>
            <a:off x="381125" y="2168972"/>
            <a:ext cx="11233119" cy="2985433"/>
            <a:chOff x="381125" y="2264508"/>
            <a:chExt cx="11233119" cy="2985433"/>
          </a:xfrm>
        </p:grpSpPr>
        <p:sp>
          <p:nvSpPr>
            <p:cNvPr id="5" name="Rectangle 4"/>
            <p:cNvSpPr/>
            <p:nvPr/>
          </p:nvSpPr>
          <p:spPr>
            <a:xfrm>
              <a:off x="381125" y="2264508"/>
              <a:ext cx="3986159" cy="2985433"/>
            </a:xfrm>
            <a:prstGeom prst="rect">
              <a:avLst/>
            </a:prstGeom>
            <a:ln w="28575">
              <a:solidFill>
                <a:schemeClr val="accent1">
                  <a:lumMod val="75000"/>
                </a:schemeClr>
              </a:solidFill>
            </a:ln>
          </p:spPr>
          <p:txBody>
            <a:bodyPr wrap="square">
              <a:spAutoFit/>
            </a:bodyPr>
            <a:lstStyle/>
            <a:p>
              <a:pPr>
                <a:spcAft>
                  <a:spcPts val="600"/>
                </a:spcAft>
              </a:pPr>
              <a:r>
                <a:rPr lang="en-US" sz="2800" b="1" dirty="0">
                  <a:solidFill>
                    <a:srgbClr val="002060"/>
                  </a:solidFill>
                  <a:latin typeface="Cambria" panose="02040503050406030204" pitchFamily="18" charset="0"/>
                  <a:ea typeface="Cambria" panose="02040503050406030204" pitchFamily="18" charset="0"/>
                </a:rPr>
                <a:t>Topics Covered:</a:t>
              </a:r>
            </a:p>
            <a:p>
              <a:pPr marL="457200" indent="-457200">
                <a:spcAft>
                  <a:spcPts val="600"/>
                </a:spcAft>
                <a:buFont typeface="Arial" panose="020B0604020202020204" pitchFamily="34" charset="0"/>
                <a:buChar char="•"/>
              </a:pPr>
              <a:r>
                <a:rPr lang="en-US" sz="2800" dirty="0">
                  <a:latin typeface="Cambria" panose="02040503050406030204" pitchFamily="18" charset="0"/>
                  <a:ea typeface="Cambria" panose="02040503050406030204" pitchFamily="18" charset="0"/>
                </a:rPr>
                <a:t>Notification, </a:t>
              </a:r>
            </a:p>
            <a:p>
              <a:pPr marL="457200" indent="-457200">
                <a:spcAft>
                  <a:spcPts val="600"/>
                </a:spcAft>
                <a:buFont typeface="Arial" panose="020B0604020202020204" pitchFamily="34" charset="0"/>
                <a:buChar char="•"/>
              </a:pPr>
              <a:r>
                <a:rPr lang="en-US" sz="2800" dirty="0">
                  <a:latin typeface="Cambria" panose="02040503050406030204" pitchFamily="18" charset="0"/>
                  <a:ea typeface="Cambria" panose="02040503050406030204" pitchFamily="18" charset="0"/>
                </a:rPr>
                <a:t>Shared Preferences, </a:t>
              </a:r>
            </a:p>
            <a:p>
              <a:pPr marL="457200" indent="-457200">
                <a:spcAft>
                  <a:spcPts val="600"/>
                </a:spcAft>
                <a:buFont typeface="Arial" panose="020B0604020202020204" pitchFamily="34" charset="0"/>
                <a:buChar char="•"/>
              </a:pPr>
              <a:r>
                <a:rPr lang="en-US" sz="2800" dirty="0">
                  <a:latin typeface="Cambria" panose="02040503050406030204" pitchFamily="18" charset="0"/>
                  <a:ea typeface="Cambria" panose="02040503050406030204" pitchFamily="18" charset="0"/>
                </a:rPr>
                <a:t>SQLite database, </a:t>
              </a:r>
            </a:p>
            <a:p>
              <a:pPr marL="457200" indent="-457200">
                <a:spcAft>
                  <a:spcPts val="600"/>
                </a:spcAft>
                <a:buFont typeface="Arial" panose="020B0604020202020204" pitchFamily="34" charset="0"/>
                <a:buChar char="•"/>
              </a:pPr>
              <a:r>
                <a:rPr lang="en-US" sz="2800" dirty="0">
                  <a:latin typeface="Cambria" panose="02040503050406030204" pitchFamily="18" charset="0"/>
                  <a:ea typeface="Cambria" panose="02040503050406030204" pitchFamily="18" charset="0"/>
                </a:rPr>
                <a:t>Third party library integration (cloud).</a:t>
              </a:r>
            </a:p>
          </p:txBody>
        </p:sp>
        <p:sp>
          <p:nvSpPr>
            <p:cNvPr id="7" name="Rectangle 6"/>
            <p:cNvSpPr/>
            <p:nvPr/>
          </p:nvSpPr>
          <p:spPr>
            <a:xfrm>
              <a:off x="5194487" y="2637912"/>
              <a:ext cx="6419757" cy="1415772"/>
            </a:xfrm>
            <a:prstGeom prst="rect">
              <a:avLst/>
            </a:prstGeom>
            <a:ln w="38100">
              <a:solidFill>
                <a:schemeClr val="accent6">
                  <a:lumMod val="60000"/>
                  <a:lumOff val="40000"/>
                </a:schemeClr>
              </a:solidFill>
            </a:ln>
          </p:spPr>
          <p:txBody>
            <a:bodyPr wrap="square">
              <a:spAutoFit/>
            </a:bodyPr>
            <a:lstStyle/>
            <a:p>
              <a:pPr>
                <a:spcAft>
                  <a:spcPts val="1200"/>
                </a:spcAft>
              </a:pPr>
              <a:r>
                <a:rPr lang="en-US" sz="2800" b="1" dirty="0">
                  <a:solidFill>
                    <a:srgbClr val="002060"/>
                  </a:solidFill>
                  <a:latin typeface="Cambria" panose="02040503050406030204" pitchFamily="18" charset="0"/>
                  <a:ea typeface="Cambria" panose="02040503050406030204" pitchFamily="18" charset="0"/>
                </a:rPr>
                <a:t>Course Outcome Achievable: </a:t>
              </a:r>
            </a:p>
            <a:p>
              <a:pPr algn="just">
                <a:spcAft>
                  <a:spcPts val="1200"/>
                </a:spcAft>
              </a:pPr>
              <a:r>
                <a:rPr lang="en-US" sz="2400" dirty="0">
                  <a:solidFill>
                    <a:srgbClr val="002060"/>
                  </a:solidFill>
                  <a:latin typeface="Cambria" panose="02040503050406030204" pitchFamily="18" charset="0"/>
                  <a:ea typeface="Cambria" panose="02040503050406030204" pitchFamily="18" charset="0"/>
                </a:rPr>
                <a:t>C.O. 4:	</a:t>
              </a:r>
              <a:r>
                <a:rPr lang="en-US" sz="2400" dirty="0">
                  <a:latin typeface="Cambria" panose="02040503050406030204" pitchFamily="18" charset="0"/>
                  <a:ea typeface="Cambria" panose="02040503050406030204" pitchFamily="18" charset="0"/>
                </a:rPr>
                <a:t>Apply data persistence techniques, to perform CRUD operations.</a:t>
              </a:r>
            </a:p>
          </p:txBody>
        </p:sp>
        <p:sp>
          <p:nvSpPr>
            <p:cNvPr id="8" name="Right Arrow 7"/>
            <p:cNvSpPr/>
            <p:nvPr/>
          </p:nvSpPr>
          <p:spPr>
            <a:xfrm>
              <a:off x="4367284" y="3433385"/>
              <a:ext cx="827204" cy="206663"/>
            </a:xfrm>
            <a:prstGeom prst="rightArrow">
              <a:avLst/>
            </a:prstGeom>
            <a:solidFill>
              <a:srgbClr val="92D050"/>
            </a:solidFill>
            <a:ln>
              <a:solidFill>
                <a:srgbClr val="002060"/>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513144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C3901-55CD-4076-B1B8-0364523EC575}"/>
              </a:ext>
            </a:extLst>
          </p:cNvPr>
          <p:cNvSpPr>
            <a:spLocks noGrp="1"/>
          </p:cNvSpPr>
          <p:nvPr>
            <p:ph type="title"/>
          </p:nvPr>
        </p:nvSpPr>
        <p:spPr>
          <a:xfrm>
            <a:off x="33867" y="-1"/>
            <a:ext cx="10515600" cy="832370"/>
          </a:xfr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r>
              <a:rPr lang="en-GB" sz="3600" b="1" dirty="0">
                <a:solidFill>
                  <a:srgbClr val="002060"/>
                </a:solidFill>
              </a:rPr>
              <a:t>Notification</a:t>
            </a:r>
          </a:p>
        </p:txBody>
      </p:sp>
      <p:sp>
        <p:nvSpPr>
          <p:cNvPr id="3" name="Content Placeholder 2">
            <a:extLst>
              <a:ext uri="{FF2B5EF4-FFF2-40B4-BE49-F238E27FC236}">
                <a16:creationId xmlns:a16="http://schemas.microsoft.com/office/drawing/2014/main" id="{DF29475F-E59A-4C66-8999-30DB7AAFC6EA}"/>
              </a:ext>
            </a:extLst>
          </p:cNvPr>
          <p:cNvSpPr>
            <a:spLocks noGrp="1"/>
          </p:cNvSpPr>
          <p:nvPr>
            <p:ph idx="1"/>
          </p:nvPr>
        </p:nvSpPr>
        <p:spPr>
          <a:xfrm>
            <a:off x="84083" y="580122"/>
            <a:ext cx="11887200" cy="3879669"/>
          </a:xfrm>
        </p:spPr>
        <p:txBody>
          <a:bodyPr/>
          <a:lstStyle/>
          <a:p>
            <a:pPr algn="just"/>
            <a:r>
              <a:rPr lang="en-GB" sz="2600" dirty="0">
                <a:latin typeface="Cambria"/>
                <a:ea typeface="Cambria"/>
              </a:rPr>
              <a:t>A notification is a message that Android displays outside your app's UI to provide the user with reminders, communication from other people, or other timely information from your app. Users can tap the notification to open your app or take an action directly from the notification.</a:t>
            </a:r>
          </a:p>
          <a:p>
            <a:pPr algn="just"/>
            <a:endParaRPr lang="en-GB" sz="2600" dirty="0"/>
          </a:p>
        </p:txBody>
      </p:sp>
      <p:sp>
        <p:nvSpPr>
          <p:cNvPr id="4" name="Slide Number Placeholder 3">
            <a:extLst>
              <a:ext uri="{FF2B5EF4-FFF2-40B4-BE49-F238E27FC236}">
                <a16:creationId xmlns:a16="http://schemas.microsoft.com/office/drawing/2014/main" id="{D2EE7428-D994-4A4F-9D55-4806ABDEED0C}"/>
              </a:ext>
            </a:extLst>
          </p:cNvPr>
          <p:cNvSpPr>
            <a:spLocks noGrp="1"/>
          </p:cNvSpPr>
          <p:nvPr>
            <p:ph type="sldNum" sz="quarter" idx="12"/>
          </p:nvPr>
        </p:nvSpPr>
        <p:spPr/>
        <p:txBody>
          <a:bodyPr/>
          <a:lstStyle/>
          <a:p>
            <a:pPr>
              <a:defRPr/>
            </a:pPr>
            <a:fld id="{882D827A-045F-4F8B-BED3-F1EC0FC2FCF3}" type="slidenum">
              <a:rPr lang="en-US">
                <a:solidFill>
                  <a:prstClr val="white"/>
                </a:solidFill>
              </a:rPr>
              <a:pPr>
                <a:defRPr/>
              </a:pPr>
              <a:t>3</a:t>
            </a:fld>
            <a:endParaRPr lang="en-US">
              <a:solidFill>
                <a:prstClr val="white"/>
              </a:solidFill>
            </a:endParaRPr>
          </a:p>
        </p:txBody>
      </p:sp>
      <p:sp>
        <p:nvSpPr>
          <p:cNvPr id="5" name="Title 1">
            <a:extLst>
              <a:ext uri="{FF2B5EF4-FFF2-40B4-BE49-F238E27FC236}">
                <a16:creationId xmlns:a16="http://schemas.microsoft.com/office/drawing/2014/main" id="{C6636C89-53B6-A404-C705-38E62AB1A14F}"/>
              </a:ext>
            </a:extLst>
          </p:cNvPr>
          <p:cNvSpPr txBox="1">
            <a:spLocks/>
          </p:cNvSpPr>
          <p:nvPr/>
        </p:nvSpPr>
        <p:spPr bwMode="auto">
          <a:xfrm>
            <a:off x="-8174" y="1969584"/>
            <a:ext cx="10515600" cy="832370"/>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lnSpc>
                <a:spcPct val="90000"/>
              </a:lnSpc>
              <a:spcBef>
                <a:spcPct val="0"/>
              </a:spcBef>
              <a:spcAft>
                <a:spcPct val="0"/>
              </a:spcAft>
              <a:defRPr sz="4400" kern="1200">
                <a:solidFill>
                  <a:srgbClr val="203864"/>
                </a:solidFill>
                <a:latin typeface="Cambria" panose="02040503050406030204" pitchFamily="18" charset="0"/>
                <a:ea typeface="Cambria" panose="02040503050406030204" pitchFamily="18" charset="0"/>
                <a:cs typeface="Cambria" panose="02040503050406030204" pitchFamily="18" charset="0"/>
              </a:defRPr>
            </a:lvl1pPr>
            <a:lvl2pPr algn="l" rtl="0" eaLnBrk="0" fontAlgn="base" hangingPunct="0">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2pPr>
            <a:lvl3pPr algn="l" rtl="0" eaLnBrk="0" fontAlgn="base" hangingPunct="0">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3pPr>
            <a:lvl4pPr algn="l" rtl="0" eaLnBrk="0" fontAlgn="base" hangingPunct="0">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4pPr>
            <a:lvl5pPr algn="l" rtl="0" eaLnBrk="0" fontAlgn="base" hangingPunct="0">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5pPr>
            <a:lvl6pPr marL="457200" algn="l" rtl="0" fontAlgn="base">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6pPr>
            <a:lvl7pPr marL="914400" algn="l" rtl="0" fontAlgn="base">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7pPr>
            <a:lvl8pPr marL="1371600" algn="l" rtl="0" fontAlgn="base">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8pPr>
            <a:lvl9pPr marL="1828800" algn="l" rtl="0" fontAlgn="base">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9pPr>
          </a:lstStyle>
          <a:p>
            <a:r>
              <a:rPr lang="en-GB" sz="3600" b="1" dirty="0">
                <a:solidFill>
                  <a:srgbClr val="002060"/>
                </a:solidFill>
              </a:rPr>
              <a:t>Appearances on a device</a:t>
            </a:r>
            <a:endParaRPr lang="en-US" sz="3600" b="1" dirty="0">
              <a:solidFill>
                <a:srgbClr val="002060"/>
              </a:solidFill>
            </a:endParaRPr>
          </a:p>
        </p:txBody>
      </p:sp>
      <p:sp>
        <p:nvSpPr>
          <p:cNvPr id="6" name="Content Placeholder 2">
            <a:extLst>
              <a:ext uri="{FF2B5EF4-FFF2-40B4-BE49-F238E27FC236}">
                <a16:creationId xmlns:a16="http://schemas.microsoft.com/office/drawing/2014/main" id="{6ABF89C4-256F-2A0E-692D-5CE3F2541CCA}"/>
              </a:ext>
            </a:extLst>
          </p:cNvPr>
          <p:cNvSpPr txBox="1">
            <a:spLocks/>
          </p:cNvSpPr>
          <p:nvPr/>
        </p:nvSpPr>
        <p:spPr bwMode="auto">
          <a:xfrm>
            <a:off x="84083" y="2586073"/>
            <a:ext cx="11887200" cy="3879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Cambria" panose="02040503050406030204" pitchFamily="18" charset="0"/>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Cambria" panose="02040503050406030204" pitchFamily="18" charset="0"/>
                <a:ea typeface="Cambria" panose="02040503050406030204" pitchFamily="18" charset="0"/>
                <a:cs typeface="Cambria" panose="02040503050406030204" pitchFamily="18" charset="0"/>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Cambria" panose="02040503050406030204" pitchFamily="18" charset="0"/>
                <a:ea typeface="Cambria" panose="02040503050406030204" pitchFamily="18" charset="0"/>
                <a:cs typeface="Cambria" panose="02040503050406030204" pitchFamily="18" charset="0"/>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Cambria" panose="02040503050406030204" pitchFamily="18" charset="0"/>
                <a:ea typeface="Cambria" panose="02040503050406030204" pitchFamily="18" charset="0"/>
                <a:cs typeface="Cambria" panose="02040503050406030204" pitchFamily="18" charset="0"/>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Cambria" panose="02040503050406030204" pitchFamily="18" charset="0"/>
                <a:ea typeface="Cambria" panose="02040503050406030204" pitchFamily="18" charset="0"/>
                <a:cs typeface="Cambria" panose="020405030504060302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GB" sz="2600" dirty="0">
                <a:latin typeface="Cambria"/>
                <a:ea typeface="Cambria"/>
              </a:rPr>
              <a:t>Notifications appear to users in different locations and formats, such as an icon in the status bar, a more detailed entry in the notification drawer, as a badge on the app's icon, and on paired wearables automatically.</a:t>
            </a:r>
            <a:endParaRPr lang="en-US" sz="2600" dirty="0"/>
          </a:p>
          <a:p>
            <a:pPr algn="just"/>
            <a:r>
              <a:rPr lang="en-GB" sz="2600" dirty="0">
                <a:latin typeface="Cambria"/>
                <a:ea typeface="Cambria"/>
              </a:rPr>
              <a:t>Status bar and notification drawer</a:t>
            </a:r>
          </a:p>
          <a:p>
            <a:pPr lvl="1" algn="just"/>
            <a:r>
              <a:rPr lang="en-GB" sz="2600" dirty="0">
                <a:latin typeface="Cambria"/>
                <a:ea typeface="Cambria"/>
              </a:rPr>
              <a:t>When you issue a notification, it first appears as an icon in the status bar.</a:t>
            </a:r>
          </a:p>
          <a:p>
            <a:pPr lvl="1" algn="just"/>
            <a:r>
              <a:rPr lang="en-GB" sz="2600" dirty="0">
                <a:latin typeface="Cambria"/>
                <a:ea typeface="Cambria"/>
              </a:rPr>
              <a:t>Users can swipe down on the status bar to open the notification drawer, where they can view more details and take actions with the notification.</a:t>
            </a:r>
          </a:p>
          <a:p>
            <a:pPr algn="just"/>
            <a:endParaRPr lang="en-GB" sz="2600" dirty="0"/>
          </a:p>
        </p:txBody>
      </p:sp>
    </p:spTree>
    <p:extLst>
      <p:ext uri="{BB962C8B-B14F-4D97-AF65-F5344CB8AC3E}">
        <p14:creationId xmlns:p14="http://schemas.microsoft.com/office/powerpoint/2010/main" val="23438988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44848-70EF-4FB6-BA90-F48E2C639AA0}"/>
              </a:ext>
            </a:extLst>
          </p:cNvPr>
          <p:cNvSpPr>
            <a:spLocks noGrp="1"/>
          </p:cNvSpPr>
          <p:nvPr>
            <p:ph type="title"/>
          </p:nvPr>
        </p:nvSpPr>
        <p:spPr/>
        <p:txBody>
          <a:bodyPr/>
          <a:lstStyle/>
          <a:p>
            <a:endParaRPr lang="en-GB"/>
          </a:p>
        </p:txBody>
      </p:sp>
      <p:pic>
        <p:nvPicPr>
          <p:cNvPr id="5" name="Picture 5" descr="Graphical user interface, text&#10;&#10;Description automatically generated">
            <a:extLst>
              <a:ext uri="{FF2B5EF4-FFF2-40B4-BE49-F238E27FC236}">
                <a16:creationId xmlns:a16="http://schemas.microsoft.com/office/drawing/2014/main" id="{49E999DA-B103-4C31-A47A-93D3EC0039B8}"/>
              </a:ext>
            </a:extLst>
          </p:cNvPr>
          <p:cNvPicPr>
            <a:picLocks noGrp="1" noChangeAspect="1"/>
          </p:cNvPicPr>
          <p:nvPr>
            <p:ph idx="1"/>
          </p:nvPr>
        </p:nvPicPr>
        <p:blipFill>
          <a:blip r:embed="rId2"/>
          <a:stretch>
            <a:fillRect/>
          </a:stretch>
        </p:blipFill>
        <p:spPr>
          <a:xfrm>
            <a:off x="640603" y="1261465"/>
            <a:ext cx="6667500" cy="2505075"/>
          </a:xfrm>
        </p:spPr>
      </p:pic>
      <p:sp>
        <p:nvSpPr>
          <p:cNvPr id="4" name="Slide Number Placeholder 3">
            <a:extLst>
              <a:ext uri="{FF2B5EF4-FFF2-40B4-BE49-F238E27FC236}">
                <a16:creationId xmlns:a16="http://schemas.microsoft.com/office/drawing/2014/main" id="{08C9CD66-F88E-44DB-9154-4258F9EFA60F}"/>
              </a:ext>
            </a:extLst>
          </p:cNvPr>
          <p:cNvSpPr>
            <a:spLocks noGrp="1"/>
          </p:cNvSpPr>
          <p:nvPr>
            <p:ph type="sldNum" sz="quarter" idx="12"/>
          </p:nvPr>
        </p:nvSpPr>
        <p:spPr/>
        <p:txBody>
          <a:bodyPr/>
          <a:lstStyle/>
          <a:p>
            <a:pPr>
              <a:defRPr/>
            </a:pPr>
            <a:fld id="{882D827A-045F-4F8B-BED3-F1EC0FC2FCF3}" type="slidenum">
              <a:rPr lang="en-US">
                <a:solidFill>
                  <a:prstClr val="white"/>
                </a:solidFill>
              </a:rPr>
              <a:pPr>
                <a:defRPr/>
              </a:pPr>
              <a:t>4</a:t>
            </a:fld>
            <a:endParaRPr lang="en-US">
              <a:solidFill>
                <a:prstClr val="white"/>
              </a:solidFill>
            </a:endParaRPr>
          </a:p>
        </p:txBody>
      </p:sp>
      <p:sp>
        <p:nvSpPr>
          <p:cNvPr id="6" name="TextBox 5">
            <a:extLst>
              <a:ext uri="{FF2B5EF4-FFF2-40B4-BE49-F238E27FC236}">
                <a16:creationId xmlns:a16="http://schemas.microsoft.com/office/drawing/2014/main" id="{54C5AEFA-6A03-4271-B3E7-18E7973D3C48}"/>
              </a:ext>
            </a:extLst>
          </p:cNvPr>
          <p:cNvSpPr txBox="1"/>
          <p:nvPr/>
        </p:nvSpPr>
        <p:spPr>
          <a:xfrm>
            <a:off x="637988" y="3827929"/>
            <a:ext cx="656814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dirty="0">
                <a:ea typeface="+mn-lt"/>
                <a:cs typeface="+mn-lt"/>
              </a:rPr>
              <a:t>Figure 1.</a:t>
            </a:r>
            <a:r>
              <a:rPr lang="en-GB" dirty="0">
                <a:ea typeface="+mn-lt"/>
                <a:cs typeface="+mn-lt"/>
              </a:rPr>
              <a:t> Notification icons appear on the left side of the status bar</a:t>
            </a:r>
            <a:endParaRPr lang="en-US" dirty="0"/>
          </a:p>
        </p:txBody>
      </p:sp>
    </p:spTree>
    <p:extLst>
      <p:ext uri="{BB962C8B-B14F-4D97-AF65-F5344CB8AC3E}">
        <p14:creationId xmlns:p14="http://schemas.microsoft.com/office/powerpoint/2010/main" val="40270085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20EC5-DC73-42F5-A744-FD242B8BE4A0}"/>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BCFD23B3-2DAD-4785-A449-C382D08CA078}"/>
              </a:ext>
            </a:extLst>
          </p:cNvPr>
          <p:cNvSpPr>
            <a:spLocks noGrp="1"/>
          </p:cNvSpPr>
          <p:nvPr>
            <p:ph idx="1"/>
          </p:nvPr>
        </p:nvSpPr>
        <p:spPr/>
        <p:txBody>
          <a:bodyPr/>
          <a:lstStyle/>
          <a:p>
            <a:r>
              <a:rPr lang="en-GB" dirty="0">
                <a:latin typeface="Cambria"/>
                <a:ea typeface="Cambria"/>
              </a:rPr>
              <a:t>Heads-up notification</a:t>
            </a:r>
          </a:p>
          <a:p>
            <a:pPr lvl="1"/>
            <a:r>
              <a:rPr lang="en-GB" dirty="0">
                <a:latin typeface="Cambria"/>
                <a:ea typeface="Cambria"/>
              </a:rPr>
              <a:t>Beginning with Android 5.0, notifications can briefly appear in a floating window called a </a:t>
            </a:r>
            <a:r>
              <a:rPr lang="en-GB" i="1" dirty="0">
                <a:latin typeface="Cambria"/>
                <a:ea typeface="Cambria"/>
              </a:rPr>
              <a:t>heads-up notification</a:t>
            </a:r>
            <a:r>
              <a:rPr lang="en-GB" dirty="0">
                <a:latin typeface="Cambria"/>
                <a:ea typeface="Cambria"/>
              </a:rPr>
              <a:t>. This </a:t>
            </a:r>
            <a:r>
              <a:rPr lang="en-GB" dirty="0" err="1">
                <a:latin typeface="Cambria"/>
                <a:ea typeface="Cambria"/>
              </a:rPr>
              <a:t>behavior</a:t>
            </a:r>
            <a:r>
              <a:rPr lang="en-GB" dirty="0">
                <a:latin typeface="Cambria"/>
                <a:ea typeface="Cambria"/>
              </a:rPr>
              <a:t> is normally for important notifications that the user should know about immediately, and it appears only if the device is unlocked.</a:t>
            </a:r>
          </a:p>
          <a:p>
            <a:br>
              <a:rPr lang="en-US" dirty="0"/>
            </a:br>
            <a:endParaRPr lang="en-US" dirty="0"/>
          </a:p>
        </p:txBody>
      </p:sp>
      <p:sp>
        <p:nvSpPr>
          <p:cNvPr id="4" name="Slide Number Placeholder 3">
            <a:extLst>
              <a:ext uri="{FF2B5EF4-FFF2-40B4-BE49-F238E27FC236}">
                <a16:creationId xmlns:a16="http://schemas.microsoft.com/office/drawing/2014/main" id="{0338984D-F876-4D36-8C79-5330E52DDD67}"/>
              </a:ext>
            </a:extLst>
          </p:cNvPr>
          <p:cNvSpPr>
            <a:spLocks noGrp="1"/>
          </p:cNvSpPr>
          <p:nvPr>
            <p:ph type="sldNum" sz="quarter" idx="12"/>
          </p:nvPr>
        </p:nvSpPr>
        <p:spPr/>
        <p:txBody>
          <a:bodyPr/>
          <a:lstStyle/>
          <a:p>
            <a:pPr>
              <a:defRPr/>
            </a:pPr>
            <a:fld id="{882D827A-045F-4F8B-BED3-F1EC0FC2FCF3}" type="slidenum">
              <a:rPr lang="en-US">
                <a:solidFill>
                  <a:prstClr val="white"/>
                </a:solidFill>
              </a:rPr>
              <a:pPr>
                <a:defRPr/>
              </a:pPr>
              <a:t>5</a:t>
            </a:fld>
            <a:endParaRPr lang="en-US">
              <a:solidFill>
                <a:prstClr val="white"/>
              </a:solidFill>
            </a:endParaRPr>
          </a:p>
        </p:txBody>
      </p:sp>
      <p:pic>
        <p:nvPicPr>
          <p:cNvPr id="5" name="Picture 5" descr="Graphical user interface, application&#10;&#10;Description automatically generated">
            <a:extLst>
              <a:ext uri="{FF2B5EF4-FFF2-40B4-BE49-F238E27FC236}">
                <a16:creationId xmlns:a16="http://schemas.microsoft.com/office/drawing/2014/main" id="{65F0D3A6-9BA9-42B5-9838-ED98CB72DF8E}"/>
              </a:ext>
            </a:extLst>
          </p:cNvPr>
          <p:cNvPicPr>
            <a:picLocks noChangeAspect="1"/>
          </p:cNvPicPr>
          <p:nvPr/>
        </p:nvPicPr>
        <p:blipFill>
          <a:blip r:embed="rId2"/>
          <a:stretch>
            <a:fillRect/>
          </a:stretch>
        </p:blipFill>
        <p:spPr>
          <a:xfrm>
            <a:off x="1990164" y="3047313"/>
            <a:ext cx="3744258" cy="3624609"/>
          </a:xfrm>
          <a:prstGeom prst="rect">
            <a:avLst/>
          </a:prstGeom>
        </p:spPr>
      </p:pic>
    </p:spTree>
    <p:extLst>
      <p:ext uri="{BB962C8B-B14F-4D97-AF65-F5344CB8AC3E}">
        <p14:creationId xmlns:p14="http://schemas.microsoft.com/office/powerpoint/2010/main" val="37692824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7D8174-C67F-4D38-AEAC-B362D92C9C41}"/>
              </a:ext>
            </a:extLst>
          </p:cNvPr>
          <p:cNvSpPr>
            <a:spLocks noGrp="1"/>
          </p:cNvSpPr>
          <p:nvPr>
            <p:ph idx="1"/>
          </p:nvPr>
        </p:nvSpPr>
        <p:spPr>
          <a:xfrm>
            <a:off x="48442" y="20802"/>
            <a:ext cx="3505494" cy="3785419"/>
          </a:xfrm>
        </p:spPr>
        <p:txBody>
          <a:bodyPr>
            <a:normAutofit/>
          </a:bodyPr>
          <a:lstStyle/>
          <a:p>
            <a:r>
              <a:rPr lang="en-GB" sz="1900" dirty="0">
                <a:latin typeface="Cambria"/>
                <a:ea typeface="Cambria"/>
              </a:rPr>
              <a:t>Lock screen</a:t>
            </a:r>
          </a:p>
          <a:p>
            <a:pPr lvl="1"/>
            <a:r>
              <a:rPr lang="en-GB" sz="1900" dirty="0">
                <a:latin typeface="Cambria"/>
                <a:ea typeface="Cambria"/>
              </a:rPr>
              <a:t>Beginning with Android 5.0, notifications can appear on the lock screen.</a:t>
            </a:r>
          </a:p>
          <a:p>
            <a:pPr lvl="1"/>
            <a:r>
              <a:rPr lang="en-GB" sz="1900" dirty="0">
                <a:latin typeface="Cambria"/>
                <a:ea typeface="Cambria"/>
              </a:rPr>
              <a:t>You can programmatically set the level of detail visible in notifications posted by your app on a secure lock screen, or even whether the notification will show on the lock screen at all.</a:t>
            </a:r>
          </a:p>
          <a:p>
            <a:endParaRPr lang="en-GB" sz="1900" dirty="0"/>
          </a:p>
        </p:txBody>
      </p:sp>
      <p:pic>
        <p:nvPicPr>
          <p:cNvPr id="5" name="Picture 5" descr="Graphical user interface, application&#10;&#10;Description automatically generated">
            <a:extLst>
              <a:ext uri="{FF2B5EF4-FFF2-40B4-BE49-F238E27FC236}">
                <a16:creationId xmlns:a16="http://schemas.microsoft.com/office/drawing/2014/main" id="{3EBD948F-C8B8-4A7E-A89B-B5CC790E9630}"/>
              </a:ext>
            </a:extLst>
          </p:cNvPr>
          <p:cNvPicPr>
            <a:picLocks noChangeAspect="1"/>
          </p:cNvPicPr>
          <p:nvPr/>
        </p:nvPicPr>
        <p:blipFill>
          <a:blip r:embed="rId2"/>
          <a:stretch>
            <a:fillRect/>
          </a:stretch>
        </p:blipFill>
        <p:spPr>
          <a:xfrm>
            <a:off x="3553936" y="199011"/>
            <a:ext cx="2726055" cy="3429000"/>
          </a:xfrm>
          <a:prstGeom prst="rect">
            <a:avLst/>
          </a:prstGeom>
          <a:effectLst/>
        </p:spPr>
      </p:pic>
      <p:sp>
        <p:nvSpPr>
          <p:cNvPr id="4" name="Slide Number Placeholder 3">
            <a:extLst>
              <a:ext uri="{FF2B5EF4-FFF2-40B4-BE49-F238E27FC236}">
                <a16:creationId xmlns:a16="http://schemas.microsoft.com/office/drawing/2014/main" id="{98737DBF-2394-4F9F-BC42-A3C2B54A644B}"/>
              </a:ext>
            </a:extLst>
          </p:cNvPr>
          <p:cNvSpPr>
            <a:spLocks noGrp="1"/>
          </p:cNvSpPr>
          <p:nvPr>
            <p:ph type="sldNum" sz="quarter" idx="12"/>
          </p:nvPr>
        </p:nvSpPr>
        <p:spPr>
          <a:xfrm>
            <a:off x="8610600" y="6356350"/>
            <a:ext cx="2743200" cy="365125"/>
          </a:xfrm>
        </p:spPr>
        <p:txBody>
          <a:bodyPr>
            <a:normAutofit/>
          </a:bodyPr>
          <a:lstStyle/>
          <a:p>
            <a:pPr>
              <a:spcAft>
                <a:spcPts val="600"/>
              </a:spcAft>
              <a:defRPr/>
            </a:pPr>
            <a:fld id="{882D827A-045F-4F8B-BED3-F1EC0FC2FCF3}" type="slidenum">
              <a:rPr lang="en-US">
                <a:solidFill>
                  <a:srgbClr val="303030"/>
                </a:solidFill>
              </a:rPr>
              <a:pPr>
                <a:spcAft>
                  <a:spcPts val="600"/>
                </a:spcAft>
                <a:defRPr/>
              </a:pPr>
              <a:t>6</a:t>
            </a:fld>
            <a:endParaRPr lang="en-US">
              <a:solidFill>
                <a:srgbClr val="303030"/>
              </a:solidFill>
            </a:endParaRPr>
          </a:p>
        </p:txBody>
      </p:sp>
      <p:sp>
        <p:nvSpPr>
          <p:cNvPr id="6" name="Content Placeholder 2">
            <a:extLst>
              <a:ext uri="{FF2B5EF4-FFF2-40B4-BE49-F238E27FC236}">
                <a16:creationId xmlns:a16="http://schemas.microsoft.com/office/drawing/2014/main" id="{87CFB9E3-809F-DFED-9A7F-F69B083241AB}"/>
              </a:ext>
            </a:extLst>
          </p:cNvPr>
          <p:cNvSpPr txBox="1">
            <a:spLocks/>
          </p:cNvSpPr>
          <p:nvPr/>
        </p:nvSpPr>
        <p:spPr bwMode="auto">
          <a:xfrm>
            <a:off x="6530994" y="162115"/>
            <a:ext cx="4214143" cy="3879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Cambria" panose="02040503050406030204" pitchFamily="18" charset="0"/>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Cambria" panose="02040503050406030204" pitchFamily="18" charset="0"/>
                <a:ea typeface="Cambria" panose="02040503050406030204" pitchFamily="18" charset="0"/>
                <a:cs typeface="Cambria" panose="02040503050406030204" pitchFamily="18" charset="0"/>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Cambria" panose="02040503050406030204" pitchFamily="18" charset="0"/>
                <a:ea typeface="Cambria" panose="02040503050406030204" pitchFamily="18" charset="0"/>
                <a:cs typeface="Cambria" panose="02040503050406030204" pitchFamily="18" charset="0"/>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Cambria" panose="02040503050406030204" pitchFamily="18" charset="0"/>
                <a:ea typeface="Cambria" panose="02040503050406030204" pitchFamily="18" charset="0"/>
                <a:cs typeface="Cambria" panose="02040503050406030204" pitchFamily="18" charset="0"/>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Cambria" panose="02040503050406030204" pitchFamily="18" charset="0"/>
                <a:ea typeface="Cambria" panose="02040503050406030204" pitchFamily="18" charset="0"/>
                <a:cs typeface="Cambria" panose="020405030504060302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900" dirty="0">
                <a:latin typeface="Cambria"/>
                <a:ea typeface="Cambria"/>
              </a:rPr>
              <a:t>App icon badge</a:t>
            </a:r>
          </a:p>
          <a:p>
            <a:pPr lvl="1"/>
            <a:r>
              <a:rPr lang="en-US" sz="1900" dirty="0">
                <a:latin typeface="Cambria"/>
                <a:ea typeface="Cambria"/>
              </a:rPr>
              <a:t>In supported launchers on devices running Android 8.0 (API level 26) and higher, app icons indicate new notifications with a colored "badge" (also known as a "notification dot") on the corresponding app launcher icon.</a:t>
            </a:r>
          </a:p>
          <a:p>
            <a:pPr lvl="1"/>
            <a:r>
              <a:rPr lang="en-US" sz="1900" dirty="0">
                <a:latin typeface="Cambria"/>
                <a:ea typeface="Cambria"/>
              </a:rPr>
              <a:t>Users can long-press on an app icon to see the notifications for that app. Users can then dismiss or act on notifications from that menu, similar to the notification drawer.</a:t>
            </a:r>
          </a:p>
          <a:p>
            <a:pPr marL="0" indent="0">
              <a:buFont typeface="Arial" panose="020B0604020202020204" pitchFamily="34" charset="0"/>
              <a:buNone/>
            </a:pPr>
            <a:br>
              <a:rPr lang="en-US" sz="1900" dirty="0"/>
            </a:br>
            <a:endParaRPr lang="en-US" sz="1900" dirty="0"/>
          </a:p>
        </p:txBody>
      </p:sp>
      <p:pic>
        <p:nvPicPr>
          <p:cNvPr id="7" name="Picture 5" descr="Graphical user interface, application&#10;&#10;Description automatically generated">
            <a:extLst>
              <a:ext uri="{FF2B5EF4-FFF2-40B4-BE49-F238E27FC236}">
                <a16:creationId xmlns:a16="http://schemas.microsoft.com/office/drawing/2014/main" id="{E3696A10-F430-F212-E78B-B5F07C5DE5D2}"/>
              </a:ext>
            </a:extLst>
          </p:cNvPr>
          <p:cNvPicPr>
            <a:picLocks noChangeAspect="1"/>
          </p:cNvPicPr>
          <p:nvPr/>
        </p:nvPicPr>
        <p:blipFill>
          <a:blip r:embed="rId3"/>
          <a:stretch>
            <a:fillRect/>
          </a:stretch>
        </p:blipFill>
        <p:spPr>
          <a:xfrm>
            <a:off x="9460856" y="4202286"/>
            <a:ext cx="2071215" cy="2154064"/>
          </a:xfrm>
          <a:prstGeom prst="rect">
            <a:avLst/>
          </a:prstGeom>
        </p:spPr>
      </p:pic>
    </p:spTree>
    <p:extLst>
      <p:ext uri="{BB962C8B-B14F-4D97-AF65-F5344CB8AC3E}">
        <p14:creationId xmlns:p14="http://schemas.microsoft.com/office/powerpoint/2010/main" val="40164360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4A3D2-8EAD-43E9-AF6E-D0ED9F503296}"/>
              </a:ext>
            </a:extLst>
          </p:cNvPr>
          <p:cNvSpPr>
            <a:spLocks noGrp="1"/>
          </p:cNvSpPr>
          <p:nvPr>
            <p:ph type="title"/>
          </p:nvPr>
        </p:nvSpPr>
        <p:spPr>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r>
              <a:rPr lang="en-GB" sz="3600" b="1" dirty="0">
                <a:solidFill>
                  <a:srgbClr val="002060"/>
                </a:solidFill>
              </a:rPr>
              <a:t>Notification anatomy</a:t>
            </a:r>
            <a:endParaRPr lang="en-US" sz="3600" b="1" dirty="0">
              <a:solidFill>
                <a:srgbClr val="002060"/>
              </a:solidFill>
            </a:endParaRPr>
          </a:p>
          <a:p>
            <a:endParaRPr lang="en-GB" sz="3600" b="1" dirty="0">
              <a:solidFill>
                <a:srgbClr val="002060"/>
              </a:solidFill>
            </a:endParaRPr>
          </a:p>
        </p:txBody>
      </p:sp>
      <p:sp>
        <p:nvSpPr>
          <p:cNvPr id="3" name="Content Placeholder 2">
            <a:extLst>
              <a:ext uri="{FF2B5EF4-FFF2-40B4-BE49-F238E27FC236}">
                <a16:creationId xmlns:a16="http://schemas.microsoft.com/office/drawing/2014/main" id="{F46A667E-2EBC-4206-A65A-94DF0E31730F}"/>
              </a:ext>
            </a:extLst>
          </p:cNvPr>
          <p:cNvSpPr>
            <a:spLocks noGrp="1"/>
          </p:cNvSpPr>
          <p:nvPr>
            <p:ph idx="1"/>
          </p:nvPr>
        </p:nvSpPr>
        <p:spPr/>
        <p:txBody>
          <a:bodyPr/>
          <a:lstStyle/>
          <a:p>
            <a:r>
              <a:rPr lang="en-GB"/>
              <a:t>The design of a notification is determined by system templates—your app simply defines the contents for each portion of the template. Some details of the notification appear only in the expanded view.</a:t>
            </a:r>
          </a:p>
          <a:p>
            <a:endParaRPr lang="en-GB" dirty="0"/>
          </a:p>
        </p:txBody>
      </p:sp>
      <p:sp>
        <p:nvSpPr>
          <p:cNvPr id="4" name="Slide Number Placeholder 3">
            <a:extLst>
              <a:ext uri="{FF2B5EF4-FFF2-40B4-BE49-F238E27FC236}">
                <a16:creationId xmlns:a16="http://schemas.microsoft.com/office/drawing/2014/main" id="{15D7AA21-8629-4CBD-B5B8-3769ABBC7E4A}"/>
              </a:ext>
            </a:extLst>
          </p:cNvPr>
          <p:cNvSpPr>
            <a:spLocks noGrp="1"/>
          </p:cNvSpPr>
          <p:nvPr>
            <p:ph type="sldNum" sz="quarter" idx="12"/>
          </p:nvPr>
        </p:nvSpPr>
        <p:spPr/>
        <p:txBody>
          <a:bodyPr/>
          <a:lstStyle/>
          <a:p>
            <a:pPr>
              <a:defRPr/>
            </a:pPr>
            <a:fld id="{882D827A-045F-4F8B-BED3-F1EC0FC2FCF3}" type="slidenum">
              <a:rPr lang="en-US">
                <a:solidFill>
                  <a:prstClr val="white"/>
                </a:solidFill>
              </a:rPr>
              <a:pPr>
                <a:defRPr/>
              </a:pPr>
              <a:t>7</a:t>
            </a:fld>
            <a:endParaRPr lang="en-US">
              <a:solidFill>
                <a:prstClr val="white"/>
              </a:solidFill>
            </a:endParaRPr>
          </a:p>
        </p:txBody>
      </p:sp>
      <p:pic>
        <p:nvPicPr>
          <p:cNvPr id="5" name="Picture 5" descr="Graphical user interface, text, application, chat or text message, email&#10;&#10;Description automatically generated">
            <a:extLst>
              <a:ext uri="{FF2B5EF4-FFF2-40B4-BE49-F238E27FC236}">
                <a16:creationId xmlns:a16="http://schemas.microsoft.com/office/drawing/2014/main" id="{20BC1496-6F3F-43DA-957B-BF849886DDBB}"/>
              </a:ext>
            </a:extLst>
          </p:cNvPr>
          <p:cNvPicPr>
            <a:picLocks noChangeAspect="1"/>
          </p:cNvPicPr>
          <p:nvPr/>
        </p:nvPicPr>
        <p:blipFill>
          <a:blip r:embed="rId2"/>
          <a:stretch>
            <a:fillRect/>
          </a:stretch>
        </p:blipFill>
        <p:spPr>
          <a:xfrm>
            <a:off x="1773518" y="3425554"/>
            <a:ext cx="5126317" cy="1486068"/>
          </a:xfrm>
          <a:prstGeom prst="rect">
            <a:avLst/>
          </a:prstGeom>
        </p:spPr>
      </p:pic>
    </p:spTree>
    <p:extLst>
      <p:ext uri="{BB962C8B-B14F-4D97-AF65-F5344CB8AC3E}">
        <p14:creationId xmlns:p14="http://schemas.microsoft.com/office/powerpoint/2010/main" val="12867256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EE33B9F-861A-454F-A095-F5121615998A}"/>
              </a:ext>
            </a:extLst>
          </p:cNvPr>
          <p:cNvSpPr>
            <a:spLocks noGrp="1"/>
          </p:cNvSpPr>
          <p:nvPr>
            <p:ph type="sldNum" sz="quarter" idx="12"/>
          </p:nvPr>
        </p:nvSpPr>
        <p:spPr/>
        <p:txBody>
          <a:bodyPr/>
          <a:lstStyle/>
          <a:p>
            <a:pPr>
              <a:defRPr/>
            </a:pPr>
            <a:fld id="{882D827A-045F-4F8B-BED3-F1EC0FC2FCF3}" type="slidenum">
              <a:rPr lang="en-US">
                <a:solidFill>
                  <a:prstClr val="white"/>
                </a:solidFill>
              </a:rPr>
              <a:pPr>
                <a:defRPr/>
              </a:pPr>
              <a:t>8</a:t>
            </a:fld>
            <a:endParaRPr lang="en-US">
              <a:solidFill>
                <a:prstClr val="white"/>
              </a:solidFill>
            </a:endParaRPr>
          </a:p>
        </p:txBody>
      </p:sp>
      <p:sp>
        <p:nvSpPr>
          <p:cNvPr id="3" name="Content Placeholder 2">
            <a:extLst>
              <a:ext uri="{FF2B5EF4-FFF2-40B4-BE49-F238E27FC236}">
                <a16:creationId xmlns:a16="http://schemas.microsoft.com/office/drawing/2014/main" id="{E6725886-8466-4721-8C92-DB13F62580CF}"/>
              </a:ext>
            </a:extLst>
          </p:cNvPr>
          <p:cNvSpPr>
            <a:spLocks noGrp="1"/>
          </p:cNvSpPr>
          <p:nvPr>
            <p:ph idx="4294967295"/>
          </p:nvPr>
        </p:nvSpPr>
        <p:spPr>
          <a:xfrm>
            <a:off x="220718" y="136524"/>
            <a:ext cx="10515600" cy="3879850"/>
          </a:xfrm>
        </p:spPr>
        <p:txBody>
          <a:bodyPr/>
          <a:lstStyle/>
          <a:p>
            <a:r>
              <a:rPr lang="en-GB" dirty="0"/>
              <a:t>The most common parts of a notification are indicated in figure 7 as follows:</a:t>
            </a:r>
          </a:p>
          <a:p>
            <a:r>
              <a:rPr lang="en-GB" dirty="0"/>
              <a:t>Small icon: This is required and set with </a:t>
            </a:r>
            <a:r>
              <a:rPr lang="en-GB" dirty="0">
                <a:hlinkClick r:id="rId2"/>
              </a:rPr>
              <a:t>setSmallIcon()</a:t>
            </a:r>
            <a:r>
              <a:rPr lang="en-GB" dirty="0"/>
              <a:t>.</a:t>
            </a:r>
          </a:p>
          <a:p>
            <a:r>
              <a:rPr lang="en-GB" dirty="0"/>
              <a:t>App name: This is provided by the system.</a:t>
            </a:r>
          </a:p>
          <a:p>
            <a:r>
              <a:rPr lang="en-GB" dirty="0">
                <a:latin typeface="Cambria"/>
                <a:ea typeface="Cambria"/>
              </a:rPr>
              <a:t>Time stamp: This is provided by the system but you can override with </a:t>
            </a:r>
            <a:r>
              <a:rPr lang="en-GB" dirty="0">
                <a:latin typeface="Cambria"/>
                <a:ea typeface="Cambria"/>
                <a:hlinkClick r:id="rId3"/>
              </a:rPr>
              <a:t>setWhen()</a:t>
            </a:r>
            <a:r>
              <a:rPr lang="en-GB" dirty="0">
                <a:latin typeface="Cambria"/>
                <a:ea typeface="Cambria"/>
              </a:rPr>
              <a:t> or hide it with </a:t>
            </a:r>
            <a:r>
              <a:rPr lang="en-GB" dirty="0">
                <a:latin typeface="Cambria"/>
                <a:ea typeface="Cambria"/>
                <a:hlinkClick r:id="rId4"/>
              </a:rPr>
              <a:t>setShowWhen(false)</a:t>
            </a:r>
            <a:r>
              <a:rPr lang="en-GB" dirty="0">
                <a:latin typeface="Cambria"/>
                <a:ea typeface="Cambria"/>
              </a:rPr>
              <a:t>.</a:t>
            </a:r>
          </a:p>
          <a:p>
            <a:r>
              <a:rPr lang="en-GB" dirty="0"/>
              <a:t>Large icon: This is optional (usually used only for contact photos; do not use it for your app icon) and set with </a:t>
            </a:r>
            <a:r>
              <a:rPr lang="en-GB" dirty="0">
                <a:hlinkClick r:id="rId5"/>
              </a:rPr>
              <a:t>setLargeIcon()</a:t>
            </a:r>
            <a:r>
              <a:rPr lang="en-GB" dirty="0"/>
              <a:t>.</a:t>
            </a:r>
          </a:p>
          <a:p>
            <a:r>
              <a:rPr lang="en-GB" dirty="0"/>
              <a:t>Title: This is optional and set with </a:t>
            </a:r>
            <a:r>
              <a:rPr lang="en-GB" dirty="0">
                <a:hlinkClick r:id="rId6"/>
              </a:rPr>
              <a:t>setContentTitle()</a:t>
            </a:r>
            <a:r>
              <a:rPr lang="en-GB" dirty="0"/>
              <a:t>.</a:t>
            </a:r>
          </a:p>
          <a:p>
            <a:r>
              <a:rPr lang="en-GB" dirty="0">
                <a:latin typeface="Cambria"/>
                <a:ea typeface="Cambria"/>
              </a:rPr>
              <a:t>Text: This is optional and set with </a:t>
            </a:r>
            <a:r>
              <a:rPr lang="en-GB" dirty="0">
                <a:latin typeface="Cambria"/>
                <a:ea typeface="Cambria"/>
                <a:hlinkClick r:id="rId7"/>
              </a:rPr>
              <a:t>setContentText()</a:t>
            </a:r>
            <a:r>
              <a:rPr lang="en-GB" dirty="0">
                <a:latin typeface="Cambria"/>
                <a:ea typeface="Cambria"/>
              </a:rPr>
              <a:t>.</a:t>
            </a:r>
            <a:br>
              <a:rPr lang="en-US" dirty="0"/>
            </a:br>
            <a:endParaRPr lang="en-US" dirty="0"/>
          </a:p>
        </p:txBody>
      </p:sp>
    </p:spTree>
    <p:extLst>
      <p:ext uri="{BB962C8B-B14F-4D97-AF65-F5344CB8AC3E}">
        <p14:creationId xmlns:p14="http://schemas.microsoft.com/office/powerpoint/2010/main" val="27965470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6C3FECA-5930-D67F-F309-A062186330F9}"/>
              </a:ext>
            </a:extLst>
          </p:cNvPr>
          <p:cNvSpPr>
            <a:spLocks noGrp="1"/>
          </p:cNvSpPr>
          <p:nvPr>
            <p:ph type="sldNum" sz="quarter" idx="12"/>
          </p:nvPr>
        </p:nvSpPr>
        <p:spPr/>
        <p:txBody>
          <a:bodyPr/>
          <a:lstStyle/>
          <a:p>
            <a:pPr>
              <a:defRPr/>
            </a:pPr>
            <a:fld id="{882D827A-045F-4F8B-BED3-F1EC0FC2FCF3}" type="slidenum">
              <a:rPr lang="en-US" smtClean="0">
                <a:solidFill>
                  <a:prstClr val="white"/>
                </a:solidFill>
              </a:rPr>
              <a:pPr>
                <a:defRPr/>
              </a:pPr>
              <a:t>9</a:t>
            </a:fld>
            <a:endParaRPr lang="en-US">
              <a:solidFill>
                <a:prstClr val="white"/>
              </a:solidFill>
            </a:endParaRPr>
          </a:p>
        </p:txBody>
      </p:sp>
      <p:sp>
        <p:nvSpPr>
          <p:cNvPr id="5" name="Title 1">
            <a:extLst>
              <a:ext uri="{FF2B5EF4-FFF2-40B4-BE49-F238E27FC236}">
                <a16:creationId xmlns:a16="http://schemas.microsoft.com/office/drawing/2014/main" id="{9B41D8B2-BE79-E89E-6404-C96E7036B502}"/>
              </a:ext>
            </a:extLst>
          </p:cNvPr>
          <p:cNvSpPr txBox="1">
            <a:spLocks/>
          </p:cNvSpPr>
          <p:nvPr/>
        </p:nvSpPr>
        <p:spPr>
          <a:xfrm>
            <a:off x="84083" y="163937"/>
            <a:ext cx="10515600" cy="832370"/>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lnSpc>
                <a:spcPct val="90000"/>
              </a:lnSpc>
              <a:spcBef>
                <a:spcPct val="0"/>
              </a:spcBef>
              <a:spcAft>
                <a:spcPct val="0"/>
              </a:spcAft>
              <a:defRPr sz="4400" kern="1200">
                <a:solidFill>
                  <a:srgbClr val="203864"/>
                </a:solidFill>
                <a:latin typeface="Cambria" panose="02040503050406030204" pitchFamily="18" charset="0"/>
                <a:ea typeface="Cambria" panose="02040503050406030204" pitchFamily="18" charset="0"/>
                <a:cs typeface="Cambria" panose="02040503050406030204" pitchFamily="18" charset="0"/>
              </a:defRPr>
            </a:lvl1pPr>
            <a:lvl2pPr algn="l" rtl="0" eaLnBrk="0" fontAlgn="base" hangingPunct="0">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2pPr>
            <a:lvl3pPr algn="l" rtl="0" eaLnBrk="0" fontAlgn="base" hangingPunct="0">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3pPr>
            <a:lvl4pPr algn="l" rtl="0" eaLnBrk="0" fontAlgn="base" hangingPunct="0">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4pPr>
            <a:lvl5pPr algn="l" rtl="0" eaLnBrk="0" fontAlgn="base" hangingPunct="0">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5pPr>
            <a:lvl6pPr marL="457200" algn="l" rtl="0" fontAlgn="base">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6pPr>
            <a:lvl7pPr marL="914400" algn="l" rtl="0" fontAlgn="base">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7pPr>
            <a:lvl8pPr marL="1371600" algn="l" rtl="0" fontAlgn="base">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8pPr>
            <a:lvl9pPr marL="1828800" algn="l" rtl="0" fontAlgn="base">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9pPr>
          </a:lstStyle>
          <a:p>
            <a:r>
              <a:rPr lang="en-US" sz="3600" b="1" dirty="0">
                <a:solidFill>
                  <a:srgbClr val="002060"/>
                </a:solidFill>
              </a:rPr>
              <a:t>Shared Preferences</a:t>
            </a:r>
          </a:p>
          <a:p>
            <a:endParaRPr lang="en-GB" sz="3600" b="1" dirty="0">
              <a:solidFill>
                <a:srgbClr val="002060"/>
              </a:solidFill>
            </a:endParaRPr>
          </a:p>
        </p:txBody>
      </p:sp>
      <p:sp>
        <p:nvSpPr>
          <p:cNvPr id="7" name="Content Placeholder 2">
            <a:extLst>
              <a:ext uri="{FF2B5EF4-FFF2-40B4-BE49-F238E27FC236}">
                <a16:creationId xmlns:a16="http://schemas.microsoft.com/office/drawing/2014/main" id="{9A90B391-19F4-2577-00C4-FDD6C611F491}"/>
              </a:ext>
            </a:extLst>
          </p:cNvPr>
          <p:cNvSpPr txBox="1">
            <a:spLocks/>
          </p:cNvSpPr>
          <p:nvPr/>
        </p:nvSpPr>
        <p:spPr>
          <a:xfrm>
            <a:off x="84083" y="580123"/>
            <a:ext cx="11887200" cy="1232912"/>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Cambria" panose="02040503050406030204" pitchFamily="18" charset="0"/>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Cambria" panose="02040503050406030204" pitchFamily="18" charset="0"/>
                <a:ea typeface="Cambria" panose="02040503050406030204" pitchFamily="18" charset="0"/>
                <a:cs typeface="Cambria" panose="02040503050406030204" pitchFamily="18" charset="0"/>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Cambria" panose="02040503050406030204" pitchFamily="18" charset="0"/>
                <a:ea typeface="Cambria" panose="02040503050406030204" pitchFamily="18" charset="0"/>
                <a:cs typeface="Cambria" panose="02040503050406030204" pitchFamily="18" charset="0"/>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Cambria" panose="02040503050406030204" pitchFamily="18" charset="0"/>
                <a:ea typeface="Cambria" panose="02040503050406030204" pitchFamily="18" charset="0"/>
                <a:cs typeface="Cambria" panose="02040503050406030204" pitchFamily="18" charset="0"/>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Cambria" panose="02040503050406030204" pitchFamily="18" charset="0"/>
                <a:ea typeface="Cambria" panose="02040503050406030204" pitchFamily="18" charset="0"/>
                <a:cs typeface="Cambria" panose="020405030504060302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600" dirty="0">
                <a:latin typeface="Cambria"/>
                <a:ea typeface="Cambria"/>
              </a:rPr>
              <a:t> </a:t>
            </a:r>
            <a:r>
              <a:rPr lang="en-US" sz="2600" dirty="0" err="1">
                <a:latin typeface="Cambria"/>
                <a:ea typeface="Cambria"/>
              </a:rPr>
              <a:t>SharedPreferences</a:t>
            </a:r>
            <a:r>
              <a:rPr lang="en-US" sz="2600" dirty="0">
                <a:latin typeface="Cambria"/>
                <a:ea typeface="Cambria"/>
              </a:rPr>
              <a:t> object points to a file containing key-value pairs and provides simple methods to read and write them. Each </a:t>
            </a:r>
            <a:r>
              <a:rPr lang="en-US" sz="2600" dirty="0" err="1">
                <a:latin typeface="Cambria"/>
                <a:ea typeface="Cambria"/>
              </a:rPr>
              <a:t>SharedPreferences</a:t>
            </a:r>
            <a:r>
              <a:rPr lang="en-US" sz="2600" dirty="0">
                <a:latin typeface="Cambria"/>
                <a:ea typeface="Cambria"/>
              </a:rPr>
              <a:t> file is managed by the framework and can be private or shared.</a:t>
            </a:r>
            <a:endParaRPr lang="en-GB" sz="2600" dirty="0"/>
          </a:p>
        </p:txBody>
      </p:sp>
      <p:sp>
        <p:nvSpPr>
          <p:cNvPr id="8" name="Title 1">
            <a:extLst>
              <a:ext uri="{FF2B5EF4-FFF2-40B4-BE49-F238E27FC236}">
                <a16:creationId xmlns:a16="http://schemas.microsoft.com/office/drawing/2014/main" id="{FC05D52B-5C4B-FC74-77C1-90149438C72C}"/>
              </a:ext>
            </a:extLst>
          </p:cNvPr>
          <p:cNvSpPr txBox="1">
            <a:spLocks/>
          </p:cNvSpPr>
          <p:nvPr/>
        </p:nvSpPr>
        <p:spPr>
          <a:xfrm>
            <a:off x="84083" y="1687586"/>
            <a:ext cx="10515600" cy="832370"/>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lnSpc>
                <a:spcPct val="90000"/>
              </a:lnSpc>
              <a:spcBef>
                <a:spcPct val="0"/>
              </a:spcBef>
              <a:spcAft>
                <a:spcPct val="0"/>
              </a:spcAft>
              <a:defRPr sz="4400" kern="1200">
                <a:solidFill>
                  <a:srgbClr val="203864"/>
                </a:solidFill>
                <a:latin typeface="Cambria" panose="02040503050406030204" pitchFamily="18" charset="0"/>
                <a:ea typeface="Cambria" panose="02040503050406030204" pitchFamily="18" charset="0"/>
                <a:cs typeface="Cambria" panose="02040503050406030204" pitchFamily="18" charset="0"/>
              </a:defRPr>
            </a:lvl1pPr>
            <a:lvl2pPr algn="l" rtl="0" eaLnBrk="0" fontAlgn="base" hangingPunct="0">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2pPr>
            <a:lvl3pPr algn="l" rtl="0" eaLnBrk="0" fontAlgn="base" hangingPunct="0">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3pPr>
            <a:lvl4pPr algn="l" rtl="0" eaLnBrk="0" fontAlgn="base" hangingPunct="0">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4pPr>
            <a:lvl5pPr algn="l" rtl="0" eaLnBrk="0" fontAlgn="base" hangingPunct="0">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5pPr>
            <a:lvl6pPr marL="457200" algn="l" rtl="0" fontAlgn="base">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6pPr>
            <a:lvl7pPr marL="914400" algn="l" rtl="0" fontAlgn="base">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7pPr>
            <a:lvl8pPr marL="1371600" algn="l" rtl="0" fontAlgn="base">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8pPr>
            <a:lvl9pPr marL="1828800" algn="l" rtl="0" fontAlgn="base">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9pPr>
          </a:lstStyle>
          <a:p>
            <a:r>
              <a:rPr lang="en-US" sz="3600" b="1" dirty="0">
                <a:solidFill>
                  <a:srgbClr val="002060"/>
                </a:solidFill>
              </a:rPr>
              <a:t>Get a handle to shared preferences</a:t>
            </a:r>
            <a:endParaRPr lang="en-GB" sz="3600" b="1" dirty="0">
              <a:solidFill>
                <a:srgbClr val="002060"/>
              </a:solidFill>
            </a:endParaRPr>
          </a:p>
        </p:txBody>
      </p:sp>
      <p:sp>
        <p:nvSpPr>
          <p:cNvPr id="9" name="Content Placeholder 2">
            <a:extLst>
              <a:ext uri="{FF2B5EF4-FFF2-40B4-BE49-F238E27FC236}">
                <a16:creationId xmlns:a16="http://schemas.microsoft.com/office/drawing/2014/main" id="{912EF1F9-1221-BAAB-F411-B5483743893A}"/>
              </a:ext>
            </a:extLst>
          </p:cNvPr>
          <p:cNvSpPr txBox="1">
            <a:spLocks/>
          </p:cNvSpPr>
          <p:nvPr/>
        </p:nvSpPr>
        <p:spPr>
          <a:xfrm>
            <a:off x="0" y="2342941"/>
            <a:ext cx="11887200" cy="1232912"/>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Cambria" panose="02040503050406030204" pitchFamily="18" charset="0"/>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Cambria" panose="02040503050406030204" pitchFamily="18" charset="0"/>
                <a:ea typeface="Cambria" panose="02040503050406030204" pitchFamily="18" charset="0"/>
                <a:cs typeface="Cambria" panose="02040503050406030204" pitchFamily="18" charset="0"/>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Cambria" panose="02040503050406030204" pitchFamily="18" charset="0"/>
                <a:ea typeface="Cambria" panose="02040503050406030204" pitchFamily="18" charset="0"/>
                <a:cs typeface="Cambria" panose="02040503050406030204" pitchFamily="18" charset="0"/>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Cambria" panose="02040503050406030204" pitchFamily="18" charset="0"/>
                <a:ea typeface="Cambria" panose="02040503050406030204" pitchFamily="18" charset="0"/>
                <a:cs typeface="Cambria" panose="02040503050406030204" pitchFamily="18" charset="0"/>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Cambria" panose="02040503050406030204" pitchFamily="18" charset="0"/>
                <a:ea typeface="Cambria" panose="02040503050406030204" pitchFamily="18" charset="0"/>
                <a:cs typeface="Cambria" panose="020405030504060302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2400" dirty="0">
                <a:latin typeface="Cambria"/>
                <a:ea typeface="Cambria"/>
              </a:rPr>
              <a:t> You can create a new shared preference file or access an existing one by calling one of these methods:</a:t>
            </a:r>
          </a:p>
          <a:p>
            <a:pPr algn="just"/>
            <a:r>
              <a:rPr lang="en-US" sz="2400" dirty="0" err="1">
                <a:latin typeface="Cambria"/>
                <a:ea typeface="Cambria"/>
              </a:rPr>
              <a:t>getSharedPreferences</a:t>
            </a:r>
            <a:r>
              <a:rPr lang="en-US" sz="2400" dirty="0">
                <a:latin typeface="Cambria"/>
                <a:ea typeface="Cambria"/>
              </a:rPr>
              <a:t>(): Use this if you need multiple shared preference files identified by name, which you specify with the first parameter. You can call this from any Context in your app.</a:t>
            </a:r>
          </a:p>
          <a:p>
            <a:pPr algn="just"/>
            <a:r>
              <a:rPr lang="en-US" sz="2400" dirty="0" err="1">
                <a:latin typeface="Cambria"/>
                <a:ea typeface="Cambria"/>
              </a:rPr>
              <a:t>getPreferences</a:t>
            </a:r>
            <a:r>
              <a:rPr lang="en-US" sz="2400" dirty="0">
                <a:latin typeface="Cambria"/>
                <a:ea typeface="Cambria"/>
              </a:rPr>
              <a:t>(): Use this from an Activity if you need to use only one shared preference file for the activity. Because this retrieves a default shared preference file that belongs to the activity, you don't need to supply a name.</a:t>
            </a:r>
            <a:endParaRPr lang="en-GB" sz="2400" dirty="0"/>
          </a:p>
        </p:txBody>
      </p:sp>
    </p:spTree>
    <p:extLst>
      <p:ext uri="{BB962C8B-B14F-4D97-AF65-F5344CB8AC3E}">
        <p14:creationId xmlns:p14="http://schemas.microsoft.com/office/powerpoint/2010/main" val="41379783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6C3FECA-5930-D67F-F309-A062186330F9}"/>
              </a:ext>
            </a:extLst>
          </p:cNvPr>
          <p:cNvSpPr>
            <a:spLocks noGrp="1"/>
          </p:cNvSpPr>
          <p:nvPr>
            <p:ph type="sldNum" sz="quarter" idx="12"/>
          </p:nvPr>
        </p:nvSpPr>
        <p:spPr/>
        <p:txBody>
          <a:bodyPr/>
          <a:lstStyle/>
          <a:p>
            <a:pPr>
              <a:defRPr/>
            </a:pPr>
            <a:fld id="{882D827A-045F-4F8B-BED3-F1EC0FC2FCF3}" type="slidenum">
              <a:rPr lang="en-US" smtClean="0">
                <a:solidFill>
                  <a:prstClr val="white"/>
                </a:solidFill>
              </a:rPr>
              <a:pPr>
                <a:defRPr/>
              </a:pPr>
              <a:t>10</a:t>
            </a:fld>
            <a:endParaRPr lang="en-US">
              <a:solidFill>
                <a:prstClr val="white"/>
              </a:solidFill>
            </a:endParaRPr>
          </a:p>
        </p:txBody>
      </p:sp>
      <p:sp>
        <p:nvSpPr>
          <p:cNvPr id="5" name="Title 1">
            <a:extLst>
              <a:ext uri="{FF2B5EF4-FFF2-40B4-BE49-F238E27FC236}">
                <a16:creationId xmlns:a16="http://schemas.microsoft.com/office/drawing/2014/main" id="{9B41D8B2-BE79-E89E-6404-C96E7036B502}"/>
              </a:ext>
            </a:extLst>
          </p:cNvPr>
          <p:cNvSpPr txBox="1">
            <a:spLocks/>
          </p:cNvSpPr>
          <p:nvPr/>
        </p:nvSpPr>
        <p:spPr>
          <a:xfrm>
            <a:off x="84083" y="10400"/>
            <a:ext cx="10515600" cy="832370"/>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lnSpc>
                <a:spcPct val="90000"/>
              </a:lnSpc>
              <a:spcBef>
                <a:spcPct val="0"/>
              </a:spcBef>
              <a:spcAft>
                <a:spcPct val="0"/>
              </a:spcAft>
              <a:defRPr sz="4400" kern="1200">
                <a:solidFill>
                  <a:srgbClr val="203864"/>
                </a:solidFill>
                <a:latin typeface="Cambria" panose="02040503050406030204" pitchFamily="18" charset="0"/>
                <a:ea typeface="Cambria" panose="02040503050406030204" pitchFamily="18" charset="0"/>
                <a:cs typeface="Cambria" panose="02040503050406030204" pitchFamily="18" charset="0"/>
              </a:defRPr>
            </a:lvl1pPr>
            <a:lvl2pPr algn="l" rtl="0" eaLnBrk="0" fontAlgn="base" hangingPunct="0">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2pPr>
            <a:lvl3pPr algn="l" rtl="0" eaLnBrk="0" fontAlgn="base" hangingPunct="0">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3pPr>
            <a:lvl4pPr algn="l" rtl="0" eaLnBrk="0" fontAlgn="base" hangingPunct="0">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4pPr>
            <a:lvl5pPr algn="l" rtl="0" eaLnBrk="0" fontAlgn="base" hangingPunct="0">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5pPr>
            <a:lvl6pPr marL="457200" algn="l" rtl="0" fontAlgn="base">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6pPr>
            <a:lvl7pPr marL="914400" algn="l" rtl="0" fontAlgn="base">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7pPr>
            <a:lvl8pPr marL="1371600" algn="l" rtl="0" fontAlgn="base">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8pPr>
            <a:lvl9pPr marL="1828800" algn="l" rtl="0" fontAlgn="base">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9pPr>
          </a:lstStyle>
          <a:p>
            <a:r>
              <a:rPr lang="en-US" sz="3600" b="1" dirty="0">
                <a:solidFill>
                  <a:srgbClr val="002060"/>
                </a:solidFill>
              </a:rPr>
              <a:t>Write to shared preferences</a:t>
            </a:r>
            <a:endParaRPr lang="en-GB" sz="3600" b="1" dirty="0">
              <a:solidFill>
                <a:srgbClr val="002060"/>
              </a:solidFill>
            </a:endParaRPr>
          </a:p>
        </p:txBody>
      </p:sp>
      <p:sp>
        <p:nvSpPr>
          <p:cNvPr id="7" name="Content Placeholder 2">
            <a:extLst>
              <a:ext uri="{FF2B5EF4-FFF2-40B4-BE49-F238E27FC236}">
                <a16:creationId xmlns:a16="http://schemas.microsoft.com/office/drawing/2014/main" id="{9A90B391-19F4-2577-00C4-FDD6C611F491}"/>
              </a:ext>
            </a:extLst>
          </p:cNvPr>
          <p:cNvSpPr txBox="1">
            <a:spLocks/>
          </p:cNvSpPr>
          <p:nvPr/>
        </p:nvSpPr>
        <p:spPr>
          <a:xfrm>
            <a:off x="84083" y="580123"/>
            <a:ext cx="11887200" cy="1232912"/>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Cambria" panose="02040503050406030204" pitchFamily="18" charset="0"/>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Cambria" panose="02040503050406030204" pitchFamily="18" charset="0"/>
                <a:ea typeface="Cambria" panose="02040503050406030204" pitchFamily="18" charset="0"/>
                <a:cs typeface="Cambria" panose="02040503050406030204" pitchFamily="18" charset="0"/>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Cambria" panose="02040503050406030204" pitchFamily="18" charset="0"/>
                <a:ea typeface="Cambria" panose="02040503050406030204" pitchFamily="18" charset="0"/>
                <a:cs typeface="Cambria" panose="02040503050406030204" pitchFamily="18" charset="0"/>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Cambria" panose="02040503050406030204" pitchFamily="18" charset="0"/>
                <a:ea typeface="Cambria" panose="02040503050406030204" pitchFamily="18" charset="0"/>
                <a:cs typeface="Cambria" panose="02040503050406030204" pitchFamily="18" charset="0"/>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Cambria" panose="02040503050406030204" pitchFamily="18" charset="0"/>
                <a:ea typeface="Cambria" panose="02040503050406030204" pitchFamily="18" charset="0"/>
                <a:cs typeface="Cambria" panose="020405030504060302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600" dirty="0">
                <a:latin typeface="Cambria"/>
                <a:ea typeface="Cambria"/>
              </a:rPr>
              <a:t> To write to a shared preferences file, create a </a:t>
            </a:r>
            <a:r>
              <a:rPr lang="en-US" sz="2600" dirty="0" err="1">
                <a:latin typeface="Cambria"/>
                <a:ea typeface="Cambria"/>
              </a:rPr>
              <a:t>SharedPreferences.Editor</a:t>
            </a:r>
            <a:r>
              <a:rPr lang="en-US" sz="2600" dirty="0">
                <a:latin typeface="Cambria"/>
                <a:ea typeface="Cambria"/>
              </a:rPr>
              <a:t> by calling edit() on your </a:t>
            </a:r>
            <a:r>
              <a:rPr lang="en-US" sz="2600" dirty="0" err="1">
                <a:latin typeface="Cambria"/>
                <a:ea typeface="Cambria"/>
              </a:rPr>
              <a:t>SharedPreferences</a:t>
            </a:r>
            <a:r>
              <a:rPr lang="en-US" sz="2600" dirty="0">
                <a:latin typeface="Cambria"/>
                <a:ea typeface="Cambria"/>
              </a:rPr>
              <a:t>.</a:t>
            </a:r>
          </a:p>
          <a:p>
            <a:pPr algn="just"/>
            <a:r>
              <a:rPr lang="en-US" sz="2600" dirty="0">
                <a:latin typeface="Cambria"/>
                <a:ea typeface="Cambria"/>
              </a:rPr>
              <a:t>Pass the keys and values you want to write with methods such as: </a:t>
            </a:r>
            <a:r>
              <a:rPr lang="en-US" sz="2600" dirty="0" err="1">
                <a:latin typeface="Cambria"/>
                <a:ea typeface="Cambria"/>
              </a:rPr>
              <a:t>putInt</a:t>
            </a:r>
            <a:r>
              <a:rPr lang="en-US" sz="2600" dirty="0">
                <a:latin typeface="Cambria"/>
                <a:ea typeface="Cambria"/>
              </a:rPr>
              <a:t>() </a:t>
            </a:r>
            <a:r>
              <a:rPr lang="en-US" sz="2600" dirty="0" err="1">
                <a:latin typeface="Cambria"/>
                <a:ea typeface="Cambria"/>
              </a:rPr>
              <a:t>andputString</a:t>
            </a:r>
            <a:r>
              <a:rPr lang="en-US" sz="2600" dirty="0">
                <a:latin typeface="Cambria"/>
                <a:ea typeface="Cambria"/>
              </a:rPr>
              <a:t>(). Then call apply() or commit() to save the changes.</a:t>
            </a:r>
            <a:endParaRPr lang="en-GB" sz="2600" dirty="0"/>
          </a:p>
        </p:txBody>
      </p:sp>
      <p:sp>
        <p:nvSpPr>
          <p:cNvPr id="8" name="Title 1">
            <a:extLst>
              <a:ext uri="{FF2B5EF4-FFF2-40B4-BE49-F238E27FC236}">
                <a16:creationId xmlns:a16="http://schemas.microsoft.com/office/drawing/2014/main" id="{FC05D52B-5C4B-FC74-77C1-90149438C72C}"/>
              </a:ext>
            </a:extLst>
          </p:cNvPr>
          <p:cNvSpPr txBox="1">
            <a:spLocks/>
          </p:cNvSpPr>
          <p:nvPr/>
        </p:nvSpPr>
        <p:spPr>
          <a:xfrm>
            <a:off x="84083" y="2081724"/>
            <a:ext cx="10515600" cy="832370"/>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lnSpc>
                <a:spcPct val="90000"/>
              </a:lnSpc>
              <a:spcBef>
                <a:spcPct val="0"/>
              </a:spcBef>
              <a:spcAft>
                <a:spcPct val="0"/>
              </a:spcAft>
              <a:defRPr sz="4400" kern="1200">
                <a:solidFill>
                  <a:srgbClr val="203864"/>
                </a:solidFill>
                <a:latin typeface="Cambria" panose="02040503050406030204" pitchFamily="18" charset="0"/>
                <a:ea typeface="Cambria" panose="02040503050406030204" pitchFamily="18" charset="0"/>
                <a:cs typeface="Cambria" panose="02040503050406030204" pitchFamily="18" charset="0"/>
              </a:defRPr>
            </a:lvl1pPr>
            <a:lvl2pPr algn="l" rtl="0" eaLnBrk="0" fontAlgn="base" hangingPunct="0">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2pPr>
            <a:lvl3pPr algn="l" rtl="0" eaLnBrk="0" fontAlgn="base" hangingPunct="0">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3pPr>
            <a:lvl4pPr algn="l" rtl="0" eaLnBrk="0" fontAlgn="base" hangingPunct="0">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4pPr>
            <a:lvl5pPr algn="l" rtl="0" eaLnBrk="0" fontAlgn="base" hangingPunct="0">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5pPr>
            <a:lvl6pPr marL="457200" algn="l" rtl="0" fontAlgn="base">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6pPr>
            <a:lvl7pPr marL="914400" algn="l" rtl="0" fontAlgn="base">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7pPr>
            <a:lvl8pPr marL="1371600" algn="l" rtl="0" fontAlgn="base">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8pPr>
            <a:lvl9pPr marL="1828800" algn="l" rtl="0" fontAlgn="base">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9pPr>
          </a:lstStyle>
          <a:p>
            <a:r>
              <a:rPr lang="en-US" sz="3600" b="1" dirty="0">
                <a:solidFill>
                  <a:srgbClr val="002060"/>
                </a:solidFill>
              </a:rPr>
              <a:t>Read from shared preferences</a:t>
            </a:r>
            <a:endParaRPr lang="en-GB" sz="3600" b="1" dirty="0">
              <a:solidFill>
                <a:srgbClr val="002060"/>
              </a:solidFill>
            </a:endParaRPr>
          </a:p>
        </p:txBody>
      </p:sp>
      <p:sp>
        <p:nvSpPr>
          <p:cNvPr id="2" name="Content Placeholder 2">
            <a:extLst>
              <a:ext uri="{FF2B5EF4-FFF2-40B4-BE49-F238E27FC236}">
                <a16:creationId xmlns:a16="http://schemas.microsoft.com/office/drawing/2014/main" id="{F5AA39DB-6E54-ACFF-7007-7362F039454A}"/>
              </a:ext>
            </a:extLst>
          </p:cNvPr>
          <p:cNvSpPr txBox="1">
            <a:spLocks/>
          </p:cNvSpPr>
          <p:nvPr/>
        </p:nvSpPr>
        <p:spPr>
          <a:xfrm>
            <a:off x="152400" y="2931858"/>
            <a:ext cx="11887200" cy="1232912"/>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Cambria" panose="02040503050406030204" pitchFamily="18" charset="0"/>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Cambria" panose="02040503050406030204" pitchFamily="18" charset="0"/>
                <a:ea typeface="Cambria" panose="02040503050406030204" pitchFamily="18" charset="0"/>
                <a:cs typeface="Cambria" panose="02040503050406030204" pitchFamily="18" charset="0"/>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Cambria" panose="02040503050406030204" pitchFamily="18" charset="0"/>
                <a:ea typeface="Cambria" panose="02040503050406030204" pitchFamily="18" charset="0"/>
                <a:cs typeface="Cambria" panose="02040503050406030204" pitchFamily="18" charset="0"/>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Cambria" panose="02040503050406030204" pitchFamily="18" charset="0"/>
                <a:ea typeface="Cambria" panose="02040503050406030204" pitchFamily="18" charset="0"/>
                <a:cs typeface="Cambria" panose="02040503050406030204" pitchFamily="18" charset="0"/>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Cambria" panose="02040503050406030204" pitchFamily="18" charset="0"/>
                <a:ea typeface="Cambria" panose="02040503050406030204" pitchFamily="18" charset="0"/>
                <a:cs typeface="Cambria" panose="020405030504060302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600" dirty="0">
                <a:latin typeface="Cambria"/>
                <a:ea typeface="Cambria"/>
              </a:rPr>
              <a:t> To retrieve values from a shared preferences file, call methods such as </a:t>
            </a:r>
            <a:r>
              <a:rPr lang="en-US" sz="2600" dirty="0" err="1">
                <a:latin typeface="Cambria"/>
                <a:ea typeface="Cambria"/>
              </a:rPr>
              <a:t>getInt</a:t>
            </a:r>
            <a:r>
              <a:rPr lang="en-US" sz="2600" dirty="0">
                <a:latin typeface="Cambria"/>
                <a:ea typeface="Cambria"/>
              </a:rPr>
              <a:t>() and </a:t>
            </a:r>
            <a:r>
              <a:rPr lang="en-US" sz="2600" dirty="0" err="1">
                <a:latin typeface="Cambria"/>
                <a:ea typeface="Cambria"/>
              </a:rPr>
              <a:t>getString</a:t>
            </a:r>
            <a:r>
              <a:rPr lang="en-US" sz="2600" dirty="0">
                <a:latin typeface="Cambria"/>
                <a:ea typeface="Cambria"/>
              </a:rPr>
              <a:t>(), providing the key for the value you want, and optionally a default value to return if the key isn't present.</a:t>
            </a:r>
            <a:endParaRPr lang="en-GB" sz="2600" dirty="0"/>
          </a:p>
        </p:txBody>
      </p:sp>
    </p:spTree>
    <p:extLst>
      <p:ext uri="{BB962C8B-B14F-4D97-AF65-F5344CB8AC3E}">
        <p14:creationId xmlns:p14="http://schemas.microsoft.com/office/powerpoint/2010/main" val="1439874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1CDA3-252E-4FC9-A3AA-302A091E9069}"/>
              </a:ext>
            </a:extLst>
          </p:cNvPr>
          <p:cNvSpPr>
            <a:spLocks noGrp="1"/>
          </p:cNvSpPr>
          <p:nvPr>
            <p:ph type="title"/>
          </p:nvPr>
        </p:nvSpPr>
        <p:spPr>
          <a:xfrm>
            <a:off x="0" y="62865"/>
            <a:ext cx="10515600" cy="832370"/>
          </a:xfrm>
        </p:spPr>
        <p:txBody>
          <a:bodyPr/>
          <a:lstStyle/>
          <a:p>
            <a:r>
              <a:rPr lang="en-GB" b="1" dirty="0"/>
              <a:t>Save data using SQLite</a:t>
            </a:r>
            <a:endParaRPr lang="en-US" dirty="0"/>
          </a:p>
        </p:txBody>
      </p:sp>
      <p:sp>
        <p:nvSpPr>
          <p:cNvPr id="3" name="Content Placeholder 2">
            <a:extLst>
              <a:ext uri="{FF2B5EF4-FFF2-40B4-BE49-F238E27FC236}">
                <a16:creationId xmlns:a16="http://schemas.microsoft.com/office/drawing/2014/main" id="{BEF430E6-6135-40AB-AE61-AEF95BDD725A}"/>
              </a:ext>
            </a:extLst>
          </p:cNvPr>
          <p:cNvSpPr>
            <a:spLocks noGrp="1"/>
          </p:cNvSpPr>
          <p:nvPr>
            <p:ph idx="1"/>
          </p:nvPr>
        </p:nvSpPr>
        <p:spPr>
          <a:xfrm>
            <a:off x="-1" y="770259"/>
            <a:ext cx="11997559" cy="3879669"/>
          </a:xfrm>
        </p:spPr>
        <p:txBody>
          <a:bodyPr/>
          <a:lstStyle/>
          <a:p>
            <a:r>
              <a:rPr lang="en-GB" dirty="0">
                <a:latin typeface="Cambria"/>
                <a:ea typeface="Cambria"/>
              </a:rPr>
              <a:t>Saving data to a database is ideal for repeating or structured data, such as contact information. </a:t>
            </a:r>
          </a:p>
          <a:p>
            <a:r>
              <a:rPr lang="en-GB" dirty="0">
                <a:latin typeface="Cambria"/>
                <a:ea typeface="Cambria"/>
              </a:rPr>
              <a:t>The APIs you'll need to use a database on Android are available in the </a:t>
            </a:r>
            <a:r>
              <a:rPr lang="en-GB" dirty="0">
                <a:latin typeface="Cambria"/>
                <a:ea typeface="Cambria"/>
                <a:hlinkClick r:id="rId2"/>
              </a:rPr>
              <a:t>android.database.sqlite</a:t>
            </a:r>
            <a:r>
              <a:rPr lang="en-GB" dirty="0">
                <a:latin typeface="Cambria"/>
                <a:ea typeface="Cambria"/>
              </a:rPr>
              <a:t> package.</a:t>
            </a:r>
          </a:p>
          <a:p>
            <a:r>
              <a:rPr lang="en-GB" dirty="0">
                <a:latin typeface="Cambria"/>
                <a:ea typeface="Cambria"/>
              </a:rPr>
              <a:t>Although these APIs are powerful, they are fairly low-level and require a great deal of time and effort to use:</a:t>
            </a:r>
          </a:p>
          <a:p>
            <a:pPr lvl="1"/>
            <a:r>
              <a:rPr lang="en-GB" dirty="0">
                <a:latin typeface="Cambria"/>
                <a:ea typeface="Cambria"/>
              </a:rPr>
              <a:t>There is no compile-time verification of raw SQL queries. As your data graph changes, you need to update the affected SQL queries manually. This process can be time consuming and error prone.</a:t>
            </a:r>
          </a:p>
          <a:p>
            <a:pPr lvl="1"/>
            <a:r>
              <a:rPr lang="en-GB" dirty="0">
                <a:latin typeface="Cambria"/>
                <a:ea typeface="Cambria"/>
              </a:rPr>
              <a:t>You need to use lots of boilerplate code to convert between SQL queries and data objects.</a:t>
            </a:r>
          </a:p>
          <a:p>
            <a:pPr marL="0" indent="0">
              <a:buNone/>
            </a:pPr>
            <a:endParaRPr lang="en-GB" dirty="0">
              <a:latin typeface="Cambria"/>
              <a:ea typeface="Cambria"/>
            </a:endParaRPr>
          </a:p>
          <a:p>
            <a:endParaRPr lang="en-GB" dirty="0"/>
          </a:p>
        </p:txBody>
      </p:sp>
      <p:sp>
        <p:nvSpPr>
          <p:cNvPr id="4" name="Slide Number Placeholder 3">
            <a:extLst>
              <a:ext uri="{FF2B5EF4-FFF2-40B4-BE49-F238E27FC236}">
                <a16:creationId xmlns:a16="http://schemas.microsoft.com/office/drawing/2014/main" id="{ACC78253-DCF7-4E29-A15C-A72054FF951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82D827A-045F-4F8B-BED3-F1EC0FC2FCF3}" type="slidenum">
              <a:rPr kumimoji="0" lang="en-US" sz="1400" b="1" i="0" u="none" strike="noStrike" kern="1200" cap="none" spc="0" normalizeH="0" baseline="0" noProof="0">
                <a:ln>
                  <a:noFill/>
                </a:ln>
                <a:solidFill>
                  <a:prstClr val="white"/>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400" b="1"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8636787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E1853-C759-41BC-9AB3-983F3E543C75}"/>
              </a:ext>
            </a:extLst>
          </p:cNvPr>
          <p:cNvSpPr>
            <a:spLocks noGrp="1"/>
          </p:cNvSpPr>
          <p:nvPr>
            <p:ph type="title"/>
          </p:nvPr>
        </p:nvSpPr>
        <p:spPr>
          <a:xfrm>
            <a:off x="0" y="261436"/>
            <a:ext cx="10515600" cy="832370"/>
          </a:xfrm>
        </p:spPr>
        <p:txBody>
          <a:bodyPr/>
          <a:lstStyle/>
          <a:p>
            <a:r>
              <a:rPr lang="en-GB" dirty="0">
                <a:latin typeface="Cambria"/>
                <a:ea typeface="Cambria"/>
              </a:rPr>
              <a:t>Create a database using an SQL helper</a:t>
            </a:r>
            <a:endParaRPr lang="en-US" dirty="0">
              <a:latin typeface="Cambria"/>
              <a:ea typeface="Cambria"/>
            </a:endParaRPr>
          </a:p>
          <a:p>
            <a:endParaRPr lang="en-GB" dirty="0"/>
          </a:p>
        </p:txBody>
      </p:sp>
      <p:sp>
        <p:nvSpPr>
          <p:cNvPr id="3" name="Content Placeholder 2">
            <a:extLst>
              <a:ext uri="{FF2B5EF4-FFF2-40B4-BE49-F238E27FC236}">
                <a16:creationId xmlns:a16="http://schemas.microsoft.com/office/drawing/2014/main" id="{FC60096B-F974-4198-B66B-81408C3552D9}"/>
              </a:ext>
            </a:extLst>
          </p:cNvPr>
          <p:cNvSpPr>
            <a:spLocks noGrp="1"/>
          </p:cNvSpPr>
          <p:nvPr>
            <p:ph idx="1"/>
          </p:nvPr>
        </p:nvSpPr>
        <p:spPr>
          <a:xfrm>
            <a:off x="176048" y="691135"/>
            <a:ext cx="11789979" cy="4910610"/>
          </a:xfrm>
        </p:spPr>
        <p:txBody>
          <a:bodyPr/>
          <a:lstStyle/>
          <a:p>
            <a:r>
              <a:rPr lang="en-GB" dirty="0">
                <a:latin typeface="Cambria"/>
                <a:ea typeface="Cambria"/>
              </a:rPr>
              <a:t>Once you have defined how your database looks, you should implement methods that create and maintain the database and tables. Here are some typical statements that create and delete a table:</a:t>
            </a:r>
          </a:p>
          <a:p>
            <a:r>
              <a:rPr lang="en-GB" dirty="0">
                <a:latin typeface="Cambria"/>
                <a:ea typeface="Cambria"/>
              </a:rPr>
              <a:t>private static final String SQL_CREATE_ENTRIES =</a:t>
            </a:r>
            <a:br>
              <a:rPr lang="en-GB" dirty="0"/>
            </a:br>
            <a:r>
              <a:rPr lang="en-GB" dirty="0">
                <a:latin typeface="Cambria"/>
                <a:ea typeface="Cambria"/>
              </a:rPr>
              <a:t>    "CREATE TABLE " + </a:t>
            </a:r>
            <a:r>
              <a:rPr lang="en-GB" dirty="0" err="1">
                <a:latin typeface="Cambria"/>
                <a:ea typeface="Cambria"/>
              </a:rPr>
              <a:t>FeedEntry.TABLE_NAME</a:t>
            </a:r>
            <a:r>
              <a:rPr lang="en-GB" dirty="0">
                <a:latin typeface="Cambria"/>
                <a:ea typeface="Cambria"/>
              </a:rPr>
              <a:t> + " (" +</a:t>
            </a:r>
            <a:br>
              <a:rPr lang="en-GB" dirty="0"/>
            </a:br>
            <a:r>
              <a:rPr lang="en-GB" dirty="0">
                <a:latin typeface="Cambria"/>
                <a:ea typeface="Cambria"/>
              </a:rPr>
              <a:t>    </a:t>
            </a:r>
            <a:r>
              <a:rPr lang="en-GB" dirty="0" err="1">
                <a:latin typeface="Cambria"/>
                <a:ea typeface="Cambria"/>
              </a:rPr>
              <a:t>FeedEntry</a:t>
            </a:r>
            <a:r>
              <a:rPr lang="en-GB" dirty="0">
                <a:latin typeface="Cambria"/>
                <a:ea typeface="Cambria"/>
              </a:rPr>
              <a:t>._ID + " INTEGER PRIMARY KEY," +</a:t>
            </a:r>
            <a:br>
              <a:rPr lang="en-GB" dirty="0"/>
            </a:br>
            <a:r>
              <a:rPr lang="en-GB" dirty="0">
                <a:latin typeface="Cambria"/>
                <a:ea typeface="Cambria"/>
              </a:rPr>
              <a:t>    </a:t>
            </a:r>
            <a:r>
              <a:rPr lang="en-GB" dirty="0" err="1">
                <a:latin typeface="Cambria"/>
                <a:ea typeface="Cambria"/>
              </a:rPr>
              <a:t>FeedEntry.COLUMN_NAME_TITLE</a:t>
            </a:r>
            <a:r>
              <a:rPr lang="en-GB" dirty="0">
                <a:latin typeface="Cambria"/>
                <a:ea typeface="Cambria"/>
              </a:rPr>
              <a:t> + " TEXT," +</a:t>
            </a:r>
            <a:br>
              <a:rPr lang="en-GB" dirty="0"/>
            </a:br>
            <a:r>
              <a:rPr lang="en-GB" dirty="0">
                <a:latin typeface="Cambria"/>
                <a:ea typeface="Cambria"/>
              </a:rPr>
              <a:t>    </a:t>
            </a:r>
            <a:r>
              <a:rPr lang="en-GB" dirty="0" err="1">
                <a:latin typeface="Cambria"/>
                <a:ea typeface="Cambria"/>
              </a:rPr>
              <a:t>FeedEntry.COLUMN_NAME_SUBTITLE</a:t>
            </a:r>
            <a:r>
              <a:rPr lang="en-GB" dirty="0">
                <a:latin typeface="Cambria"/>
                <a:ea typeface="Cambria"/>
              </a:rPr>
              <a:t> + " TEXT)";</a:t>
            </a:r>
            <a:br>
              <a:rPr lang="en-GB" dirty="0"/>
            </a:br>
            <a:r>
              <a:rPr lang="en-GB" dirty="0">
                <a:latin typeface="Cambria"/>
                <a:ea typeface="Cambria"/>
              </a:rPr>
              <a:t>private static final String SQL_DELETE_ENTRIES =</a:t>
            </a:r>
            <a:br>
              <a:rPr lang="en-GB" dirty="0"/>
            </a:br>
            <a:r>
              <a:rPr lang="en-GB" dirty="0">
                <a:latin typeface="Cambria"/>
                <a:ea typeface="Cambria"/>
              </a:rPr>
              <a:t>    "DROP TABLE IF EXISTS " + </a:t>
            </a:r>
            <a:r>
              <a:rPr lang="en-GB" dirty="0" err="1">
                <a:latin typeface="Cambria"/>
                <a:ea typeface="Cambria"/>
              </a:rPr>
              <a:t>FeedEntry.TABLE_NAME</a:t>
            </a:r>
            <a:r>
              <a:rPr lang="en-GB" dirty="0">
                <a:latin typeface="Cambria"/>
                <a:ea typeface="Cambria"/>
              </a:rPr>
              <a:t>;</a:t>
            </a:r>
          </a:p>
        </p:txBody>
      </p:sp>
      <p:sp>
        <p:nvSpPr>
          <p:cNvPr id="4" name="Slide Number Placeholder 3">
            <a:extLst>
              <a:ext uri="{FF2B5EF4-FFF2-40B4-BE49-F238E27FC236}">
                <a16:creationId xmlns:a16="http://schemas.microsoft.com/office/drawing/2014/main" id="{63456C68-6037-499A-9AE1-784B828F394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82D827A-045F-4F8B-BED3-F1EC0FC2FCF3}" type="slidenum">
              <a:rPr kumimoji="0" lang="en-US" sz="1400" b="1" i="0" u="none" strike="noStrike" kern="1200" cap="none" spc="0" normalizeH="0" baseline="0" noProof="0">
                <a:ln>
                  <a:noFill/>
                </a:ln>
                <a:solidFill>
                  <a:prstClr val="white"/>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400" b="1"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4981698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9113848-03F3-4F48-97A9-6AB1D4B4405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82D827A-045F-4F8B-BED3-F1EC0FC2FCF3}" type="slidenum">
              <a:rPr kumimoji="0" lang="en-US" sz="1400" b="1" i="0" u="none" strike="noStrike" kern="1200" cap="none" spc="0" normalizeH="0" baseline="0" noProof="0">
                <a:ln>
                  <a:noFill/>
                </a:ln>
                <a:solidFill>
                  <a:prstClr val="white"/>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400" b="1" i="0" u="none" strike="noStrike" kern="1200" cap="none" spc="0" normalizeH="0" baseline="0" noProof="0">
              <a:ln>
                <a:noFill/>
              </a:ln>
              <a:solidFill>
                <a:prstClr val="white"/>
              </a:solidFill>
              <a:effectLst/>
              <a:uLnTx/>
              <a:uFillTx/>
              <a:latin typeface="Calibri"/>
              <a:ea typeface="+mn-ea"/>
              <a:cs typeface="+mn-cs"/>
            </a:endParaRPr>
          </a:p>
        </p:txBody>
      </p:sp>
      <p:sp>
        <p:nvSpPr>
          <p:cNvPr id="3" name="Content Placeholder 2">
            <a:extLst>
              <a:ext uri="{FF2B5EF4-FFF2-40B4-BE49-F238E27FC236}">
                <a16:creationId xmlns:a16="http://schemas.microsoft.com/office/drawing/2014/main" id="{7A159790-D487-4C2C-89B0-08DB2825CAA7}"/>
              </a:ext>
            </a:extLst>
          </p:cNvPr>
          <p:cNvSpPr>
            <a:spLocks noGrp="1"/>
          </p:cNvSpPr>
          <p:nvPr>
            <p:ph idx="4294967295"/>
          </p:nvPr>
        </p:nvSpPr>
        <p:spPr>
          <a:xfrm>
            <a:off x="183931" y="376347"/>
            <a:ext cx="11824138" cy="3879850"/>
          </a:xfrm>
        </p:spPr>
        <p:txBody>
          <a:bodyPr/>
          <a:lstStyle/>
          <a:p>
            <a:r>
              <a:rPr lang="en-GB" sz="2600" dirty="0">
                <a:latin typeface="Cambria"/>
                <a:ea typeface="Cambria"/>
              </a:rPr>
              <a:t>Just like files that you save on the device's </a:t>
            </a:r>
            <a:r>
              <a:rPr lang="en-GB" sz="2600" dirty="0">
                <a:latin typeface="Cambria"/>
                <a:ea typeface="Cambria"/>
                <a:hlinkClick r:id="rId2"/>
              </a:rPr>
              <a:t>internal storage</a:t>
            </a:r>
            <a:r>
              <a:rPr lang="en-GB" sz="2600" dirty="0">
                <a:latin typeface="Cambria"/>
                <a:ea typeface="Cambria"/>
              </a:rPr>
              <a:t>, Android stores your database in your app's private folder. Your data is secure, because by default this area is not accessible to other apps or the user.</a:t>
            </a:r>
          </a:p>
          <a:p>
            <a:r>
              <a:rPr lang="en-GB" sz="2600" dirty="0">
                <a:latin typeface="Cambria"/>
                <a:ea typeface="Cambria"/>
              </a:rPr>
              <a:t>The </a:t>
            </a:r>
            <a:r>
              <a:rPr lang="en-GB" sz="2600" dirty="0">
                <a:latin typeface="Cambria"/>
                <a:ea typeface="Cambria"/>
                <a:hlinkClick r:id="rId3"/>
              </a:rPr>
              <a:t>SQLiteOpenHelper</a:t>
            </a:r>
            <a:r>
              <a:rPr lang="en-GB" sz="2600" dirty="0">
                <a:latin typeface="Cambria"/>
                <a:ea typeface="Cambria"/>
              </a:rPr>
              <a:t> class contains a useful set of APIs for managing your database. When you use this class to obtain references to your database, the system performs the potentially long-running operations of creating and updating the database only when needed and </a:t>
            </a:r>
            <a:r>
              <a:rPr lang="en-GB" sz="2600" i="1" dirty="0">
                <a:latin typeface="Cambria"/>
                <a:ea typeface="Cambria"/>
              </a:rPr>
              <a:t>not during app </a:t>
            </a:r>
            <a:r>
              <a:rPr lang="en-GB" sz="2600" i="1" dirty="0" err="1">
                <a:latin typeface="Cambria"/>
                <a:ea typeface="Cambria"/>
              </a:rPr>
              <a:t>startup</a:t>
            </a:r>
            <a:r>
              <a:rPr lang="en-GB" sz="2600" dirty="0">
                <a:latin typeface="Cambria"/>
                <a:ea typeface="Cambria"/>
              </a:rPr>
              <a:t>. All you need to do is call </a:t>
            </a:r>
            <a:r>
              <a:rPr lang="en-GB" sz="2600" dirty="0">
                <a:latin typeface="Cambria"/>
                <a:ea typeface="Cambria"/>
                <a:hlinkClick r:id="rId4"/>
              </a:rPr>
              <a:t>getWritableDatabase()</a:t>
            </a:r>
            <a:r>
              <a:rPr lang="en-GB" sz="2600" dirty="0">
                <a:latin typeface="Cambria"/>
                <a:ea typeface="Cambria"/>
              </a:rPr>
              <a:t> or </a:t>
            </a:r>
            <a:r>
              <a:rPr lang="en-GB" sz="2600" dirty="0" err="1">
                <a:latin typeface="Cambria"/>
                <a:ea typeface="Cambria"/>
                <a:hlinkClick r:id="rId5"/>
              </a:rPr>
              <a:t>getReadableDatabase</a:t>
            </a:r>
            <a:r>
              <a:rPr lang="en-GB" sz="2600" dirty="0">
                <a:latin typeface="Cambria"/>
                <a:ea typeface="Cambria"/>
                <a:hlinkClick r:id="rId5"/>
              </a:rPr>
              <a:t>()</a:t>
            </a:r>
            <a:r>
              <a:rPr lang="en-GB" sz="2600" dirty="0">
                <a:latin typeface="Cambria"/>
                <a:ea typeface="Cambria"/>
              </a:rPr>
              <a:t>.</a:t>
            </a:r>
          </a:p>
          <a:p>
            <a:r>
              <a:rPr lang="en-GB" sz="2600" dirty="0">
                <a:latin typeface="Cambria"/>
                <a:ea typeface="Cambria"/>
              </a:rPr>
              <a:t>To use </a:t>
            </a:r>
            <a:r>
              <a:rPr lang="en-GB" sz="2600" dirty="0" err="1">
                <a:latin typeface="Cambria"/>
                <a:ea typeface="Cambria"/>
                <a:hlinkClick r:id="rId3"/>
              </a:rPr>
              <a:t>SQLiteOpenHelper</a:t>
            </a:r>
            <a:r>
              <a:rPr lang="en-GB" sz="2600" dirty="0">
                <a:latin typeface="Cambria"/>
                <a:ea typeface="Cambria"/>
              </a:rPr>
              <a:t>, create a subclass that overrides the </a:t>
            </a:r>
            <a:r>
              <a:rPr lang="en-GB" sz="2600" dirty="0" err="1">
                <a:latin typeface="Cambria"/>
                <a:ea typeface="Cambria"/>
                <a:hlinkClick r:id="rId6"/>
              </a:rPr>
              <a:t>onCreate</a:t>
            </a:r>
            <a:r>
              <a:rPr lang="en-GB" sz="2600" dirty="0">
                <a:latin typeface="Cambria"/>
                <a:ea typeface="Cambria"/>
                <a:hlinkClick r:id="rId6"/>
              </a:rPr>
              <a:t>()</a:t>
            </a:r>
            <a:r>
              <a:rPr lang="en-GB" sz="2600" dirty="0">
                <a:latin typeface="Cambria"/>
                <a:ea typeface="Cambria"/>
              </a:rPr>
              <a:t> and </a:t>
            </a:r>
            <a:r>
              <a:rPr lang="en-GB" sz="2600" dirty="0" err="1">
                <a:latin typeface="Cambria"/>
                <a:ea typeface="Cambria"/>
                <a:hlinkClick r:id="rId7"/>
              </a:rPr>
              <a:t>onUpgrade</a:t>
            </a:r>
            <a:r>
              <a:rPr lang="en-GB" sz="2600" dirty="0">
                <a:latin typeface="Cambria"/>
                <a:ea typeface="Cambria"/>
                <a:hlinkClick r:id="rId7"/>
              </a:rPr>
              <a:t>()</a:t>
            </a:r>
            <a:r>
              <a:rPr lang="en-GB" sz="2600" dirty="0">
                <a:latin typeface="Cambria"/>
                <a:ea typeface="Cambria"/>
              </a:rPr>
              <a:t> callback methods. You may also want to implement the </a:t>
            </a:r>
            <a:r>
              <a:rPr lang="en-GB" sz="2600" dirty="0" err="1">
                <a:latin typeface="Cambria"/>
                <a:ea typeface="Cambria"/>
                <a:hlinkClick r:id="rId8"/>
              </a:rPr>
              <a:t>onDowngrade</a:t>
            </a:r>
            <a:r>
              <a:rPr lang="en-GB" sz="2600" dirty="0">
                <a:latin typeface="Cambria"/>
                <a:ea typeface="Cambria"/>
                <a:hlinkClick r:id="rId8"/>
              </a:rPr>
              <a:t>()</a:t>
            </a:r>
            <a:r>
              <a:rPr lang="en-GB" sz="2600" dirty="0">
                <a:latin typeface="Cambria"/>
                <a:ea typeface="Cambria"/>
              </a:rPr>
              <a:t> or </a:t>
            </a:r>
            <a:r>
              <a:rPr lang="en-GB" sz="2600" dirty="0" err="1">
                <a:latin typeface="Cambria"/>
                <a:ea typeface="Cambria"/>
                <a:hlinkClick r:id="rId9"/>
              </a:rPr>
              <a:t>onOpen</a:t>
            </a:r>
            <a:r>
              <a:rPr lang="en-GB" sz="2600" dirty="0">
                <a:latin typeface="Cambria"/>
                <a:ea typeface="Cambria"/>
                <a:hlinkClick r:id="rId9"/>
              </a:rPr>
              <a:t>()</a:t>
            </a:r>
            <a:r>
              <a:rPr lang="en-GB" sz="2600" dirty="0">
                <a:latin typeface="Cambria"/>
                <a:ea typeface="Cambria"/>
              </a:rPr>
              <a:t> methods, but they are not required.</a:t>
            </a:r>
          </a:p>
          <a:p>
            <a:endParaRPr lang="en-GB" sz="2600" dirty="0">
              <a:latin typeface="Cambria"/>
              <a:ea typeface="Cambria"/>
            </a:endParaRPr>
          </a:p>
        </p:txBody>
      </p:sp>
    </p:spTree>
    <p:extLst>
      <p:ext uri="{BB962C8B-B14F-4D97-AF65-F5344CB8AC3E}">
        <p14:creationId xmlns:p14="http://schemas.microsoft.com/office/powerpoint/2010/main" val="10713966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7424EE1-BCD0-43FD-B396-6310B3E122C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82D827A-045F-4F8B-BED3-F1EC0FC2FCF3}" type="slidenum">
              <a:rPr kumimoji="0" lang="en-US" sz="1400" b="1" i="0" u="none" strike="noStrike" kern="1200" cap="none" spc="0" normalizeH="0" baseline="0" noProof="0">
                <a:ln>
                  <a:noFill/>
                </a:ln>
                <a:solidFill>
                  <a:prstClr val="white"/>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400" b="1" i="0" u="none" strike="noStrike" kern="1200" cap="none" spc="0" normalizeH="0" baseline="0" noProof="0">
              <a:ln>
                <a:noFill/>
              </a:ln>
              <a:solidFill>
                <a:prstClr val="white"/>
              </a:solidFill>
              <a:effectLst/>
              <a:uLnTx/>
              <a:uFillTx/>
              <a:latin typeface="Calibri"/>
              <a:ea typeface="+mn-ea"/>
              <a:cs typeface="+mn-cs"/>
            </a:endParaRPr>
          </a:p>
        </p:txBody>
      </p:sp>
      <p:sp>
        <p:nvSpPr>
          <p:cNvPr id="3" name="Content Placeholder 2">
            <a:extLst>
              <a:ext uri="{FF2B5EF4-FFF2-40B4-BE49-F238E27FC236}">
                <a16:creationId xmlns:a16="http://schemas.microsoft.com/office/drawing/2014/main" id="{F204D753-A8E8-48DF-BA7F-CB15183902B2}"/>
              </a:ext>
            </a:extLst>
          </p:cNvPr>
          <p:cNvSpPr>
            <a:spLocks noGrp="1"/>
          </p:cNvSpPr>
          <p:nvPr>
            <p:ph idx="4294967295"/>
          </p:nvPr>
        </p:nvSpPr>
        <p:spPr>
          <a:xfrm>
            <a:off x="217159" y="136524"/>
            <a:ext cx="11136641" cy="4940300"/>
          </a:xfrm>
        </p:spPr>
        <p:txBody>
          <a:bodyPr/>
          <a:lstStyle/>
          <a:p>
            <a:r>
              <a:rPr lang="en-GB" dirty="0">
                <a:latin typeface="Cambria"/>
                <a:ea typeface="Cambria"/>
              </a:rPr>
              <a:t>Here's an implementation of </a:t>
            </a:r>
            <a:r>
              <a:rPr lang="en-GB" dirty="0">
                <a:latin typeface="Cambria"/>
                <a:ea typeface="Cambria"/>
                <a:hlinkClick r:id="rId2"/>
              </a:rPr>
              <a:t>SQLiteOpenHelper</a:t>
            </a:r>
            <a:r>
              <a:rPr lang="en-GB" dirty="0">
                <a:latin typeface="Cambria"/>
                <a:ea typeface="Cambria"/>
              </a:rPr>
              <a:t> that uses some of the commands shown above:</a:t>
            </a:r>
          </a:p>
          <a:p>
            <a:r>
              <a:rPr lang="en-GB" dirty="0">
                <a:latin typeface="Cambria"/>
                <a:ea typeface="Cambria"/>
              </a:rPr>
              <a:t>public class </a:t>
            </a:r>
            <a:r>
              <a:rPr lang="en-GB" dirty="0" err="1">
                <a:latin typeface="Cambria"/>
                <a:ea typeface="Cambria"/>
              </a:rPr>
              <a:t>FeedReaderDbHelper</a:t>
            </a:r>
            <a:r>
              <a:rPr lang="en-GB" dirty="0">
                <a:latin typeface="Cambria"/>
                <a:ea typeface="Cambria"/>
              </a:rPr>
              <a:t> extends </a:t>
            </a:r>
            <a:r>
              <a:rPr lang="en-GB" dirty="0" err="1">
                <a:latin typeface="Cambria"/>
                <a:ea typeface="Cambria"/>
              </a:rPr>
              <a:t>SQLiteOpenHelper</a:t>
            </a:r>
            <a:r>
              <a:rPr lang="en-GB" dirty="0">
                <a:latin typeface="Cambria"/>
                <a:ea typeface="Cambria"/>
              </a:rPr>
              <a:t> {</a:t>
            </a:r>
            <a:br>
              <a:rPr lang="en-GB" dirty="0">
                <a:latin typeface="Cambria"/>
                <a:ea typeface="Cambria"/>
              </a:rPr>
            </a:br>
            <a:r>
              <a:rPr lang="en-GB" dirty="0">
                <a:latin typeface="Cambria"/>
                <a:ea typeface="Cambria"/>
              </a:rPr>
              <a:t>    // If you change the database schema, you must increment the database version.</a:t>
            </a:r>
            <a:br>
              <a:rPr lang="en-GB" dirty="0">
                <a:latin typeface="Cambria"/>
                <a:ea typeface="Cambria"/>
              </a:rPr>
            </a:br>
            <a:r>
              <a:rPr lang="en-GB" dirty="0">
                <a:latin typeface="Cambria"/>
                <a:ea typeface="Cambria"/>
              </a:rPr>
              <a:t>    public static final int DATABASE_VERSION = 1;</a:t>
            </a:r>
            <a:br>
              <a:rPr lang="en-GB" dirty="0">
                <a:latin typeface="Cambria"/>
                <a:ea typeface="Cambria"/>
              </a:rPr>
            </a:br>
            <a:r>
              <a:rPr lang="en-GB" dirty="0">
                <a:latin typeface="Cambria"/>
                <a:ea typeface="Cambria"/>
              </a:rPr>
              <a:t>    public static final String DATABASE_NAME = "</a:t>
            </a:r>
            <a:r>
              <a:rPr lang="en-GB" dirty="0" err="1">
                <a:latin typeface="Cambria"/>
                <a:ea typeface="Cambria"/>
              </a:rPr>
              <a:t>FeedReader.db</a:t>
            </a:r>
            <a:r>
              <a:rPr lang="en-GB" dirty="0">
                <a:latin typeface="Cambria"/>
                <a:ea typeface="Cambria"/>
              </a:rPr>
              <a:t>";</a:t>
            </a:r>
            <a:br>
              <a:rPr lang="en-GB" dirty="0">
                <a:latin typeface="Cambria"/>
                <a:ea typeface="Cambria"/>
              </a:rPr>
            </a:br>
            <a:r>
              <a:rPr lang="en-GB" dirty="0">
                <a:latin typeface="Cambria"/>
                <a:ea typeface="Cambria"/>
              </a:rPr>
              <a:t>   public </a:t>
            </a:r>
            <a:r>
              <a:rPr lang="en-GB" dirty="0" err="1">
                <a:latin typeface="Cambria"/>
                <a:ea typeface="Cambria"/>
              </a:rPr>
              <a:t>FeedReaderDbHelper</a:t>
            </a:r>
            <a:r>
              <a:rPr lang="en-GB" dirty="0">
                <a:latin typeface="Cambria"/>
                <a:ea typeface="Cambria"/>
              </a:rPr>
              <a:t>(Context context) {</a:t>
            </a:r>
            <a:br>
              <a:rPr lang="en-GB" dirty="0">
                <a:latin typeface="Cambria"/>
                <a:ea typeface="Cambria"/>
              </a:rPr>
            </a:br>
            <a:r>
              <a:rPr lang="en-GB" dirty="0">
                <a:latin typeface="Cambria"/>
                <a:ea typeface="Cambria"/>
              </a:rPr>
              <a:t>        super(context, DATABASE_NAME, null, DATABASE_VERSION);</a:t>
            </a:r>
            <a:br>
              <a:rPr lang="en-GB" dirty="0">
                <a:latin typeface="Cambria"/>
                <a:ea typeface="Cambria"/>
              </a:rPr>
            </a:br>
            <a:r>
              <a:rPr lang="en-GB" dirty="0">
                <a:latin typeface="Cambria"/>
                <a:ea typeface="Cambria"/>
              </a:rPr>
              <a:t>    }</a:t>
            </a:r>
            <a:br>
              <a:rPr lang="en-GB" dirty="0">
                <a:latin typeface="Cambria"/>
                <a:ea typeface="Cambria"/>
              </a:rPr>
            </a:br>
            <a:r>
              <a:rPr lang="en-GB" dirty="0">
                <a:latin typeface="Cambria"/>
                <a:ea typeface="Cambria"/>
              </a:rPr>
              <a:t>    public void </a:t>
            </a:r>
            <a:r>
              <a:rPr lang="en-GB" dirty="0" err="1">
                <a:latin typeface="Cambria"/>
                <a:ea typeface="Cambria"/>
              </a:rPr>
              <a:t>onCreate</a:t>
            </a:r>
            <a:r>
              <a:rPr lang="en-GB" dirty="0">
                <a:latin typeface="Cambria"/>
                <a:ea typeface="Cambria"/>
              </a:rPr>
              <a:t>(</a:t>
            </a:r>
            <a:r>
              <a:rPr lang="en-GB" dirty="0" err="1">
                <a:latin typeface="Cambria"/>
                <a:ea typeface="Cambria"/>
              </a:rPr>
              <a:t>SQLiteDatabase</a:t>
            </a:r>
            <a:r>
              <a:rPr lang="en-GB" dirty="0">
                <a:latin typeface="Cambria"/>
                <a:ea typeface="Cambria"/>
              </a:rPr>
              <a:t> </a:t>
            </a:r>
            <a:r>
              <a:rPr lang="en-GB" dirty="0" err="1">
                <a:latin typeface="Cambria"/>
                <a:ea typeface="Cambria"/>
              </a:rPr>
              <a:t>db</a:t>
            </a:r>
            <a:r>
              <a:rPr lang="en-GB" dirty="0">
                <a:latin typeface="Cambria"/>
                <a:ea typeface="Cambria"/>
              </a:rPr>
              <a:t>) {</a:t>
            </a:r>
            <a:br>
              <a:rPr lang="en-GB" dirty="0">
                <a:latin typeface="Cambria"/>
                <a:ea typeface="Cambria"/>
              </a:rPr>
            </a:br>
            <a:r>
              <a:rPr lang="en-GB" dirty="0">
                <a:latin typeface="Cambria"/>
                <a:ea typeface="Cambria"/>
              </a:rPr>
              <a:t>        </a:t>
            </a:r>
            <a:r>
              <a:rPr lang="en-GB" dirty="0" err="1">
                <a:latin typeface="Cambria"/>
                <a:ea typeface="Cambria"/>
              </a:rPr>
              <a:t>db.execSQL</a:t>
            </a:r>
            <a:r>
              <a:rPr lang="en-GB" dirty="0">
                <a:latin typeface="Cambria"/>
                <a:ea typeface="Cambria"/>
              </a:rPr>
              <a:t>(SQL_CREATE_ENTRIES);</a:t>
            </a:r>
            <a:br>
              <a:rPr lang="en-GB" dirty="0">
                <a:latin typeface="Cambria"/>
                <a:ea typeface="Cambria"/>
              </a:rPr>
            </a:br>
            <a:r>
              <a:rPr lang="en-GB" dirty="0">
                <a:latin typeface="Cambria"/>
                <a:ea typeface="Cambria"/>
              </a:rPr>
              <a:t>    }</a:t>
            </a:r>
            <a:br>
              <a:rPr lang="en-GB" dirty="0">
                <a:latin typeface="Cambria"/>
                <a:ea typeface="Cambria"/>
              </a:rPr>
            </a:br>
            <a:r>
              <a:rPr lang="en-GB" dirty="0">
                <a:latin typeface="Cambria"/>
                <a:ea typeface="Cambria"/>
              </a:rPr>
              <a:t>    </a:t>
            </a:r>
          </a:p>
        </p:txBody>
      </p:sp>
    </p:spTree>
    <p:extLst>
      <p:ext uri="{BB962C8B-B14F-4D97-AF65-F5344CB8AC3E}">
        <p14:creationId xmlns:p14="http://schemas.microsoft.com/office/powerpoint/2010/main" val="17384556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6DF3A79-F0EE-46F6-AEF4-1907F255911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82D827A-045F-4F8B-BED3-F1EC0FC2FCF3}" type="slidenum">
              <a:rPr kumimoji="0" lang="en-US" sz="1400" b="1" i="0" u="none" strike="noStrike" kern="1200" cap="none" spc="0" normalizeH="0" baseline="0" noProof="0">
                <a:ln>
                  <a:noFill/>
                </a:ln>
                <a:solidFill>
                  <a:prstClr val="white"/>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400" b="1" i="0" u="none" strike="noStrike" kern="1200" cap="none" spc="0" normalizeH="0" baseline="0" noProof="0">
              <a:ln>
                <a:noFill/>
              </a:ln>
              <a:solidFill>
                <a:prstClr val="white"/>
              </a:solidFill>
              <a:effectLst/>
              <a:uLnTx/>
              <a:uFillTx/>
              <a:latin typeface="Calibri"/>
              <a:ea typeface="+mn-ea"/>
              <a:cs typeface="+mn-cs"/>
            </a:endParaRPr>
          </a:p>
        </p:txBody>
      </p:sp>
      <p:sp>
        <p:nvSpPr>
          <p:cNvPr id="3" name="Content Placeholder 2">
            <a:extLst>
              <a:ext uri="{FF2B5EF4-FFF2-40B4-BE49-F238E27FC236}">
                <a16:creationId xmlns:a16="http://schemas.microsoft.com/office/drawing/2014/main" id="{414632DC-756B-41BC-AFDB-CE85654A1BA4}"/>
              </a:ext>
            </a:extLst>
          </p:cNvPr>
          <p:cNvSpPr>
            <a:spLocks noGrp="1"/>
          </p:cNvSpPr>
          <p:nvPr>
            <p:ph idx="4294967295"/>
          </p:nvPr>
        </p:nvSpPr>
        <p:spPr>
          <a:xfrm>
            <a:off x="126124" y="136524"/>
            <a:ext cx="11855669" cy="5133975"/>
          </a:xfrm>
        </p:spPr>
        <p:txBody>
          <a:bodyPr/>
          <a:lstStyle/>
          <a:p>
            <a:r>
              <a:rPr lang="en-GB" dirty="0">
                <a:latin typeface="Cambria"/>
                <a:ea typeface="Cambria"/>
              </a:rPr>
              <a:t>public void </a:t>
            </a:r>
            <a:r>
              <a:rPr lang="en-GB" dirty="0" err="1">
                <a:latin typeface="Cambria"/>
                <a:ea typeface="Cambria"/>
              </a:rPr>
              <a:t>onUpgrade</a:t>
            </a:r>
            <a:r>
              <a:rPr lang="en-GB" dirty="0">
                <a:latin typeface="Cambria"/>
                <a:ea typeface="Cambria"/>
              </a:rPr>
              <a:t>(</a:t>
            </a:r>
            <a:r>
              <a:rPr lang="en-GB" dirty="0" err="1">
                <a:latin typeface="Cambria"/>
                <a:ea typeface="Cambria"/>
              </a:rPr>
              <a:t>SQLiteDatabase</a:t>
            </a:r>
            <a:r>
              <a:rPr lang="en-GB" dirty="0">
                <a:latin typeface="Cambria"/>
                <a:ea typeface="Cambria"/>
              </a:rPr>
              <a:t> </a:t>
            </a:r>
            <a:r>
              <a:rPr lang="en-GB" dirty="0" err="1">
                <a:latin typeface="Cambria"/>
                <a:ea typeface="Cambria"/>
              </a:rPr>
              <a:t>db</a:t>
            </a:r>
            <a:r>
              <a:rPr lang="en-GB" dirty="0">
                <a:latin typeface="Cambria"/>
                <a:ea typeface="Cambria"/>
              </a:rPr>
              <a:t>, int </a:t>
            </a:r>
            <a:r>
              <a:rPr lang="en-GB" dirty="0" err="1">
                <a:latin typeface="Cambria"/>
                <a:ea typeface="Cambria"/>
              </a:rPr>
              <a:t>oldVersion</a:t>
            </a:r>
            <a:r>
              <a:rPr lang="en-GB" dirty="0">
                <a:latin typeface="Cambria"/>
                <a:ea typeface="Cambria"/>
              </a:rPr>
              <a:t>, int </a:t>
            </a:r>
            <a:r>
              <a:rPr lang="en-GB" dirty="0" err="1">
                <a:latin typeface="Cambria"/>
                <a:ea typeface="Cambria"/>
              </a:rPr>
              <a:t>newVersion</a:t>
            </a:r>
            <a:r>
              <a:rPr lang="en-GB" dirty="0">
                <a:latin typeface="Cambria"/>
                <a:ea typeface="Cambria"/>
              </a:rPr>
              <a:t>) {</a:t>
            </a:r>
            <a:br>
              <a:rPr lang="en-GB" dirty="0"/>
            </a:br>
            <a:r>
              <a:rPr lang="en-GB" dirty="0">
                <a:latin typeface="Cambria"/>
                <a:ea typeface="Cambria"/>
              </a:rPr>
              <a:t>        </a:t>
            </a:r>
            <a:r>
              <a:rPr lang="en-GB" dirty="0" err="1">
                <a:latin typeface="Cambria"/>
                <a:ea typeface="Cambria"/>
              </a:rPr>
              <a:t>db.execSQL</a:t>
            </a:r>
            <a:r>
              <a:rPr lang="en-GB" dirty="0">
                <a:latin typeface="Cambria"/>
                <a:ea typeface="Cambria"/>
              </a:rPr>
              <a:t>(SQL_DELETE_ENTRIES);</a:t>
            </a:r>
            <a:br>
              <a:rPr lang="en-GB" dirty="0"/>
            </a:br>
            <a:r>
              <a:rPr lang="en-GB" dirty="0">
                <a:latin typeface="Cambria"/>
                <a:ea typeface="Cambria"/>
              </a:rPr>
              <a:t>        </a:t>
            </a:r>
            <a:r>
              <a:rPr lang="en-GB" dirty="0" err="1">
                <a:latin typeface="Cambria"/>
                <a:ea typeface="Cambria"/>
              </a:rPr>
              <a:t>onCreate</a:t>
            </a:r>
            <a:r>
              <a:rPr lang="en-GB" dirty="0">
                <a:latin typeface="Cambria"/>
                <a:ea typeface="Cambria"/>
              </a:rPr>
              <a:t>(</a:t>
            </a:r>
            <a:r>
              <a:rPr lang="en-GB" dirty="0" err="1">
                <a:latin typeface="Cambria"/>
                <a:ea typeface="Cambria"/>
              </a:rPr>
              <a:t>db</a:t>
            </a:r>
            <a:r>
              <a:rPr lang="en-GB" dirty="0">
                <a:latin typeface="Cambria"/>
                <a:ea typeface="Cambria"/>
              </a:rPr>
              <a:t>);</a:t>
            </a:r>
            <a:br>
              <a:rPr lang="en-GB" dirty="0"/>
            </a:br>
            <a:r>
              <a:rPr lang="en-GB" dirty="0">
                <a:latin typeface="Cambria"/>
                <a:ea typeface="Cambria"/>
              </a:rPr>
              <a:t>    }</a:t>
            </a:r>
            <a:br>
              <a:rPr lang="en-GB" dirty="0"/>
            </a:br>
            <a:r>
              <a:rPr lang="en-GB" dirty="0">
                <a:latin typeface="Cambria"/>
                <a:ea typeface="Cambria"/>
              </a:rPr>
              <a:t>    public void </a:t>
            </a:r>
            <a:r>
              <a:rPr lang="en-GB" dirty="0" err="1">
                <a:latin typeface="Cambria"/>
                <a:ea typeface="Cambria"/>
              </a:rPr>
              <a:t>onDowngrade</a:t>
            </a:r>
            <a:r>
              <a:rPr lang="en-GB" dirty="0">
                <a:latin typeface="Cambria"/>
                <a:ea typeface="Cambria"/>
              </a:rPr>
              <a:t>(</a:t>
            </a:r>
            <a:r>
              <a:rPr lang="en-GB" dirty="0" err="1">
                <a:latin typeface="Cambria"/>
                <a:ea typeface="Cambria"/>
              </a:rPr>
              <a:t>SQLiteDatabase</a:t>
            </a:r>
            <a:r>
              <a:rPr lang="en-GB" dirty="0">
                <a:latin typeface="Cambria"/>
                <a:ea typeface="Cambria"/>
              </a:rPr>
              <a:t> </a:t>
            </a:r>
            <a:r>
              <a:rPr lang="en-GB" dirty="0" err="1">
                <a:latin typeface="Cambria"/>
                <a:ea typeface="Cambria"/>
              </a:rPr>
              <a:t>db</a:t>
            </a:r>
            <a:r>
              <a:rPr lang="en-GB" dirty="0">
                <a:latin typeface="Cambria"/>
                <a:ea typeface="Cambria"/>
              </a:rPr>
              <a:t>, int </a:t>
            </a:r>
            <a:r>
              <a:rPr lang="en-GB" dirty="0" err="1">
                <a:latin typeface="Cambria"/>
                <a:ea typeface="Cambria"/>
              </a:rPr>
              <a:t>oldVersion</a:t>
            </a:r>
            <a:r>
              <a:rPr lang="en-GB" dirty="0">
                <a:latin typeface="Cambria"/>
                <a:ea typeface="Cambria"/>
              </a:rPr>
              <a:t>, int </a:t>
            </a:r>
            <a:r>
              <a:rPr lang="en-GB" dirty="0" err="1">
                <a:latin typeface="Cambria"/>
                <a:ea typeface="Cambria"/>
              </a:rPr>
              <a:t>newVersion</a:t>
            </a:r>
            <a:r>
              <a:rPr lang="en-GB" dirty="0">
                <a:latin typeface="Cambria"/>
                <a:ea typeface="Cambria"/>
              </a:rPr>
              <a:t>) {</a:t>
            </a:r>
            <a:br>
              <a:rPr lang="en-GB" dirty="0"/>
            </a:br>
            <a:r>
              <a:rPr lang="en-GB" dirty="0">
                <a:latin typeface="Cambria"/>
                <a:ea typeface="Cambria"/>
              </a:rPr>
              <a:t>        </a:t>
            </a:r>
            <a:r>
              <a:rPr lang="en-GB" dirty="0" err="1">
                <a:latin typeface="Cambria"/>
                <a:ea typeface="Cambria"/>
              </a:rPr>
              <a:t>onUpgrade</a:t>
            </a:r>
            <a:r>
              <a:rPr lang="en-GB" dirty="0">
                <a:latin typeface="Cambria"/>
                <a:ea typeface="Cambria"/>
              </a:rPr>
              <a:t>(</a:t>
            </a:r>
            <a:r>
              <a:rPr lang="en-GB" dirty="0" err="1">
                <a:latin typeface="Cambria"/>
                <a:ea typeface="Cambria"/>
              </a:rPr>
              <a:t>db</a:t>
            </a:r>
            <a:r>
              <a:rPr lang="en-GB" dirty="0">
                <a:latin typeface="Cambria"/>
                <a:ea typeface="Cambria"/>
              </a:rPr>
              <a:t>, </a:t>
            </a:r>
            <a:r>
              <a:rPr lang="en-GB" dirty="0" err="1">
                <a:latin typeface="Cambria"/>
                <a:ea typeface="Cambria"/>
              </a:rPr>
              <a:t>oldVersion</a:t>
            </a:r>
            <a:r>
              <a:rPr lang="en-GB" dirty="0">
                <a:latin typeface="Cambria"/>
                <a:ea typeface="Cambria"/>
              </a:rPr>
              <a:t>, </a:t>
            </a:r>
            <a:r>
              <a:rPr lang="en-GB" dirty="0" err="1">
                <a:latin typeface="Cambria"/>
                <a:ea typeface="Cambria"/>
              </a:rPr>
              <a:t>newVersion</a:t>
            </a:r>
            <a:r>
              <a:rPr lang="en-GB" dirty="0">
                <a:latin typeface="Cambria"/>
                <a:ea typeface="Cambria"/>
              </a:rPr>
              <a:t>);</a:t>
            </a:r>
            <a:br>
              <a:rPr lang="en-GB" dirty="0"/>
            </a:br>
            <a:r>
              <a:rPr lang="en-GB" dirty="0">
                <a:latin typeface="Cambria"/>
                <a:ea typeface="Cambria"/>
              </a:rPr>
              <a:t>    }</a:t>
            </a:r>
            <a:br>
              <a:rPr lang="en-GB" dirty="0"/>
            </a:br>
            <a:r>
              <a:rPr lang="en-GB" dirty="0">
                <a:latin typeface="Cambria"/>
                <a:ea typeface="Cambria"/>
              </a:rPr>
              <a:t>}</a:t>
            </a:r>
          </a:p>
          <a:p>
            <a:r>
              <a:rPr lang="en-GB" dirty="0">
                <a:latin typeface="Cambria"/>
                <a:ea typeface="Cambria"/>
              </a:rPr>
              <a:t>To access your database, instantiate your subclass of </a:t>
            </a:r>
            <a:r>
              <a:rPr lang="en-GB" dirty="0" err="1">
                <a:latin typeface="Cambria"/>
                <a:ea typeface="Cambria"/>
                <a:hlinkClick r:id="rId2"/>
              </a:rPr>
              <a:t>SQLiteOpenHelper</a:t>
            </a:r>
            <a:r>
              <a:rPr lang="en-GB" dirty="0">
                <a:latin typeface="Cambria"/>
                <a:ea typeface="Cambria"/>
              </a:rPr>
              <a:t>:</a:t>
            </a:r>
          </a:p>
          <a:p>
            <a:r>
              <a:rPr lang="en-GB" dirty="0" err="1">
                <a:latin typeface="Cambria"/>
                <a:ea typeface="Cambria"/>
              </a:rPr>
              <a:t>FeedReaderDbHelper</a:t>
            </a:r>
            <a:r>
              <a:rPr lang="en-GB" dirty="0">
                <a:latin typeface="Cambria"/>
                <a:ea typeface="Cambria"/>
              </a:rPr>
              <a:t> </a:t>
            </a:r>
            <a:r>
              <a:rPr lang="en-GB" dirty="0" err="1">
                <a:latin typeface="Cambria"/>
                <a:ea typeface="Cambria"/>
              </a:rPr>
              <a:t>dbHelper</a:t>
            </a:r>
            <a:r>
              <a:rPr lang="en-GB" dirty="0">
                <a:latin typeface="Cambria"/>
                <a:ea typeface="Cambria"/>
              </a:rPr>
              <a:t> = new </a:t>
            </a:r>
            <a:r>
              <a:rPr lang="en-GB" dirty="0" err="1">
                <a:latin typeface="Cambria"/>
                <a:ea typeface="Cambria"/>
              </a:rPr>
              <a:t>FeedReaderDbHelper</a:t>
            </a:r>
            <a:r>
              <a:rPr lang="en-GB" dirty="0">
                <a:latin typeface="Cambria"/>
                <a:ea typeface="Cambria"/>
              </a:rPr>
              <a:t>(</a:t>
            </a:r>
            <a:r>
              <a:rPr lang="en-GB" dirty="0" err="1">
                <a:latin typeface="Cambria"/>
                <a:ea typeface="Cambria"/>
              </a:rPr>
              <a:t>getContext</a:t>
            </a:r>
            <a:r>
              <a:rPr lang="en-GB" dirty="0">
                <a:latin typeface="Cambria"/>
                <a:ea typeface="Cambria"/>
              </a:rPr>
              <a:t>());</a:t>
            </a:r>
          </a:p>
          <a:p>
            <a:endParaRPr lang="en-GB" dirty="0">
              <a:latin typeface="Cambria"/>
              <a:ea typeface="Cambria"/>
            </a:endParaRPr>
          </a:p>
          <a:p>
            <a:endParaRPr lang="en-GB" dirty="0"/>
          </a:p>
        </p:txBody>
      </p:sp>
    </p:spTree>
    <p:extLst>
      <p:ext uri="{BB962C8B-B14F-4D97-AF65-F5344CB8AC3E}">
        <p14:creationId xmlns:p14="http://schemas.microsoft.com/office/powerpoint/2010/main" val="27256884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1458A-5573-491C-8936-C5C84467CC4F}"/>
              </a:ext>
            </a:extLst>
          </p:cNvPr>
          <p:cNvSpPr>
            <a:spLocks noGrp="1"/>
          </p:cNvSpPr>
          <p:nvPr>
            <p:ph type="title"/>
          </p:nvPr>
        </p:nvSpPr>
        <p:spPr>
          <a:xfrm>
            <a:off x="144517" y="268391"/>
            <a:ext cx="10515600" cy="832370"/>
          </a:xfrm>
        </p:spPr>
        <p:txBody>
          <a:bodyPr/>
          <a:lstStyle/>
          <a:p>
            <a:r>
              <a:rPr lang="en-GB" dirty="0">
                <a:latin typeface="Cambria"/>
                <a:ea typeface="Cambria"/>
              </a:rPr>
              <a:t>Put information into a database</a:t>
            </a:r>
            <a:endParaRPr lang="en-US" dirty="0">
              <a:latin typeface="Cambria"/>
              <a:ea typeface="Cambria"/>
            </a:endParaRPr>
          </a:p>
          <a:p>
            <a:endParaRPr lang="en-GB" dirty="0"/>
          </a:p>
        </p:txBody>
      </p:sp>
      <p:sp>
        <p:nvSpPr>
          <p:cNvPr id="3" name="Content Placeholder 2">
            <a:extLst>
              <a:ext uri="{FF2B5EF4-FFF2-40B4-BE49-F238E27FC236}">
                <a16:creationId xmlns:a16="http://schemas.microsoft.com/office/drawing/2014/main" id="{32F077A2-20A1-4584-B11A-F0DC9205E344}"/>
              </a:ext>
            </a:extLst>
          </p:cNvPr>
          <p:cNvSpPr>
            <a:spLocks noGrp="1"/>
          </p:cNvSpPr>
          <p:nvPr>
            <p:ph idx="1"/>
          </p:nvPr>
        </p:nvSpPr>
        <p:spPr>
          <a:xfrm>
            <a:off x="270932" y="684576"/>
            <a:ext cx="11096005" cy="3879669"/>
          </a:xfrm>
        </p:spPr>
        <p:txBody>
          <a:bodyPr/>
          <a:lstStyle/>
          <a:p>
            <a:r>
              <a:rPr lang="en-GB" dirty="0">
                <a:latin typeface="Cambria"/>
                <a:ea typeface="Cambria"/>
              </a:rPr>
              <a:t>Insert data into the database by passing a </a:t>
            </a:r>
            <a:r>
              <a:rPr lang="en-GB" dirty="0">
                <a:latin typeface="Cambria"/>
                <a:ea typeface="Cambria"/>
                <a:hlinkClick r:id="rId2"/>
              </a:rPr>
              <a:t>ContentValues</a:t>
            </a:r>
            <a:r>
              <a:rPr lang="en-GB" dirty="0">
                <a:latin typeface="Cambria"/>
                <a:ea typeface="Cambria"/>
              </a:rPr>
              <a:t> object to the </a:t>
            </a:r>
            <a:r>
              <a:rPr lang="en-GB" dirty="0">
                <a:latin typeface="Cambria"/>
                <a:ea typeface="Cambria"/>
                <a:hlinkClick r:id="rId3"/>
              </a:rPr>
              <a:t>insert()</a:t>
            </a:r>
            <a:r>
              <a:rPr lang="en-GB" dirty="0">
                <a:latin typeface="Cambria"/>
                <a:ea typeface="Cambria"/>
              </a:rPr>
              <a:t> method:</a:t>
            </a:r>
          </a:p>
          <a:p>
            <a:r>
              <a:rPr lang="en-GB" dirty="0">
                <a:latin typeface="Cambria"/>
                <a:ea typeface="Cambria"/>
              </a:rPr>
              <a:t>// Gets the data repository in write mode</a:t>
            </a:r>
            <a:br>
              <a:rPr lang="en-GB" dirty="0"/>
            </a:br>
            <a:r>
              <a:rPr lang="en-GB" dirty="0" err="1">
                <a:latin typeface="Cambria"/>
                <a:ea typeface="Cambria"/>
              </a:rPr>
              <a:t>SQLiteDatabase</a:t>
            </a:r>
            <a:r>
              <a:rPr lang="en-GB" dirty="0">
                <a:latin typeface="Cambria"/>
                <a:ea typeface="Cambria"/>
              </a:rPr>
              <a:t> </a:t>
            </a:r>
            <a:r>
              <a:rPr lang="en-GB" dirty="0" err="1">
                <a:latin typeface="Cambria"/>
                <a:ea typeface="Cambria"/>
              </a:rPr>
              <a:t>db</a:t>
            </a:r>
            <a:r>
              <a:rPr lang="en-GB" dirty="0">
                <a:latin typeface="Cambria"/>
                <a:ea typeface="Cambria"/>
              </a:rPr>
              <a:t> = </a:t>
            </a:r>
            <a:r>
              <a:rPr lang="en-GB" dirty="0" err="1">
                <a:latin typeface="Cambria"/>
                <a:ea typeface="Cambria"/>
              </a:rPr>
              <a:t>dbHelper.getWritableDatabase</a:t>
            </a:r>
            <a:r>
              <a:rPr lang="en-GB" dirty="0">
                <a:latin typeface="Cambria"/>
                <a:ea typeface="Cambria"/>
              </a:rPr>
              <a:t>();</a:t>
            </a:r>
            <a:br>
              <a:rPr lang="en-GB" dirty="0"/>
            </a:br>
            <a:r>
              <a:rPr lang="en-GB" dirty="0">
                <a:latin typeface="Cambria"/>
                <a:ea typeface="Cambria"/>
              </a:rPr>
              <a:t>// Create a new map of values, where column names are the keys</a:t>
            </a:r>
            <a:br>
              <a:rPr lang="en-GB" dirty="0"/>
            </a:br>
            <a:r>
              <a:rPr lang="en-GB" dirty="0" err="1">
                <a:latin typeface="Cambria"/>
                <a:ea typeface="Cambria"/>
              </a:rPr>
              <a:t>ContentValues</a:t>
            </a:r>
            <a:r>
              <a:rPr lang="en-GB" dirty="0">
                <a:latin typeface="Cambria"/>
                <a:ea typeface="Cambria"/>
              </a:rPr>
              <a:t> values = new </a:t>
            </a:r>
            <a:r>
              <a:rPr lang="en-GB" dirty="0" err="1">
                <a:latin typeface="Cambria"/>
                <a:ea typeface="Cambria"/>
              </a:rPr>
              <a:t>ContentValues</a:t>
            </a:r>
            <a:r>
              <a:rPr lang="en-GB" dirty="0">
                <a:latin typeface="Cambria"/>
                <a:ea typeface="Cambria"/>
              </a:rPr>
              <a:t>();</a:t>
            </a:r>
            <a:br>
              <a:rPr lang="en-GB" dirty="0"/>
            </a:br>
            <a:r>
              <a:rPr lang="en-GB" dirty="0" err="1">
                <a:latin typeface="Cambria"/>
                <a:ea typeface="Cambria"/>
              </a:rPr>
              <a:t>values.put</a:t>
            </a:r>
            <a:r>
              <a:rPr lang="en-GB" dirty="0">
                <a:latin typeface="Cambria"/>
                <a:ea typeface="Cambria"/>
              </a:rPr>
              <a:t>(</a:t>
            </a:r>
            <a:r>
              <a:rPr lang="en-GB" dirty="0" err="1">
                <a:latin typeface="Cambria"/>
                <a:ea typeface="Cambria"/>
              </a:rPr>
              <a:t>FeedEntry.COLUMN_NAME_TITLE</a:t>
            </a:r>
            <a:r>
              <a:rPr lang="en-GB" dirty="0">
                <a:latin typeface="Cambria"/>
                <a:ea typeface="Cambria"/>
              </a:rPr>
              <a:t>, title);</a:t>
            </a:r>
            <a:br>
              <a:rPr lang="en-GB" dirty="0"/>
            </a:br>
            <a:r>
              <a:rPr lang="en-GB" dirty="0" err="1">
                <a:latin typeface="Cambria"/>
                <a:ea typeface="Cambria"/>
              </a:rPr>
              <a:t>values.put</a:t>
            </a:r>
            <a:r>
              <a:rPr lang="en-GB" dirty="0">
                <a:latin typeface="Cambria"/>
                <a:ea typeface="Cambria"/>
              </a:rPr>
              <a:t>(</a:t>
            </a:r>
            <a:r>
              <a:rPr lang="en-GB" dirty="0" err="1">
                <a:latin typeface="Cambria"/>
                <a:ea typeface="Cambria"/>
              </a:rPr>
              <a:t>FeedEntry.COLUMN_NAME_SUBTITLE</a:t>
            </a:r>
            <a:r>
              <a:rPr lang="en-GB" dirty="0">
                <a:latin typeface="Cambria"/>
                <a:ea typeface="Cambria"/>
              </a:rPr>
              <a:t>, subtitle);</a:t>
            </a:r>
            <a:br>
              <a:rPr lang="en-GB" dirty="0"/>
            </a:br>
            <a:r>
              <a:rPr lang="en-GB" dirty="0">
                <a:latin typeface="Cambria"/>
                <a:ea typeface="Cambria"/>
              </a:rPr>
              <a:t>// Insert the new row, returning the primary key value of the new row</a:t>
            </a:r>
            <a:br>
              <a:rPr lang="en-GB" dirty="0"/>
            </a:br>
            <a:r>
              <a:rPr lang="en-GB" dirty="0">
                <a:latin typeface="Cambria"/>
                <a:ea typeface="Cambria"/>
              </a:rPr>
              <a:t>long </a:t>
            </a:r>
            <a:r>
              <a:rPr lang="en-GB" dirty="0" err="1">
                <a:latin typeface="Cambria"/>
                <a:ea typeface="Cambria"/>
              </a:rPr>
              <a:t>newRowId</a:t>
            </a:r>
            <a:r>
              <a:rPr lang="en-GB" dirty="0">
                <a:latin typeface="Cambria"/>
                <a:ea typeface="Cambria"/>
              </a:rPr>
              <a:t> = </a:t>
            </a:r>
            <a:r>
              <a:rPr lang="en-GB" dirty="0" err="1">
                <a:latin typeface="Cambria"/>
                <a:ea typeface="Cambria"/>
              </a:rPr>
              <a:t>db.insert</a:t>
            </a:r>
            <a:r>
              <a:rPr lang="en-GB" dirty="0">
                <a:latin typeface="Cambria"/>
                <a:ea typeface="Cambria"/>
              </a:rPr>
              <a:t>(</a:t>
            </a:r>
            <a:r>
              <a:rPr lang="en-GB" dirty="0" err="1">
                <a:latin typeface="Cambria"/>
                <a:ea typeface="Cambria"/>
              </a:rPr>
              <a:t>FeedEntry.TABLE_NAME</a:t>
            </a:r>
            <a:r>
              <a:rPr lang="en-GB" dirty="0">
                <a:latin typeface="Cambria"/>
                <a:ea typeface="Cambria"/>
              </a:rPr>
              <a:t>, null, values);</a:t>
            </a:r>
          </a:p>
        </p:txBody>
      </p:sp>
      <p:sp>
        <p:nvSpPr>
          <p:cNvPr id="4" name="Slide Number Placeholder 3">
            <a:extLst>
              <a:ext uri="{FF2B5EF4-FFF2-40B4-BE49-F238E27FC236}">
                <a16:creationId xmlns:a16="http://schemas.microsoft.com/office/drawing/2014/main" id="{178D99B4-6C64-4CEA-A762-82DF379825E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82D827A-045F-4F8B-BED3-F1EC0FC2FCF3}" type="slidenum">
              <a:rPr kumimoji="0" lang="en-US" sz="1400" b="1" i="0" u="none" strike="noStrike" kern="1200" cap="none" spc="0" normalizeH="0" baseline="0" noProof="0">
                <a:ln>
                  <a:noFill/>
                </a:ln>
                <a:solidFill>
                  <a:prstClr val="white"/>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400" b="1"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170066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C5195B7-E06A-47D3-B10D-87FDA2475E0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82D827A-045F-4F8B-BED3-F1EC0FC2FCF3}" type="slidenum">
              <a:rPr kumimoji="0" lang="en-US" sz="1400" b="1" i="0" u="none" strike="noStrike" kern="1200" cap="none" spc="0" normalizeH="0" baseline="0" noProof="0">
                <a:ln>
                  <a:noFill/>
                </a:ln>
                <a:solidFill>
                  <a:prstClr val="white"/>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400" b="1" i="0" u="none" strike="noStrike" kern="1200" cap="none" spc="0" normalizeH="0" baseline="0" noProof="0">
              <a:ln>
                <a:noFill/>
              </a:ln>
              <a:solidFill>
                <a:prstClr val="white"/>
              </a:solidFill>
              <a:effectLst/>
              <a:uLnTx/>
              <a:uFillTx/>
              <a:latin typeface="Calibri"/>
              <a:ea typeface="+mn-ea"/>
              <a:cs typeface="+mn-cs"/>
            </a:endParaRPr>
          </a:p>
        </p:txBody>
      </p:sp>
      <p:sp>
        <p:nvSpPr>
          <p:cNvPr id="3" name="Content Placeholder 2">
            <a:extLst>
              <a:ext uri="{FF2B5EF4-FFF2-40B4-BE49-F238E27FC236}">
                <a16:creationId xmlns:a16="http://schemas.microsoft.com/office/drawing/2014/main" id="{414FF87A-B4BA-4713-B6E7-302165985B35}"/>
              </a:ext>
            </a:extLst>
          </p:cNvPr>
          <p:cNvSpPr>
            <a:spLocks noGrp="1"/>
          </p:cNvSpPr>
          <p:nvPr>
            <p:ph idx="4294967295"/>
          </p:nvPr>
        </p:nvSpPr>
        <p:spPr>
          <a:xfrm>
            <a:off x="516731" y="549768"/>
            <a:ext cx="11158537" cy="4446587"/>
          </a:xfrm>
        </p:spPr>
        <p:txBody>
          <a:bodyPr/>
          <a:lstStyle/>
          <a:p>
            <a:r>
              <a:rPr lang="en-GB" dirty="0">
                <a:latin typeface="Cambria"/>
                <a:ea typeface="Cambria"/>
              </a:rPr>
              <a:t>The first argument for </a:t>
            </a:r>
            <a:r>
              <a:rPr lang="en-GB" dirty="0">
                <a:latin typeface="Cambria"/>
                <a:ea typeface="Cambria"/>
                <a:hlinkClick r:id="rId2"/>
              </a:rPr>
              <a:t>insert()</a:t>
            </a:r>
            <a:r>
              <a:rPr lang="en-GB" dirty="0">
                <a:latin typeface="Cambria"/>
                <a:ea typeface="Cambria"/>
              </a:rPr>
              <a:t> is simply the table name.</a:t>
            </a:r>
          </a:p>
          <a:p>
            <a:r>
              <a:rPr lang="en-GB" dirty="0">
                <a:latin typeface="Cambria"/>
                <a:ea typeface="Cambria"/>
              </a:rPr>
              <a:t>The second argument tells the framework what to do in the event that the </a:t>
            </a:r>
            <a:r>
              <a:rPr lang="en-GB" dirty="0">
                <a:latin typeface="Cambria"/>
                <a:ea typeface="Cambria"/>
                <a:hlinkClick r:id="rId3"/>
              </a:rPr>
              <a:t>ContentValues</a:t>
            </a:r>
            <a:r>
              <a:rPr lang="en-GB" dirty="0">
                <a:latin typeface="Cambria"/>
                <a:ea typeface="Cambria"/>
              </a:rPr>
              <a:t> is empty (i.e., you did not </a:t>
            </a:r>
            <a:r>
              <a:rPr lang="en-GB" dirty="0">
                <a:latin typeface="Cambria"/>
                <a:ea typeface="Cambria"/>
                <a:hlinkClick r:id="rId4"/>
              </a:rPr>
              <a:t>put</a:t>
            </a:r>
            <a:r>
              <a:rPr lang="en-GB" dirty="0">
                <a:latin typeface="Cambria"/>
                <a:ea typeface="Cambria"/>
              </a:rPr>
              <a:t> any values). If you specify the name of a column, the framework inserts a row and sets the value of that column to null. If you specify null, like in this code sample, the framework does not insert a row when there are no values.</a:t>
            </a:r>
          </a:p>
          <a:p>
            <a:r>
              <a:rPr lang="en-GB" dirty="0">
                <a:latin typeface="Cambria"/>
                <a:ea typeface="Cambria"/>
              </a:rPr>
              <a:t>The </a:t>
            </a:r>
            <a:r>
              <a:rPr lang="en-GB" dirty="0">
                <a:latin typeface="Cambria"/>
                <a:ea typeface="Cambria"/>
                <a:hlinkClick r:id="rId2"/>
              </a:rPr>
              <a:t>insert()</a:t>
            </a:r>
            <a:r>
              <a:rPr lang="en-GB" dirty="0">
                <a:latin typeface="Cambria"/>
                <a:ea typeface="Cambria"/>
              </a:rPr>
              <a:t> methods returns the ID for the newly created row, or it will return -1 if there was an error inserting the data. This can happen if you have a conflict with pre-existing data in the database.</a:t>
            </a:r>
            <a:br>
              <a:rPr lang="en-US" dirty="0"/>
            </a:br>
            <a:endParaRPr lang="en-US" dirty="0"/>
          </a:p>
        </p:txBody>
      </p:sp>
    </p:spTree>
    <p:extLst>
      <p:ext uri="{BB962C8B-B14F-4D97-AF65-F5344CB8AC3E}">
        <p14:creationId xmlns:p14="http://schemas.microsoft.com/office/powerpoint/2010/main" val="19813111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C7EC9-84E5-4145-B779-BA022CADFC5C}"/>
              </a:ext>
            </a:extLst>
          </p:cNvPr>
          <p:cNvSpPr>
            <a:spLocks noGrp="1"/>
          </p:cNvSpPr>
          <p:nvPr>
            <p:ph type="title"/>
          </p:nvPr>
        </p:nvSpPr>
        <p:spPr/>
        <p:txBody>
          <a:bodyPr/>
          <a:lstStyle/>
          <a:p>
            <a:r>
              <a:rPr lang="en-GB" dirty="0"/>
              <a:t>Read information from a database</a:t>
            </a:r>
            <a:endParaRPr lang="en-US" dirty="0"/>
          </a:p>
        </p:txBody>
      </p:sp>
      <p:sp>
        <p:nvSpPr>
          <p:cNvPr id="3" name="Content Placeholder 2">
            <a:extLst>
              <a:ext uri="{FF2B5EF4-FFF2-40B4-BE49-F238E27FC236}">
                <a16:creationId xmlns:a16="http://schemas.microsoft.com/office/drawing/2014/main" id="{A6A4DA3D-E24D-4672-B84A-9B7384347DC0}"/>
              </a:ext>
            </a:extLst>
          </p:cNvPr>
          <p:cNvSpPr>
            <a:spLocks noGrp="1"/>
          </p:cNvSpPr>
          <p:nvPr>
            <p:ph idx="1"/>
          </p:nvPr>
        </p:nvSpPr>
        <p:spPr/>
        <p:txBody>
          <a:bodyPr/>
          <a:lstStyle/>
          <a:p>
            <a:r>
              <a:rPr lang="en-GB">
                <a:latin typeface="Cambria"/>
                <a:ea typeface="Cambria"/>
              </a:rPr>
              <a:t>To read from a database, use the </a:t>
            </a:r>
            <a:r>
              <a:rPr lang="en-GB" dirty="0">
                <a:latin typeface="Cambria"/>
                <a:ea typeface="Cambria"/>
                <a:hlinkClick r:id="rId2"/>
              </a:rPr>
              <a:t>query()</a:t>
            </a:r>
            <a:r>
              <a:rPr lang="en-GB">
                <a:latin typeface="Cambria"/>
                <a:ea typeface="Cambria"/>
              </a:rPr>
              <a:t> method, passing it your selection criteria and desired columns. The method combines elements of </a:t>
            </a:r>
            <a:r>
              <a:rPr lang="en-GB" dirty="0">
                <a:latin typeface="Cambria"/>
                <a:ea typeface="Cambria"/>
                <a:hlinkClick r:id="rId3"/>
              </a:rPr>
              <a:t>insert()</a:t>
            </a:r>
            <a:r>
              <a:rPr lang="en-GB">
                <a:latin typeface="Cambria"/>
                <a:ea typeface="Cambria"/>
              </a:rPr>
              <a:t> and </a:t>
            </a:r>
            <a:r>
              <a:rPr lang="en-GB" dirty="0">
                <a:latin typeface="Cambria"/>
                <a:ea typeface="Cambria"/>
                <a:hlinkClick r:id="rId4"/>
              </a:rPr>
              <a:t>update()</a:t>
            </a:r>
            <a:r>
              <a:rPr lang="en-GB">
                <a:latin typeface="Cambria"/>
                <a:ea typeface="Cambria"/>
              </a:rPr>
              <a:t>, except the column list defines the data you want to fetch (the "projection"), rather than the data to insert. The results of the query are returned to you in a </a:t>
            </a:r>
            <a:r>
              <a:rPr lang="en-GB" dirty="0">
                <a:latin typeface="Cambria"/>
                <a:ea typeface="Cambria"/>
                <a:hlinkClick r:id="rId5"/>
              </a:rPr>
              <a:t>Cursor</a:t>
            </a:r>
            <a:r>
              <a:rPr lang="en-GB">
                <a:latin typeface="Cambria"/>
                <a:ea typeface="Cambria"/>
              </a:rPr>
              <a:t> object.</a:t>
            </a:r>
          </a:p>
        </p:txBody>
      </p:sp>
      <p:sp>
        <p:nvSpPr>
          <p:cNvPr id="4" name="Slide Number Placeholder 3">
            <a:extLst>
              <a:ext uri="{FF2B5EF4-FFF2-40B4-BE49-F238E27FC236}">
                <a16:creationId xmlns:a16="http://schemas.microsoft.com/office/drawing/2014/main" id="{7C590D69-8DB7-4E03-8613-6862FBC7F94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82D827A-045F-4F8B-BED3-F1EC0FC2FCF3}" type="slidenum">
              <a:rPr kumimoji="0" lang="en-US" sz="1400" b="1" i="0" u="none" strike="noStrike" kern="1200" cap="none" spc="0" normalizeH="0" baseline="0" noProof="0">
                <a:ln>
                  <a:noFill/>
                </a:ln>
                <a:solidFill>
                  <a:prstClr val="white"/>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400" b="1"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3974714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CBFCE53-19B6-49F3-8015-659D06C378D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82D827A-045F-4F8B-BED3-F1EC0FC2FCF3}" type="slidenum">
              <a:rPr kumimoji="0" lang="en-US" sz="1400" b="1" i="0" u="none" strike="noStrike" kern="1200" cap="none" spc="0" normalizeH="0" baseline="0" noProof="0">
                <a:ln>
                  <a:noFill/>
                </a:ln>
                <a:solidFill>
                  <a:prstClr val="white"/>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400" b="1" i="0" u="none" strike="noStrike" kern="1200" cap="none" spc="0" normalizeH="0" baseline="0" noProof="0">
              <a:ln>
                <a:noFill/>
              </a:ln>
              <a:solidFill>
                <a:prstClr val="white"/>
              </a:solidFill>
              <a:effectLst/>
              <a:uLnTx/>
              <a:uFillTx/>
              <a:latin typeface="Calibri"/>
              <a:ea typeface="+mn-ea"/>
              <a:cs typeface="+mn-cs"/>
            </a:endParaRPr>
          </a:p>
        </p:txBody>
      </p:sp>
      <p:sp>
        <p:nvSpPr>
          <p:cNvPr id="3" name="Content Placeholder 2">
            <a:extLst>
              <a:ext uri="{FF2B5EF4-FFF2-40B4-BE49-F238E27FC236}">
                <a16:creationId xmlns:a16="http://schemas.microsoft.com/office/drawing/2014/main" id="{643B5397-9C6B-4A15-9C0D-AED5CB2219D0}"/>
              </a:ext>
            </a:extLst>
          </p:cNvPr>
          <p:cNvSpPr>
            <a:spLocks noGrp="1"/>
          </p:cNvSpPr>
          <p:nvPr>
            <p:ph idx="4294967295"/>
          </p:nvPr>
        </p:nvSpPr>
        <p:spPr>
          <a:xfrm>
            <a:off x="236482" y="136524"/>
            <a:ext cx="11955518" cy="3879850"/>
          </a:xfrm>
        </p:spPr>
        <p:txBody>
          <a:bodyPr/>
          <a:lstStyle/>
          <a:p>
            <a:r>
              <a:rPr lang="en-GB" dirty="0">
                <a:latin typeface="Cambria"/>
                <a:ea typeface="Cambria"/>
              </a:rPr>
              <a:t>To look at a row in the cursor, use one of the </a:t>
            </a:r>
            <a:r>
              <a:rPr lang="en-GB" dirty="0">
                <a:latin typeface="Cambria"/>
                <a:ea typeface="Cambria"/>
                <a:hlinkClick r:id="rId2"/>
              </a:rPr>
              <a:t>Cursor</a:t>
            </a:r>
            <a:r>
              <a:rPr lang="en-GB" dirty="0">
                <a:latin typeface="Cambria"/>
                <a:ea typeface="Cambria"/>
              </a:rPr>
              <a:t> move methods, which you must always call before you begin reading values. </a:t>
            </a:r>
            <a:endParaRPr lang="en-US" dirty="0">
              <a:latin typeface="Cambria"/>
              <a:ea typeface="Cambria"/>
            </a:endParaRPr>
          </a:p>
          <a:p>
            <a:r>
              <a:rPr lang="en-GB" dirty="0">
                <a:latin typeface="Cambria"/>
                <a:ea typeface="Cambria"/>
              </a:rPr>
              <a:t>Since the cursor starts at position -1, calling </a:t>
            </a:r>
            <a:r>
              <a:rPr lang="en-GB" dirty="0">
                <a:latin typeface="Cambria"/>
                <a:ea typeface="Cambria"/>
                <a:hlinkClick r:id="rId3"/>
              </a:rPr>
              <a:t>moveToNext()</a:t>
            </a:r>
            <a:r>
              <a:rPr lang="en-GB" dirty="0">
                <a:latin typeface="Cambria"/>
                <a:ea typeface="Cambria"/>
              </a:rPr>
              <a:t> places the "read position" on the first entry in the results and returns whether or not the cursor is already past the last entry in the result set. </a:t>
            </a:r>
          </a:p>
          <a:p>
            <a:r>
              <a:rPr lang="en-GB" dirty="0">
                <a:latin typeface="Cambria"/>
                <a:ea typeface="Cambria"/>
              </a:rPr>
              <a:t>For each row, you can read a column's value by calling one of the </a:t>
            </a:r>
            <a:r>
              <a:rPr lang="en-GB" dirty="0">
                <a:latin typeface="Cambria"/>
                <a:ea typeface="Cambria"/>
                <a:hlinkClick r:id="rId2"/>
              </a:rPr>
              <a:t>Cursor</a:t>
            </a:r>
            <a:r>
              <a:rPr lang="en-GB" dirty="0">
                <a:latin typeface="Cambria"/>
                <a:ea typeface="Cambria"/>
              </a:rPr>
              <a:t> get methods, such as </a:t>
            </a:r>
            <a:r>
              <a:rPr lang="en-GB" dirty="0">
                <a:latin typeface="Cambria"/>
                <a:ea typeface="Cambria"/>
                <a:hlinkClick r:id="rId4"/>
              </a:rPr>
              <a:t>getString()</a:t>
            </a:r>
            <a:r>
              <a:rPr lang="en-GB" dirty="0">
                <a:latin typeface="Cambria"/>
                <a:ea typeface="Cambria"/>
              </a:rPr>
              <a:t> or </a:t>
            </a:r>
            <a:r>
              <a:rPr lang="en-GB" dirty="0" err="1">
                <a:latin typeface="Cambria"/>
                <a:ea typeface="Cambria"/>
                <a:hlinkClick r:id="rId5"/>
              </a:rPr>
              <a:t>getLong</a:t>
            </a:r>
            <a:r>
              <a:rPr lang="en-GB" dirty="0">
                <a:latin typeface="Cambria"/>
                <a:ea typeface="Cambria"/>
                <a:hlinkClick r:id="rId5"/>
              </a:rPr>
              <a:t>()</a:t>
            </a:r>
            <a:r>
              <a:rPr lang="en-GB" dirty="0">
                <a:latin typeface="Cambria"/>
                <a:ea typeface="Cambria"/>
              </a:rPr>
              <a:t>.</a:t>
            </a:r>
          </a:p>
          <a:p>
            <a:r>
              <a:rPr lang="en-GB" dirty="0">
                <a:latin typeface="Cambria"/>
                <a:ea typeface="Cambria"/>
              </a:rPr>
              <a:t>For each of the get methods, you must pass the index position of the column you desire, which you can get by calling </a:t>
            </a:r>
            <a:r>
              <a:rPr lang="en-GB" dirty="0" err="1">
                <a:latin typeface="Cambria"/>
                <a:ea typeface="Cambria"/>
                <a:hlinkClick r:id="rId6"/>
              </a:rPr>
              <a:t>getColumnIndex</a:t>
            </a:r>
            <a:r>
              <a:rPr lang="en-GB" dirty="0">
                <a:latin typeface="Cambria"/>
                <a:ea typeface="Cambria"/>
                <a:hlinkClick r:id="rId6"/>
              </a:rPr>
              <a:t>()</a:t>
            </a:r>
            <a:r>
              <a:rPr lang="en-GB" dirty="0">
                <a:latin typeface="Cambria"/>
                <a:ea typeface="Cambria"/>
              </a:rPr>
              <a:t> or </a:t>
            </a:r>
            <a:r>
              <a:rPr lang="en-GB" dirty="0" err="1">
                <a:latin typeface="Cambria"/>
                <a:ea typeface="Cambria"/>
                <a:hlinkClick r:id="rId7"/>
              </a:rPr>
              <a:t>getColumnIndexOrThrow</a:t>
            </a:r>
            <a:r>
              <a:rPr lang="en-GB" dirty="0">
                <a:latin typeface="Cambria"/>
                <a:ea typeface="Cambria"/>
                <a:hlinkClick r:id="rId7"/>
              </a:rPr>
              <a:t>()</a:t>
            </a:r>
            <a:r>
              <a:rPr lang="en-GB" dirty="0">
                <a:latin typeface="Cambria"/>
                <a:ea typeface="Cambria"/>
              </a:rPr>
              <a:t>. </a:t>
            </a:r>
            <a:endParaRPr lang="en-US" dirty="0">
              <a:latin typeface="Cambria"/>
              <a:ea typeface="Cambria"/>
            </a:endParaRPr>
          </a:p>
          <a:p>
            <a:r>
              <a:rPr lang="en-GB" dirty="0">
                <a:latin typeface="Cambria"/>
                <a:ea typeface="Cambria"/>
              </a:rPr>
              <a:t>When finished iterating through results, call </a:t>
            </a:r>
            <a:r>
              <a:rPr lang="en-GB" dirty="0">
                <a:latin typeface="Cambria"/>
                <a:ea typeface="Cambria"/>
                <a:hlinkClick r:id="rId8"/>
              </a:rPr>
              <a:t>close()</a:t>
            </a:r>
            <a:r>
              <a:rPr lang="en-GB" dirty="0">
                <a:latin typeface="Cambria"/>
                <a:ea typeface="Cambria"/>
              </a:rPr>
              <a:t> on the cursor to release its resources.  </a:t>
            </a:r>
            <a:endParaRPr lang="en-GB" dirty="0"/>
          </a:p>
        </p:txBody>
      </p:sp>
    </p:spTree>
    <p:extLst>
      <p:ext uri="{BB962C8B-B14F-4D97-AF65-F5344CB8AC3E}">
        <p14:creationId xmlns:p14="http://schemas.microsoft.com/office/powerpoint/2010/main" val="7597078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3B64E-5131-4A54-A871-461D43CABD1D}"/>
              </a:ext>
            </a:extLst>
          </p:cNvPr>
          <p:cNvSpPr>
            <a:spLocks noGrp="1"/>
          </p:cNvSpPr>
          <p:nvPr>
            <p:ph type="title"/>
          </p:nvPr>
        </p:nvSpPr>
        <p:spPr/>
        <p:txBody>
          <a:bodyPr/>
          <a:lstStyle/>
          <a:p>
            <a:br>
              <a:rPr lang="en-GB" dirty="0">
                <a:latin typeface="Cambria"/>
                <a:ea typeface="Cambria"/>
              </a:rPr>
            </a:br>
            <a:br>
              <a:rPr lang="en-GB" dirty="0">
                <a:latin typeface="Cambria"/>
                <a:ea typeface="Cambria"/>
              </a:rPr>
            </a:br>
            <a:r>
              <a:rPr lang="en-GB">
                <a:latin typeface="Cambria"/>
                <a:ea typeface="Cambria"/>
              </a:rPr>
              <a:t>Delete information from a database</a:t>
            </a:r>
            <a:endParaRPr lang="en-US">
              <a:latin typeface="Cambria"/>
              <a:ea typeface="Cambria"/>
            </a:endParaRPr>
          </a:p>
          <a:p>
            <a:br>
              <a:rPr lang="en-US" dirty="0"/>
            </a:br>
            <a:endParaRPr lang="en-US" dirty="0"/>
          </a:p>
        </p:txBody>
      </p:sp>
      <p:sp>
        <p:nvSpPr>
          <p:cNvPr id="3" name="Content Placeholder 2">
            <a:extLst>
              <a:ext uri="{FF2B5EF4-FFF2-40B4-BE49-F238E27FC236}">
                <a16:creationId xmlns:a16="http://schemas.microsoft.com/office/drawing/2014/main" id="{83508231-B1D3-40F8-8AC5-676484700D0D}"/>
              </a:ext>
            </a:extLst>
          </p:cNvPr>
          <p:cNvSpPr>
            <a:spLocks noGrp="1"/>
          </p:cNvSpPr>
          <p:nvPr>
            <p:ph idx="1"/>
          </p:nvPr>
        </p:nvSpPr>
        <p:spPr/>
        <p:txBody>
          <a:bodyPr/>
          <a:lstStyle/>
          <a:p>
            <a:r>
              <a:rPr lang="en-GB">
                <a:latin typeface="Cambria"/>
                <a:ea typeface="Cambria"/>
              </a:rPr>
              <a:t>To delete rows from a table, you need to provide selection criteria that identify the rows to the </a:t>
            </a:r>
            <a:r>
              <a:rPr lang="en-GB" dirty="0">
                <a:latin typeface="Cambria"/>
                <a:ea typeface="Cambria"/>
                <a:hlinkClick r:id="rId2"/>
              </a:rPr>
              <a:t>delete()</a:t>
            </a:r>
            <a:r>
              <a:rPr lang="en-GB">
                <a:latin typeface="Cambria"/>
                <a:ea typeface="Cambria"/>
              </a:rPr>
              <a:t> method. </a:t>
            </a:r>
            <a:endParaRPr lang="en-US">
              <a:latin typeface="Cambria"/>
              <a:ea typeface="Cambria"/>
            </a:endParaRPr>
          </a:p>
          <a:p>
            <a:r>
              <a:rPr lang="en-GB">
                <a:latin typeface="Cambria"/>
                <a:ea typeface="Cambria"/>
              </a:rPr>
              <a:t>The mechanism works the same as the selection arguments to the </a:t>
            </a:r>
            <a:r>
              <a:rPr lang="en-GB" dirty="0">
                <a:latin typeface="Cambria"/>
                <a:ea typeface="Cambria"/>
                <a:hlinkClick r:id="rId3"/>
              </a:rPr>
              <a:t>query()</a:t>
            </a:r>
            <a:r>
              <a:rPr lang="en-GB">
                <a:latin typeface="Cambria"/>
                <a:ea typeface="Cambria"/>
              </a:rPr>
              <a:t> method. </a:t>
            </a:r>
          </a:p>
          <a:p>
            <a:r>
              <a:rPr lang="en-GB">
                <a:latin typeface="Cambria"/>
                <a:ea typeface="Cambria"/>
              </a:rPr>
              <a:t>It divides the selection specification into a selection clause and selection arguments. </a:t>
            </a:r>
          </a:p>
          <a:p>
            <a:r>
              <a:rPr lang="en-GB">
                <a:latin typeface="Cambria"/>
                <a:ea typeface="Cambria"/>
              </a:rPr>
              <a:t>The clause defines the columns to look at, and also allows you to combine column tests. </a:t>
            </a:r>
            <a:endParaRPr lang="en-GB" dirty="0">
              <a:latin typeface="Cambria"/>
              <a:ea typeface="Cambria"/>
            </a:endParaRPr>
          </a:p>
        </p:txBody>
      </p:sp>
      <p:sp>
        <p:nvSpPr>
          <p:cNvPr id="4" name="Slide Number Placeholder 3">
            <a:extLst>
              <a:ext uri="{FF2B5EF4-FFF2-40B4-BE49-F238E27FC236}">
                <a16:creationId xmlns:a16="http://schemas.microsoft.com/office/drawing/2014/main" id="{0DACC04B-AB97-40E3-9B8E-318C8C6BD12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82D827A-045F-4F8B-BED3-F1EC0FC2FCF3}" type="slidenum">
              <a:rPr kumimoji="0" lang="en-US" sz="1400" b="1" i="0" u="none" strike="noStrike" kern="1200" cap="none" spc="0" normalizeH="0" baseline="0" noProof="0">
                <a:ln>
                  <a:noFill/>
                </a:ln>
                <a:solidFill>
                  <a:prstClr val="white"/>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400" b="1"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26414329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2E4D9EC-F2CE-4BEE-9222-8329A5972D1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82D827A-045F-4F8B-BED3-F1EC0FC2FCF3}" type="slidenum">
              <a:rPr kumimoji="0" lang="en-US" sz="1400" b="1" i="0" u="none" strike="noStrike" kern="1200" cap="none" spc="0" normalizeH="0" baseline="0" noProof="0">
                <a:ln>
                  <a:noFill/>
                </a:ln>
                <a:solidFill>
                  <a:prstClr val="white"/>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400" b="1" i="0" u="none" strike="noStrike" kern="1200" cap="none" spc="0" normalizeH="0" baseline="0" noProof="0">
              <a:ln>
                <a:noFill/>
              </a:ln>
              <a:solidFill>
                <a:prstClr val="white"/>
              </a:solidFill>
              <a:effectLst/>
              <a:uLnTx/>
              <a:uFillTx/>
              <a:latin typeface="Calibri"/>
              <a:ea typeface="+mn-ea"/>
              <a:cs typeface="+mn-cs"/>
            </a:endParaRPr>
          </a:p>
        </p:txBody>
      </p:sp>
      <p:sp>
        <p:nvSpPr>
          <p:cNvPr id="3" name="Content Placeholder 2">
            <a:extLst>
              <a:ext uri="{FF2B5EF4-FFF2-40B4-BE49-F238E27FC236}">
                <a16:creationId xmlns:a16="http://schemas.microsoft.com/office/drawing/2014/main" id="{6027A1BD-21B1-4E11-96CA-285D98BA1B7D}"/>
              </a:ext>
            </a:extLst>
          </p:cNvPr>
          <p:cNvSpPr>
            <a:spLocks noGrp="1"/>
          </p:cNvSpPr>
          <p:nvPr>
            <p:ph idx="4294967295"/>
          </p:nvPr>
        </p:nvSpPr>
        <p:spPr>
          <a:xfrm>
            <a:off x="539750" y="392113"/>
            <a:ext cx="11112500" cy="4476750"/>
          </a:xfrm>
        </p:spPr>
        <p:txBody>
          <a:bodyPr/>
          <a:lstStyle/>
          <a:p>
            <a:r>
              <a:rPr lang="en-GB" dirty="0">
                <a:latin typeface="Cambria"/>
                <a:ea typeface="Cambria"/>
              </a:rPr>
              <a:t>The arguments are values to test against that are bound into the clause. </a:t>
            </a:r>
            <a:endParaRPr lang="en-US" dirty="0">
              <a:latin typeface="Cambria"/>
              <a:ea typeface="Cambria"/>
            </a:endParaRPr>
          </a:p>
          <a:p>
            <a:r>
              <a:rPr lang="en-GB" dirty="0">
                <a:latin typeface="Cambria"/>
                <a:ea typeface="Cambria"/>
              </a:rPr>
              <a:t>Because the result isn't handled the same as a regular SQL statement, it is immune to SQL injection.</a:t>
            </a:r>
          </a:p>
          <a:p>
            <a:r>
              <a:rPr lang="en-GB" dirty="0"/>
              <a:t>// Define 'where' part of query.</a:t>
            </a:r>
            <a:br>
              <a:rPr lang="en-GB" dirty="0"/>
            </a:br>
            <a:r>
              <a:rPr lang="en-GB" dirty="0"/>
              <a:t>String selection = </a:t>
            </a:r>
            <a:r>
              <a:rPr lang="en-GB" dirty="0" err="1"/>
              <a:t>FeedEntry.COLUMN_NAME_TITLE</a:t>
            </a:r>
            <a:r>
              <a:rPr lang="en-GB" dirty="0"/>
              <a:t> + " LIKE ?";</a:t>
            </a:r>
            <a:br>
              <a:rPr lang="en-GB" dirty="0"/>
            </a:br>
            <a:r>
              <a:rPr lang="en-GB" dirty="0"/>
              <a:t>// Specify arguments in placeholder order.</a:t>
            </a:r>
            <a:br>
              <a:rPr lang="en-GB" dirty="0"/>
            </a:br>
            <a:r>
              <a:rPr lang="en-GB" dirty="0"/>
              <a:t>String[] </a:t>
            </a:r>
            <a:r>
              <a:rPr lang="en-GB" dirty="0" err="1"/>
              <a:t>selectionArgs</a:t>
            </a:r>
            <a:r>
              <a:rPr lang="en-GB" dirty="0"/>
              <a:t> = { "</a:t>
            </a:r>
            <a:r>
              <a:rPr lang="en-GB" dirty="0" err="1"/>
              <a:t>MyTitle</a:t>
            </a:r>
            <a:r>
              <a:rPr lang="en-GB" dirty="0"/>
              <a:t>" };</a:t>
            </a:r>
            <a:br>
              <a:rPr lang="en-GB" dirty="0"/>
            </a:br>
            <a:r>
              <a:rPr lang="en-GB" dirty="0"/>
              <a:t>// Issue SQL statement.</a:t>
            </a:r>
            <a:br>
              <a:rPr lang="en-GB" dirty="0"/>
            </a:br>
            <a:r>
              <a:rPr lang="en-GB" dirty="0"/>
              <a:t>int </a:t>
            </a:r>
            <a:r>
              <a:rPr lang="en-GB" dirty="0" err="1"/>
              <a:t>deletedRows</a:t>
            </a:r>
            <a:r>
              <a:rPr lang="en-GB" dirty="0"/>
              <a:t> = </a:t>
            </a:r>
            <a:r>
              <a:rPr lang="en-GB" dirty="0" err="1"/>
              <a:t>db.delete</a:t>
            </a:r>
            <a:r>
              <a:rPr lang="en-GB" dirty="0"/>
              <a:t>(</a:t>
            </a:r>
            <a:r>
              <a:rPr lang="en-GB" dirty="0" err="1"/>
              <a:t>FeedEntry.TABLE_NAME</a:t>
            </a:r>
            <a:r>
              <a:rPr lang="en-GB" dirty="0"/>
              <a:t>, selection, </a:t>
            </a:r>
            <a:r>
              <a:rPr lang="en-GB" dirty="0" err="1"/>
              <a:t>selectionArgs</a:t>
            </a:r>
            <a:r>
              <a:rPr lang="en-GB" dirty="0"/>
              <a:t>);</a:t>
            </a:r>
          </a:p>
        </p:txBody>
      </p:sp>
    </p:spTree>
    <p:extLst>
      <p:ext uri="{BB962C8B-B14F-4D97-AF65-F5344CB8AC3E}">
        <p14:creationId xmlns:p14="http://schemas.microsoft.com/office/powerpoint/2010/main" val="4879653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B04D0-11B9-44F1-8B13-7D284A53C54A}"/>
              </a:ext>
            </a:extLst>
          </p:cNvPr>
          <p:cNvSpPr>
            <a:spLocks noGrp="1"/>
          </p:cNvSpPr>
          <p:nvPr>
            <p:ph type="title"/>
          </p:nvPr>
        </p:nvSpPr>
        <p:spPr>
          <a:xfrm>
            <a:off x="270933" y="268391"/>
            <a:ext cx="10515600" cy="832370"/>
          </a:xfrm>
        </p:spPr>
        <p:txBody>
          <a:bodyPr/>
          <a:lstStyle/>
          <a:p>
            <a:br>
              <a:rPr lang="en-GB" dirty="0">
                <a:latin typeface="Cambria"/>
                <a:ea typeface="Cambria"/>
              </a:rPr>
            </a:br>
            <a:br>
              <a:rPr lang="en-GB" dirty="0">
                <a:latin typeface="Cambria"/>
                <a:ea typeface="Cambria"/>
              </a:rPr>
            </a:br>
            <a:r>
              <a:rPr lang="en-GB" dirty="0">
                <a:latin typeface="Cambria"/>
                <a:ea typeface="Cambria"/>
              </a:rPr>
              <a:t>Update a database</a:t>
            </a:r>
            <a:endParaRPr lang="en-US" dirty="0">
              <a:latin typeface="Cambria"/>
              <a:ea typeface="Cambria"/>
            </a:endParaRPr>
          </a:p>
          <a:p>
            <a:br>
              <a:rPr lang="en-US" dirty="0"/>
            </a:br>
            <a:endParaRPr lang="en-US" dirty="0"/>
          </a:p>
        </p:txBody>
      </p:sp>
      <p:sp>
        <p:nvSpPr>
          <p:cNvPr id="3" name="Content Placeholder 2">
            <a:extLst>
              <a:ext uri="{FF2B5EF4-FFF2-40B4-BE49-F238E27FC236}">
                <a16:creationId xmlns:a16="http://schemas.microsoft.com/office/drawing/2014/main" id="{764299EC-98EA-45DA-9F49-42BDA80E5AD1}"/>
              </a:ext>
            </a:extLst>
          </p:cNvPr>
          <p:cNvSpPr>
            <a:spLocks noGrp="1"/>
          </p:cNvSpPr>
          <p:nvPr>
            <p:ph idx="1"/>
          </p:nvPr>
        </p:nvSpPr>
        <p:spPr>
          <a:xfrm>
            <a:off x="727841" y="1100761"/>
            <a:ext cx="11193226" cy="3879669"/>
          </a:xfrm>
        </p:spPr>
        <p:txBody>
          <a:bodyPr/>
          <a:lstStyle/>
          <a:p>
            <a:r>
              <a:rPr lang="en-GB" dirty="0">
                <a:latin typeface="Cambria"/>
                <a:ea typeface="Cambria"/>
              </a:rPr>
              <a:t>When you need to modify a subset of your database values, use the </a:t>
            </a:r>
            <a:r>
              <a:rPr lang="en-GB" dirty="0">
                <a:latin typeface="Cambria"/>
                <a:ea typeface="Cambria"/>
                <a:hlinkClick r:id="rId2"/>
              </a:rPr>
              <a:t>update()</a:t>
            </a:r>
            <a:r>
              <a:rPr lang="en-GB" dirty="0">
                <a:latin typeface="Cambria"/>
                <a:ea typeface="Cambria"/>
              </a:rPr>
              <a:t> method.</a:t>
            </a:r>
          </a:p>
          <a:p>
            <a:r>
              <a:rPr lang="en-GB" dirty="0">
                <a:latin typeface="Cambria"/>
                <a:ea typeface="Cambria"/>
              </a:rPr>
              <a:t>Updating the table combines the </a:t>
            </a:r>
            <a:r>
              <a:rPr lang="en-GB" dirty="0">
                <a:latin typeface="Cambria"/>
                <a:ea typeface="Cambria"/>
                <a:hlinkClick r:id="rId3"/>
              </a:rPr>
              <a:t>ContentValues</a:t>
            </a:r>
            <a:r>
              <a:rPr lang="en-GB" dirty="0">
                <a:latin typeface="Cambria"/>
                <a:ea typeface="Cambria"/>
              </a:rPr>
              <a:t> syntax of </a:t>
            </a:r>
            <a:r>
              <a:rPr lang="en-GB" dirty="0">
                <a:latin typeface="Cambria"/>
                <a:ea typeface="Cambria"/>
                <a:hlinkClick r:id="rId4"/>
              </a:rPr>
              <a:t>insert()</a:t>
            </a:r>
            <a:r>
              <a:rPr lang="en-GB" dirty="0">
                <a:latin typeface="Cambria"/>
                <a:ea typeface="Cambria"/>
              </a:rPr>
              <a:t> with the WHERE syntax of </a:t>
            </a:r>
            <a:r>
              <a:rPr lang="en-GB" dirty="0">
                <a:latin typeface="Cambria"/>
                <a:ea typeface="Cambria"/>
                <a:hlinkClick r:id="rId5"/>
              </a:rPr>
              <a:t>delete()</a:t>
            </a:r>
            <a:r>
              <a:rPr lang="en-GB" dirty="0">
                <a:latin typeface="Cambria"/>
                <a:ea typeface="Cambria"/>
              </a:rPr>
              <a:t>.</a:t>
            </a:r>
          </a:p>
          <a:p>
            <a:r>
              <a:rPr lang="en-GB" dirty="0" err="1"/>
              <a:t>SQLiteDatabase</a:t>
            </a:r>
            <a:r>
              <a:rPr lang="en-GB" dirty="0"/>
              <a:t> </a:t>
            </a:r>
            <a:r>
              <a:rPr lang="en-GB" dirty="0" err="1"/>
              <a:t>db</a:t>
            </a:r>
            <a:r>
              <a:rPr lang="en-GB" dirty="0"/>
              <a:t> = </a:t>
            </a:r>
            <a:r>
              <a:rPr lang="en-GB" dirty="0" err="1"/>
              <a:t>dbHelper.getWritableDatabase</a:t>
            </a:r>
            <a:r>
              <a:rPr lang="en-GB" dirty="0"/>
              <a:t>();</a:t>
            </a:r>
            <a:br>
              <a:rPr lang="en-GB" dirty="0"/>
            </a:br>
            <a:br>
              <a:rPr lang="en-GB" dirty="0"/>
            </a:br>
            <a:r>
              <a:rPr lang="en-GB" dirty="0"/>
              <a:t>// New value for one column</a:t>
            </a:r>
            <a:br>
              <a:rPr lang="en-GB" dirty="0"/>
            </a:br>
            <a:r>
              <a:rPr lang="en-GB" dirty="0"/>
              <a:t>String title = "</a:t>
            </a:r>
            <a:r>
              <a:rPr lang="en-GB" dirty="0" err="1"/>
              <a:t>MyNewTitle</a:t>
            </a:r>
            <a:r>
              <a:rPr lang="en-GB" dirty="0"/>
              <a:t>";</a:t>
            </a:r>
            <a:br>
              <a:rPr lang="en-GB" dirty="0"/>
            </a:br>
            <a:r>
              <a:rPr lang="en-GB" dirty="0" err="1"/>
              <a:t>ContentValues</a:t>
            </a:r>
            <a:r>
              <a:rPr lang="en-GB" dirty="0"/>
              <a:t> values = new </a:t>
            </a:r>
            <a:r>
              <a:rPr lang="en-GB" dirty="0" err="1"/>
              <a:t>ContentValues</a:t>
            </a:r>
            <a:r>
              <a:rPr lang="en-GB" dirty="0"/>
              <a:t>();</a:t>
            </a:r>
            <a:br>
              <a:rPr lang="en-GB" dirty="0"/>
            </a:br>
            <a:r>
              <a:rPr lang="en-GB" dirty="0" err="1"/>
              <a:t>values.put</a:t>
            </a:r>
            <a:r>
              <a:rPr lang="en-GB" dirty="0"/>
              <a:t>(</a:t>
            </a:r>
            <a:r>
              <a:rPr lang="en-GB" dirty="0" err="1"/>
              <a:t>FeedEntry.COLUMN_NAME_TITLE</a:t>
            </a:r>
            <a:r>
              <a:rPr lang="en-GB" dirty="0"/>
              <a:t>, title);</a:t>
            </a:r>
            <a:br>
              <a:rPr lang="en-GB" dirty="0"/>
            </a:br>
            <a:br>
              <a:rPr lang="en-GB" dirty="0"/>
            </a:br>
            <a:endParaRPr lang="en-GB" dirty="0"/>
          </a:p>
        </p:txBody>
      </p:sp>
      <p:sp>
        <p:nvSpPr>
          <p:cNvPr id="4" name="Slide Number Placeholder 3">
            <a:extLst>
              <a:ext uri="{FF2B5EF4-FFF2-40B4-BE49-F238E27FC236}">
                <a16:creationId xmlns:a16="http://schemas.microsoft.com/office/drawing/2014/main" id="{9F0CCCF0-9A93-4B7E-B85D-A0F2795BBCE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82D827A-045F-4F8B-BED3-F1EC0FC2FCF3}" type="slidenum">
              <a:rPr kumimoji="0" lang="en-US" sz="1400" b="1" i="0" u="none" strike="noStrike" kern="1200" cap="none" spc="0" normalizeH="0" baseline="0" noProof="0">
                <a:ln>
                  <a:noFill/>
                </a:ln>
                <a:solidFill>
                  <a:prstClr val="white"/>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400" b="1"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5536170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882D827A-045F-4F8B-BED3-F1EC0FC2FCF3}" type="slidenum">
              <a:rPr lang="en-US" smtClean="0">
                <a:solidFill>
                  <a:prstClr val="white"/>
                </a:solidFill>
              </a:rPr>
              <a:pPr>
                <a:defRPr/>
              </a:pPr>
              <a:t>23</a:t>
            </a:fld>
            <a:endParaRPr lang="en-US">
              <a:solidFill>
                <a:prstClr val="white"/>
              </a:solidFill>
            </a:endParaRPr>
          </a:p>
        </p:txBody>
      </p:sp>
      <p:sp>
        <p:nvSpPr>
          <p:cNvPr id="6" name="Title 1"/>
          <p:cNvSpPr txBox="1">
            <a:spLocks/>
          </p:cNvSpPr>
          <p:nvPr/>
        </p:nvSpPr>
        <p:spPr bwMode="auto">
          <a:xfrm>
            <a:off x="3170830" y="2822769"/>
            <a:ext cx="5732060" cy="423081"/>
          </a:xfrm>
          <a:prstGeom prst="rect">
            <a:avLst/>
          </a:prstGeom>
          <a:no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eaLnBrk="0" fontAlgn="base" hangingPunct="0">
              <a:lnSpc>
                <a:spcPct val="90000"/>
              </a:lnSpc>
              <a:spcBef>
                <a:spcPct val="0"/>
              </a:spcBef>
              <a:spcAft>
                <a:spcPct val="0"/>
              </a:spcAft>
              <a:defRPr sz="3200" b="1">
                <a:solidFill>
                  <a:srgbClr val="002060"/>
                </a:solidFill>
                <a:latin typeface="Cambria" panose="02040503050406030204" pitchFamily="18" charset="0"/>
                <a:ea typeface="Cambria" panose="02040503050406030204" pitchFamily="18" charset="0"/>
                <a:cs typeface="Cambria" panose="02040503050406030204" pitchFamily="18" charset="0"/>
              </a:defRPr>
            </a:lvl1pPr>
            <a:lvl2pPr eaLnBrk="0" fontAlgn="base" hangingPunct="0">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2pPr>
            <a:lvl3pPr eaLnBrk="0" fontAlgn="base" hangingPunct="0">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3pPr>
            <a:lvl4pPr eaLnBrk="0" fontAlgn="base" hangingPunct="0">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4pPr>
            <a:lvl5pPr eaLnBrk="0" fontAlgn="base" hangingPunct="0">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5pPr>
            <a:lvl6pPr marL="457200" fontAlgn="base">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6pPr>
            <a:lvl7pPr marL="914400" fontAlgn="base">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7pPr>
            <a:lvl8pPr marL="1371600" fontAlgn="base">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8pPr>
            <a:lvl9pPr marL="1828800" fontAlgn="base">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9pPr>
          </a:lstStyle>
          <a:p>
            <a:pPr algn="ctr"/>
            <a:r>
              <a:rPr lang="en-US" sz="4400" dirty="0"/>
              <a:t>END OF MODULE 4</a:t>
            </a:r>
          </a:p>
        </p:txBody>
      </p:sp>
    </p:spTree>
    <p:extLst>
      <p:ext uri="{BB962C8B-B14F-4D97-AF65-F5344CB8AC3E}">
        <p14:creationId xmlns:p14="http://schemas.microsoft.com/office/powerpoint/2010/main" val="5934348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0933" y="62865"/>
            <a:ext cx="10515600" cy="832370"/>
          </a:xfr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a:lnSpc>
                <a:spcPct val="100000"/>
              </a:lnSpc>
              <a:spcBef>
                <a:spcPts val="0"/>
              </a:spcBef>
              <a:spcAft>
                <a:spcPts val="600"/>
              </a:spcAft>
            </a:pPr>
            <a:r>
              <a:rPr lang="en" sz="3200" b="1" dirty="0"/>
              <a:t>Learn more …</a:t>
            </a:r>
            <a:endParaRPr lang="en-US" sz="3200" b="1" dirty="0"/>
          </a:p>
        </p:txBody>
      </p:sp>
      <p:sp>
        <p:nvSpPr>
          <p:cNvPr id="3" name="Content Placeholder 2"/>
          <p:cNvSpPr>
            <a:spLocks noGrp="1"/>
          </p:cNvSpPr>
          <p:nvPr>
            <p:ph idx="1"/>
          </p:nvPr>
        </p:nvSpPr>
        <p:spPr>
          <a:xfrm>
            <a:off x="270932" y="895235"/>
            <a:ext cx="11739097" cy="4386449"/>
          </a:xfrm>
        </p:spPr>
        <p:txBody>
          <a:bodyPr/>
          <a:lstStyle/>
          <a:p>
            <a:pPr marL="457200" lvl="0" indent="-381000" algn="just">
              <a:lnSpc>
                <a:spcPct val="100000"/>
              </a:lnSpc>
              <a:spcBef>
                <a:spcPts val="0"/>
              </a:spcBef>
              <a:spcAft>
                <a:spcPts val="1200"/>
              </a:spcAft>
              <a:buSzPts val="2400"/>
            </a:pPr>
            <a:r>
              <a:rPr lang="en-US" sz="2400" u="sng" dirty="0">
                <a:hlinkClick r:id="rId2"/>
              </a:rPr>
              <a:t>https://developer.android.com/develop/ui/views/notifications</a:t>
            </a:r>
            <a:endParaRPr lang="en-US" sz="2400" u="sng" dirty="0"/>
          </a:p>
          <a:p>
            <a:pPr marL="457200" lvl="0" indent="-381000" algn="just">
              <a:lnSpc>
                <a:spcPct val="100000"/>
              </a:lnSpc>
              <a:spcBef>
                <a:spcPts val="0"/>
              </a:spcBef>
              <a:spcAft>
                <a:spcPts val="1200"/>
              </a:spcAft>
              <a:buSzPts val="2400"/>
            </a:pPr>
            <a:r>
              <a:rPr lang="en-US" sz="2400" u="sng" dirty="0">
                <a:hlinkClick r:id="rId3"/>
              </a:rPr>
              <a:t>https://developer.android.com/training/data-storage/shared-preferences</a:t>
            </a:r>
            <a:endParaRPr lang="en-US" sz="2400" u="sng" dirty="0"/>
          </a:p>
          <a:p>
            <a:pPr marL="457200" lvl="0" indent="-381000" algn="just">
              <a:lnSpc>
                <a:spcPct val="100000"/>
              </a:lnSpc>
              <a:spcBef>
                <a:spcPts val="0"/>
              </a:spcBef>
              <a:spcAft>
                <a:spcPts val="1200"/>
              </a:spcAft>
              <a:buSzPts val="2400"/>
            </a:pPr>
            <a:r>
              <a:rPr lang="en-US" sz="2400" dirty="0">
                <a:hlinkClick r:id="rId4"/>
              </a:rPr>
              <a:t>https://www.geeksforgeeks.org/shared-preferences-in-android-with-examples/</a:t>
            </a:r>
            <a:endParaRPr lang="en-US" sz="2400" dirty="0"/>
          </a:p>
          <a:p>
            <a:pPr marL="457200" lvl="0" indent="-381000" algn="just">
              <a:lnSpc>
                <a:spcPct val="100000"/>
              </a:lnSpc>
              <a:spcBef>
                <a:spcPts val="0"/>
              </a:spcBef>
              <a:spcAft>
                <a:spcPts val="1200"/>
              </a:spcAft>
              <a:buSzPts val="2400"/>
            </a:pPr>
            <a:r>
              <a:rPr lang="en-US" sz="2400" dirty="0">
                <a:hlinkClick r:id="rId5"/>
              </a:rPr>
              <a:t>https://developer.android.com/reference/android/database/sqlite/SQLiteDatabase</a:t>
            </a:r>
            <a:endParaRPr lang="en-US" sz="2400" dirty="0"/>
          </a:p>
          <a:p>
            <a:pPr marL="457200" lvl="0" indent="-381000" algn="just">
              <a:lnSpc>
                <a:spcPct val="100000"/>
              </a:lnSpc>
              <a:spcBef>
                <a:spcPts val="0"/>
              </a:spcBef>
              <a:spcAft>
                <a:spcPts val="1200"/>
              </a:spcAft>
              <a:buSzPts val="2400"/>
            </a:pPr>
            <a:r>
              <a:rPr lang="en-US" sz="2400" dirty="0">
                <a:hlinkClick r:id="rId6"/>
              </a:rPr>
              <a:t>https://www.geeksforgeeks.org/how-to-create-and-add-data-to-sqlite-database-in-android/</a:t>
            </a:r>
            <a:endParaRPr lang="en-US" sz="2400" dirty="0"/>
          </a:p>
          <a:p>
            <a:pPr marL="457200" lvl="0" indent="-381000" algn="just">
              <a:lnSpc>
                <a:spcPct val="100000"/>
              </a:lnSpc>
              <a:spcBef>
                <a:spcPts val="0"/>
              </a:spcBef>
              <a:spcAft>
                <a:spcPts val="1200"/>
              </a:spcAft>
              <a:buSzPts val="2400"/>
            </a:pPr>
            <a:r>
              <a:rPr lang="en-US" sz="2400" dirty="0">
                <a:hlinkClick r:id="rId7"/>
              </a:rPr>
              <a:t>https://developer.android.com/studio/projects/android-library</a:t>
            </a:r>
            <a:endParaRPr lang="en-US" sz="2400" dirty="0"/>
          </a:p>
          <a:p>
            <a:pPr marL="457200" lvl="0" indent="-381000" algn="just">
              <a:lnSpc>
                <a:spcPct val="100000"/>
              </a:lnSpc>
              <a:spcBef>
                <a:spcPts val="0"/>
              </a:spcBef>
              <a:spcAft>
                <a:spcPts val="1200"/>
              </a:spcAft>
              <a:buSzPts val="2400"/>
            </a:pPr>
            <a:r>
              <a:rPr lang="en-US" sz="2400" dirty="0">
                <a:hlinkClick r:id="rId8"/>
              </a:rPr>
              <a:t>https://www.geeksforgeeks.org/how-to-add-external-library-in-android-studio/</a:t>
            </a:r>
            <a:endParaRPr lang="en-US" sz="2400" dirty="0"/>
          </a:p>
        </p:txBody>
      </p:sp>
      <p:sp>
        <p:nvSpPr>
          <p:cNvPr id="4" name="Slide Number Placeholder 3"/>
          <p:cNvSpPr>
            <a:spLocks noGrp="1"/>
          </p:cNvSpPr>
          <p:nvPr>
            <p:ph type="sldNum" sz="quarter" idx="12"/>
          </p:nvPr>
        </p:nvSpPr>
        <p:spPr/>
        <p:txBody>
          <a:bodyPr/>
          <a:lstStyle/>
          <a:p>
            <a:pPr>
              <a:defRPr/>
            </a:pPr>
            <a:fld id="{882D827A-045F-4F8B-BED3-F1EC0FC2FCF3}" type="slidenum">
              <a:rPr lang="en-US" smtClean="0">
                <a:solidFill>
                  <a:prstClr val="white"/>
                </a:solidFill>
              </a:rPr>
              <a:pPr>
                <a:defRPr/>
              </a:pPr>
              <a:t>24</a:t>
            </a:fld>
            <a:endParaRPr lang="en-US">
              <a:solidFill>
                <a:prstClr val="white"/>
              </a:solidFill>
            </a:endParaRPr>
          </a:p>
        </p:txBody>
      </p:sp>
    </p:spTree>
    <p:extLst>
      <p:ext uri="{BB962C8B-B14F-4D97-AF65-F5344CB8AC3E}">
        <p14:creationId xmlns:p14="http://schemas.microsoft.com/office/powerpoint/2010/main" val="41782734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Number Placeholder 5"/>
          <p:cNvSpPr txBox="1">
            <a:spLocks noGrp="1"/>
          </p:cNvSpPr>
          <p:nvPr/>
        </p:nvSpPr>
        <p:spPr bwMode="auto">
          <a:xfrm>
            <a:off x="7581900" y="6248400"/>
            <a:ext cx="1428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mbria" panose="02040503050406030204" pitchFamily="18" charset="0"/>
                <a:ea typeface="Cambria" panose="02040503050406030204" pitchFamily="18" charset="0"/>
                <a:cs typeface="Cambria" panose="02040503050406030204" pitchFamily="18" charset="0"/>
              </a:defRPr>
            </a:lvl1pPr>
            <a:lvl2pPr marL="742950" indent="-285750">
              <a:lnSpc>
                <a:spcPct val="90000"/>
              </a:lnSpc>
              <a:spcBef>
                <a:spcPts val="500"/>
              </a:spcBef>
              <a:buFont typeface="Arial" panose="020B0604020202020204" pitchFamily="34" charset="0"/>
              <a:buChar char="•"/>
              <a:defRPr sz="2400">
                <a:solidFill>
                  <a:schemeClr val="tx1"/>
                </a:solidFill>
                <a:latin typeface="Cambria" panose="02040503050406030204" pitchFamily="18" charset="0"/>
                <a:ea typeface="Cambria" panose="02040503050406030204" pitchFamily="18" charset="0"/>
                <a:cs typeface="Cambria" panose="02040503050406030204" pitchFamily="18"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9pPr>
          </a:lstStyle>
          <a:p>
            <a:pPr algn="r" eaLnBrk="1" hangingPunct="1">
              <a:lnSpc>
                <a:spcPct val="100000"/>
              </a:lnSpc>
              <a:spcBef>
                <a:spcPct val="0"/>
              </a:spcBef>
              <a:buFontTx/>
              <a:buNone/>
            </a:pPr>
            <a:fld id="{5BB2F9D6-B091-4A7D-858E-65B944A7FE74}" type="slidenum">
              <a:rPr lang="en-US" altLang="en-US" sz="1400">
                <a:latin typeface="Times New Roman" panose="02020603050405020304" pitchFamily="18" charset="0"/>
                <a:cs typeface="Arial" panose="020B0604020202020204" pitchFamily="34" charset="0"/>
              </a:rPr>
              <a:pPr algn="r" eaLnBrk="1" hangingPunct="1">
                <a:lnSpc>
                  <a:spcPct val="100000"/>
                </a:lnSpc>
                <a:spcBef>
                  <a:spcPct val="0"/>
                </a:spcBef>
                <a:buFontTx/>
                <a:buNone/>
              </a:pPr>
              <a:t>25</a:t>
            </a:fld>
            <a:endParaRPr lang="en-US" altLang="en-US" sz="1400">
              <a:latin typeface="Times New Roman" panose="02020603050405020304" pitchFamily="18" charset="0"/>
              <a:cs typeface="Arial" panose="020B0604020202020204" pitchFamily="34" charset="0"/>
            </a:endParaRPr>
          </a:p>
        </p:txBody>
      </p:sp>
      <p:sp>
        <p:nvSpPr>
          <p:cNvPr id="49156" name="Rectangle 3"/>
          <p:cNvSpPr>
            <a:spLocks noGrp="1" noChangeArrowheads="1"/>
          </p:cNvSpPr>
          <p:nvPr>
            <p:ph type="title" idx="4294967295"/>
          </p:nvPr>
        </p:nvSpPr>
        <p:spPr>
          <a:xfrm>
            <a:off x="1524000" y="0"/>
            <a:ext cx="6858000" cy="685800"/>
          </a:xfrm>
        </p:spPr>
        <p:txBody>
          <a:bodyPr>
            <a:normAutofit fontScale="90000"/>
          </a:bodyPr>
          <a:lstStyle/>
          <a:p>
            <a:pPr eaLnBrk="1" hangingPunct="1">
              <a:defRPr/>
            </a:pPr>
            <a:r>
              <a:rPr lang="en-US" sz="3600" dirty="0">
                <a:solidFill>
                  <a:srgbClr val="FF0000"/>
                </a:solidFill>
              </a:rPr>
              <a:t> </a:t>
            </a:r>
            <a:r>
              <a:rPr lang="en-US" dirty="0">
                <a:solidFill>
                  <a:srgbClr val="FF0000"/>
                </a:solidFill>
                <a:latin typeface="Calibri" panose="020F0502020204030204" pitchFamily="34" charset="0"/>
              </a:rPr>
              <a:t> </a:t>
            </a:r>
            <a:endParaRPr lang="en-US" sz="3600" dirty="0">
              <a:solidFill>
                <a:srgbClr val="FF0000"/>
              </a:solidFill>
              <a:latin typeface="Calibri" panose="020F0502020204030204" pitchFamily="34" charset="0"/>
            </a:endParaRPr>
          </a:p>
        </p:txBody>
      </p:sp>
      <p:sp>
        <p:nvSpPr>
          <p:cNvPr id="100356" name="Subtitle 2"/>
          <p:cNvSpPr txBox="1">
            <a:spLocks/>
          </p:cNvSpPr>
          <p:nvPr/>
        </p:nvSpPr>
        <p:spPr bwMode="auto">
          <a:xfrm>
            <a:off x="2039939" y="2540001"/>
            <a:ext cx="7991475" cy="1006475"/>
          </a:xfrm>
          <a:prstGeom prst="rect">
            <a:avLst/>
          </a:prstGeom>
          <a:no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ctr" eaLnBrk="0" fontAlgn="base" hangingPunct="0">
              <a:lnSpc>
                <a:spcPct val="90000"/>
              </a:lnSpc>
              <a:spcBef>
                <a:spcPct val="0"/>
              </a:spcBef>
              <a:spcAft>
                <a:spcPct val="0"/>
              </a:spcAft>
              <a:defRPr sz="4400" b="1">
                <a:solidFill>
                  <a:srgbClr val="002060"/>
                </a:solidFill>
                <a:latin typeface="Cambria" panose="02040503050406030204" pitchFamily="18" charset="0"/>
                <a:ea typeface="Cambria" panose="02040503050406030204" pitchFamily="18" charset="0"/>
                <a:cs typeface="Cambria" panose="02040503050406030204" pitchFamily="18" charset="0"/>
              </a:defRPr>
            </a:lvl1pPr>
            <a:lvl2pPr eaLnBrk="0" fontAlgn="base" hangingPunct="0">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2pPr>
            <a:lvl3pPr eaLnBrk="0" fontAlgn="base" hangingPunct="0">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3pPr>
            <a:lvl4pPr eaLnBrk="0" fontAlgn="base" hangingPunct="0">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4pPr>
            <a:lvl5pPr eaLnBrk="0" fontAlgn="base" hangingPunct="0">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5pPr>
            <a:lvl6pPr marL="457200" fontAlgn="base">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6pPr>
            <a:lvl7pPr marL="914400" fontAlgn="base">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7pPr>
            <a:lvl8pPr marL="1371600" fontAlgn="base">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8pPr>
            <a:lvl9pPr marL="1828800" fontAlgn="base">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9pPr>
          </a:lstStyle>
          <a:p>
            <a:r>
              <a:rPr lang="en-US" dirty="0"/>
              <a:t>Thank You</a:t>
            </a:r>
            <a:endParaRPr lang="en-IN" dirty="0"/>
          </a:p>
        </p:txBody>
      </p:sp>
    </p:spTree>
    <p:extLst>
      <p:ext uri="{BB962C8B-B14F-4D97-AF65-F5344CB8AC3E}">
        <p14:creationId xmlns:p14="http://schemas.microsoft.com/office/powerpoint/2010/main" val="3982278082"/>
      </p:ext>
    </p:extLst>
  </p:cSld>
  <p:clrMapOvr>
    <a:masterClrMapping/>
  </p:clrMapOvr>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23A97A4E1007448B1369F743ED98090" ma:contentTypeVersion="8" ma:contentTypeDescription="Create a new document." ma:contentTypeScope="" ma:versionID="d62c4c7986642efde20509dffc321bae">
  <xsd:schema xmlns:xsd="http://www.w3.org/2001/XMLSchema" xmlns:xs="http://www.w3.org/2001/XMLSchema" xmlns:p="http://schemas.microsoft.com/office/2006/metadata/properties" xmlns:ns2="8cc84e2d-2165-45f6-97da-250b2f29d978" targetNamespace="http://schemas.microsoft.com/office/2006/metadata/properties" ma:root="true" ma:fieldsID="da2ced9fa79197b90a39adc16852fba5" ns2:_="">
    <xsd:import namespace="8cc84e2d-2165-45f6-97da-250b2f29d97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c84e2d-2165-45f6-97da-250b2f29d97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F247DA2-F72B-453C-8215-978BEA40183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cc84e2d-2165-45f6-97da-250b2f29d97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583A918-760C-43EF-B09D-A78E7627C1C7}">
  <ds:schemaRefs>
    <ds:schemaRef ds:uri="http://schemas.microsoft.com/sharepoint/v3/contenttype/forms"/>
  </ds:schemaRefs>
</ds:datastoreItem>
</file>

<file path=customXml/itemProps3.xml><?xml version="1.0" encoding="utf-8"?>
<ds:datastoreItem xmlns:ds="http://schemas.openxmlformats.org/officeDocument/2006/customXml" ds:itemID="{C0C45018-C7CA-441D-800E-32A4534AF727}">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Ion Boardroom</Template>
  <TotalTime>20280</TotalTime>
  <Words>2291</Words>
  <Application>Microsoft Office PowerPoint</Application>
  <PresentationFormat>Widescreen</PresentationFormat>
  <Paragraphs>133</Paragraphs>
  <Slides>25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Cambria</vt:lpstr>
      <vt:lpstr>Times New Roman</vt:lpstr>
      <vt:lpstr>1_Office Theme</vt:lpstr>
      <vt:lpstr>Course Details</vt:lpstr>
      <vt:lpstr>MODULE 4</vt:lpstr>
      <vt:lpstr>Notification</vt:lpstr>
      <vt:lpstr>PowerPoint Presentation</vt:lpstr>
      <vt:lpstr>PowerPoint Presentation</vt:lpstr>
      <vt:lpstr>PowerPoint Presentation</vt:lpstr>
      <vt:lpstr>Notification anatomy </vt:lpstr>
      <vt:lpstr>PowerPoint Presentation</vt:lpstr>
      <vt:lpstr>PowerPoint Presentation</vt:lpstr>
      <vt:lpstr>PowerPoint Presentation</vt:lpstr>
      <vt:lpstr>Save data using SQLite</vt:lpstr>
      <vt:lpstr>Create a database using an SQL helper </vt:lpstr>
      <vt:lpstr>PowerPoint Presentation</vt:lpstr>
      <vt:lpstr>PowerPoint Presentation</vt:lpstr>
      <vt:lpstr>PowerPoint Presentation</vt:lpstr>
      <vt:lpstr>Put information into a database </vt:lpstr>
      <vt:lpstr>PowerPoint Presentation</vt:lpstr>
      <vt:lpstr>Read information from a database</vt:lpstr>
      <vt:lpstr>PowerPoint Presentation</vt:lpstr>
      <vt:lpstr>  Delete information from a database  </vt:lpstr>
      <vt:lpstr>PowerPoint Presentation</vt:lpstr>
      <vt:lpstr>  Update a database  </vt:lpstr>
      <vt:lpstr>PowerPoint Presentation</vt:lpstr>
      <vt:lpstr>Learn more …</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Details</dc:title>
  <dc:creator>Windows User</dc:creator>
  <cp:lastModifiedBy>PREMA</cp:lastModifiedBy>
  <cp:revision>359</cp:revision>
  <dcterms:created xsi:type="dcterms:W3CDTF">2018-07-31T07:35:09Z</dcterms:created>
  <dcterms:modified xsi:type="dcterms:W3CDTF">2023-11-07T05:33:12Z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0x010100A23A97A4E1007448B1369F743ED98090</vt:lpwstr>
  </property>
</Properties>
</file>