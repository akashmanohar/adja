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  <p:sldMasterId id="2147483708" r:id="rId5"/>
    <p:sldMasterId id="2147483696" r:id="rId6"/>
  </p:sldMasterIdLst>
  <p:notesMasterIdLst>
    <p:notesMasterId r:id="rId69"/>
  </p:notesMasterIdLst>
  <p:handoutMasterIdLst>
    <p:handoutMasterId r:id="rId70"/>
  </p:handoutMasterIdLst>
  <p:sldIdLst>
    <p:sldId id="256" r:id="rId7"/>
    <p:sldId id="426" r:id="rId8"/>
    <p:sldId id="261" r:id="rId9"/>
    <p:sldId id="263" r:id="rId10"/>
    <p:sldId id="267" r:id="rId11"/>
    <p:sldId id="298" r:id="rId12"/>
    <p:sldId id="299" r:id="rId13"/>
    <p:sldId id="302" r:id="rId14"/>
    <p:sldId id="301" r:id="rId15"/>
    <p:sldId id="1540" r:id="rId16"/>
    <p:sldId id="1517" r:id="rId17"/>
    <p:sldId id="303" r:id="rId18"/>
    <p:sldId id="304" r:id="rId19"/>
    <p:sldId id="306" r:id="rId20"/>
    <p:sldId id="1518" r:id="rId21"/>
    <p:sldId id="305" r:id="rId22"/>
    <p:sldId id="309" r:id="rId23"/>
    <p:sldId id="308" r:id="rId24"/>
    <p:sldId id="1512" r:id="rId25"/>
    <p:sldId id="1513" r:id="rId26"/>
    <p:sldId id="1514" r:id="rId27"/>
    <p:sldId id="1515" r:id="rId28"/>
    <p:sldId id="428" r:id="rId29"/>
    <p:sldId id="429" r:id="rId30"/>
    <p:sldId id="1516" r:id="rId31"/>
    <p:sldId id="430" r:id="rId32"/>
    <p:sldId id="1487" r:id="rId33"/>
    <p:sldId id="1490" r:id="rId34"/>
    <p:sldId id="1520" r:id="rId35"/>
    <p:sldId id="269" r:id="rId36"/>
    <p:sldId id="1521" r:id="rId37"/>
    <p:sldId id="270" r:id="rId38"/>
    <p:sldId id="272" r:id="rId39"/>
    <p:sldId id="276" r:id="rId40"/>
    <p:sldId id="1519" r:id="rId41"/>
    <p:sldId id="277" r:id="rId42"/>
    <p:sldId id="1522" r:id="rId43"/>
    <p:sldId id="278" r:id="rId44"/>
    <p:sldId id="1523" r:id="rId45"/>
    <p:sldId id="1524" r:id="rId46"/>
    <p:sldId id="1525" r:id="rId47"/>
    <p:sldId id="1526" r:id="rId48"/>
    <p:sldId id="282" r:id="rId49"/>
    <p:sldId id="1527" r:id="rId50"/>
    <p:sldId id="1528" r:id="rId51"/>
    <p:sldId id="1529" r:id="rId52"/>
    <p:sldId id="1530" r:id="rId53"/>
    <p:sldId id="1531" r:id="rId54"/>
    <p:sldId id="1532" r:id="rId55"/>
    <p:sldId id="1534" r:id="rId56"/>
    <p:sldId id="1533" r:id="rId57"/>
    <p:sldId id="1535" r:id="rId58"/>
    <p:sldId id="1539" r:id="rId59"/>
    <p:sldId id="1536" r:id="rId60"/>
    <p:sldId id="284" r:id="rId61"/>
    <p:sldId id="279" r:id="rId62"/>
    <p:sldId id="275" r:id="rId63"/>
    <p:sldId id="1537" r:id="rId64"/>
    <p:sldId id="1538" r:id="rId65"/>
    <p:sldId id="281" r:id="rId66"/>
    <p:sldId id="273" r:id="rId67"/>
    <p:sldId id="300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4641" autoAdjust="0"/>
  </p:normalViewPr>
  <p:slideViewPr>
    <p:cSldViewPr>
      <p:cViewPr varScale="1">
        <p:scale>
          <a:sx n="82" d="100"/>
          <a:sy n="82" d="100"/>
        </p:scale>
        <p:origin x="127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handoutMaster" Target="handoutMasters/handoutMaster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eepak S Sakkari Assistant Professor( CSE)" userId="6d73bcb8-5d92-40b8-9132-40f6303b79fc" providerId="ADAL" clId="{6A6CE88C-C1CC-4F3A-B486-05240001B6BF}"/>
    <pc:docChg chg="undo custSel delSld modSld modMainMaster">
      <pc:chgData name="Dr. Deepak S Sakkari Assistant Professor( CSE)" userId="6d73bcb8-5d92-40b8-9132-40f6303b79fc" providerId="ADAL" clId="{6A6CE88C-C1CC-4F3A-B486-05240001B6BF}" dt="2020-08-16T18:15:17.333" v="987" actId="1038"/>
      <pc:docMkLst>
        <pc:docMk/>
      </pc:docMkLst>
      <pc:sldChg chg="modSp">
        <pc:chgData name="Dr. Deepak S Sakkari Assistant Professor( CSE)" userId="6d73bcb8-5d92-40b8-9132-40f6303b79fc" providerId="ADAL" clId="{6A6CE88C-C1CC-4F3A-B486-05240001B6BF}" dt="2020-08-16T17:23:01.850" v="61" actId="404"/>
        <pc:sldMkLst>
          <pc:docMk/>
          <pc:sldMk cId="644196155" sldId="257"/>
        </pc:sldMkLst>
        <pc:spChg chg="mod">
          <ac:chgData name="Dr. Deepak S Sakkari Assistant Professor( CSE)" userId="6d73bcb8-5d92-40b8-9132-40f6303b79fc" providerId="ADAL" clId="{6A6CE88C-C1CC-4F3A-B486-05240001B6BF}" dt="2020-08-16T17:23:01.850" v="61" actId="404"/>
          <ac:spMkLst>
            <pc:docMk/>
            <pc:sldMk cId="644196155" sldId="257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29:27.503" v="93" actId="948"/>
        <pc:sldMkLst>
          <pc:docMk/>
          <pc:sldMk cId="799294713" sldId="258"/>
        </pc:sldMkLst>
        <pc:spChg chg="mod">
          <ac:chgData name="Dr. Deepak S Sakkari Assistant Professor( CSE)" userId="6d73bcb8-5d92-40b8-9132-40f6303b79fc" providerId="ADAL" clId="{6A6CE88C-C1CC-4F3A-B486-05240001B6BF}" dt="2020-08-16T17:29:27.503" v="93" actId="948"/>
          <ac:spMkLst>
            <pc:docMk/>
            <pc:sldMk cId="799294713" sldId="258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7:29:41.157" v="94" actId="2696"/>
        <pc:sldMkLst>
          <pc:docMk/>
          <pc:sldMk cId="2963534272" sldId="259"/>
        </pc:sldMkLst>
        <pc:spChg chg="mod">
          <ac:chgData name="Dr. Deepak S Sakkari Assistant Professor( CSE)" userId="6d73bcb8-5d92-40b8-9132-40f6303b79fc" providerId="ADAL" clId="{6A6CE88C-C1CC-4F3A-B486-05240001B6BF}" dt="2020-08-16T17:28:28.561" v="87" actId="21"/>
          <ac:spMkLst>
            <pc:docMk/>
            <pc:sldMk cId="2963534272" sldId="259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0:03.381" v="98" actId="20577"/>
        <pc:sldMkLst>
          <pc:docMk/>
          <pc:sldMk cId="3981172752" sldId="260"/>
        </pc:sldMkLst>
        <pc:spChg chg="mod">
          <ac:chgData name="Dr. Deepak S Sakkari Assistant Professor( CSE)" userId="6d73bcb8-5d92-40b8-9132-40f6303b79fc" providerId="ADAL" clId="{6A6CE88C-C1CC-4F3A-B486-05240001B6BF}" dt="2020-08-16T17:30:03.381" v="98" actId="20577"/>
          <ac:spMkLst>
            <pc:docMk/>
            <pc:sldMk cId="3981172752" sldId="260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0:44.627" v="99" actId="2696"/>
        <pc:sldMkLst>
          <pc:docMk/>
          <pc:sldMk cId="3009021097" sldId="261"/>
        </pc:sldMkLst>
        <pc:spChg chg="mod">
          <ac:chgData name="Dr. Deepak S Sakkari Assistant Professor( CSE)" userId="6d73bcb8-5d92-40b8-9132-40f6303b79fc" providerId="ADAL" clId="{6A6CE88C-C1CC-4F3A-B486-05240001B6BF}" dt="2020-08-16T17:24:40.253" v="69" actId="404"/>
          <ac:spMkLst>
            <pc:docMk/>
            <pc:sldMk cId="3009021097" sldId="26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24:56.926" v="72" actId="404"/>
        <pc:sldMkLst>
          <pc:docMk/>
          <pc:sldMk cId="1345660431" sldId="262"/>
        </pc:sldMkLst>
        <pc:spChg chg="mod">
          <ac:chgData name="Dr. Deepak S Sakkari Assistant Professor( CSE)" userId="6d73bcb8-5d92-40b8-9132-40f6303b79fc" providerId="ADAL" clId="{6A6CE88C-C1CC-4F3A-B486-05240001B6BF}" dt="2020-08-16T17:24:56.926" v="72" actId="404"/>
          <ac:spMkLst>
            <pc:docMk/>
            <pc:sldMk cId="1345660431" sldId="26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2:48.352" v="105" actId="20577"/>
        <pc:sldMkLst>
          <pc:docMk/>
          <pc:sldMk cId="2264661524" sldId="263"/>
        </pc:sldMkLst>
        <pc:spChg chg="mod">
          <ac:chgData name="Dr. Deepak S Sakkari Assistant Professor( CSE)" userId="6d73bcb8-5d92-40b8-9132-40f6303b79fc" providerId="ADAL" clId="{6A6CE88C-C1CC-4F3A-B486-05240001B6BF}" dt="2020-08-16T17:32:48.352" v="105" actId="20577"/>
          <ac:spMkLst>
            <pc:docMk/>
            <pc:sldMk cId="2264661524" sldId="263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3:55.233" v="118" actId="20577"/>
        <pc:sldMkLst>
          <pc:docMk/>
          <pc:sldMk cId="2700791281" sldId="264"/>
        </pc:sldMkLst>
        <pc:spChg chg="mod">
          <ac:chgData name="Dr. Deepak S Sakkari Assistant Professor( CSE)" userId="6d73bcb8-5d92-40b8-9132-40f6303b79fc" providerId="ADAL" clId="{6A6CE88C-C1CC-4F3A-B486-05240001B6BF}" dt="2020-08-16T17:33:55.233" v="118" actId="20577"/>
          <ac:spMkLst>
            <pc:docMk/>
            <pc:sldMk cId="2700791281" sldId="264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4:31.051" v="119" actId="2696"/>
        <pc:sldMkLst>
          <pc:docMk/>
          <pc:sldMk cId="656789598" sldId="265"/>
        </pc:sldMkLst>
        <pc:spChg chg="mod">
          <ac:chgData name="Dr. Deepak S Sakkari Assistant Professor( CSE)" userId="6d73bcb8-5d92-40b8-9132-40f6303b79fc" providerId="ADAL" clId="{6A6CE88C-C1CC-4F3A-B486-05240001B6BF}" dt="2020-08-16T17:33:11.076" v="108" actId="404"/>
          <ac:spMkLst>
            <pc:docMk/>
            <pc:sldMk cId="656789598" sldId="265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34:51.629" v="123" actId="1076"/>
        <pc:sldMkLst>
          <pc:docMk/>
          <pc:sldMk cId="1334666043" sldId="266"/>
        </pc:sldMkLst>
        <pc:spChg chg="mod">
          <ac:chgData name="Dr. Deepak S Sakkari Assistant Professor( CSE)" userId="6d73bcb8-5d92-40b8-9132-40f6303b79fc" providerId="ADAL" clId="{6A6CE88C-C1CC-4F3A-B486-05240001B6BF}" dt="2020-08-16T17:34:45.323" v="122" actId="404"/>
          <ac:spMkLst>
            <pc:docMk/>
            <pc:sldMk cId="1334666043" sldId="266"/>
            <ac:spMk id="7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34:51.629" v="123" actId="1076"/>
          <ac:picMkLst>
            <pc:docMk/>
            <pc:sldMk cId="1334666043" sldId="266"/>
            <ac:picMk id="102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1:22.280" v="339" actId="1076"/>
        <pc:sldMkLst>
          <pc:docMk/>
          <pc:sldMk cId="3898763255" sldId="267"/>
        </pc:sldMkLst>
        <pc:graphicFrameChg chg="mod modGraphic">
          <ac:chgData name="Dr. Deepak S Sakkari Assistant Professor( CSE)" userId="6d73bcb8-5d92-40b8-9132-40f6303b79fc" providerId="ADAL" clId="{6A6CE88C-C1CC-4F3A-B486-05240001B6BF}" dt="2020-08-16T17:41:22.280" v="339" actId="1076"/>
          <ac:graphicFrameMkLst>
            <pc:docMk/>
            <pc:sldMk cId="3898763255" sldId="267"/>
            <ac:graphicFrameMk id="5" creationId="{00000000-0000-0000-0000-000000000000}"/>
          </ac:graphicFrameMkLst>
        </pc:graphicFrameChg>
      </pc:sldChg>
      <pc:sldChg chg="modSp">
        <pc:chgData name="Dr. Deepak S Sakkari Assistant Professor( CSE)" userId="6d73bcb8-5d92-40b8-9132-40f6303b79fc" providerId="ADAL" clId="{6A6CE88C-C1CC-4F3A-B486-05240001B6BF}" dt="2020-08-16T17:41:32.429" v="342" actId="404"/>
        <pc:sldMkLst>
          <pc:docMk/>
          <pc:sldMk cId="201611570" sldId="268"/>
        </pc:sldMkLst>
        <pc:spChg chg="mod">
          <ac:chgData name="Dr. Deepak S Sakkari Assistant Professor( CSE)" userId="6d73bcb8-5d92-40b8-9132-40f6303b79fc" providerId="ADAL" clId="{6A6CE88C-C1CC-4F3A-B486-05240001B6BF}" dt="2020-08-16T17:41:32.429" v="342" actId="404"/>
          <ac:spMkLst>
            <pc:docMk/>
            <pc:sldMk cId="201611570" sldId="26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1:50.936" v="345" actId="404"/>
        <pc:sldMkLst>
          <pc:docMk/>
          <pc:sldMk cId="3824667293" sldId="269"/>
        </pc:sldMkLst>
        <pc:spChg chg="mod">
          <ac:chgData name="Dr. Deepak S Sakkari Assistant Professor( CSE)" userId="6d73bcb8-5d92-40b8-9132-40f6303b79fc" providerId="ADAL" clId="{6A6CE88C-C1CC-4F3A-B486-05240001B6BF}" dt="2020-08-16T17:41:50.936" v="345" actId="404"/>
          <ac:spMkLst>
            <pc:docMk/>
            <pc:sldMk cId="3824667293" sldId="269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5:17.333" v="987" actId="1038"/>
        <pc:sldMkLst>
          <pc:docMk/>
          <pc:sldMk cId="2570284336" sldId="270"/>
        </pc:sldMkLst>
        <pc:spChg chg="mod">
          <ac:chgData name="Dr. Deepak S Sakkari Assistant Professor( CSE)" userId="6d73bcb8-5d92-40b8-9132-40f6303b79fc" providerId="ADAL" clId="{6A6CE88C-C1CC-4F3A-B486-05240001B6BF}" dt="2020-08-16T17:42:42.286" v="352"/>
          <ac:spMkLst>
            <pc:docMk/>
            <pc:sldMk cId="2570284336" sldId="270"/>
            <ac:spMk id="2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5:17.333" v="987" actId="1038"/>
          <ac:picMkLst>
            <pc:docMk/>
            <pc:sldMk cId="2570284336" sldId="270"/>
            <ac:picMk id="9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7:44:40.982" v="376" actId="255"/>
        <pc:sldMkLst>
          <pc:docMk/>
          <pc:sldMk cId="564986561" sldId="271"/>
        </pc:sldMkLst>
        <pc:spChg chg="mod">
          <ac:chgData name="Dr. Deepak S Sakkari Assistant Professor( CSE)" userId="6d73bcb8-5d92-40b8-9132-40f6303b79fc" providerId="ADAL" clId="{6A6CE88C-C1CC-4F3A-B486-05240001B6BF}" dt="2020-08-16T17:44:40.982" v="376" actId="255"/>
          <ac:spMkLst>
            <pc:docMk/>
            <pc:sldMk cId="564986561" sldId="27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2:04.443" v="348" actId="404"/>
        <pc:sldMkLst>
          <pc:docMk/>
          <pc:sldMk cId="1620829824" sldId="272"/>
        </pc:sldMkLst>
        <pc:spChg chg="mod">
          <ac:chgData name="Dr. Deepak S Sakkari Assistant Professor( CSE)" userId="6d73bcb8-5d92-40b8-9132-40f6303b79fc" providerId="ADAL" clId="{6A6CE88C-C1CC-4F3A-B486-05240001B6BF}" dt="2020-08-16T17:42:04.443" v="348" actId="404"/>
          <ac:spMkLst>
            <pc:docMk/>
            <pc:sldMk cId="1620829824" sldId="272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54.672" v="373" actId="1036"/>
        <pc:sldMkLst>
          <pc:docMk/>
          <pc:sldMk cId="1806056552" sldId="273"/>
        </pc:sldMkLst>
        <pc:spChg chg="mod">
          <ac:chgData name="Dr. Deepak S Sakkari Assistant Professor( CSE)" userId="6d73bcb8-5d92-40b8-9132-40f6303b79fc" providerId="ADAL" clId="{6A6CE88C-C1CC-4F3A-B486-05240001B6BF}" dt="2020-08-16T17:43:54.672" v="373" actId="1036"/>
          <ac:spMkLst>
            <pc:docMk/>
            <pc:sldMk cId="1806056552" sldId="273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06.513" v="365" actId="1035"/>
        <pc:sldMkLst>
          <pc:docMk/>
          <pc:sldMk cId="3262299342" sldId="274"/>
        </pc:sldMkLst>
        <pc:spChg chg="mod">
          <ac:chgData name="Dr. Deepak S Sakkari Assistant Professor( CSE)" userId="6d73bcb8-5d92-40b8-9132-40f6303b79fc" providerId="ADAL" clId="{6A6CE88C-C1CC-4F3A-B486-05240001B6BF}" dt="2020-08-16T17:43:06.513" v="365" actId="1035"/>
          <ac:spMkLst>
            <pc:docMk/>
            <pc:sldMk cId="3262299342" sldId="27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7:43:28.398" v="366" actId="2696"/>
        <pc:sldMkLst>
          <pc:docMk/>
          <pc:sldMk cId="719903367" sldId="275"/>
        </pc:sldMkLst>
      </pc:sldChg>
      <pc:sldChg chg="modSp">
        <pc:chgData name="Dr. Deepak S Sakkari Assistant Professor( CSE)" userId="6d73bcb8-5d92-40b8-9132-40f6303b79fc" providerId="ADAL" clId="{6A6CE88C-C1CC-4F3A-B486-05240001B6BF}" dt="2020-08-16T17:44:51.369" v="378" actId="404"/>
        <pc:sldMkLst>
          <pc:docMk/>
          <pc:sldMk cId="1089540773" sldId="276"/>
        </pc:sldMkLst>
        <pc:spChg chg="mod">
          <ac:chgData name="Dr. Deepak S Sakkari Assistant Professor( CSE)" userId="6d73bcb8-5d92-40b8-9132-40f6303b79fc" providerId="ADAL" clId="{6A6CE88C-C1CC-4F3A-B486-05240001B6BF}" dt="2020-08-16T17:44:51.369" v="378" actId="404"/>
          <ac:spMkLst>
            <pc:docMk/>
            <pc:sldMk cId="1089540773" sldId="276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07.183" v="381" actId="404"/>
        <pc:sldMkLst>
          <pc:docMk/>
          <pc:sldMk cId="2289095124" sldId="277"/>
        </pc:sldMkLst>
        <pc:spChg chg="mod">
          <ac:chgData name="Dr. Deepak S Sakkari Assistant Professor( CSE)" userId="6d73bcb8-5d92-40b8-9132-40f6303b79fc" providerId="ADAL" clId="{6A6CE88C-C1CC-4F3A-B486-05240001B6BF}" dt="2020-08-16T17:45:07.183" v="381" actId="404"/>
          <ac:spMkLst>
            <pc:docMk/>
            <pc:sldMk cId="2289095124" sldId="277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42.725" v="502" actId="1076"/>
        <pc:sldMkLst>
          <pc:docMk/>
          <pc:sldMk cId="627609005" sldId="278"/>
        </pc:sldMkLst>
        <pc:picChg chg="mod">
          <ac:chgData name="Dr. Deepak S Sakkari Assistant Professor( CSE)" userId="6d73bcb8-5d92-40b8-9132-40f6303b79fc" providerId="ADAL" clId="{6A6CE88C-C1CC-4F3A-B486-05240001B6BF}" dt="2020-08-16T17:45:42.725" v="502" actId="1076"/>
          <ac:picMkLst>
            <pc:docMk/>
            <pc:sldMk cId="627609005" sldId="278"/>
            <ac:picMk id="205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6:51.247" v="511" actId="20577"/>
        <pc:sldMkLst>
          <pc:docMk/>
          <pc:sldMk cId="3001868645" sldId="279"/>
        </pc:sldMkLst>
        <pc:spChg chg="mod">
          <ac:chgData name="Dr. Deepak S Sakkari Assistant Professor( CSE)" userId="6d73bcb8-5d92-40b8-9132-40f6303b79fc" providerId="ADAL" clId="{6A6CE88C-C1CC-4F3A-B486-05240001B6BF}" dt="2020-08-16T17:46:51.247" v="511" actId="20577"/>
          <ac:spMkLst>
            <pc:docMk/>
            <pc:sldMk cId="3001868645" sldId="279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6:47.816" v="510" actId="1076"/>
          <ac:picMkLst>
            <pc:docMk/>
            <pc:sldMk cId="3001868645" sldId="279"/>
            <ac:picMk id="307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9:31.679" v="532" actId="1037"/>
        <pc:sldMkLst>
          <pc:docMk/>
          <pc:sldMk cId="3359797835" sldId="280"/>
        </pc:sldMkLst>
        <pc:spChg chg="mod">
          <ac:chgData name="Dr. Deepak S Sakkari Assistant Professor( CSE)" userId="6d73bcb8-5d92-40b8-9132-40f6303b79fc" providerId="ADAL" clId="{6A6CE88C-C1CC-4F3A-B486-05240001B6BF}" dt="2020-08-16T17:49:21.636" v="529" actId="948"/>
          <ac:spMkLst>
            <pc:docMk/>
            <pc:sldMk cId="3359797835" sldId="280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9:31.679" v="532" actId="1037"/>
          <ac:picMkLst>
            <pc:docMk/>
            <pc:sldMk cId="3359797835" sldId="280"/>
            <ac:picMk id="409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0:36.290" v="541" actId="1076"/>
        <pc:sldMkLst>
          <pc:docMk/>
          <pc:sldMk cId="3154839297" sldId="281"/>
        </pc:sldMkLst>
        <pc:spChg chg="mod">
          <ac:chgData name="Dr. Deepak S Sakkari Assistant Professor( CSE)" userId="6d73bcb8-5d92-40b8-9132-40f6303b79fc" providerId="ADAL" clId="{6A6CE88C-C1CC-4F3A-B486-05240001B6BF}" dt="2020-08-16T17:50:31.162" v="540" actId="404"/>
          <ac:spMkLst>
            <pc:docMk/>
            <pc:sldMk cId="3154839297" sldId="281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0:36.290" v="541" actId="1076"/>
          <ac:picMkLst>
            <pc:docMk/>
            <pc:sldMk cId="3154839297" sldId="281"/>
            <ac:picMk id="512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15.441" v="573" actId="1076"/>
        <pc:sldMkLst>
          <pc:docMk/>
          <pc:sldMk cId="513573365" sldId="282"/>
        </pc:sldMkLst>
        <pc:spChg chg="mod">
          <ac:chgData name="Dr. Deepak S Sakkari Assistant Professor( CSE)" userId="6d73bcb8-5d92-40b8-9132-40f6303b79fc" providerId="ADAL" clId="{6A6CE88C-C1CC-4F3A-B486-05240001B6BF}" dt="2020-08-16T17:50:54.056" v="545" actId="20577"/>
          <ac:spMkLst>
            <pc:docMk/>
            <pc:sldMk cId="513573365" sldId="282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15.441" v="573" actId="1076"/>
          <ac:picMkLst>
            <pc:docMk/>
            <pc:sldMk cId="513573365" sldId="282"/>
            <ac:picMk id="6146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53.933" v="580" actId="1076"/>
        <pc:sldMkLst>
          <pc:docMk/>
          <pc:sldMk cId="2125104488" sldId="283"/>
        </pc:sldMkLst>
        <pc:spChg chg="mod">
          <ac:chgData name="Dr. Deepak S Sakkari Assistant Professor( CSE)" userId="6d73bcb8-5d92-40b8-9132-40f6303b79fc" providerId="ADAL" clId="{6A6CE88C-C1CC-4F3A-B486-05240001B6BF}" dt="2020-08-16T17:51:32.939" v="576" actId="404"/>
          <ac:spMkLst>
            <pc:docMk/>
            <pc:sldMk cId="2125104488" sldId="283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53.933" v="580" actId="1076"/>
          <ac:picMkLst>
            <pc:docMk/>
            <pc:sldMk cId="2125104488" sldId="283"/>
            <ac:picMk id="717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28.860" v="587" actId="1076"/>
        <pc:sldMkLst>
          <pc:docMk/>
          <pc:sldMk cId="3076381061" sldId="284"/>
        </pc:sldMkLst>
        <pc:spChg chg="mod">
          <ac:chgData name="Dr. Deepak S Sakkari Assistant Professor( CSE)" userId="6d73bcb8-5d92-40b8-9132-40f6303b79fc" providerId="ADAL" clId="{6A6CE88C-C1CC-4F3A-B486-05240001B6BF}" dt="2020-08-16T17:52:16.492" v="584" actId="403"/>
          <ac:spMkLst>
            <pc:docMk/>
            <pc:sldMk cId="3076381061" sldId="284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28.860" v="587" actId="1076"/>
          <ac:picMkLst>
            <pc:docMk/>
            <pc:sldMk cId="3076381061" sldId="284"/>
            <ac:picMk id="819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3:37.561" v="631" actId="1076"/>
        <pc:sldMkLst>
          <pc:docMk/>
          <pc:sldMk cId="769505814" sldId="285"/>
        </pc:sldMkLst>
        <pc:spChg chg="mod">
          <ac:chgData name="Dr. Deepak S Sakkari Assistant Professor( CSE)" userId="6d73bcb8-5d92-40b8-9132-40f6303b79fc" providerId="ADAL" clId="{6A6CE88C-C1CC-4F3A-B486-05240001B6BF}" dt="2020-08-16T17:53:22.212" v="596" actId="20577"/>
          <ac:spMkLst>
            <pc:docMk/>
            <pc:sldMk cId="769505814" sldId="285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3:37.561" v="631" actId="1076"/>
          <ac:picMkLst>
            <pc:docMk/>
            <pc:sldMk cId="769505814" sldId="285"/>
            <ac:picMk id="921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49.759" v="592" actId="1076"/>
        <pc:sldMkLst>
          <pc:docMk/>
          <pc:sldMk cId="3602984361" sldId="286"/>
        </pc:sldMkLst>
        <pc:spChg chg="mod">
          <ac:chgData name="Dr. Deepak S Sakkari Assistant Professor( CSE)" userId="6d73bcb8-5d92-40b8-9132-40f6303b79fc" providerId="ADAL" clId="{6A6CE88C-C1CC-4F3A-B486-05240001B6BF}" dt="2020-08-16T17:52:45.065" v="591" actId="404"/>
          <ac:spMkLst>
            <pc:docMk/>
            <pc:sldMk cId="3602984361" sldId="286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49.759" v="592" actId="1076"/>
          <ac:picMkLst>
            <pc:docMk/>
            <pc:sldMk cId="3602984361" sldId="286"/>
            <ac:picMk id="9218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4:29.167" v="657" actId="1036"/>
        <pc:sldMkLst>
          <pc:docMk/>
          <pc:sldMk cId="2829986162" sldId="287"/>
        </pc:sldMkLst>
        <pc:spChg chg="mod">
          <ac:chgData name="Dr. Deepak S Sakkari Assistant Professor( CSE)" userId="6d73bcb8-5d92-40b8-9132-40f6303b79fc" providerId="ADAL" clId="{6A6CE88C-C1CC-4F3A-B486-05240001B6BF}" dt="2020-08-16T17:54:13.453" v="653" actId="6549"/>
          <ac:spMkLst>
            <pc:docMk/>
            <pc:sldMk cId="2829986162" sldId="287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4:29.167" v="657" actId="1036"/>
          <ac:picMkLst>
            <pc:docMk/>
            <pc:sldMk cId="2829986162" sldId="287"/>
            <ac:picMk id="10242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5:23.973" v="666" actId="1076"/>
        <pc:sldMkLst>
          <pc:docMk/>
          <pc:sldMk cId="1866790028" sldId="288"/>
        </pc:sldMkLst>
        <pc:spChg chg="mod">
          <ac:chgData name="Dr. Deepak S Sakkari Assistant Professor( CSE)" userId="6d73bcb8-5d92-40b8-9132-40f6303b79fc" providerId="ADAL" clId="{6A6CE88C-C1CC-4F3A-B486-05240001B6BF}" dt="2020-08-16T17:55:16.732" v="665" actId="6549"/>
          <ac:spMkLst>
            <pc:docMk/>
            <pc:sldMk cId="1866790028" sldId="288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5:23.973" v="666" actId="1076"/>
          <ac:picMkLst>
            <pc:docMk/>
            <pc:sldMk cId="1866790028" sldId="288"/>
            <ac:picMk id="11266" creationId="{00000000-0000-0000-0000-000000000000}"/>
          </ac:picMkLst>
        </pc:picChg>
      </pc:sldChg>
      <pc:sldChg chg="addSp modSp mod">
        <pc:chgData name="Dr. Deepak S Sakkari Assistant Professor( CSE)" userId="6d73bcb8-5d92-40b8-9132-40f6303b79fc" providerId="ADAL" clId="{6A6CE88C-C1CC-4F3A-B486-05240001B6BF}" dt="2020-08-16T17:58:28.723" v="747" actId="1035"/>
        <pc:sldMkLst>
          <pc:docMk/>
          <pc:sldMk cId="3266059444" sldId="289"/>
        </pc:sldMkLst>
        <pc:spChg chg="mod">
          <ac:chgData name="Dr. Deepak S Sakkari Assistant Professor( CSE)" userId="6d73bcb8-5d92-40b8-9132-40f6303b79fc" providerId="ADAL" clId="{6A6CE88C-C1CC-4F3A-B486-05240001B6BF}" dt="2020-08-16T17:57:17.871" v="672" actId="255"/>
          <ac:spMkLst>
            <pc:docMk/>
            <pc:sldMk cId="3266059444" sldId="289"/>
            <ac:spMk id="2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57:45.493" v="677" actId="20577"/>
          <ac:spMkLst>
            <pc:docMk/>
            <pc:sldMk cId="3266059444" sldId="289"/>
            <ac:spMk id="3" creationId="{00000000-0000-0000-0000-000000000000}"/>
          </ac:spMkLst>
        </pc:spChg>
        <pc:picChg chg="add mod">
          <ac:chgData name="Dr. Deepak S Sakkari Assistant Professor( CSE)" userId="6d73bcb8-5d92-40b8-9132-40f6303b79fc" providerId="ADAL" clId="{6A6CE88C-C1CC-4F3A-B486-05240001B6BF}" dt="2020-08-16T17:58:28.723" v="747" actId="1035"/>
          <ac:picMkLst>
            <pc:docMk/>
            <pc:sldMk cId="3266059444" sldId="289"/>
            <ac:picMk id="7" creationId="{4226936F-2BC6-4083-B1A0-1A7E7C42EC5D}"/>
          </ac:picMkLst>
        </pc:picChg>
      </pc:sldChg>
      <pc:sldChg chg="del">
        <pc:chgData name="Dr. Deepak S Sakkari Assistant Professor( CSE)" userId="6d73bcb8-5d92-40b8-9132-40f6303b79fc" providerId="ADAL" clId="{6A6CE88C-C1CC-4F3A-B486-05240001B6BF}" dt="2020-08-16T17:58:42.160" v="748" actId="2696"/>
        <pc:sldMkLst>
          <pc:docMk/>
          <pc:sldMk cId="2059104741" sldId="290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7:59:20.322" v="754" actId="1076"/>
        <pc:sldMkLst>
          <pc:docMk/>
          <pc:sldMk cId="3191863920" sldId="291"/>
        </pc:sldMkLst>
        <pc:spChg chg="mod">
          <ac:chgData name="Dr. Deepak S Sakkari Assistant Professor( CSE)" userId="6d73bcb8-5d92-40b8-9132-40f6303b79fc" providerId="ADAL" clId="{6A6CE88C-C1CC-4F3A-B486-05240001B6BF}" dt="2020-08-16T17:59:11.977" v="753" actId="404"/>
          <ac:spMkLst>
            <pc:docMk/>
            <pc:sldMk cId="3191863920" sldId="291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9:20.322" v="754" actId="1076"/>
          <ac:picMkLst>
            <pc:docMk/>
            <pc:sldMk cId="3191863920" sldId="291"/>
            <ac:picMk id="13314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0:50.782" v="804" actId="255"/>
        <pc:sldMkLst>
          <pc:docMk/>
          <pc:sldMk cId="2904947208" sldId="292"/>
        </pc:sldMkLst>
        <pc:spChg chg="mod">
          <ac:chgData name="Dr. Deepak S Sakkari Assistant Professor( CSE)" userId="6d73bcb8-5d92-40b8-9132-40f6303b79fc" providerId="ADAL" clId="{6A6CE88C-C1CC-4F3A-B486-05240001B6BF}" dt="2020-08-16T18:10:50.782" v="804" actId="255"/>
          <ac:spMkLst>
            <pc:docMk/>
            <pc:sldMk cId="2904947208" sldId="29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8:01:00.044" v="771" actId="1076"/>
        <pc:sldMkLst>
          <pc:docMk/>
          <pc:sldMk cId="1145221943" sldId="293"/>
        </pc:sldMkLst>
        <pc:spChg chg="mod">
          <ac:chgData name="Dr. Deepak S Sakkari Assistant Professor( CSE)" userId="6d73bcb8-5d92-40b8-9132-40f6303b79fc" providerId="ADAL" clId="{6A6CE88C-C1CC-4F3A-B486-05240001B6BF}" dt="2020-08-16T18:00:50.359" v="769" actId="948"/>
          <ac:spMkLst>
            <pc:docMk/>
            <pc:sldMk cId="1145221943" sldId="293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00:54.771" v="770" actId="1076"/>
          <ac:picMkLst>
            <pc:docMk/>
            <pc:sldMk cId="1145221943" sldId="293"/>
            <ac:picMk id="14338" creationId="{00000000-0000-0000-0000-000000000000}"/>
          </ac:picMkLst>
        </pc:picChg>
        <pc:picChg chg="mod">
          <ac:chgData name="Dr. Deepak S Sakkari Assistant Professor( CSE)" userId="6d73bcb8-5d92-40b8-9132-40f6303b79fc" providerId="ADAL" clId="{6A6CE88C-C1CC-4F3A-B486-05240001B6BF}" dt="2020-08-16T18:01:00.044" v="771" actId="1076"/>
          <ac:picMkLst>
            <pc:docMk/>
            <pc:sldMk cId="1145221943" sldId="293"/>
            <ac:picMk id="1434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09:57.766" v="796" actId="313"/>
        <pc:sldMkLst>
          <pc:docMk/>
          <pc:sldMk cId="1457111660" sldId="294"/>
        </pc:sldMkLst>
        <pc:spChg chg="mod">
          <ac:chgData name="Dr. Deepak S Sakkari Assistant Professor( CSE)" userId="6d73bcb8-5d92-40b8-9132-40f6303b79fc" providerId="ADAL" clId="{6A6CE88C-C1CC-4F3A-B486-05240001B6BF}" dt="2020-08-16T18:09:57.766" v="796" actId="313"/>
          <ac:spMkLst>
            <pc:docMk/>
            <pc:sldMk cId="1457111660" sldId="29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8:11:20.117" v="805" actId="2696"/>
        <pc:sldMkLst>
          <pc:docMk/>
          <pc:sldMk cId="3110987420" sldId="295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8:11:54.808" v="811" actId="404"/>
        <pc:sldMkLst>
          <pc:docMk/>
          <pc:sldMk cId="2011300504" sldId="296"/>
        </pc:sldMkLst>
        <pc:spChg chg="mod">
          <ac:chgData name="Dr. Deepak S Sakkari Assistant Professor( CSE)" userId="6d73bcb8-5d92-40b8-9132-40f6303b79fc" providerId="ADAL" clId="{6A6CE88C-C1CC-4F3A-B486-05240001B6BF}" dt="2020-08-16T18:11:54.808" v="811" actId="404"/>
          <ac:spMkLst>
            <pc:docMk/>
            <pc:sldMk cId="2011300504" sldId="296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8:12:16.452" v="813" actId="2696"/>
        <pc:sldMkLst>
          <pc:docMk/>
          <pc:sldMk cId="422380363" sldId="297"/>
        </pc:sldMkLst>
        <pc:spChg chg="mod">
          <ac:chgData name="Dr. Deepak S Sakkari Assistant Professor( CSE)" userId="6d73bcb8-5d92-40b8-9132-40f6303b79fc" providerId="ADAL" clId="{6A6CE88C-C1CC-4F3A-B486-05240001B6BF}" dt="2020-08-16T18:11:47.295" v="808" actId="21"/>
          <ac:spMkLst>
            <pc:docMk/>
            <pc:sldMk cId="422380363" sldId="297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2:10.728" v="812" actId="1076"/>
          <ac:picMkLst>
            <pc:docMk/>
            <pc:sldMk cId="422380363" sldId="297"/>
            <ac:picMk id="1536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2:35.971" v="818" actId="20577"/>
        <pc:sldMkLst>
          <pc:docMk/>
          <pc:sldMk cId="761635623" sldId="298"/>
        </pc:sldMkLst>
        <pc:spChg chg="mod">
          <ac:chgData name="Dr. Deepak S Sakkari Assistant Professor( CSE)" userId="6d73bcb8-5d92-40b8-9132-40f6303b79fc" providerId="ADAL" clId="{6A6CE88C-C1CC-4F3A-B486-05240001B6BF}" dt="2020-08-16T18:12:35.971" v="818" actId="20577"/>
          <ac:spMkLst>
            <pc:docMk/>
            <pc:sldMk cId="761635623" sldId="29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3:08.143" v="858" actId="1035"/>
        <pc:sldMkLst>
          <pc:docMk/>
          <pc:sldMk cId="2659602100" sldId="299"/>
        </pc:sldMkLst>
        <pc:picChg chg="mod">
          <ac:chgData name="Dr. Deepak S Sakkari Assistant Professor( CSE)" userId="6d73bcb8-5d92-40b8-9132-40f6303b79fc" providerId="ADAL" clId="{6A6CE88C-C1CC-4F3A-B486-05240001B6BF}" dt="2020-08-16T18:13:08.143" v="858" actId="1035"/>
          <ac:picMkLst>
            <pc:docMk/>
            <pc:sldMk cId="2659602100" sldId="299"/>
            <ac:picMk id="16387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8:14:25.007" v="975" actId="732"/>
        <pc:sldMkLst>
          <pc:docMk/>
          <pc:sldMk cId="1639119821" sldId="300"/>
        </pc:sldMkLst>
        <pc:picChg chg="mod">
          <ac:chgData name="Dr. Deepak S Sakkari Assistant Professor( CSE)" userId="6d73bcb8-5d92-40b8-9132-40f6303b79fc" providerId="ADAL" clId="{6A6CE88C-C1CC-4F3A-B486-05240001B6BF}" dt="2020-08-16T18:14:25.007" v="975" actId="732"/>
          <ac:picMkLst>
            <pc:docMk/>
            <pc:sldMk cId="1639119821" sldId="300"/>
            <ac:picMk id="17410" creationId="{00000000-0000-0000-0000-000000000000}"/>
          </ac:picMkLst>
        </pc:picChg>
      </pc:sldChg>
      <pc:sldMasterChg chg="addSp delSp modSp mod modSldLayout">
        <pc:chgData name="Dr. Deepak S Sakkari Assistant Professor( CSE)" userId="6d73bcb8-5d92-40b8-9132-40f6303b79fc" providerId="ADAL" clId="{6A6CE88C-C1CC-4F3A-B486-05240001B6BF}" dt="2020-08-16T17:22:17.156" v="59" actId="2711"/>
        <pc:sldMasterMkLst>
          <pc:docMk/>
          <pc:sldMasterMk cId="2257922174" sldId="2147483684"/>
        </pc:sldMasterMkLst>
        <pc:spChg chg="del">
          <ac:chgData name="Dr. Deepak S Sakkari Assistant Professor( CSE)" userId="6d73bcb8-5d92-40b8-9132-40f6303b79fc" providerId="ADAL" clId="{6A6CE88C-C1CC-4F3A-B486-05240001B6BF}" dt="2020-08-16T17:18:55.997" v="14" actId="478"/>
          <ac:spMkLst>
            <pc:docMk/>
            <pc:sldMasterMk cId="2257922174" sldId="2147483684"/>
            <ac:spMk id="7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09.695" v="58"/>
          <ac:spMkLst>
            <pc:docMk/>
            <pc:sldMasterMk cId="2257922174" sldId="2147483684"/>
            <ac:spMk id="1026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17.156" v="59" actId="2711"/>
          <ac:spMkLst>
            <pc:docMk/>
            <pc:sldMasterMk cId="2257922174" sldId="2147483684"/>
            <ac:spMk id="1027" creationId="{00000000-0000-0000-0000-000000000000}"/>
          </ac:spMkLst>
        </pc:spChg>
        <pc:picChg chg="add">
          <ac:chgData name="Dr. Deepak S Sakkari Assistant Professor( CSE)" userId="6d73bcb8-5d92-40b8-9132-40f6303b79fc" providerId="ADAL" clId="{6A6CE88C-C1CC-4F3A-B486-05240001B6BF}" dt="2020-08-16T17:18:50.359" v="13" actId="22"/>
          <ac:picMkLst>
            <pc:docMk/>
            <pc:sldMasterMk cId="2257922174" sldId="2147483684"/>
            <ac:picMk id="2" creationId="{D556AC99-D25B-44D7-B4D4-56DFBA9A948D}"/>
          </ac:picMkLst>
        </pc:picChg>
        <pc:cxnChg chg="add mod">
          <ac:chgData name="Dr. Deepak S Sakkari Assistant Professor( CSE)" userId="6d73bcb8-5d92-40b8-9132-40f6303b79fc" providerId="ADAL" clId="{6A6CE88C-C1CC-4F3A-B486-05240001B6BF}" dt="2020-08-16T17:20:46.450" v="41" actId="692"/>
          <ac:cxnSpMkLst>
            <pc:docMk/>
            <pc:sldMasterMk cId="2257922174" sldId="2147483684"/>
            <ac:cxnSpMk id="9" creationId="{3B5F36A5-15D8-4D7C-9B1D-11E3C685F0D5}"/>
          </ac:cxnSpMkLst>
        </pc:cxnChg>
        <pc:sldLayoutChg chg="addSp modSp mod">
          <pc:chgData name="Dr. Deepak S Sakkari Assistant Professor( CSE)" userId="6d73bcb8-5d92-40b8-9132-40f6303b79fc" providerId="ADAL" clId="{6A6CE88C-C1CC-4F3A-B486-05240001B6BF}" dt="2020-08-16T17:18:26.126" v="12" actId="1036"/>
          <pc:sldLayoutMkLst>
            <pc:docMk/>
            <pc:sldMasterMk cId="2257922174" sldId="2147483684"/>
            <pc:sldLayoutMk cId="3379957623" sldId="2147483685"/>
          </pc:sldLayoutMkLst>
          <pc:picChg chg="add mod">
            <ac:chgData name="Dr. Deepak S Sakkari Assistant Professor( CSE)" userId="6d73bcb8-5d92-40b8-9132-40f6303b79fc" providerId="ADAL" clId="{6A6CE88C-C1CC-4F3A-B486-05240001B6BF}" dt="2020-08-16T17:18:26.126" v="12" actId="1036"/>
            <ac:picMkLst>
              <pc:docMk/>
              <pc:sldMasterMk cId="2257922174" sldId="2147483684"/>
              <pc:sldLayoutMk cId="3379957623" sldId="2147483685"/>
              <ac:picMk id="8" creationId="{EE652140-DF33-42B2-90EF-9E9B8553CD93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element on the page has a corresponding DOM object access/modify the attributes of the DOM object with </a:t>
            </a:r>
            <a:r>
              <a:rPr lang="en-US" i="1" dirty="0" err="1"/>
              <a:t>objectName</a:t>
            </a:r>
            <a:r>
              <a:rPr lang="en-US" dirty="0" err="1"/>
              <a:t>.</a:t>
            </a:r>
            <a:r>
              <a:rPr lang="en-US" i="1" dirty="0" err="1"/>
              <a:t>attributeName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span.innerHTML</a:t>
            </a:r>
            <a:r>
              <a:rPr lang="en-US" dirty="0"/>
              <a:t> = </a:t>
            </a:r>
            <a:r>
              <a:rPr lang="en-US" dirty="0" err="1"/>
              <a:t>textBox.value</a:t>
            </a:r>
            <a:r>
              <a:rPr lang="en-US" dirty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072CEB-0A6E-4FD6-BE96-290CBDD1E198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2pPr>
            <a:lvl3pPr>
              <a:defRPr>
                <a:solidFill>
                  <a:srgbClr val="0070C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49D7B2-EB96-419F-9124-170C8E13BCE8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3629C2-D49C-434B-90AF-9F8B959146DA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8156A3-C20E-466D-B3AB-4C9B5599878C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320FD4-49F8-4F46-9D93-6E04433B9814}" type="datetime1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1BE0DF-3598-4796-98A1-504BC1684518}" type="datetime1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197F61-CDDC-49D5-96DB-069EAEB89C34}" type="datetime1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046CE6-965D-4E82-AC3A-46FBCACD4EF2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E29DF2-8535-4627-948D-E8E05876F00E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5275B0-FA95-45E0-9AEF-DDE4018FADA3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F32FA2-83F3-43CF-A4AD-59AC19A455D6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BDEEF-3540-4646-8D86-0D0C9DF21D63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55FC-B07C-47FF-937E-DBB9C0F7D4D5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BB6C-8EEB-40C3-810E-E8C63FB39CDC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A502-22C8-4222-B889-E52253839386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33700-0092-4645-95C1-BBF06F5528F2}" type="datetime1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048F-D9CD-41C3-B887-F2527C4EE3CE}" type="datetime1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5F36-E1B8-433A-883C-8DF64AB237E6}" type="datetime1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BE9-DF3A-4F53-A59F-7D09D22CF1A5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1B119-6EB0-4642-B13A-6AEE1A585F3D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8FDB-AAA9-446E-A75E-868694DB16D0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69D6-2234-4CDC-B668-75C0FF41AAFB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FB4-7B9E-4077-B6D1-551DA7235535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1149E-1D00-4562-A37E-DE693518AFE7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FE02-4671-4774-965D-1C152AE63704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B03F-9C39-4461-B625-12C6AB140582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B3CA-6F8A-4008-9178-C041F807BA00}" type="datetime1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D194-86D8-40B0-A8FB-B5AD651F3669}" type="datetime1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B60E-5F28-4BF7-9B78-15A44CACFA00}" type="datetime1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5E84-6657-4AAE-A159-026DA6402732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519D-77C3-4D5F-A5F9-3B3327848EC5}" type="datetime1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3708-AE9A-4AD2-A840-02FE5739AAE0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20870-74EC-4648-B7F1-9F4FA143CAF5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E5179-4B13-493B-85B6-F6FFA1223BA5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AFD11-D3AD-42EE-B900-4D045848B7EE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76270-898B-4705-8ED8-CCEDDCBF734D}" type="datetime1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CSE3150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about:blank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CSE3150 – Front-end Full Stack Development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School of Computer Science Engineering and </a:t>
            </a:r>
            <a:r>
              <a:rPr lang="en-IN" sz="2000" kern="0"/>
              <a:t>Information Science</a:t>
            </a:r>
            <a:endParaRPr lang="en-IN" sz="2000" kern="0" dirty="0"/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/>
              <a:t>Module 2 - Responsive web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114800"/>
          </a:xfrm>
        </p:spPr>
        <p:txBody>
          <a:bodyPr>
            <a:noAutofit/>
          </a:bodyPr>
          <a:lstStyle/>
          <a:p>
            <a:pPr marL="0" indent="0" algn="r">
              <a:spcBef>
                <a:spcPts val="910"/>
              </a:spcBef>
              <a:spcAft>
                <a:spcPts val="700"/>
              </a:spcAft>
              <a:buNone/>
            </a:pPr>
            <a:endParaRPr lang="en-US" sz="2800" b="1" dirty="0">
              <a:solidFill>
                <a:srgbClr val="00B05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spcBef>
                <a:spcPts val="91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FF0000"/>
                </a:solidFill>
              </a:rPr>
              <a:t>JavaScript – Core syntax, HTML DOM, objects, classes, Async; </a:t>
            </a:r>
            <a:r>
              <a:rPr lang="en-US" sz="1800" dirty="0" err="1">
                <a:solidFill>
                  <a:srgbClr val="002060"/>
                </a:solidFill>
              </a:rPr>
              <a:t>BootStrap</a:t>
            </a:r>
            <a:r>
              <a:rPr lang="en-US" sz="1800" dirty="0">
                <a:solidFill>
                  <a:srgbClr val="002060"/>
                </a:solidFill>
              </a:rPr>
              <a:t> for Responsive Web Design; Ajax and jQuery Introduction</a:t>
            </a:r>
            <a:br>
              <a:rPr lang="en-US" sz="900" dirty="0"/>
            </a:b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DA6A4-B5CB-EBD6-7C60-5332A6B1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0FDE-EF60-3E60-9FD1-51E57680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Javascript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a lightweight programming language ("scripting language")</a:t>
            </a:r>
          </a:p>
          <a:p>
            <a:pPr marL="512763" lvl="1"/>
            <a:r>
              <a:rPr lang="en-US" dirty="0">
                <a:solidFill>
                  <a:schemeClr val="tx1"/>
                </a:solidFill>
              </a:rPr>
              <a:t>used to make web pages interactive</a:t>
            </a:r>
          </a:p>
          <a:p>
            <a:pPr marL="512763" lvl="1"/>
            <a:r>
              <a:rPr lang="en-US" dirty="0">
                <a:solidFill>
                  <a:schemeClr val="tx1"/>
                </a:solidFill>
              </a:rPr>
              <a:t>insert dynamic text into HTML (ex: user name)</a:t>
            </a:r>
          </a:p>
          <a:p>
            <a:pPr marL="512763" lvl="1"/>
            <a:r>
              <a:rPr lang="en-US" b="1" dirty="0">
                <a:solidFill>
                  <a:schemeClr val="tx1"/>
                </a:solidFill>
              </a:rPr>
              <a:t>react to events </a:t>
            </a:r>
            <a:r>
              <a:rPr lang="en-US" dirty="0">
                <a:solidFill>
                  <a:schemeClr val="tx1"/>
                </a:solidFill>
              </a:rPr>
              <a:t>(ex: page load </a:t>
            </a:r>
            <a:r>
              <a:rPr lang="en-US" b="1" dirty="0">
                <a:solidFill>
                  <a:schemeClr val="tx1"/>
                </a:solidFill>
              </a:rPr>
              <a:t>user click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512763" lvl="1"/>
            <a:r>
              <a:rPr lang="en-US" dirty="0">
                <a:solidFill>
                  <a:schemeClr val="tx1"/>
                </a:solidFill>
              </a:rPr>
              <a:t>get information about a user's computer (ex: browser type)</a:t>
            </a:r>
          </a:p>
          <a:p>
            <a:pPr marL="512763" lvl="1"/>
            <a:r>
              <a:rPr lang="en-US" dirty="0">
                <a:solidFill>
                  <a:schemeClr val="tx1"/>
                </a:solidFill>
              </a:rPr>
              <a:t>perform calculations on user's computer (ex: form validation)</a:t>
            </a:r>
          </a:p>
          <a:p>
            <a:pPr marL="0" indent="0">
              <a:buNone/>
            </a:pPr>
            <a:r>
              <a:rPr lang="en-US" sz="2800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CSE3150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B779743-7B81-4FB7-A3E2-1ACEC99CD8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9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>
                <a:latin typeface="+mn-lt"/>
              </a:rPr>
              <a:t>interpreted, not compiled</a:t>
            </a:r>
          </a:p>
          <a:p>
            <a:r>
              <a:rPr lang="en-US" sz="2400" dirty="0">
                <a:latin typeface="+mn-lt"/>
              </a:rPr>
              <a:t>more relaxed syntax and rules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</a:rPr>
              <a:t>fewer and "looser" data types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</a:rPr>
              <a:t>variables don't need to be declared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</a:rPr>
              <a:t>errors often silent (few exceptions)</a:t>
            </a:r>
          </a:p>
          <a:p>
            <a:r>
              <a:rPr lang="en-US" sz="2400" dirty="0">
                <a:latin typeface="+mn-lt"/>
              </a:rPr>
              <a:t>key construct is the function rather than the class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+mn-lt"/>
              </a:rPr>
              <a:t>"first-class" functions are used in many situations</a:t>
            </a:r>
          </a:p>
          <a:p>
            <a:r>
              <a:rPr lang="en-US" sz="2400" dirty="0">
                <a:latin typeface="+mn-lt"/>
              </a:rPr>
              <a:t>contained within a web page and integrates with its HTML/CSS content </a:t>
            </a:r>
            <a:r>
              <a:rPr lang="en-US" sz="2400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B779743-7B81-4FB7-A3E2-1ACEC99CD8CF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977" y="1219200"/>
            <a:ext cx="168204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833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 to a JavaScript file: 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5300" y="2364254"/>
            <a:ext cx="8153400" cy="2421242"/>
          </a:xfrm>
        </p:spPr>
        <p:txBody>
          <a:bodyPr/>
          <a:lstStyle/>
          <a:p>
            <a:r>
              <a:rPr lang="en-US" sz="2200" dirty="0"/>
              <a:t>script tag should be placed in HTML page's head</a:t>
            </a:r>
          </a:p>
          <a:p>
            <a:r>
              <a:rPr lang="en-US" sz="2200" dirty="0"/>
              <a:t>script code is stored in a separate .</a:t>
            </a:r>
            <a:r>
              <a:rPr lang="en-US" sz="2200" dirty="0" err="1"/>
              <a:t>js</a:t>
            </a:r>
            <a:r>
              <a:rPr lang="en-US" sz="2200" dirty="0"/>
              <a:t> file</a:t>
            </a:r>
          </a:p>
          <a:p>
            <a:r>
              <a:rPr lang="en-US" sz="2200" dirty="0"/>
              <a:t>JS code can be placed directly in the HTML file's body or head (like CSS)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0327" y="1364619"/>
            <a:ext cx="8153400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="filename" type="text/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&lt;/script&gt;</a:t>
            </a:r>
            <a:endParaRPr lang="en-US" sz="2000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25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programming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1EFC891-87A9-922A-C60C-D2F55994F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7467600" cy="3690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424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programming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64127" y="13716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you are used to programs start with a main method (or implicit main like in PHP)</a:t>
            </a:r>
          </a:p>
          <a:p>
            <a:r>
              <a:rPr lang="en-US" sz="2400" dirty="0"/>
              <a:t>JavaScript programs instead wait for user actions called </a:t>
            </a:r>
            <a:r>
              <a:rPr lang="en-US" sz="2400" i="1" dirty="0"/>
              <a:t>events</a:t>
            </a:r>
            <a:r>
              <a:rPr lang="en-US" sz="2400" dirty="0"/>
              <a:t> and respond to them</a:t>
            </a:r>
          </a:p>
          <a:p>
            <a:r>
              <a:rPr lang="en-US" sz="2400" dirty="0"/>
              <a:t>event-driven programming: writing programs driven by user events</a:t>
            </a:r>
          </a:p>
          <a:p>
            <a:r>
              <a:rPr lang="en-US" sz="2400" dirty="0"/>
              <a:t>Let's write a page with a clickable button that pops up a "Hello, World" window...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56500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2673" y="2565388"/>
            <a:ext cx="8153400" cy="1219200"/>
          </a:xfrm>
        </p:spPr>
        <p:txBody>
          <a:bodyPr/>
          <a:lstStyle/>
          <a:p>
            <a:r>
              <a:rPr lang="en-US" sz="2400" dirty="0"/>
              <a:t>JavaScript functions can be set as event handlers</a:t>
            </a:r>
          </a:p>
          <a:p>
            <a:pPr lvl="1"/>
            <a:r>
              <a:rPr lang="en-US" sz="2000" dirty="0"/>
              <a:t>when you interact with the element, the function will execute</a:t>
            </a:r>
          </a:p>
          <a:p>
            <a:r>
              <a:rPr lang="en-US" sz="2400" dirty="0" err="1"/>
              <a:t>onclick</a:t>
            </a:r>
            <a:r>
              <a:rPr lang="en-US" sz="2400" dirty="0"/>
              <a:t> is just one of many event HTML attributes we'll use</a:t>
            </a:r>
          </a:p>
          <a:p>
            <a:r>
              <a:rPr lang="en-US" sz="2400" dirty="0"/>
              <a:t>but popping up an alert window is disruptive and annoying</a:t>
            </a:r>
          </a:p>
          <a:p>
            <a:pPr lvl="1"/>
            <a:r>
              <a:rPr lang="en-US" sz="2000" dirty="0"/>
              <a:t>A better user experience would be to have the message appear on the page...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2673" y="1309274"/>
            <a:ext cx="8153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&lt;element attributes onclick="function();"&gt;...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2673" y="1937331"/>
            <a:ext cx="8153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&lt;button onclick="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myFunction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();"&gt;Click me!&lt;/button&gt;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91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functions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319657"/>
            <a:ext cx="8153400" cy="1754326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name()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statement 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statement 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statement 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33400" y="44958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above could be the contents of example.js linked to our HTML page</a:t>
            </a:r>
          </a:p>
          <a:p>
            <a:r>
              <a:rPr lang="en-US" sz="2000" dirty="0"/>
              <a:t>statements placed into functions can be evaluated in response to user events</a:t>
            </a:r>
            <a:endParaRPr lang="en-US" sz="9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279890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myFunction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alert("Hello!");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alert("How are you?");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   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      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29442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A9EA-1810-E7C9-76FF-EA12E0EC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Segoe UI" panose="020B0502040204020203" pitchFamily="34" charset="0"/>
              </a:rPr>
              <a:t>HTML DOM (Document Object Model)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664B-0F8C-4710-C288-DC2BD003E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+mn-lt"/>
              </a:rPr>
              <a:t>In JavaScript, the DOM (Document Object Model) is a programming interface for web documents.</a:t>
            </a:r>
          </a:p>
          <a:p>
            <a:r>
              <a:rPr lang="en-US" sz="2000" dirty="0">
                <a:latin typeface="+mn-lt"/>
              </a:rPr>
              <a:t> It represents the structure of a document as a tree of objects, where each object corresponds to a part of the document, such as elements, attributes, and text.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The DOM provides a way for JavaScript to interact with HTML and XML documents dynamically</a:t>
            </a:r>
            <a:r>
              <a:rPr lang="en-US" sz="2000">
                <a:latin typeface="+mn-lt"/>
              </a:rPr>
              <a:t>. </a:t>
            </a:r>
          </a:p>
          <a:p>
            <a:r>
              <a:rPr lang="en-US" sz="2000">
                <a:latin typeface="+mn-lt"/>
              </a:rPr>
              <a:t>It </a:t>
            </a:r>
            <a:r>
              <a:rPr lang="en-US" sz="2000" dirty="0">
                <a:latin typeface="+mn-lt"/>
              </a:rPr>
              <a:t>allows JavaScript to access, manipulate, and update the content, structure, and style of a document.</a:t>
            </a:r>
          </a:p>
          <a:p>
            <a:endParaRPr lang="en-US" sz="2000" dirty="0">
              <a:latin typeface="+mn-lt"/>
            </a:endParaRPr>
          </a:p>
          <a:p>
            <a:endParaRPr lang="en-IN" sz="20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31382-19E4-F3A4-0932-A0CC7A14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9866C-6335-0B35-1641-8EE9BFE3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2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FD70-B254-4669-0EB6-EEA53D9B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Segoe UI" panose="020B0502040204020203" pitchFamily="34" charset="0"/>
              </a:rPr>
              <a:t>The HTML DOM (Document Object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9B3EF-F13B-094B-B485-08364439F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E66B5-7635-59E6-1058-7A43A859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0" name="Picture 2" descr="DOM HTML tree">
            <a:extLst>
              <a:ext uri="{FF2B5EF4-FFF2-40B4-BE49-F238E27FC236}">
                <a16:creationId xmlns:a16="http://schemas.microsoft.com/office/drawing/2014/main" id="{DF8AF9DB-8E09-0E47-E990-669684F48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7696200" cy="421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B3C6D-DEC6-D655-F7B2-2CEB1072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57014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62050"/>
            <a:ext cx="4949952" cy="4324350"/>
          </a:xfrm>
        </p:spPr>
        <p:txBody>
          <a:bodyPr/>
          <a:lstStyle/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change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all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HTML elements in the page</a:t>
            </a:r>
          </a:p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change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all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HTML attributes in the page</a:t>
            </a:r>
          </a:p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change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all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CSS styles in the page</a:t>
            </a:r>
          </a:p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remove existing HTML elements and attributes</a:t>
            </a:r>
          </a:p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add new HTML elements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 attributes</a:t>
            </a:r>
          </a:p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react to all existing HTML events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in the page</a:t>
            </a:r>
          </a:p>
          <a:p>
            <a:pPr marL="166688" indent="-166688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create new HTML events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the page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12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055" y="885825"/>
            <a:ext cx="4114800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F4FAD-84E6-3FF7-5DC4-C9CE4C24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52961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491" y="136523"/>
            <a:ext cx="8229600" cy="715962"/>
          </a:xfrm>
        </p:spPr>
        <p:txBody>
          <a:bodyPr/>
          <a:lstStyle/>
          <a:p>
            <a:r>
              <a:rPr lang="en-US" dirty="0"/>
              <a:t>DOM element objects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13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47588"/>
            <a:ext cx="8610599" cy="5610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17A7D-E557-5CC4-B282-FF2AC401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674813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elements: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33400" y="14478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document.getElementById</a:t>
            </a:r>
            <a:r>
              <a:rPr lang="en-US" sz="2400" dirty="0"/>
              <a:t> returns the DOM object for an element with a given id</a:t>
            </a:r>
          </a:p>
          <a:p>
            <a:r>
              <a:rPr lang="en-US" sz="2400" dirty="0"/>
              <a:t>can change the text inside most elements by setting the </a:t>
            </a:r>
            <a:r>
              <a:rPr lang="en-US" sz="2400" dirty="0" err="1"/>
              <a:t>innerHTML</a:t>
            </a:r>
            <a:r>
              <a:rPr lang="en-US" sz="2400" dirty="0"/>
              <a:t> property</a:t>
            </a:r>
          </a:p>
          <a:p>
            <a:r>
              <a:rPr lang="en-US" sz="2400" dirty="0"/>
              <a:t>can change the text in form controls by setting the value property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36749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F7D8D-8C8C-43D0-ADA7-D9FF67617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effectLst/>
                <a:latin typeface="Consolas" panose="020B0609020204030204" pitchFamily="49" charset="0"/>
              </a:rPr>
              <a:t>In the DOM, all HTML elements are defined as objects.</a:t>
            </a:r>
          </a:p>
          <a:p>
            <a:pPr marL="400050" lvl="1" indent="0">
              <a:buNone/>
            </a:pPr>
            <a:r>
              <a:rPr lang="en-US" b="0" i="1" dirty="0">
                <a:effectLst/>
                <a:latin typeface="Consolas" panose="020B0609020204030204" pitchFamily="49" charset="0"/>
              </a:rPr>
              <a:t>&lt;body&gt;</a:t>
            </a:r>
            <a:br>
              <a:rPr lang="en-US" i="1" dirty="0"/>
            </a:br>
            <a:r>
              <a:rPr lang="en-US" b="0" i="1" dirty="0">
                <a:effectLst/>
                <a:latin typeface="Consolas" panose="020B0609020204030204" pitchFamily="49" charset="0"/>
              </a:rPr>
              <a:t>&lt;p id="demo"&gt;&lt;/p&gt;</a:t>
            </a:r>
          </a:p>
          <a:p>
            <a:pPr marL="400050" lvl="1" indent="0">
              <a:buNone/>
            </a:pPr>
            <a: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&lt;script&gt;</a:t>
            </a:r>
            <a:b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 err="1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("demo").</a:t>
            </a:r>
            <a:r>
              <a:rPr lang="en-US" b="0" i="1" dirty="0" err="1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= "Hello World!";</a:t>
            </a:r>
            <a:b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&lt;/script&gt;</a:t>
            </a:r>
          </a:p>
          <a:p>
            <a:pPr marL="400050" lvl="1" indent="0">
              <a:buNone/>
            </a:pPr>
            <a:r>
              <a:rPr lang="en-US" b="0" i="1" dirty="0">
                <a:effectLst/>
                <a:latin typeface="Consolas" panose="020B0609020204030204" pitchFamily="49" charset="0"/>
              </a:rPr>
              <a:t>&lt;/body&gt;</a:t>
            </a:r>
          </a:p>
          <a:p>
            <a:pPr marL="400050" lvl="1" indent="0">
              <a:buNone/>
            </a:pPr>
            <a:r>
              <a:rPr lang="en-US" sz="2000" i="1" dirty="0">
                <a:solidFill>
                  <a:schemeClr val="tx1"/>
                </a:solidFill>
              </a:rPr>
              <a:t>The </a:t>
            </a:r>
            <a:r>
              <a:rPr lang="en-US" sz="2000" i="1" dirty="0" err="1">
                <a:solidFill>
                  <a:schemeClr val="tx1"/>
                </a:solidFill>
              </a:rPr>
              <a:t>innerHTML</a:t>
            </a:r>
            <a:r>
              <a:rPr lang="en-US" sz="2000" i="1" dirty="0">
                <a:solidFill>
                  <a:schemeClr val="tx1"/>
                </a:solidFill>
              </a:rPr>
              <a:t> property is useful for getting or replacing the content of HTML elements.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9AB04-B126-3795-7D7D-048CB140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E0098F-9ABF-4B34-768F-B5A02B12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878"/>
            <a:ext cx="8229600" cy="71596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Accessing elements: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EC6632-96F1-DF8D-4460-5EBE111E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20970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Accessing elements: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1242783"/>
            <a:ext cx="8153400" cy="36933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name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("id");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9CE8E-5017-37B2-3B4F-5EA88E065CFC}"/>
              </a:ext>
            </a:extLst>
          </p:cNvPr>
          <p:cNvSpPr txBox="1"/>
          <p:nvPr/>
        </p:nvSpPr>
        <p:spPr>
          <a:xfrm>
            <a:off x="533400" y="1817233"/>
            <a:ext cx="79663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&lt;button onclick="</a:t>
            </a:r>
            <a:r>
              <a:rPr lang="en-US" sz="2000" dirty="0" err="1"/>
              <a:t>changeText</a:t>
            </a:r>
            <a:r>
              <a:rPr lang="en-US" sz="2000" dirty="0"/>
              <a:t>();"&gt;Click me!&lt;/button&gt;</a:t>
            </a:r>
          </a:p>
          <a:p>
            <a:r>
              <a:rPr lang="en-US" sz="2000" dirty="0"/>
              <a:t>&lt;span id="output"&gt;replace me&lt;/span&gt;</a:t>
            </a:r>
          </a:p>
          <a:p>
            <a:r>
              <a:rPr lang="en-US" sz="2000" dirty="0"/>
              <a:t>&lt;input id="textbox" type="text" /&gt;</a:t>
            </a:r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&lt;script&gt;</a:t>
            </a:r>
          </a:p>
          <a:p>
            <a:r>
              <a:rPr lang="en-US" sz="2000" dirty="0"/>
              <a:t>function </a:t>
            </a:r>
            <a:r>
              <a:rPr lang="en-US" sz="2000" dirty="0" err="1"/>
              <a:t>changeText</a:t>
            </a:r>
            <a:r>
              <a:rPr lang="en-US" sz="2000" dirty="0"/>
              <a:t>() {</a:t>
            </a:r>
          </a:p>
          <a:p>
            <a:r>
              <a:rPr lang="en-US" sz="2000" dirty="0"/>
              <a:t>	var span = </a:t>
            </a:r>
            <a:r>
              <a:rPr lang="en-US" sz="2000" dirty="0" err="1"/>
              <a:t>document.getElementById</a:t>
            </a:r>
            <a:r>
              <a:rPr lang="en-US" sz="2000" dirty="0"/>
              <a:t>("output");</a:t>
            </a:r>
          </a:p>
          <a:p>
            <a:r>
              <a:rPr lang="en-US" sz="2000" dirty="0"/>
              <a:t>	var </a:t>
            </a:r>
            <a:r>
              <a:rPr lang="en-US" sz="2000" dirty="0" err="1"/>
              <a:t>textBox</a:t>
            </a:r>
            <a:r>
              <a:rPr lang="en-US" sz="2000" dirty="0"/>
              <a:t> = </a:t>
            </a:r>
            <a:r>
              <a:rPr lang="en-US" sz="2000" dirty="0" err="1"/>
              <a:t>document.getElementById</a:t>
            </a:r>
            <a:r>
              <a:rPr lang="en-US" sz="2000" dirty="0"/>
              <a:t>("textbox");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textbox.style.color</a:t>
            </a:r>
            <a:r>
              <a:rPr lang="en-US" sz="2000" dirty="0"/>
              <a:t> = "red"; 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367419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element style: </a:t>
            </a:r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element.style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531252"/>
              </p:ext>
            </p:extLst>
          </p:nvPr>
        </p:nvGraphicFramePr>
        <p:xfrm>
          <a:off x="561109" y="1402080"/>
          <a:ext cx="8153400" cy="4053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2200" b="1" dirty="0"/>
                        <a:t>Attribute</a:t>
                      </a:r>
                      <a:endParaRPr lang="en-US" sz="22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Property</a:t>
                      </a:r>
                      <a:r>
                        <a:rPr lang="en-US" sz="2200" b="1" baseline="0" dirty="0"/>
                        <a:t> or style object</a:t>
                      </a:r>
                      <a:endParaRPr lang="en-US" sz="2200" b="1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200" dirty="0"/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color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200"/>
                        <a:t>padding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padding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200" dirty="0"/>
                        <a:t>background-color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backgroundColor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200" dirty="0"/>
                        <a:t>border-top-width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borderTopWidth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200" dirty="0"/>
                        <a:t>Font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fontSize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200" dirty="0"/>
                        <a:t>Font</a:t>
                      </a:r>
                      <a:r>
                        <a:rPr lang="en-US" sz="2200" baseline="0" dirty="0"/>
                        <a:t> </a:t>
                      </a:r>
                      <a:r>
                        <a:rPr lang="en-US" sz="2200" baseline="0" dirty="0" err="1"/>
                        <a:t>famiy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fontFamily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569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76400"/>
            <a:ext cx="8153400" cy="2308324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changeText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//grab or initialize text here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// font styles added by JS: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text.style.fontSize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"13pt";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text.style.fontFamily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"Comic Sans MS";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text.style.color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"red"; // or pink?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119572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26C50C31-B97E-5692-0DD3-1146C778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</a:rPr>
              <a:t>slide </a:t>
            </a:r>
            <a:fld id="{BD6F2597-12CD-4715-BE33-F48A01BD091A}" type="slidenum">
              <a:rPr lang="en-US" altLang="en-US" sz="1200">
                <a:latin typeface="Arial" panose="020B0604020202020204" pitchFamily="34" charset="0"/>
              </a:rPr>
              <a:pPr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45AB399E-B008-29D5-965B-447A1E8D8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051800" cy="914400"/>
          </a:xfrm>
        </p:spPr>
        <p:txBody>
          <a:bodyPr/>
          <a:lstStyle/>
          <a:p>
            <a:r>
              <a:rPr lang="en-US" altLang="en-US"/>
              <a:t>Reading Properties with JavaScript</a:t>
            </a: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F51761A2-4E4F-A4A2-AECE-98CF50AD5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168" y="1143000"/>
            <a:ext cx="8610600" cy="4876800"/>
          </a:xfrm>
        </p:spPr>
        <p:txBody>
          <a:bodyPr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Example 1 returns "</a:t>
            </a:r>
            <a:r>
              <a:rPr lang="en-US" altLang="en-US" sz="2000" dirty="0" err="1">
                <a:solidFill>
                  <a:schemeClr val="tx1"/>
                </a:solidFill>
              </a:rPr>
              <a:t>ul</a:t>
            </a:r>
            <a:r>
              <a:rPr lang="en-US" altLang="en-US" sz="2000" dirty="0">
                <a:solidFill>
                  <a:schemeClr val="tx1"/>
                </a:solidFill>
              </a:rPr>
              <a:t>"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Example 2 returns "null"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Example 3 returns "li"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Example 4 returns "text"</a:t>
            </a:r>
          </a:p>
          <a:p>
            <a:pPr lvl="2"/>
            <a:r>
              <a:rPr lang="en-US" altLang="en-US" sz="1800" dirty="0">
                <a:solidFill>
                  <a:schemeClr val="tx1"/>
                </a:solidFill>
              </a:rPr>
              <a:t>A text node below the "li" which holds the actual text data as its value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Example 5 returns " Item 1 " </a:t>
            </a: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B4E38AEE-2D71-062C-52C2-2336F858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68" y="1600200"/>
            <a:ext cx="6673850" cy="1981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1. 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nodeName</a:t>
            </a:r>
            <a:endParaRPr kumimoji="1" lang="en-US" sz="180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2. 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nodeValue</a:t>
            </a:r>
            <a:endParaRPr kumimoji="1" lang="en-US" sz="180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3. 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firstChild.nodeName</a:t>
            </a:r>
            <a:endParaRPr kumimoji="1" lang="en-US" sz="180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4. 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firstChild.firstChild.nodeName</a:t>
            </a:r>
            <a:endParaRPr kumimoji="1" lang="en-US" sz="180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5. 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80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800" dirty="0" err="1">
                <a:solidFill>
                  <a:schemeClr val="tx1"/>
                </a:solidFill>
                <a:cs typeface="Tahoma" pitchFamily="34" charset="0"/>
              </a:rPr>
              <a:t>firstChild.firstChild.nodeValue</a:t>
            </a:r>
            <a:endParaRPr kumimoji="1" lang="en-US" sz="1800" dirty="0">
              <a:solidFill>
                <a:schemeClr val="tx1"/>
              </a:solidFill>
              <a:cs typeface="Tahoma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B26728-E643-48FB-A719-4CD3C7F40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409700"/>
            <a:ext cx="2514600" cy="1447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+mn-lt"/>
              </a:rPr>
              <a:t>&lt;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ul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 id="t1"&gt;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+mn-lt"/>
              </a:rPr>
              <a:t>&lt;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li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&gt; Item 1 &lt;/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li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&gt;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+mn-lt"/>
              </a:rPr>
              <a:t>&lt;/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ul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&gt;</a:t>
            </a:r>
          </a:p>
        </p:txBody>
      </p:sp>
      <p:sp>
        <p:nvSpPr>
          <p:cNvPr id="14343" name="Text Box 4">
            <a:extLst>
              <a:ext uri="{FF2B5EF4-FFF2-40B4-BE49-F238E27FC236}">
                <a16:creationId xmlns:a16="http://schemas.microsoft.com/office/drawing/2014/main" id="{3418909E-A1C9-BA20-7885-47EACE7F9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5955" y="1120775"/>
            <a:ext cx="223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Sample HTML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70E68A-456B-E709-18C4-B299E477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6E5F-9F03-8CBF-677C-A1F89EEA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 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4713-773E-C5D4-D2CA-B4A429FA3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JavaScript can "display" data in different ways:</a:t>
            </a:r>
          </a:p>
          <a:p>
            <a:endParaRPr lang="en-US" sz="2400" dirty="0"/>
          </a:p>
          <a:p>
            <a:r>
              <a:rPr lang="en-US" sz="2000" dirty="0"/>
              <a:t>Writing into an HTML element, using </a:t>
            </a:r>
            <a:r>
              <a:rPr lang="en-US" sz="2000" dirty="0" err="1"/>
              <a:t>innerHTML</a:t>
            </a:r>
            <a:r>
              <a:rPr lang="en-US" sz="2000" dirty="0"/>
              <a:t>.</a:t>
            </a:r>
          </a:p>
          <a:p>
            <a:r>
              <a:rPr lang="en-US" sz="2000" dirty="0"/>
              <a:t>Writing into the HTML output using </a:t>
            </a:r>
            <a:r>
              <a:rPr lang="en-US" sz="2000" dirty="0" err="1"/>
              <a:t>document.write</a:t>
            </a:r>
            <a:r>
              <a:rPr lang="en-US" sz="2000" dirty="0"/>
              <a:t>().</a:t>
            </a:r>
          </a:p>
          <a:p>
            <a:r>
              <a:rPr lang="en-US" sz="2000" dirty="0"/>
              <a:t>Writing into an alert box, using </a:t>
            </a:r>
            <a:r>
              <a:rPr lang="en-US" sz="2000" dirty="0" err="1"/>
              <a:t>window.alert</a:t>
            </a:r>
            <a:r>
              <a:rPr lang="en-US" sz="2000" dirty="0"/>
              <a:t>().</a:t>
            </a:r>
          </a:p>
          <a:p>
            <a:r>
              <a:rPr lang="en-US" sz="2000" dirty="0"/>
              <a:t>Writing into the browser console, using console.log().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084D4-DEEB-F810-7154-8EECC7EE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F9191-0380-7513-9DC3-0D48EAC9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451909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0123-3202-2225-679D-C5A1B051B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innerHTML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7B53-0F33-9274-BB30-A0385D1A6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762"/>
            <a:ext cx="8382000" cy="4680431"/>
          </a:xfrm>
        </p:spPr>
        <p:txBody>
          <a:bodyPr/>
          <a:lstStyle/>
          <a:p>
            <a:pPr marL="0" indent="0">
              <a:buNone/>
            </a:pPr>
            <a:r>
              <a:rPr lang="en-US" sz="2000" b="0" i="0" dirty="0">
                <a:effectLst/>
                <a:latin typeface="Consolas" panose="020B0609020204030204" pitchFamily="49" charset="0"/>
              </a:rPr>
              <a:t>To access an HTML element, JavaScript can use the </a:t>
            </a:r>
            <a:r>
              <a:rPr lang="en-US" sz="2000" b="0" i="0" dirty="0" err="1"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(id) method.</a:t>
            </a:r>
          </a:p>
          <a:p>
            <a:pPr marL="0" indent="0">
              <a:buNone/>
            </a:pPr>
            <a:r>
              <a:rPr lang="en-US" sz="2000" b="0" i="0" dirty="0">
                <a:effectLst/>
                <a:latin typeface="Consolas" panose="020B0609020204030204" pitchFamily="49" charset="0"/>
              </a:rPr>
              <a:t>The id attribute defines the HTML element. The </a:t>
            </a:r>
            <a:r>
              <a:rPr lang="en-US" sz="2000" b="0" i="0" dirty="0" err="1">
                <a:effectLst/>
                <a:latin typeface="Consolas" panose="020B0609020204030204" pitchFamily="49" charset="0"/>
              </a:rPr>
              <a:t>innerHTML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 property defines the HTML content: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Consolas" panose="020B0609020204030204" pitchFamily="49" charset="0"/>
              </a:rPr>
              <a:t>&lt;html&gt;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&lt;body&gt;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&lt;h1&gt;My First Web Page&lt;/h1&gt;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&lt;p&gt;My First Paragraph&lt;/p&gt;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&lt;p id="demo"&gt;&lt;/p&gt;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&lt;script&gt;</a:t>
            </a:r>
            <a:br>
              <a:rPr lang="en-US" sz="2400" b="0" i="0" dirty="0">
                <a:effectLst/>
                <a:latin typeface="Consolas" panose="020B0609020204030204" pitchFamily="49" charset="0"/>
              </a:rPr>
            </a:b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("demo").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= 5 + 6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&lt;/script&gt;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&lt;/body&gt;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&lt;/html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ACF9B-48D9-DE49-9A10-35AF0738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B76C6-DBB4-965A-1C18-E6835EE4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705078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E995-DFAC-ABED-E863-0184B0A4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Using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document.write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()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75704-8B0D-1251-A069-28A7C1F11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0" i="0" dirty="0">
                <a:effectLst/>
                <a:latin typeface="+mn-lt"/>
              </a:rPr>
              <a:t>&lt;script&gt;</a:t>
            </a:r>
            <a:br>
              <a:rPr lang="en-US" sz="2400" b="0" i="0" dirty="0">
                <a:effectLst/>
                <a:latin typeface="+mn-lt"/>
              </a:rPr>
            </a:br>
            <a:r>
              <a:rPr lang="en-US" sz="2400" b="0" i="0" dirty="0" err="1">
                <a:effectLst/>
                <a:latin typeface="+mn-lt"/>
              </a:rPr>
              <a:t>document.write</a:t>
            </a:r>
            <a:r>
              <a:rPr lang="en-US" sz="2400" b="0" i="0" dirty="0">
                <a:effectLst/>
                <a:latin typeface="+mn-lt"/>
              </a:rPr>
              <a:t>(5 + 6);</a:t>
            </a:r>
            <a:br>
              <a:rPr lang="en-US" sz="2400" b="0" i="0" dirty="0">
                <a:effectLst/>
                <a:latin typeface="+mn-lt"/>
              </a:rPr>
            </a:br>
            <a:r>
              <a:rPr lang="en-US" sz="2400" b="0" i="0" dirty="0">
                <a:effectLst/>
                <a:latin typeface="+mn-lt"/>
              </a:rPr>
              <a:t>&lt;/script&gt;</a:t>
            </a:r>
            <a:br>
              <a:rPr lang="en-US" sz="2400" dirty="0">
                <a:latin typeface="+mn-lt"/>
              </a:rPr>
            </a:br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286AA-797B-8717-9607-F48B6A44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5B174-9B2F-20EC-97FA-5DA95E4F402A}"/>
              </a:ext>
            </a:extLst>
          </p:cNvPr>
          <p:cNvSpPr txBox="1"/>
          <p:nvPr/>
        </p:nvSpPr>
        <p:spPr>
          <a:xfrm>
            <a:off x="647700" y="3429000"/>
            <a:ext cx="7848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&lt;button type="button" onclick="</a:t>
            </a:r>
            <a:r>
              <a:rPr lang="en-US" sz="2000" b="0" i="0" dirty="0" err="1">
                <a:effectLst/>
                <a:latin typeface="Consolas" panose="020B0609020204030204" pitchFamily="49" charset="0"/>
              </a:rPr>
              <a:t>document.write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(5 + 6)"&gt;</a:t>
            </a:r>
          </a:p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Try it&lt;/button&gt;</a:t>
            </a:r>
            <a:endParaRPr lang="en-U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604D2-163D-D1B0-B4AD-98631C43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844060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B34BE1D-7C74-6941-269B-518D3F32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1A3B-E7F2-4AA7-B1E0-FEB6FD665D7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19136A34-1A29-87B4-FD40-C9C7D7905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Displaying text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D3081E8-9167-98E2-ADAA-E623EEC0B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1"/>
            <a:ext cx="8229600" cy="838200"/>
          </a:xfrm>
        </p:spPr>
        <p:txBody>
          <a:bodyPr/>
          <a:lstStyle/>
          <a:p>
            <a:r>
              <a:rPr lang="en-US" altLang="en-US" sz="2400" dirty="0"/>
              <a:t>The </a:t>
            </a:r>
            <a:r>
              <a:rPr lang="en-US" altLang="en-US" sz="2400" dirty="0" err="1">
                <a:solidFill>
                  <a:schemeClr val="tx2"/>
                </a:solidFill>
              </a:rPr>
              <a:t>document.write</a:t>
            </a:r>
            <a:r>
              <a:rPr lang="en-US" altLang="en-US" sz="2400" dirty="0">
                <a:solidFill>
                  <a:schemeClr val="tx2"/>
                </a:solidFill>
              </a:rPr>
              <a:t>()</a:t>
            </a:r>
            <a:r>
              <a:rPr lang="en-US" altLang="en-US" sz="2400" dirty="0"/>
              <a:t> method writes a string of text to the browser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20B1AD40-DA57-FA3A-0AF6-867842C1B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53762"/>
            <a:ext cx="8686800" cy="2623038"/>
          </a:xfrm>
          <a:prstGeom prst="rect">
            <a:avLst/>
          </a:prstGeom>
          <a:solidFill>
            <a:schemeClr val="accent2">
              <a:alpha val="39999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&lt;script type="text/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javascript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 &lt;!--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	 </a:t>
            </a:r>
            <a:r>
              <a:rPr lang="en-US" altLang="en-US" sz="2400" b="1" dirty="0" err="1">
                <a:solidFill>
                  <a:srgbClr val="990000"/>
                </a:solidFill>
                <a:latin typeface="Courier New" panose="02070309020205020404" pitchFamily="49" charset="0"/>
              </a:rPr>
              <a:t>document.write</a:t>
            </a:r>
            <a:r>
              <a:rPr lang="en-US" altLang="en-US" sz="2400" b="1" dirty="0">
                <a:solidFill>
                  <a:srgbClr val="990000"/>
                </a:solidFill>
                <a:latin typeface="Courier New" panose="02070309020205020404" pitchFamily="49" charset="0"/>
              </a:rPr>
              <a:t>("&lt;h1&gt;Hello, world!&lt;/h1&gt;");</a:t>
            </a:r>
            <a:r>
              <a:rPr lang="en-US" altLang="en-US" sz="1600" b="1" dirty="0">
                <a:solidFill>
                  <a:srgbClr val="990000"/>
                </a:solidFill>
                <a:latin typeface="Courier New" panose="02070309020205020404" pitchFamily="49" charset="0"/>
              </a:rPr>
              <a:t> </a:t>
            </a:r>
            <a:endParaRPr lang="en-US" altLang="en-US" sz="2400" b="1" dirty="0">
              <a:solidFill>
                <a:srgbClr val="99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	//--&gt;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&lt;/script&gt;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98E806-7E5E-72AB-059B-6592142C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220298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F35BC-9B0F-C7D1-E3DB-D857E920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2ACB6-06C6-44E7-A6D6-0E5FF3E107E9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CE366610-A9ED-400A-6D0C-AEC1DB45C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document.write() 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42A46D51-D51A-AE32-4975-ADE51F8C4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8839200" cy="990600"/>
          </a:xfrm>
          <a:prstGeom prst="rect">
            <a:avLst/>
          </a:prstGeom>
          <a:solidFill>
            <a:schemeClr val="accent2">
              <a:alpha val="39999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document.write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("&lt;h1&gt;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!&lt;/h1&gt;"); </a:t>
            </a:r>
          </a:p>
        </p:txBody>
      </p:sp>
      <p:sp>
        <p:nvSpPr>
          <p:cNvPr id="20486" name="AutoShape 6">
            <a:extLst>
              <a:ext uri="{FF2B5EF4-FFF2-40B4-BE49-F238E27FC236}">
                <a16:creationId xmlns:a16="http://schemas.microsoft.com/office/drawing/2014/main" id="{AEF375DB-DF94-D967-9564-95321EECDF8F}"/>
              </a:ext>
            </a:extLst>
          </p:cNvPr>
          <p:cNvSpPr>
            <a:spLocks/>
          </p:cNvSpPr>
          <p:nvPr/>
        </p:nvSpPr>
        <p:spPr bwMode="auto">
          <a:xfrm rot="16200000">
            <a:off x="5562600" y="2209800"/>
            <a:ext cx="914400" cy="457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527AA1CB-8756-CE28-DF0F-E3F73F9EF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991100"/>
            <a:ext cx="3048000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2"/>
                </a:solidFill>
              </a:rPr>
              <a:t>Enclosed in quotes -- denotes a "string"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8D634F50-5C04-3BF7-A3A2-508FD2A91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590800"/>
            <a:ext cx="30480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2"/>
                </a:solidFill>
              </a:rPr>
              <a:t>Ends in a semicolon</a:t>
            </a:r>
          </a:p>
        </p:txBody>
      </p:sp>
      <p:sp>
        <p:nvSpPr>
          <p:cNvPr id="20494" name="Freeform 14">
            <a:extLst>
              <a:ext uri="{FF2B5EF4-FFF2-40B4-BE49-F238E27FC236}">
                <a16:creationId xmlns:a16="http://schemas.microsoft.com/office/drawing/2014/main" id="{E15FD134-36E9-6060-1885-D208AA902F8A}"/>
              </a:ext>
            </a:extLst>
          </p:cNvPr>
          <p:cNvSpPr>
            <a:spLocks/>
          </p:cNvSpPr>
          <p:nvPr/>
        </p:nvSpPr>
        <p:spPr bwMode="auto">
          <a:xfrm>
            <a:off x="6248400" y="1866900"/>
            <a:ext cx="2705100" cy="1866900"/>
          </a:xfrm>
          <a:custGeom>
            <a:avLst/>
            <a:gdLst>
              <a:gd name="T0" fmla="*/ 0 w 1704"/>
              <a:gd name="T1" fmla="*/ 456 h 1176"/>
              <a:gd name="T2" fmla="*/ 1440 w 1704"/>
              <a:gd name="T3" fmla="*/ 120 h 1176"/>
              <a:gd name="T4" fmla="*/ 1584 w 1704"/>
              <a:gd name="T5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4" h="1176">
                <a:moveTo>
                  <a:pt x="0" y="456"/>
                </a:moveTo>
                <a:cubicBezTo>
                  <a:pt x="588" y="228"/>
                  <a:pt x="1176" y="0"/>
                  <a:pt x="1440" y="120"/>
                </a:cubicBezTo>
                <a:cubicBezTo>
                  <a:pt x="1704" y="240"/>
                  <a:pt x="1644" y="708"/>
                  <a:pt x="1584" y="1176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B9C38C-D4A7-39B3-8ECF-2E0D8BD4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971857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EA82-D84F-9DD9-532E-48086017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window.alert</a:t>
            </a:r>
            <a:r>
              <a:rPr lang="en-US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BEEC-8886-239F-D19E-82BBC447D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&lt;script&gt;</a:t>
            </a:r>
          </a:p>
          <a:p>
            <a:pPr marL="0" indent="0">
              <a:buNone/>
            </a:pPr>
            <a:r>
              <a:rPr lang="en-US" sz="2400" dirty="0" err="1"/>
              <a:t>window.alert</a:t>
            </a:r>
            <a:r>
              <a:rPr lang="en-US" sz="2400" dirty="0"/>
              <a:t>(7 +12);</a:t>
            </a:r>
          </a:p>
          <a:p>
            <a:pPr marL="0" indent="0">
              <a:buNone/>
            </a:pPr>
            <a:r>
              <a:rPr lang="en-US" sz="2400" dirty="0"/>
              <a:t>&lt;/script&gt;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Using console.log()</a:t>
            </a:r>
          </a:p>
          <a:p>
            <a:pPr marL="0" indent="0">
              <a:buNone/>
            </a:pPr>
            <a:r>
              <a:rPr lang="en-US" sz="2000" dirty="0"/>
              <a:t>For debugging purposes, you can call the console.log() method in the browser to display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FA21-E9C3-B5C5-13A2-A47B69EB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0CB-71AF-CE87-7241-B0A3C3D73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92573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58328D-D810-2E00-E797-B6E6B406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92D8-CC64-4775-BD58-45F585E247D1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875C8DC-51E8-B66F-B4C5-7067B0527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 in JavaScript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24F45C7-DB56-B7E9-B2DD-62BBCA0E9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Two types of comments</a:t>
            </a:r>
          </a:p>
          <a:p>
            <a:pPr lvl="1"/>
            <a:r>
              <a:rPr lang="en-US" altLang="en-US"/>
              <a:t>Single line</a:t>
            </a:r>
          </a:p>
          <a:p>
            <a:pPr lvl="2"/>
            <a:r>
              <a:rPr lang="en-US" altLang="en-US"/>
              <a:t>Uses two forward slashes (i.e. </a:t>
            </a:r>
            <a:r>
              <a:rPr lang="en-US" altLang="en-US" b="1">
                <a:solidFill>
                  <a:schemeClr val="tx2"/>
                </a:solidFill>
              </a:rPr>
              <a:t>//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Multiple line</a:t>
            </a:r>
          </a:p>
          <a:p>
            <a:pPr lvl="2"/>
            <a:r>
              <a:rPr lang="en-US" altLang="en-US"/>
              <a:t>Uses </a:t>
            </a:r>
            <a:r>
              <a:rPr lang="en-US" altLang="en-US" b="1">
                <a:solidFill>
                  <a:schemeClr val="tx2"/>
                </a:solidFill>
              </a:rPr>
              <a:t>/*</a:t>
            </a:r>
            <a:r>
              <a:rPr lang="en-US" altLang="en-US"/>
              <a:t> and</a:t>
            </a:r>
            <a:r>
              <a:rPr lang="en-US" altLang="en-US" b="1">
                <a:solidFill>
                  <a:schemeClr val="tx2"/>
                </a:solidFill>
              </a:rPr>
              <a:t> */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30C389-51B0-3615-2189-E8F1BFF6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5EEF0347-B96B-D397-91D2-57537700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</a:rPr>
              <a:t>slide </a:t>
            </a:r>
            <a:fld id="{27C3547F-6E18-42F3-B58C-A5E41B48CA4B}" type="slidenum">
              <a:rPr lang="en-US" altLang="en-US" sz="1200">
                <a:latin typeface="Arial" panose="020B0604020202020204" pitchFamily="34" charset="0"/>
              </a:rPr>
              <a:pPr/>
              <a:t>27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725598B2-102D-E2F1-644F-E481BBBE5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Language Basics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74E0D4D1-88D5-7CD4-D876-65DA13A15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4724400"/>
          </a:xfrm>
        </p:spPr>
        <p:txBody>
          <a:bodyPr/>
          <a:lstStyle/>
          <a:p>
            <a:r>
              <a:rPr lang="en-US" altLang="en-US" sz="2800" dirty="0"/>
              <a:t>JavaScript is case sensitive</a:t>
            </a:r>
          </a:p>
          <a:p>
            <a:pPr lvl="1"/>
            <a:r>
              <a:rPr lang="en-US" altLang="en-US" sz="2000" dirty="0" err="1"/>
              <a:t>onClick</a:t>
            </a:r>
            <a:r>
              <a:rPr lang="en-US" altLang="en-US" sz="2000" dirty="0"/>
              <a:t>, ONCLICK, … are HTML, thus not case-sensitive</a:t>
            </a:r>
          </a:p>
          <a:p>
            <a:r>
              <a:rPr lang="en-US" altLang="en-US" sz="2800" dirty="0"/>
              <a:t>Statements terminated by returns or semi-colons </a:t>
            </a:r>
          </a:p>
          <a:p>
            <a:pPr lvl="1"/>
            <a:r>
              <a:rPr lang="en-US" altLang="en-US" sz="2000" dirty="0">
                <a:solidFill>
                  <a:schemeClr val="folHlink"/>
                </a:solidFill>
              </a:rPr>
              <a:t>x = x+1;</a:t>
            </a:r>
            <a:r>
              <a:rPr lang="en-US" altLang="en-US" sz="2000" dirty="0"/>
              <a:t> </a:t>
            </a:r>
          </a:p>
          <a:p>
            <a:pPr marL="457200" lvl="1" indent="0">
              <a:buNone/>
            </a:pPr>
            <a:r>
              <a:rPr lang="en-US" altLang="en-US" sz="2800" dirty="0"/>
              <a:t>“Blocks” of statements enclosed in { …}</a:t>
            </a:r>
          </a:p>
          <a:p>
            <a:r>
              <a:rPr lang="en-US" altLang="en-US" sz="2800" dirty="0"/>
              <a:t>Variables</a:t>
            </a:r>
          </a:p>
          <a:p>
            <a:pPr lvl="1"/>
            <a:r>
              <a:rPr lang="en-US" altLang="en-US" sz="2000" dirty="0"/>
              <a:t>Define using the var statement</a:t>
            </a:r>
          </a:p>
          <a:p>
            <a:pPr lvl="1"/>
            <a:r>
              <a:rPr lang="en-US" altLang="en-US" sz="2000" dirty="0"/>
              <a:t>Define implicitly by its first use, which must be an assignment</a:t>
            </a:r>
          </a:p>
          <a:p>
            <a:pPr lvl="2"/>
            <a:r>
              <a:rPr lang="en-US" altLang="en-US" sz="2000" dirty="0"/>
              <a:t>Implicit </a:t>
            </a:r>
            <a:r>
              <a:rPr lang="en-US" altLang="en-US" sz="2000" dirty="0" err="1"/>
              <a:t>defn</a:t>
            </a:r>
            <a:r>
              <a:rPr lang="en-US" altLang="en-US" sz="2000" dirty="0"/>
              <a:t> has global scope, even if occurs in nested scope!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6AB8C5-E3BD-06AE-2667-CA3E8D28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FA4414FA-740F-D5CC-4B53-6ED50FF1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</a:rPr>
              <a:t>slide </a:t>
            </a:r>
            <a:fld id="{992B3C53-005C-4D67-94E7-1D78A6E0C991}" type="slidenum">
              <a:rPr lang="en-US" altLang="en-US" sz="1200">
                <a:latin typeface="Arial" panose="020B0604020202020204" pitchFamily="34" charset="0"/>
              </a:rPr>
              <a:pPr/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7411" name="Rectangle 6">
            <a:extLst>
              <a:ext uri="{FF2B5EF4-FFF2-40B4-BE49-F238E27FC236}">
                <a16:creationId xmlns:a16="http://schemas.microsoft.com/office/drawing/2014/main" id="{1E125E56-40A3-27AF-8FAB-546B9C521B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Primitive Datatypes</a:t>
            </a: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489AAAAB-F174-6C17-DD9F-B9AD287407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9491" y="1174996"/>
            <a:ext cx="8458200" cy="5029200"/>
          </a:xfrm>
        </p:spPr>
        <p:txBody>
          <a:bodyPr/>
          <a:lstStyle/>
          <a:p>
            <a:r>
              <a:rPr lang="en-US" altLang="en-US" sz="2400" dirty="0"/>
              <a:t>Boolean: true and false</a:t>
            </a:r>
          </a:p>
          <a:p>
            <a:r>
              <a:rPr lang="en-US" altLang="en-US" sz="2400" dirty="0"/>
              <a:t>Number: 64-bit floating point</a:t>
            </a:r>
          </a:p>
          <a:p>
            <a:pPr lvl="1"/>
            <a:r>
              <a:rPr lang="en-US" altLang="en-US" sz="1800" dirty="0"/>
              <a:t>Similar to Java double and Double </a:t>
            </a:r>
          </a:p>
          <a:p>
            <a:pPr lvl="1"/>
            <a:r>
              <a:rPr lang="en-US" altLang="en-US" sz="1800" dirty="0"/>
              <a:t>No integer type </a:t>
            </a:r>
          </a:p>
          <a:p>
            <a:pPr lvl="1"/>
            <a:r>
              <a:rPr lang="en-US" altLang="en-US" sz="1800" dirty="0"/>
              <a:t>Special values </a:t>
            </a:r>
            <a:r>
              <a:rPr lang="en-US" altLang="en-US" sz="1800" dirty="0" err="1">
                <a:solidFill>
                  <a:schemeClr val="accent2"/>
                </a:solidFill>
              </a:rPr>
              <a:t>NaN</a:t>
            </a:r>
            <a:r>
              <a:rPr lang="en-US" altLang="en-US" sz="1800" dirty="0"/>
              <a:t> (not a number) and </a:t>
            </a:r>
            <a:r>
              <a:rPr lang="en-US" altLang="en-US" sz="1800" dirty="0">
                <a:solidFill>
                  <a:schemeClr val="accent2"/>
                </a:solidFill>
              </a:rPr>
              <a:t>Infinity</a:t>
            </a:r>
          </a:p>
          <a:p>
            <a:r>
              <a:rPr lang="en-US" altLang="en-US" sz="2400" dirty="0"/>
              <a:t>String: sequence of zero or more Unicode chars</a:t>
            </a:r>
          </a:p>
          <a:p>
            <a:pPr lvl="1"/>
            <a:r>
              <a:rPr lang="en-US" altLang="en-US" sz="1800" dirty="0"/>
              <a:t>No separate character type (just strings of length 1)</a:t>
            </a:r>
          </a:p>
          <a:p>
            <a:pPr lvl="1"/>
            <a:r>
              <a:rPr lang="en-US" altLang="en-US" sz="1800" dirty="0"/>
              <a:t>Literal strings using ' or " characters  (must match)</a:t>
            </a:r>
          </a:p>
          <a:p>
            <a:r>
              <a:rPr lang="en-US" altLang="en-US" sz="2400" dirty="0"/>
              <a:t>Special objects: </a:t>
            </a:r>
            <a:r>
              <a:rPr lang="en-US" altLang="en-US" sz="2400" dirty="0">
                <a:solidFill>
                  <a:schemeClr val="accent2"/>
                </a:solidFill>
              </a:rPr>
              <a:t>null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chemeClr val="accent2"/>
                </a:solidFill>
              </a:rPr>
              <a:t>undefined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B1D940-A0E7-0286-BD29-53B13EEEF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F5EF-5455-15F9-D570-52F3E312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Ways to Declare a JavaScript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351D7-5BD5-468F-4345-ED27A7F16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Using var</a:t>
            </a:r>
          </a:p>
          <a:p>
            <a:r>
              <a:rPr lang="en-US" sz="2400" dirty="0"/>
              <a:t>Using let</a:t>
            </a:r>
          </a:p>
          <a:p>
            <a:r>
              <a:rPr lang="en-US" sz="2400" dirty="0"/>
              <a:t>Using const</a:t>
            </a:r>
          </a:p>
          <a:p>
            <a:r>
              <a:rPr lang="en-US" sz="2400" dirty="0"/>
              <a:t>Using nothing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592DD-92DD-ABD5-20C1-B27B1E12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7DBB-02B9-B095-465C-AF307105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535983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124200"/>
            <a:ext cx="8461248" cy="2743200"/>
          </a:xfrm>
        </p:spPr>
        <p:txBody>
          <a:bodyPr/>
          <a:lstStyle/>
          <a:p>
            <a:r>
              <a:rPr lang="en-US" sz="2400" dirty="0"/>
              <a:t>variables are declared with the </a:t>
            </a:r>
            <a:r>
              <a:rPr lang="en-US" sz="2400" dirty="0" err="1"/>
              <a:t>var</a:t>
            </a:r>
            <a:r>
              <a:rPr lang="en-US" sz="2400" dirty="0"/>
              <a:t> keyword (case sensitive)</a:t>
            </a:r>
          </a:p>
          <a:p>
            <a:r>
              <a:rPr lang="en-US" sz="2400" dirty="0"/>
              <a:t>types are not specified, but JS does have types ("loosely typed")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Number, Boolean, String, Array, Object, Function, Null, Undefined</a:t>
            </a:r>
          </a:p>
          <a:p>
            <a:pPr lvl="1"/>
            <a:r>
              <a:rPr lang="en-US" sz="1800" dirty="0"/>
              <a:t>can find out a variable's type by calling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typeof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8153400" cy="36933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 = expression;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21468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clientName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"Connie Client";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age = 32;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weight = 127.4;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     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E5E00-41F1-6FFC-4DC6-2E899A3E8615}"/>
              </a:ext>
            </a:extLst>
          </p:cNvPr>
          <p:cNvSpPr txBox="1"/>
          <p:nvPr/>
        </p:nvSpPr>
        <p:spPr>
          <a:xfrm>
            <a:off x="612648" y="1598197"/>
            <a:ext cx="8153400" cy="36933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 = expression;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AE6C7-AD5D-080E-15B5-DF2B688C947A}"/>
              </a:ext>
            </a:extLst>
          </p:cNvPr>
          <p:cNvSpPr txBox="1"/>
          <p:nvPr/>
        </p:nvSpPr>
        <p:spPr>
          <a:xfrm>
            <a:off x="612648" y="2219465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clientName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"Connie Client";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age = 32;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weight = 127.4;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     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0E31C-F5C4-16E9-A928-53468759712B}"/>
              </a:ext>
            </a:extLst>
          </p:cNvPr>
          <p:cNvSpPr txBox="1"/>
          <p:nvPr/>
        </p:nvSpPr>
        <p:spPr>
          <a:xfrm>
            <a:off x="611124" y="1598197"/>
            <a:ext cx="8153400" cy="36933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 = expression;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C0245-05AD-03B5-2BCB-E07DFA343107}"/>
              </a:ext>
            </a:extLst>
          </p:cNvPr>
          <p:cNvSpPr txBox="1"/>
          <p:nvPr/>
        </p:nvSpPr>
        <p:spPr>
          <a:xfrm>
            <a:off x="611124" y="2219465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clientName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"Connie Client";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age = 32;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weight = 127.4;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     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1407060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45DE-AA62-F830-45CC-8F79EE15C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F4FD-7614-F6B6-038B-D6C6AE279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a-DK" sz="2000" dirty="0"/>
              <a:t>let x = 5;</a:t>
            </a:r>
          </a:p>
          <a:p>
            <a:pPr lvl="1"/>
            <a:r>
              <a:rPr lang="da-DK" sz="2000" dirty="0"/>
              <a:t>let y = 6;</a:t>
            </a:r>
          </a:p>
          <a:p>
            <a:pPr lvl="1"/>
            <a:r>
              <a:rPr lang="da-DK" sz="2000" dirty="0"/>
              <a:t>let z = x + y;</a:t>
            </a:r>
            <a:endParaRPr lang="en-US" sz="2000" dirty="0"/>
          </a:p>
          <a:p>
            <a:endParaRPr lang="en-US" sz="11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to Use?</a:t>
            </a:r>
          </a:p>
          <a:p>
            <a:r>
              <a:rPr lang="en-US" sz="1800" dirty="0"/>
              <a:t>Always declare JavaScript variables with </a:t>
            </a:r>
            <a:r>
              <a:rPr lang="en-US" sz="1800" dirty="0" err="1"/>
              <a:t>var,let</a:t>
            </a:r>
            <a:r>
              <a:rPr lang="en-US" sz="1800" dirty="0"/>
              <a:t>, or const.</a:t>
            </a:r>
          </a:p>
          <a:p>
            <a:r>
              <a:rPr lang="en-US" sz="1800" dirty="0"/>
              <a:t>The let and const keywords were added to JavaScript in 2015.</a:t>
            </a:r>
          </a:p>
          <a:p>
            <a:r>
              <a:rPr lang="en-US" sz="1800" dirty="0"/>
              <a:t>If you want your code to run in older browsers, you must use var.</a:t>
            </a:r>
          </a:p>
          <a:p>
            <a:r>
              <a:rPr lang="en-US" sz="1800" dirty="0"/>
              <a:t>If you want a general rule: always declare variables with const.</a:t>
            </a:r>
          </a:p>
          <a:p>
            <a:r>
              <a:rPr lang="en-US" sz="1800" dirty="0"/>
              <a:t>If you think the value of the variable can change, use let.</a:t>
            </a:r>
          </a:p>
          <a:p>
            <a:pPr lvl="1"/>
            <a:r>
              <a:rPr lang="en-US" sz="2000" dirty="0"/>
              <a:t>const price1 = 5;</a:t>
            </a:r>
          </a:p>
          <a:p>
            <a:pPr lvl="1"/>
            <a:r>
              <a:rPr lang="en-US" sz="2000" dirty="0"/>
              <a:t>const price2 = 6;</a:t>
            </a:r>
          </a:p>
          <a:p>
            <a:pPr lvl="1"/>
            <a:r>
              <a:rPr lang="en-US" sz="2000" dirty="0"/>
              <a:t>let total = price1 + price2;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8FA6-4E17-63C5-E5D9-95E22151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BFE8D-2F6E-4977-8021-893E7491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202296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type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19545" y="2641190"/>
            <a:ext cx="8153400" cy="1219200"/>
          </a:xfrm>
        </p:spPr>
        <p:txBody>
          <a:bodyPr/>
          <a:lstStyle/>
          <a:p>
            <a:r>
              <a:rPr lang="en-US" sz="2400" dirty="0"/>
              <a:t>integers and real numbers are the same type (no </a:t>
            </a:r>
            <a:r>
              <a:rPr lang="en-US" sz="2400" dirty="0" err="1"/>
              <a:t>int</a:t>
            </a:r>
            <a:r>
              <a:rPr lang="en-US" sz="2400" dirty="0"/>
              <a:t> vs. double)</a:t>
            </a:r>
          </a:p>
          <a:p>
            <a:r>
              <a:rPr lang="en-US" sz="2400" dirty="0"/>
              <a:t>same operators: + - * / % ++ -- = += -= *= /= %=</a:t>
            </a:r>
          </a:p>
          <a:p>
            <a:r>
              <a:rPr lang="en-US" sz="2400" dirty="0"/>
              <a:t>similar precedence to Java</a:t>
            </a:r>
          </a:p>
          <a:p>
            <a:r>
              <a:rPr lang="en-US" sz="2400" dirty="0"/>
              <a:t>many operators auto-convert types: "2" * 3 is 6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32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12648" y="1397155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enrollment = 99;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medianGrade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2.8;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credits = 5 + 4 + (2 * 3);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3379989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(same as Java)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971800"/>
            <a:ext cx="8153400" cy="1219200"/>
          </a:xfrm>
        </p:spPr>
        <p:txBody>
          <a:bodyPr/>
          <a:lstStyle/>
          <a:p>
            <a:r>
              <a:rPr lang="en-US" sz="2800" dirty="0"/>
              <a:t>identical to Java's comment syntax</a:t>
            </a:r>
          </a:p>
          <a:p>
            <a:r>
              <a:rPr lang="en-US" sz="2800" dirty="0"/>
              <a:t>recall: 4 comment syntaxes</a:t>
            </a:r>
          </a:p>
          <a:p>
            <a:pPr lvl="1"/>
            <a:r>
              <a:rPr lang="en-US" sz="2000" dirty="0"/>
              <a:t>HTML: &lt;!-- comment --&gt;</a:t>
            </a:r>
          </a:p>
          <a:p>
            <a:pPr lvl="1"/>
            <a:r>
              <a:rPr lang="en-US" sz="2000" dirty="0"/>
              <a:t>CSS/JS/PHP: /* comment */</a:t>
            </a:r>
          </a:p>
          <a:p>
            <a:pPr lvl="1"/>
            <a:r>
              <a:rPr lang="en-US" sz="2000" dirty="0"/>
              <a:t>Java/JS/PHP: // comment</a:t>
            </a:r>
          </a:p>
          <a:p>
            <a:pPr lvl="1"/>
            <a:r>
              <a:rPr lang="en-US" sz="2000" dirty="0"/>
              <a:t>PHP: # comment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33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600200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single-line comment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/* multi-line comment */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954909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Math object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600200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rand1to10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Math.random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* 10 + 1);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three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Math.PI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			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28956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methods: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abs, ceil,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floor, log, max, min,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random, round, sin,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tan</a:t>
            </a:r>
          </a:p>
          <a:p>
            <a:r>
              <a:rPr lang="en-US" dirty="0"/>
              <a:t>properties: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E, PI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156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586A2-0CC2-64A3-3E0F-F959EC04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A070F-117F-B514-51FA-E7B547A07096}"/>
              </a:ext>
            </a:extLst>
          </p:cNvPr>
          <p:cNvSpPr txBox="1"/>
          <p:nvPr/>
        </p:nvSpPr>
        <p:spPr>
          <a:xfrm>
            <a:off x="304800" y="306878"/>
            <a:ext cx="8001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0" dirty="0">
                <a:effectLst/>
              </a:rPr>
              <a:t>// Numbers:</a:t>
            </a:r>
            <a:br>
              <a:rPr lang="en-US" sz="2200" b="0" i="0" dirty="0">
                <a:effectLst/>
              </a:rPr>
            </a:br>
            <a:r>
              <a:rPr lang="en-US" sz="2200" b="0" i="0" dirty="0">
                <a:effectLst/>
              </a:rPr>
              <a:t>let length = 16;</a:t>
            </a:r>
            <a:br>
              <a:rPr lang="en-US" sz="2200" dirty="0"/>
            </a:br>
            <a:r>
              <a:rPr lang="en-US" sz="2200" b="0" i="0" dirty="0">
                <a:effectLst/>
              </a:rPr>
              <a:t>let weight = 7.5;</a:t>
            </a:r>
            <a:br>
              <a:rPr lang="en-US" sz="2200" dirty="0"/>
            </a:br>
            <a:r>
              <a:rPr lang="en-US" sz="2200" b="1" i="0" dirty="0">
                <a:effectLst/>
              </a:rPr>
              <a:t>// Strings:</a:t>
            </a:r>
            <a:br>
              <a:rPr lang="en-US" sz="2200" b="0" i="0" dirty="0">
                <a:effectLst/>
              </a:rPr>
            </a:br>
            <a:r>
              <a:rPr lang="en-US" sz="2200" b="0" i="0" dirty="0">
                <a:effectLst/>
              </a:rPr>
              <a:t>let color = "Yellow";</a:t>
            </a:r>
            <a:br>
              <a:rPr lang="en-US" sz="2200" dirty="0"/>
            </a:br>
            <a:r>
              <a:rPr lang="en-US" sz="2200" b="0" i="0" dirty="0">
                <a:effectLst/>
              </a:rPr>
              <a:t>let </a:t>
            </a:r>
            <a:r>
              <a:rPr lang="en-US" sz="2200" b="0" i="0" dirty="0" err="1">
                <a:effectLst/>
              </a:rPr>
              <a:t>lastName</a:t>
            </a:r>
            <a:r>
              <a:rPr lang="en-US" sz="2200" b="0" i="0" dirty="0">
                <a:effectLst/>
              </a:rPr>
              <a:t> = "Johnson";</a:t>
            </a:r>
            <a:br>
              <a:rPr lang="en-US" sz="2200" dirty="0"/>
            </a:br>
            <a:r>
              <a:rPr lang="en-US" sz="2200" b="1" i="0" dirty="0">
                <a:effectLst/>
              </a:rPr>
              <a:t>// Booleans</a:t>
            </a:r>
            <a:br>
              <a:rPr lang="en-US" sz="2200" b="0" i="0" dirty="0">
                <a:effectLst/>
              </a:rPr>
            </a:br>
            <a:r>
              <a:rPr lang="en-US" sz="2200" b="0" i="0" dirty="0">
                <a:effectLst/>
              </a:rPr>
              <a:t>let x = true;</a:t>
            </a:r>
            <a:br>
              <a:rPr lang="en-US" sz="2200" dirty="0"/>
            </a:br>
            <a:r>
              <a:rPr lang="en-US" sz="2200" b="0" i="0" dirty="0">
                <a:effectLst/>
              </a:rPr>
              <a:t>let y = false;</a:t>
            </a:r>
            <a:br>
              <a:rPr lang="en-US" sz="2200" dirty="0"/>
            </a:br>
            <a:r>
              <a:rPr lang="en-US" sz="2200" b="1" i="0" dirty="0">
                <a:effectLst/>
              </a:rPr>
              <a:t>// Object:</a:t>
            </a:r>
            <a:br>
              <a:rPr lang="en-US" sz="2200" b="0" i="0" dirty="0">
                <a:effectLst/>
              </a:rPr>
            </a:br>
            <a:r>
              <a:rPr lang="en-US" sz="2200" b="0" i="0" dirty="0">
                <a:effectLst/>
              </a:rPr>
              <a:t>const person = {</a:t>
            </a:r>
            <a:r>
              <a:rPr lang="en-US" sz="2200" b="0" i="0" dirty="0" err="1">
                <a:effectLst/>
              </a:rPr>
              <a:t>firstName</a:t>
            </a:r>
            <a:r>
              <a:rPr lang="en-US" sz="2200" b="0" i="0" dirty="0">
                <a:effectLst/>
              </a:rPr>
              <a:t>:"John", </a:t>
            </a:r>
            <a:r>
              <a:rPr lang="en-US" sz="2200" b="0" i="0" dirty="0" err="1">
                <a:effectLst/>
              </a:rPr>
              <a:t>lastName</a:t>
            </a:r>
            <a:r>
              <a:rPr lang="en-US" sz="2200" b="0" i="0" dirty="0">
                <a:effectLst/>
              </a:rPr>
              <a:t>:"Doe"};</a:t>
            </a:r>
            <a:br>
              <a:rPr lang="en-US" sz="2200" dirty="0"/>
            </a:br>
            <a:r>
              <a:rPr lang="en-US" sz="2200" b="1" i="0" dirty="0">
                <a:effectLst/>
              </a:rPr>
              <a:t>// Array object:</a:t>
            </a:r>
            <a:br>
              <a:rPr lang="en-US" sz="2200" b="0" i="0" dirty="0">
                <a:effectLst/>
              </a:rPr>
            </a:br>
            <a:r>
              <a:rPr lang="en-US" sz="2200" b="0" i="0" dirty="0">
                <a:effectLst/>
              </a:rPr>
              <a:t>const cars = ["Saab", "Volvo", "BMW"];</a:t>
            </a:r>
            <a:br>
              <a:rPr lang="en-US" sz="2200" dirty="0"/>
            </a:br>
            <a:r>
              <a:rPr lang="en-US" sz="2200" b="1" i="0" dirty="0">
                <a:effectLst/>
              </a:rPr>
              <a:t>// Date object:</a:t>
            </a:r>
            <a:br>
              <a:rPr lang="en-US" sz="2200" b="0" i="0" dirty="0">
                <a:effectLst/>
              </a:rPr>
            </a:br>
            <a:r>
              <a:rPr lang="en-US" sz="2200" b="0" i="0" dirty="0">
                <a:effectLst/>
              </a:rPr>
              <a:t>const date = new Date("2022-03-25");</a:t>
            </a:r>
            <a:endParaRPr lang="en-US" sz="2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A4E80D-2EBB-59B0-72DD-EA537744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182278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Special values: null and undefined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36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1334329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null;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benson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9;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at this point in the code,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null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benson's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9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caroline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undefined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				  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3492347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undefined</a:t>
            </a:r>
            <a:r>
              <a:rPr lang="en-US" sz="2400" dirty="0"/>
              <a:t> : has not been declared, does not exist</a:t>
            </a:r>
          </a:p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sz="2400" dirty="0"/>
              <a:t> : exists, but was specifically assigned an empty or null value</a:t>
            </a:r>
          </a:p>
          <a:p>
            <a:r>
              <a:rPr lang="en-US" sz="2400" dirty="0"/>
              <a:t>Why does JavaScript have both of these?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09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9D8B-0E5D-06A8-88BB-A94ABFDA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(self study)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CB90-698C-CE3F-EFD2-FB5BFEFA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r>
              <a:rPr lang="en-US" sz="2400" dirty="0"/>
              <a:t>Refer all operators you studied in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14146-6371-1738-C2D1-C46DF181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4D39E-0633-C7F2-E6EA-66053C5C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49975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Logical operators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38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12954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&gt; &lt; &gt;= &lt;= &amp;&amp; || ! == != === !==</a:t>
            </a:r>
          </a:p>
          <a:p>
            <a:r>
              <a:rPr lang="en-US" dirty="0"/>
              <a:t>most logical operators automatically convert types:</a:t>
            </a:r>
          </a:p>
          <a:p>
            <a:pPr lvl="1"/>
            <a:r>
              <a:rPr lang="en-US" dirty="0"/>
              <a:t>5 &lt; "7" is true</a:t>
            </a:r>
          </a:p>
          <a:p>
            <a:pPr lvl="1"/>
            <a:r>
              <a:rPr lang="en-US" dirty="0"/>
              <a:t>42 == 42.0 is true</a:t>
            </a:r>
          </a:p>
          <a:p>
            <a:pPr lvl="1"/>
            <a:r>
              <a:rPr lang="en-US" dirty="0"/>
              <a:t>"5.0" == 5 is true</a:t>
            </a:r>
          </a:p>
          <a:p>
            <a:r>
              <a:rPr lang="en-US" dirty="0"/>
              <a:t>=== and !== are strict equality tests; checks both type and value</a:t>
            </a:r>
          </a:p>
          <a:p>
            <a:pPr lvl="1"/>
            <a:r>
              <a:rPr lang="en-US" dirty="0"/>
              <a:t>"5.0" === 5 is false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58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401A-FEB2-FA18-5018-0A469A68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JavaScript Strings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31FA-F5EE-72CC-28D6-5AC49EF4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&lt;p&gt;The length of the string is:&lt;/p&gt;</a:t>
            </a:r>
          </a:p>
          <a:p>
            <a:r>
              <a:rPr lang="en-US" sz="2000" dirty="0"/>
              <a:t>&lt;p id="demo"&gt;&lt;/p&gt;</a:t>
            </a:r>
          </a:p>
          <a:p>
            <a:endParaRPr lang="en-US" sz="2000" dirty="0"/>
          </a:p>
          <a:p>
            <a:r>
              <a:rPr lang="en-US" sz="2000" dirty="0"/>
              <a:t>&lt;script&gt;</a:t>
            </a:r>
          </a:p>
          <a:p>
            <a:r>
              <a:rPr lang="en-US" sz="2000" dirty="0"/>
              <a:t>let text = "ABCDEFGHIJKLMNOPQRSTUVWXYZ";</a:t>
            </a:r>
          </a:p>
          <a:p>
            <a:r>
              <a:rPr lang="en-US" sz="2000" dirty="0" err="1"/>
              <a:t>document.getElementById</a:t>
            </a:r>
            <a:r>
              <a:rPr lang="en-US" sz="2000" dirty="0"/>
              <a:t>("demo").</a:t>
            </a:r>
            <a:r>
              <a:rPr lang="en-US" sz="2000" dirty="0" err="1"/>
              <a:t>innerHTML</a:t>
            </a:r>
            <a:r>
              <a:rPr lang="en-US" sz="2000" dirty="0"/>
              <a:t> = </a:t>
            </a:r>
            <a:r>
              <a:rPr lang="en-US" sz="2000" dirty="0" err="1"/>
              <a:t>text.length</a:t>
            </a:r>
            <a:r>
              <a:rPr lang="en-US" sz="2000" dirty="0"/>
              <a:t>;</a:t>
            </a:r>
          </a:p>
          <a:p>
            <a:r>
              <a:rPr lang="en-US" sz="2000" dirty="0"/>
              <a:t>&lt;/script&gt;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CC99A-3295-2479-2F0A-4F0CC62D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D0BB5-4A67-75ED-4031-AC1BE011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081738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0AC6-F60A-0B65-5ED8-72F58CCA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 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F33A-8F92-6610-704C-67C6F3FE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parameter1, parameter2, parameter3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US" sz="2000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code to be executed</a:t>
            </a:r>
            <a:b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Function Invocation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code inside the function will execute when "something"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invokes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(calls) the function: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an event occurs (when a user clicks a button)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it is invoked (called) from JavaScript code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Automatically (self invoked)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2EECF-9B9F-4711-396B-26C58122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6BB5-1689-7A92-592C-1A9D1D48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233874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0A63-C70B-EDBA-D41C-3787CE60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DCC10-6C22-3F81-6370-ADF1B1883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&lt;p id="demo"&gt;&lt;/p&gt;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&lt;script&gt;</a:t>
            </a:r>
          </a:p>
          <a:p>
            <a:pPr marL="0" indent="0">
              <a:buNone/>
            </a:pPr>
            <a:r>
              <a:rPr lang="en-US" sz="2400" dirty="0"/>
              <a:t>var x = </a:t>
            </a:r>
            <a:r>
              <a:rPr lang="en-US" sz="2400" dirty="0" err="1"/>
              <a:t>myFunction</a:t>
            </a:r>
            <a:r>
              <a:rPr lang="en-US" sz="2400" dirty="0"/>
              <a:t>(4, 3);</a:t>
            </a:r>
          </a:p>
          <a:p>
            <a:pPr marL="0" indent="0">
              <a:buNone/>
            </a:pPr>
            <a:r>
              <a:rPr lang="en-US" sz="2400" dirty="0" err="1"/>
              <a:t>document.getElementById</a:t>
            </a:r>
            <a:r>
              <a:rPr lang="en-US" sz="2400" dirty="0"/>
              <a:t>("demo").</a:t>
            </a:r>
            <a:r>
              <a:rPr lang="en-US" sz="2400" dirty="0" err="1"/>
              <a:t>innerHTML</a:t>
            </a:r>
            <a:r>
              <a:rPr lang="en-US" sz="2400" dirty="0"/>
              <a:t> = x;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function </a:t>
            </a:r>
            <a:r>
              <a:rPr lang="en-US" sz="2400" dirty="0" err="1"/>
              <a:t>myFunction</a:t>
            </a:r>
            <a:r>
              <a:rPr lang="en-US" sz="2400" dirty="0"/>
              <a:t>(a, b) {</a:t>
            </a:r>
          </a:p>
          <a:p>
            <a:pPr marL="0" indent="0">
              <a:buNone/>
            </a:pPr>
            <a:r>
              <a:rPr lang="en-US" sz="2400" dirty="0"/>
              <a:t>  return a * b;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&lt;/script&gt;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27194-9C28-4807-5F60-C27C4340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2C93C-7DE2-B366-E3DB-F987DA46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949309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603E-04C2-56E6-4D0F-AB4115A8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72D3-FD23-D5D3-1A43-4D8BBEE6F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&lt;p id="demo"&gt;&lt;/p&gt;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&lt;script&gt;</a:t>
            </a:r>
          </a:p>
          <a:p>
            <a:pPr marL="0" indent="0">
              <a:buNone/>
            </a:pPr>
            <a:r>
              <a:rPr lang="en-US" sz="2400" dirty="0" err="1"/>
              <a:t>document.getElementById</a:t>
            </a:r>
            <a:r>
              <a:rPr lang="en-US" sz="2400" dirty="0"/>
              <a:t>("demo").</a:t>
            </a:r>
            <a:r>
              <a:rPr lang="en-US" sz="2400" dirty="0" err="1"/>
              <a:t>innerHTML</a:t>
            </a:r>
            <a:r>
              <a:rPr lang="en-US" sz="2400" dirty="0"/>
              <a:t> =</a:t>
            </a:r>
          </a:p>
          <a:p>
            <a:pPr marL="0" indent="0">
              <a:buNone/>
            </a:pPr>
            <a:r>
              <a:rPr lang="en-US" sz="2400" dirty="0"/>
              <a:t>"The temperature is " + </a:t>
            </a:r>
            <a:r>
              <a:rPr lang="en-US" sz="2400" dirty="0" err="1"/>
              <a:t>toCelsius</a:t>
            </a:r>
            <a:r>
              <a:rPr lang="en-US" sz="2400" dirty="0"/>
              <a:t>(77) + " Celsius";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function </a:t>
            </a:r>
            <a:r>
              <a:rPr lang="en-US" sz="2400" dirty="0" err="1"/>
              <a:t>toCelsius</a:t>
            </a:r>
            <a:r>
              <a:rPr lang="en-US" sz="2400" dirty="0"/>
              <a:t>(</a:t>
            </a:r>
            <a:r>
              <a:rPr lang="en-US" sz="2400" dirty="0" err="1"/>
              <a:t>fahrenheit</a:t>
            </a:r>
            <a:r>
              <a:rPr lang="en-US" sz="2400" dirty="0"/>
              <a:t>) {</a:t>
            </a:r>
          </a:p>
          <a:p>
            <a:pPr marL="0" indent="0">
              <a:buNone/>
            </a:pPr>
            <a:r>
              <a:rPr lang="en-US" sz="2400" dirty="0"/>
              <a:t>  return (5/9) * (fahrenheit-32);</a:t>
            </a:r>
          </a:p>
          <a:p>
            <a:pPr marL="0" indent="0">
              <a:buNone/>
            </a:pPr>
            <a:r>
              <a:rPr lang="en-US" sz="2400" dirty="0"/>
              <a:t>} </a:t>
            </a:r>
          </a:p>
          <a:p>
            <a:pPr marL="0" indent="0">
              <a:buNone/>
            </a:pPr>
            <a:r>
              <a:rPr lang="en-US" sz="2400" dirty="0"/>
              <a:t>&lt;/script&gt;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22D3D-9CB7-24E8-7E34-DD6BF90D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B68B2-CCCF-4681-468D-4E01226C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6601973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Popup boxes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43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1215554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alert("message"); // message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confirm("message"); // returns true or false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prompt("message"); // returns user input string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2" y="4305300"/>
            <a:ext cx="4910138" cy="1866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825" y="2552700"/>
            <a:ext cx="491353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6389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05E7-57A9-A7B0-9266-14C26E62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b="0" i="0" dirty="0">
                <a:effectLst/>
                <a:latin typeface="Segoe UI" panose="020B0502040204020203" pitchFamily="34" charset="0"/>
              </a:rPr>
              <a:t>JavaScript Objects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706E-62C9-AB6F-93EC-5A0365A78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Real Life Objects, Properties, and Methods</a:t>
            </a:r>
          </a:p>
          <a:p>
            <a:r>
              <a:rPr lang="en-US" sz="2400" dirty="0"/>
              <a:t>In real life, a student is an object.</a:t>
            </a:r>
          </a:p>
          <a:p>
            <a:r>
              <a:rPr lang="en-US" sz="2400" dirty="0"/>
              <a:t>Student can have properties name, </a:t>
            </a:r>
            <a:r>
              <a:rPr lang="en-US" sz="2400" dirty="0" err="1"/>
              <a:t>roll_no</a:t>
            </a:r>
            <a:r>
              <a:rPr lang="en-US" sz="2400" dirty="0"/>
              <a:t>., marks, </a:t>
            </a:r>
            <a:r>
              <a:rPr lang="en-US" sz="2400" dirty="0" err="1"/>
              <a:t>phone_num</a:t>
            </a:r>
            <a:r>
              <a:rPr lang="en-US" sz="2400" dirty="0"/>
              <a:t>, age…</a:t>
            </a:r>
          </a:p>
          <a:p>
            <a:r>
              <a:rPr lang="en-US" sz="2400" dirty="0"/>
              <a:t>Student can have methods to operate on properties like </a:t>
            </a:r>
            <a:r>
              <a:rPr lang="en-US" sz="2400" dirty="0" err="1"/>
              <a:t>Calcualte_cgpa</a:t>
            </a:r>
            <a:r>
              <a:rPr lang="en-US" sz="2400" dirty="0"/>
              <a:t>(), </a:t>
            </a:r>
            <a:r>
              <a:rPr lang="en-US" sz="2400" dirty="0" err="1"/>
              <a:t>diplayInfo</a:t>
            </a:r>
            <a:r>
              <a:rPr lang="en-US" sz="2400" dirty="0"/>
              <a:t>()….</a:t>
            </a:r>
          </a:p>
          <a:p>
            <a:r>
              <a:rPr lang="en-US" sz="2400" dirty="0"/>
              <a:t>All student have same properties, values may change</a:t>
            </a:r>
          </a:p>
          <a:p>
            <a:r>
              <a:rPr lang="en-US" sz="2400" dirty="0"/>
              <a:t>Assume car is an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B89B-928D-CFE1-D5DD-8BE2C6D9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C473-D5AA-107F-058C-6672E7F1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467473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F66B-A1D7-D30F-7801-DD2FE38EA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C893F-4EA4-4A07-1FAB-638E7704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"Fiat"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Objects are variables too. But objects can contain many values.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= {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"Fiat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model: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"500"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"white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values are written as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name:value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pairs (name and value separated by a colon).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A511-9336-A759-E211-D8835C4F2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9EDB7-1E6F-8DBF-8561-7E3A3922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943414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5B37-7D4D-E3BB-BA81-5DE17168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9BAC-833A-0DE6-036E-56AB7C418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&lt;p id="demo"&gt;&lt;/p&gt;</a:t>
            </a:r>
          </a:p>
          <a:p>
            <a:pPr marL="0" indent="0">
              <a:buNone/>
            </a:pPr>
            <a:r>
              <a:rPr lang="en-US" sz="2000" dirty="0"/>
              <a:t>&lt;script&gt;</a:t>
            </a:r>
          </a:p>
          <a:p>
            <a:pPr marL="0" indent="0">
              <a:buNone/>
            </a:pPr>
            <a:r>
              <a:rPr lang="en-US" sz="2000" dirty="0"/>
              <a:t>// Create an object:</a:t>
            </a:r>
          </a:p>
          <a:p>
            <a:pPr marL="0" indent="0">
              <a:buNone/>
            </a:pPr>
            <a:r>
              <a:rPr lang="en-US" sz="2000" dirty="0"/>
              <a:t>const person = {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firstName</a:t>
            </a:r>
            <a:r>
              <a:rPr lang="en-US" sz="2000" dirty="0"/>
              <a:t>: "John",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lastName</a:t>
            </a:r>
            <a:r>
              <a:rPr lang="en-US" sz="2000" dirty="0"/>
              <a:t>: "Doe",</a:t>
            </a:r>
          </a:p>
          <a:p>
            <a:pPr marL="0" indent="0">
              <a:buNone/>
            </a:pPr>
            <a:r>
              <a:rPr lang="en-US" sz="2000" dirty="0"/>
              <a:t>  age: 50,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eyeColor</a:t>
            </a:r>
            <a:r>
              <a:rPr lang="en-US" sz="2000" dirty="0"/>
              <a:t>: "blue"</a:t>
            </a:r>
          </a:p>
          <a:p>
            <a:pPr marL="0" indent="0">
              <a:buNone/>
            </a:pPr>
            <a:r>
              <a:rPr lang="en-US" sz="2000" dirty="0"/>
              <a:t>};</a:t>
            </a:r>
          </a:p>
          <a:p>
            <a:pPr marL="0" indent="0">
              <a:buNone/>
            </a:pPr>
            <a:r>
              <a:rPr lang="en-US" sz="2000" dirty="0"/>
              <a:t>// Display some data from the object:</a:t>
            </a:r>
          </a:p>
          <a:p>
            <a:pPr marL="0" indent="0">
              <a:buNone/>
            </a:pPr>
            <a:r>
              <a:rPr lang="en-US" sz="2000" dirty="0" err="1"/>
              <a:t>document.getElementById</a:t>
            </a:r>
            <a:r>
              <a:rPr lang="en-US" sz="2000" dirty="0"/>
              <a:t>("demo").</a:t>
            </a:r>
            <a:r>
              <a:rPr lang="en-US" sz="2000" dirty="0" err="1"/>
              <a:t>innerHTML</a:t>
            </a:r>
            <a:r>
              <a:rPr lang="en-US" sz="2000" dirty="0"/>
              <a:t> =</a:t>
            </a:r>
          </a:p>
          <a:p>
            <a:pPr marL="0" indent="0">
              <a:buNone/>
            </a:pPr>
            <a:r>
              <a:rPr lang="en-US" sz="2000" dirty="0" err="1"/>
              <a:t>person.firstName</a:t>
            </a:r>
            <a:r>
              <a:rPr lang="en-US" sz="2000" dirty="0"/>
              <a:t> + " is " + </a:t>
            </a:r>
            <a:r>
              <a:rPr lang="en-US" sz="2000" dirty="0" err="1"/>
              <a:t>person.age</a:t>
            </a:r>
            <a:r>
              <a:rPr lang="en-US" sz="2000" dirty="0"/>
              <a:t> + " years old.";</a:t>
            </a:r>
          </a:p>
          <a:p>
            <a:pPr marL="0" indent="0">
              <a:buNone/>
            </a:pPr>
            <a:r>
              <a:rPr lang="en-US" sz="2000" dirty="0"/>
              <a:t>&lt;/script&gt;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48DD-C69F-2469-2AE6-A636AE57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9833A-B5C4-47E8-382A-19DE0880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6443962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A81A-3149-CB38-D233-DA6A20B6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JavaScript Events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0962-88B2-497F-DAB4-EA1A4F6A5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HTML events are "things" that happen to HTML elements.</a:t>
            </a:r>
          </a:p>
          <a:p>
            <a:r>
              <a:rPr lang="en-US" sz="2000" dirty="0"/>
              <a:t>When JavaScript is used in HTML pages, JavaScript can "react" on these events.</a:t>
            </a:r>
          </a:p>
          <a:p>
            <a:pPr marL="0" indent="0">
              <a:buNone/>
            </a:pPr>
            <a:r>
              <a:rPr lang="en-US" sz="2000" dirty="0"/>
              <a:t>HTML Events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An HTML event can be something the browser does, or something a user does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Here are some examples of HTML events:</a:t>
            </a:r>
          </a:p>
          <a:p>
            <a:r>
              <a:rPr lang="en-US" sz="2000" dirty="0"/>
              <a:t>An HTML web page has finished loading</a:t>
            </a:r>
          </a:p>
          <a:p>
            <a:r>
              <a:rPr lang="en-US" sz="2000" dirty="0"/>
              <a:t>An HTML input field was changed</a:t>
            </a:r>
          </a:p>
          <a:p>
            <a:r>
              <a:rPr lang="en-US" sz="2000" dirty="0"/>
              <a:t>An HTML button was clicked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42CA2-1E73-FC3F-A152-15DEAA9D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BC69-4F35-1705-17DF-5AFD5ED7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86593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BC4E-3D52-6EDF-8560-73ECD50A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9F6E-5E31-DBBE-DCBE-C84C2E6AF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762"/>
            <a:ext cx="8458200" cy="4680431"/>
          </a:xfrm>
        </p:spPr>
        <p:txBody>
          <a:bodyPr/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allows event handler attributes,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with JavaScript code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to be added to HTML elements.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1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400" b="1" i="1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some JavaScript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&lt;body&gt;</a:t>
            </a:r>
          </a:p>
          <a:p>
            <a:pPr marL="0" indent="0">
              <a:buNone/>
            </a:pPr>
            <a:r>
              <a:rPr lang="en-US" sz="2400" dirty="0"/>
              <a:t>&lt;button onclick="</a:t>
            </a:r>
            <a:r>
              <a:rPr lang="en-US" sz="2400" dirty="0" err="1"/>
              <a:t>document.getElementById</a:t>
            </a:r>
            <a:r>
              <a:rPr lang="en-US" sz="2400" dirty="0"/>
              <a:t>('demo').</a:t>
            </a:r>
            <a:r>
              <a:rPr lang="en-US" sz="2400" dirty="0" err="1"/>
              <a:t>innerHTML</a:t>
            </a:r>
            <a:r>
              <a:rPr lang="en-US" sz="2400" dirty="0"/>
              <a:t>=Date()"&gt; The time is? &lt;/button&gt;</a:t>
            </a:r>
          </a:p>
          <a:p>
            <a:pPr marL="0" indent="0">
              <a:buNone/>
            </a:pPr>
            <a:r>
              <a:rPr lang="en-US" sz="2400" dirty="0"/>
              <a:t>&lt;p id="demo"&gt;&lt;/p&gt;</a:t>
            </a:r>
          </a:p>
          <a:p>
            <a:pPr marL="0" indent="0">
              <a:buNone/>
            </a:pPr>
            <a:r>
              <a:rPr lang="en-US" sz="2400" dirty="0"/>
              <a:t>&lt;/body&gt;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6D04A-EAA8-0836-3D53-074B210D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160A8-4CB7-30A2-B609-8A16C67E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455303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B1BD-D6F7-212C-8EFB-2E7D4D8F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Try this</a:t>
            </a:r>
            <a:br>
              <a:rPr lang="en-US" sz="28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20D8-25C1-0C34-25D7-48404A0C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&lt;button onclick="</a:t>
            </a:r>
            <a:r>
              <a:rPr lang="en-US" sz="2400" dirty="0" err="1"/>
              <a:t>displayDate</a:t>
            </a:r>
            <a:r>
              <a:rPr lang="en-US" sz="2400" dirty="0"/>
              <a:t>()"&gt;The time is?&lt;/button&gt;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&lt;script&gt;</a:t>
            </a:r>
          </a:p>
          <a:p>
            <a:pPr marL="0" indent="0">
              <a:buNone/>
            </a:pPr>
            <a:r>
              <a:rPr lang="en-US" sz="2400" dirty="0"/>
              <a:t>function </a:t>
            </a:r>
            <a:r>
              <a:rPr lang="en-US" sz="2400" dirty="0" err="1"/>
              <a:t>displayDate</a:t>
            </a:r>
            <a:r>
              <a:rPr lang="en-US" sz="2400" dirty="0"/>
              <a:t>() {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/>
              <a:t>document.getElementById</a:t>
            </a:r>
            <a:r>
              <a:rPr lang="en-US" sz="2400" dirty="0"/>
              <a:t>("demo").</a:t>
            </a:r>
            <a:r>
              <a:rPr lang="en-US" sz="2400" dirty="0" err="1"/>
              <a:t>innerHTML</a:t>
            </a:r>
            <a:r>
              <a:rPr lang="en-US" sz="2400" dirty="0"/>
              <a:t> = Date();</a:t>
            </a:r>
          </a:p>
          <a:p>
            <a:pPr marL="0" indent="0">
              <a:buNone/>
            </a:pPr>
            <a:r>
              <a:rPr lang="en-US" sz="2400" dirty="0"/>
              <a:t>} &lt;/script&gt;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&lt;p id="demo"&gt;&lt;/p&gt;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C8206-DC9A-E085-021D-D655B127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6E4A8-A420-FB34-0FE9-D6CB58D2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036995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A8F8-8129-ED6F-9458-66D771F6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6F48F-BABF-2A5D-2294-109E7C63A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Objects use names to access its "members". </a:t>
            </a:r>
          </a:p>
          <a:p>
            <a:r>
              <a:rPr lang="en-US" sz="2400" dirty="0"/>
              <a:t>In this example, </a:t>
            </a:r>
            <a:r>
              <a:rPr lang="en-US" sz="2400" dirty="0" err="1"/>
              <a:t>person.firstName</a:t>
            </a:r>
            <a:r>
              <a:rPr lang="en-US" sz="2400" dirty="0"/>
              <a:t> returns John: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&lt;p id="demo"&gt;&lt;/p&gt;</a:t>
            </a:r>
          </a:p>
          <a:p>
            <a:pPr marL="0" indent="0">
              <a:buNone/>
            </a:pPr>
            <a:r>
              <a:rPr lang="en-US" sz="2400" dirty="0"/>
              <a:t>&lt;script&gt;</a:t>
            </a:r>
          </a:p>
          <a:p>
            <a:pPr marL="0" indent="0">
              <a:buNone/>
            </a:pPr>
            <a:r>
              <a:rPr lang="en-US" sz="2400" dirty="0"/>
              <a:t>const person = {</a:t>
            </a:r>
            <a:r>
              <a:rPr lang="en-US" sz="2400" dirty="0" err="1"/>
              <a:t>firstName</a:t>
            </a:r>
            <a:r>
              <a:rPr lang="en-US" sz="2400" dirty="0"/>
              <a:t>:"John", </a:t>
            </a:r>
            <a:r>
              <a:rPr lang="en-US" sz="2400" dirty="0" err="1"/>
              <a:t>lastName</a:t>
            </a:r>
            <a:r>
              <a:rPr lang="en-US" sz="2400" dirty="0"/>
              <a:t>:"Doe", age:46};</a:t>
            </a:r>
          </a:p>
          <a:p>
            <a:pPr marL="0" indent="0">
              <a:buNone/>
            </a:pPr>
            <a:r>
              <a:rPr lang="en-US" sz="2400" dirty="0" err="1"/>
              <a:t>document.getElementById</a:t>
            </a:r>
            <a:r>
              <a:rPr lang="en-US" sz="2400" dirty="0"/>
              <a:t>("demo").</a:t>
            </a:r>
            <a:r>
              <a:rPr lang="en-US" sz="2400" dirty="0" err="1"/>
              <a:t>innerHTML</a:t>
            </a:r>
            <a:r>
              <a:rPr lang="en-US" sz="2400" dirty="0"/>
              <a:t> = </a:t>
            </a:r>
            <a:r>
              <a:rPr lang="en-US" sz="2400" dirty="0" err="1"/>
              <a:t>person.firstName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&lt;/script&gt;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539D8-34A8-A038-69E2-D67E3DD6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CB81-C8EA-1F86-47EE-6AE9EBDC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25426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FA0F-6DA5-3738-8052-3BA980E6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JavaScript 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621E8-E35C-952C-F94D-9391254A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Syntax:</a:t>
            </a:r>
          </a:p>
          <a:p>
            <a:pPr algn="l"/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array_name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[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item1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...];  </a:t>
            </a:r>
          </a:p>
          <a:p>
            <a:pPr marL="0" indent="0">
              <a:buNone/>
            </a:pPr>
            <a:endParaRPr lang="en-US" sz="2400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i="0" dirty="0">
                <a:effectLst/>
                <a:latin typeface="Consolas" panose="020B0609020204030204" pitchFamily="49" charset="0"/>
              </a:rPr>
              <a:t>const cars = [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  "Saab",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  "Volvo",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  "BMW"</a:t>
            </a:r>
            <a:br>
              <a:rPr lang="en-US" sz="2400" dirty="0"/>
            </a:br>
            <a:r>
              <a:rPr lang="en-US" sz="2400" b="0" i="0" dirty="0">
                <a:effectLst/>
                <a:latin typeface="Consolas" panose="020B0609020204030204" pitchFamily="49" charset="0"/>
              </a:rPr>
              <a:t>];</a:t>
            </a:r>
            <a:endParaRPr lang="en-US" sz="2400" dirty="0"/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Accessing Array Elements</a:t>
            </a:r>
          </a:p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cars = [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"Saab"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= cars[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 //Saab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CDADA-A89B-A457-0D39-8B035E04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DF68D-6BC6-F848-6C97-CAE78753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299111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2AA4-1332-E7E6-E061-2F8D441A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9427E-1B27-F730-EB2A-A69262D55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 = [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sz="2000" dirty="0"/>
            </a:b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length =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fruits.length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//4</a:t>
            </a:r>
          </a:p>
          <a:p>
            <a:pPr marL="0" indent="0">
              <a:buNone/>
            </a:pPr>
            <a:r>
              <a:rPr lang="en-US" sz="16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Looping Array Elements</a:t>
            </a:r>
          </a:p>
          <a:p>
            <a:pPr marL="0" indent="0">
              <a:buNone/>
            </a:pPr>
            <a:r>
              <a:rPr lang="en-US" sz="2000" dirty="0"/>
              <a:t>&lt;p id="demo"&gt;&lt;/p&gt;</a:t>
            </a:r>
          </a:p>
          <a:p>
            <a:pPr marL="0" indent="0">
              <a:buNone/>
            </a:pPr>
            <a:r>
              <a:rPr lang="en-US" sz="2000" dirty="0"/>
              <a:t>&lt;script&gt;</a:t>
            </a:r>
          </a:p>
          <a:p>
            <a:pPr marL="0" indent="0">
              <a:buNone/>
            </a:pPr>
            <a:r>
              <a:rPr lang="en-US" sz="2000" dirty="0"/>
              <a:t>const fruits = ["Banana", "Orange", "Apple", "Mango"];</a:t>
            </a:r>
          </a:p>
          <a:p>
            <a:pPr marL="0" indent="0">
              <a:buNone/>
            </a:pPr>
            <a:r>
              <a:rPr lang="en-US" sz="2000" dirty="0"/>
              <a:t>let text = "&lt;</a:t>
            </a:r>
            <a:r>
              <a:rPr lang="en-US" sz="2000" dirty="0" err="1"/>
              <a:t>ul</a:t>
            </a:r>
            <a:r>
              <a:rPr lang="en-US" sz="2000" dirty="0"/>
              <a:t>&gt;";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0000"/>
                </a:solidFill>
              </a:rPr>
              <a:t>fruits.forEach</a:t>
            </a:r>
            <a:r>
              <a:rPr lang="en-US" sz="2000" dirty="0"/>
              <a:t>(</a:t>
            </a:r>
            <a:r>
              <a:rPr lang="en-US" sz="2000" dirty="0" err="1"/>
              <a:t>myFunction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text += "&lt;/</a:t>
            </a:r>
            <a:r>
              <a:rPr lang="en-US" sz="2000" dirty="0" err="1"/>
              <a:t>ul</a:t>
            </a:r>
            <a:r>
              <a:rPr lang="en-US" sz="2000" dirty="0"/>
              <a:t>&gt;";</a:t>
            </a:r>
          </a:p>
          <a:p>
            <a:pPr marL="0" indent="0">
              <a:buNone/>
            </a:pPr>
            <a:r>
              <a:rPr lang="en-US" sz="2000" dirty="0" err="1"/>
              <a:t>document.getElementById</a:t>
            </a:r>
            <a:r>
              <a:rPr lang="en-US" sz="2000" dirty="0"/>
              <a:t>("demo").</a:t>
            </a:r>
            <a:r>
              <a:rPr lang="en-US" sz="2000" dirty="0" err="1"/>
              <a:t>innerHTML</a:t>
            </a:r>
            <a:r>
              <a:rPr lang="en-US" sz="2000" dirty="0"/>
              <a:t> = text;</a:t>
            </a:r>
          </a:p>
          <a:p>
            <a:pPr marL="0" indent="0">
              <a:buNone/>
            </a:pPr>
            <a:r>
              <a:rPr lang="en-US" sz="2000" dirty="0"/>
              <a:t>function </a:t>
            </a:r>
            <a:r>
              <a:rPr lang="en-US" sz="2000" dirty="0" err="1"/>
              <a:t>myFunction</a:t>
            </a:r>
            <a:r>
              <a:rPr lang="en-US" sz="2000" dirty="0"/>
              <a:t>(value) {</a:t>
            </a:r>
          </a:p>
          <a:p>
            <a:pPr marL="0" indent="0">
              <a:buNone/>
            </a:pPr>
            <a:r>
              <a:rPr lang="en-US" sz="2000" dirty="0"/>
              <a:t>  text += "&lt;li&gt;" + value + "&lt;/li&gt;";</a:t>
            </a:r>
          </a:p>
          <a:p>
            <a:pPr marL="0" indent="0">
              <a:buNone/>
            </a:pPr>
            <a:r>
              <a:rPr lang="en-US" sz="2000" dirty="0"/>
              <a:t>}   &lt;/script&gt;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23285-D745-D8CF-AF61-FB280C1C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76BF9-BA99-FF56-F309-93658199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8525848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B3DB-9041-37BE-E97A-AD47DA65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124B-EB1A-2690-279F-0FE1C4026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&lt;p id="demo"&gt;&lt;/p&gt;</a:t>
            </a:r>
          </a:p>
          <a:p>
            <a:pPr marL="0" indent="0">
              <a:buNone/>
            </a:pPr>
            <a:r>
              <a:rPr lang="en-US" sz="2400" dirty="0"/>
              <a:t>&lt;script&gt;</a:t>
            </a:r>
          </a:p>
          <a:p>
            <a:pPr marL="0" indent="0">
              <a:buNone/>
            </a:pPr>
            <a:r>
              <a:rPr lang="en-US" sz="2400" dirty="0"/>
              <a:t>const numbers = [65, 44, 12, 4];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FF0000"/>
                </a:solidFill>
              </a:rPr>
              <a:t>numbers.forEach</a:t>
            </a:r>
            <a:r>
              <a:rPr lang="en-US" sz="2400" dirty="0"/>
              <a:t>(</a:t>
            </a:r>
            <a:r>
              <a:rPr lang="en-US" sz="2400" dirty="0" err="1"/>
              <a:t>myFunction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err="1"/>
              <a:t>document.getElementById</a:t>
            </a:r>
            <a:r>
              <a:rPr lang="en-US" sz="2400" dirty="0"/>
              <a:t>("demo").</a:t>
            </a:r>
            <a:r>
              <a:rPr lang="en-US" sz="2400" dirty="0" err="1"/>
              <a:t>innerHTML</a:t>
            </a:r>
            <a:r>
              <a:rPr lang="en-US" sz="2400" dirty="0"/>
              <a:t> = numbers;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function </a:t>
            </a:r>
            <a:r>
              <a:rPr lang="en-US" sz="2400" dirty="0" err="1"/>
              <a:t>myFunction</a:t>
            </a:r>
            <a:r>
              <a:rPr lang="en-US" sz="2400" dirty="0"/>
              <a:t>(item, index, </a:t>
            </a:r>
            <a:r>
              <a:rPr lang="en-US" sz="2400" dirty="0" err="1"/>
              <a:t>arr</a:t>
            </a:r>
            <a:r>
              <a:rPr lang="en-US" sz="2400" dirty="0"/>
              <a:t>) {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/>
              <a:t>arr</a:t>
            </a:r>
            <a:r>
              <a:rPr lang="en-US" sz="2400" dirty="0"/>
              <a:t>[index] = item * 10;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&lt;/script&gt;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92986-8DA3-A35A-60FD-D58BA399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99D9E-8ADE-0D3D-3D58-E8B1B56B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286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3594-F893-FA38-DE4C-8B65080A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elements to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5657-4B64-960A-8499-662E6B24C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 = [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sz="2400" dirty="0"/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fruits.push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"Lemon"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OR</a:t>
            </a:r>
          </a:p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 = [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fruits[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fruits.length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"Lemon"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 does not support associative arrays.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should use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objects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when you want the element names to be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strings (text)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should use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arrays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when you want the element names to be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numbers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9AB4-496B-AB38-33BA-C1471805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065A9-5E6D-23CA-0FCB-ACC718D2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4898854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55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47255" y="1321475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a = ["Stef", "Jason"]; 	// Stef, Jason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a.push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("Brian"); 		// Stef, Jason, Brian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a.unshift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("Kelly"); 		// Kelly, Stef, Jason, Brian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a.pop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		// Kelly, Stef, Jason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a.shift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		// Stef, Jason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a.sort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		// Jason, Stef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33400" y="3352800"/>
            <a:ext cx="8153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array serves as many data structures: list, queue, stack, ...</a:t>
            </a:r>
          </a:p>
          <a:p>
            <a:r>
              <a:rPr lang="en-US" sz="2000" dirty="0"/>
              <a:t>methods: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concat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join, pop, push, reverse, shift, slice, sort, splice,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unshift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000" dirty="0"/>
              <a:t>push and pop add / remove from back</a:t>
            </a:r>
          </a:p>
          <a:p>
            <a:pPr lvl="1"/>
            <a:r>
              <a:rPr lang="en-US" sz="2000" dirty="0" err="1"/>
              <a:t>unshift</a:t>
            </a:r>
            <a:r>
              <a:rPr lang="en-US" sz="2000" dirty="0"/>
              <a:t> and shift add / remove from front</a:t>
            </a:r>
          </a:p>
          <a:p>
            <a:pPr lvl="1"/>
            <a:r>
              <a:rPr lang="en-US" sz="2000" dirty="0"/>
              <a:t>shift and pop return the element that is removed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3C7EF-0FF9-B0D3-8781-F06B6131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450633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if/else statement (same as Java)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56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40327" y="1262258"/>
            <a:ext cx="8153400" cy="2308324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(condition)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else if (condition)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nn-NO" dirty="0">
                <a:latin typeface="Courier New" pitchFamily="49" charset="0"/>
                <a:cs typeface="Courier New" pitchFamily="49" charset="0"/>
              </a:rPr>
              <a:t>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91836" y="3744267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identical structure to Java's if/else statement</a:t>
            </a:r>
          </a:p>
          <a:p>
            <a:r>
              <a:rPr lang="en-US" sz="2400" dirty="0"/>
              <a:t>JavaScript allows almost anything as a condition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349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for loop (same as Java)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57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88818" y="1077546"/>
            <a:ext cx="8153400" cy="132343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n-NO" sz="2000" dirty="0">
                <a:latin typeface="Courier New" pitchFamily="49" charset="0"/>
                <a:cs typeface="Courier New" pitchFamily="49" charset="0"/>
              </a:rPr>
              <a:t>var sum = 0;</a:t>
            </a:r>
          </a:p>
          <a:p>
            <a:r>
              <a:rPr lang="nn-NO" sz="2000" b="1" dirty="0">
                <a:latin typeface="Courier New" pitchFamily="49" charset="0"/>
                <a:cs typeface="Courier New" pitchFamily="49" charset="0"/>
              </a:rPr>
              <a:t>for (var i = 0; i &lt; 100; i++) {</a:t>
            </a:r>
          </a:p>
          <a:p>
            <a:r>
              <a:rPr lang="nn-NO" sz="2000" dirty="0">
                <a:latin typeface="Courier New" pitchFamily="49" charset="0"/>
                <a:cs typeface="Courier New" pitchFamily="49" charset="0"/>
              </a:rPr>
              <a:t>	sum = sum + i;</a:t>
            </a:r>
          </a:p>
          <a:p>
            <a:r>
              <a:rPr lang="nn-NO" sz="2000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891" y="2414840"/>
            <a:ext cx="8153400" cy="1631216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s1 = "hello";</a:t>
            </a:r>
          </a:p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s2 = "";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i = 0; i &lt;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s.length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i++) {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	s2 += s1.charAt(i) + s1.charAt(i);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}   // s2 stores "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hheelllloo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      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D595E-ED08-CA56-20A7-92C000A1E468}"/>
              </a:ext>
            </a:extLst>
          </p:cNvPr>
          <p:cNvSpPr txBox="1"/>
          <p:nvPr/>
        </p:nvSpPr>
        <p:spPr>
          <a:xfrm>
            <a:off x="533400" y="4059911"/>
            <a:ext cx="8153400" cy="286232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const cars = ["BMW", "Volvo", "Saab", "Ford", "Fiat", "Audi"];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let text = "";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for (let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cars.length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text += cars[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] + "&lt;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&gt;";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("demo").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innerHTML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text;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&lt;/script&gt;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        		 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499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5B9B-3E7A-0639-B937-6DA4E609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For In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2341-C5C0-D169-EF3C-D60E544BF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(key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object) {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US" sz="2400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code block to be executed</a:t>
            </a:r>
            <a:b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Consolas" panose="020B0609020204030204" pitchFamily="49" charset="0"/>
              </a:rPr>
              <a:t>const person = {</a:t>
            </a:r>
            <a:r>
              <a:rPr lang="en-US" sz="2400" b="0" i="0" dirty="0" err="1">
                <a:effectLst/>
                <a:latin typeface="Consolas" panose="020B0609020204030204" pitchFamily="49" charset="0"/>
              </a:rPr>
              <a:t>fname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:"John", </a:t>
            </a:r>
            <a:r>
              <a:rPr lang="en-US" sz="2400" b="0" i="0" dirty="0" err="1">
                <a:effectLst/>
                <a:latin typeface="Consolas" panose="020B0609020204030204" pitchFamily="49" charset="0"/>
              </a:rPr>
              <a:t>lname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:"Doe", age:25};</a:t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person) {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text += person[x];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400" dirty="0"/>
              <a:t>Output for text is John Doe 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04145-164D-2A64-DFC9-5BB9BB23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B9BC7-6EDA-1334-8BB4-191EBC14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25771085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B34E-7B58-A731-F5EC-2965DC04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For Of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93B6-C053-F44F-137B-6F4CFF95F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762"/>
            <a:ext cx="8229600" cy="49852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(variable of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US" sz="2400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code block to be executed</a:t>
            </a:r>
            <a:b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sz="20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const cars = ["BMW", "Volvo", "Mini"];</a:t>
            </a:r>
            <a:b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0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let text = "";</a:t>
            </a:r>
            <a:b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0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for (let x of cars) {</a:t>
            </a:r>
            <a:b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0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  text += x;</a:t>
            </a:r>
            <a:b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0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}  // </a:t>
            </a:r>
            <a:r>
              <a:rPr lang="en-US" sz="8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BMW  Volvo  Mini</a:t>
            </a:r>
          </a:p>
          <a:p>
            <a:pPr lvl="2"/>
            <a:endParaRPr lang="en-US" sz="2000" b="0" i="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/>
              <a:t>let language = "JavaScript";</a:t>
            </a:r>
          </a:p>
          <a:p>
            <a:pPr marL="0" indent="0">
              <a:buNone/>
            </a:pPr>
            <a:r>
              <a:rPr lang="en-US" sz="2400" dirty="0"/>
              <a:t>let text = "";</a:t>
            </a:r>
          </a:p>
          <a:p>
            <a:pPr marL="0" indent="0">
              <a:buNone/>
            </a:pPr>
            <a:r>
              <a:rPr lang="en-US" sz="2400" dirty="0"/>
              <a:t>for (let x of language) {</a:t>
            </a:r>
          </a:p>
          <a:p>
            <a:pPr marL="0" indent="0">
              <a:buNone/>
            </a:pPr>
            <a:r>
              <a:rPr lang="en-US" sz="2400" dirty="0"/>
              <a:t>  text += x ;  }  			 // 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JavaScript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DDEFC-3E7C-D535-D0B3-6F59DB1B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FF65-9F16-DC26-F561-1929AA379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42791029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while loops (same as Java) 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60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600200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while (condition)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3434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0000"/>
                </a:solidFill>
              </a:rPr>
              <a:t>break and continue </a:t>
            </a:r>
            <a:r>
              <a:rPr lang="en-US" sz="2800" dirty="0"/>
              <a:t>keywords also behave as in Java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962870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while (condition);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				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8401955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/>
              <a:t> type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971800"/>
            <a:ext cx="8153400" cy="3200400"/>
          </a:xfrm>
        </p:spPr>
        <p:txBody>
          <a:bodyPr/>
          <a:lstStyle/>
          <a:p>
            <a:r>
              <a:rPr lang="en-US" sz="2400" dirty="0"/>
              <a:t>methods: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charAt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charCodeAt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fromCharCode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indexOf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lastIndexOf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replace, split, substring,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toLowerCase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toUpperCase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/>
              <a:t>charAt</a:t>
            </a:r>
            <a:r>
              <a:rPr lang="en-US" sz="1800" dirty="0"/>
              <a:t> returns a one-letter String (there is no char type)</a:t>
            </a:r>
          </a:p>
          <a:p>
            <a:r>
              <a:rPr lang="en-US" sz="2400" dirty="0"/>
              <a:t>length property (not a method as in Java)</a:t>
            </a:r>
          </a:p>
          <a:p>
            <a:r>
              <a:rPr lang="en-US" sz="2400" dirty="0"/>
              <a:t>Strings can be specified with "" or ''</a:t>
            </a:r>
          </a:p>
          <a:p>
            <a:r>
              <a:rPr lang="en-US" sz="2400" dirty="0"/>
              <a:t>concatenation with + :</a:t>
            </a:r>
          </a:p>
          <a:p>
            <a:pPr lvl="1"/>
            <a:r>
              <a:rPr lang="en-US" sz="1800" dirty="0"/>
              <a:t>1 + 1 is 2, but "1" + 1 is "11"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61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866" y="1307147"/>
            <a:ext cx="8153400" cy="1477328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 = "Connie Client";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s.substring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s.indexOf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 ")); // "Connie"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// 13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s2 = 'Melvin Merchant';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3C015-4D0A-0328-887C-28B55A29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3772213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17410" name="Picture 2" descr="Clustering of graphs and search of assembl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17778"/>
          <a:stretch/>
        </p:blipFill>
        <p:spPr bwMode="auto">
          <a:xfrm>
            <a:off x="-1" y="457200"/>
            <a:ext cx="9134477" cy="518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844EED-821E-E23B-0127-8C432F62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</a:t>
            </a:r>
          </a:p>
        </p:txBody>
      </p:sp>
    </p:spTree>
    <p:extLst>
      <p:ext uri="{BB962C8B-B14F-4D97-AF65-F5344CB8AC3E}">
        <p14:creationId xmlns:p14="http://schemas.microsoft.com/office/powerpoint/2010/main" val="1639119821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521F96F3AB4447BF70CD291954DCCD" ma:contentTypeVersion="4" ma:contentTypeDescription="Create a new document." ma:contentTypeScope="" ma:versionID="57b393154cb48289f8d26b82b4885a54">
  <xsd:schema xmlns:xsd="http://www.w3.org/2001/XMLSchema" xmlns:xs="http://www.w3.org/2001/XMLSchema" xmlns:p="http://schemas.microsoft.com/office/2006/metadata/properties" xmlns:ns2="00af665b-9cc2-4010-a7f6-c2696d1560f6" targetNamespace="http://schemas.microsoft.com/office/2006/metadata/properties" ma:root="true" ma:fieldsID="46ffc877a76ae8334cca70d212d89bc9" ns2:_="">
    <xsd:import namespace="00af665b-9cc2-4010-a7f6-c2696d1560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f665b-9cc2-4010-a7f6-c2696d1560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F377BA-E110-4551-BA4B-72AF0F8173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af665b-9cc2-4010-a7f6-c2696d1560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6622</TotalTime>
  <Words>4215</Words>
  <Application>Microsoft Office PowerPoint</Application>
  <PresentationFormat>On-screen Show (4:3)</PresentationFormat>
  <Paragraphs>633</Paragraphs>
  <Slides>62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6" baseType="lpstr">
      <vt:lpstr>Arial</vt:lpstr>
      <vt:lpstr>Bookman Old Style</vt:lpstr>
      <vt:lpstr>Calibri</vt:lpstr>
      <vt:lpstr>Cambria</vt:lpstr>
      <vt:lpstr>Consolas</vt:lpstr>
      <vt:lpstr>Courier New</vt:lpstr>
      <vt:lpstr>Lucida Console</vt:lpstr>
      <vt:lpstr>Segoe UI</vt:lpstr>
      <vt:lpstr>Tahoma</vt:lpstr>
      <vt:lpstr>Times New Roman</vt:lpstr>
      <vt:lpstr>Verdana</vt:lpstr>
      <vt:lpstr>Thiru_Regular</vt:lpstr>
      <vt:lpstr>1_Custom Design</vt:lpstr>
      <vt:lpstr>Custom Design</vt:lpstr>
      <vt:lpstr>PowerPoint Presentation</vt:lpstr>
      <vt:lpstr>Module 2 - Responsive web design</vt:lpstr>
      <vt:lpstr>What is Javascript?</vt:lpstr>
      <vt:lpstr>Javascript vs Java</vt:lpstr>
      <vt:lpstr>Linking to a JavaScript file: script</vt:lpstr>
      <vt:lpstr>Event-driven programming</vt:lpstr>
      <vt:lpstr>Event-driven programming</vt:lpstr>
      <vt:lpstr>Event handlers</vt:lpstr>
      <vt:lpstr>JavaScript functions</vt:lpstr>
      <vt:lpstr>HTML DOM (Document Object Model)</vt:lpstr>
      <vt:lpstr>The HTML DOM (Document Object Model)</vt:lpstr>
      <vt:lpstr>Document Object Model (DOM)</vt:lpstr>
      <vt:lpstr>DOM element objects</vt:lpstr>
      <vt:lpstr>Accessing elements: document.getElementById</vt:lpstr>
      <vt:lpstr>Accessing elements: document.getElementById</vt:lpstr>
      <vt:lpstr>Accessing elements: document.getElementById</vt:lpstr>
      <vt:lpstr>Changing element style: element.style</vt:lpstr>
      <vt:lpstr>PowerPoint Presentation</vt:lpstr>
      <vt:lpstr>Reading Properties with JavaScript</vt:lpstr>
      <vt:lpstr>JavaScript Output</vt:lpstr>
      <vt:lpstr>Using innerHTML</vt:lpstr>
      <vt:lpstr>Using document.write()</vt:lpstr>
      <vt:lpstr>Displaying text </vt:lpstr>
      <vt:lpstr>document.write() </vt:lpstr>
      <vt:lpstr>Using window.alert()</vt:lpstr>
      <vt:lpstr>Comments in JavaScript</vt:lpstr>
      <vt:lpstr>Language Basics</vt:lpstr>
      <vt:lpstr>JavaScript Primitive Datatypes</vt:lpstr>
      <vt:lpstr>4 Ways to Declare a JavaScript Variable</vt:lpstr>
      <vt:lpstr>Variables</vt:lpstr>
      <vt:lpstr>PowerPoint Presentation</vt:lpstr>
      <vt:lpstr>Number type</vt:lpstr>
      <vt:lpstr>Comments (same as Java)</vt:lpstr>
      <vt:lpstr> Math object</vt:lpstr>
      <vt:lpstr>PowerPoint Presentation</vt:lpstr>
      <vt:lpstr> Special values: null and undefined</vt:lpstr>
      <vt:lpstr>Operators (self study) </vt:lpstr>
      <vt:lpstr> Logical operators</vt:lpstr>
      <vt:lpstr>JavaScript Strings</vt:lpstr>
      <vt:lpstr>JavaScript Functions</vt:lpstr>
      <vt:lpstr>Example 1</vt:lpstr>
      <vt:lpstr>Example 2</vt:lpstr>
      <vt:lpstr>Popup boxes</vt:lpstr>
      <vt:lpstr>JavaScript Objects</vt:lpstr>
      <vt:lpstr>PowerPoint Presentation</vt:lpstr>
      <vt:lpstr>PowerPoint Presentation</vt:lpstr>
      <vt:lpstr>JavaScript Events</vt:lpstr>
      <vt:lpstr>PowerPoint Presentation</vt:lpstr>
      <vt:lpstr>Try this </vt:lpstr>
      <vt:lpstr>PowerPoint Presentation</vt:lpstr>
      <vt:lpstr>JavaScript Arrays</vt:lpstr>
      <vt:lpstr>PowerPoint Presentation</vt:lpstr>
      <vt:lpstr>PowerPoint Presentation</vt:lpstr>
      <vt:lpstr>Adding elements to array</vt:lpstr>
      <vt:lpstr>Array methods</vt:lpstr>
      <vt:lpstr> if/else statement (same as Java)</vt:lpstr>
      <vt:lpstr> for loop (same as Java)</vt:lpstr>
      <vt:lpstr>The For In Loop</vt:lpstr>
      <vt:lpstr>The For Of Loop</vt:lpstr>
      <vt:lpstr>while loops (same as Java) </vt:lpstr>
      <vt:lpstr>String type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Whats your yong nick name pickky</cp:lastModifiedBy>
  <cp:revision>508</cp:revision>
  <dcterms:created xsi:type="dcterms:W3CDTF">2006-08-16T00:00:00Z</dcterms:created>
  <dcterms:modified xsi:type="dcterms:W3CDTF">2024-02-27T03:43:34Z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0x01010093521F96F3AB4447BF70CD291954DCCD</vt:lpwstr>
  </property>
</Properties>
</file>