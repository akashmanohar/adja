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57"/>
  </p:notesMasterIdLst>
  <p:handoutMasterIdLst>
    <p:handoutMasterId r:id="rId58"/>
  </p:handoutMasterIdLst>
  <p:sldIdLst>
    <p:sldId id="520" r:id="rId2"/>
    <p:sldId id="596" r:id="rId3"/>
    <p:sldId id="597" r:id="rId4"/>
    <p:sldId id="619" r:id="rId5"/>
    <p:sldId id="598" r:id="rId6"/>
    <p:sldId id="620" r:id="rId7"/>
    <p:sldId id="621" r:id="rId8"/>
    <p:sldId id="622" r:id="rId9"/>
    <p:sldId id="623" r:id="rId10"/>
    <p:sldId id="624" r:id="rId11"/>
    <p:sldId id="625" r:id="rId12"/>
    <p:sldId id="626" r:id="rId13"/>
    <p:sldId id="627" r:id="rId14"/>
    <p:sldId id="628" r:id="rId15"/>
    <p:sldId id="629" r:id="rId16"/>
    <p:sldId id="630" r:id="rId17"/>
    <p:sldId id="631" r:id="rId18"/>
    <p:sldId id="632" r:id="rId19"/>
    <p:sldId id="633" r:id="rId20"/>
    <p:sldId id="634" r:id="rId21"/>
    <p:sldId id="635" r:id="rId22"/>
    <p:sldId id="636" r:id="rId23"/>
    <p:sldId id="637" r:id="rId24"/>
    <p:sldId id="638" r:id="rId25"/>
    <p:sldId id="644" r:id="rId26"/>
    <p:sldId id="645" r:id="rId27"/>
    <p:sldId id="646" r:id="rId28"/>
    <p:sldId id="647" r:id="rId29"/>
    <p:sldId id="648" r:id="rId30"/>
    <p:sldId id="649" r:id="rId31"/>
    <p:sldId id="650" r:id="rId32"/>
    <p:sldId id="651" r:id="rId33"/>
    <p:sldId id="652" r:id="rId34"/>
    <p:sldId id="653" r:id="rId35"/>
    <p:sldId id="654" r:id="rId36"/>
    <p:sldId id="655" r:id="rId37"/>
    <p:sldId id="656" r:id="rId38"/>
    <p:sldId id="657" r:id="rId39"/>
    <p:sldId id="658" r:id="rId40"/>
    <p:sldId id="659" r:id="rId41"/>
    <p:sldId id="660" r:id="rId42"/>
    <p:sldId id="661" r:id="rId43"/>
    <p:sldId id="662" r:id="rId44"/>
    <p:sldId id="663" r:id="rId45"/>
    <p:sldId id="664" r:id="rId46"/>
    <p:sldId id="665" r:id="rId47"/>
    <p:sldId id="666" r:id="rId48"/>
    <p:sldId id="667" r:id="rId49"/>
    <p:sldId id="668" r:id="rId50"/>
    <p:sldId id="669" r:id="rId51"/>
    <p:sldId id="670" r:id="rId52"/>
    <p:sldId id="671" r:id="rId53"/>
    <p:sldId id="672" r:id="rId54"/>
    <p:sldId id="673" r:id="rId55"/>
    <p:sldId id="674" r:id="rId5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29A"/>
    <a:srgbClr val="000F2E"/>
    <a:srgbClr val="00194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434" autoAdjust="0"/>
  </p:normalViewPr>
  <p:slideViewPr>
    <p:cSldViewPr>
      <p:cViewPr varScale="1">
        <p:scale>
          <a:sx n="69" d="100"/>
          <a:sy n="69" d="100"/>
        </p:scale>
        <p:origin x="78" y="16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8" Type="http://schemas.openxmlformats.org/officeDocument/2006/relationships/slide" Target="slides/slide49.xml"/><Relationship Id="rId13" Type="http://schemas.openxmlformats.org/officeDocument/2006/relationships/slide" Target="slides/slide54.xml"/><Relationship Id="rId3" Type="http://schemas.openxmlformats.org/officeDocument/2006/relationships/slide" Target="slides/slide44.xml"/><Relationship Id="rId7" Type="http://schemas.openxmlformats.org/officeDocument/2006/relationships/slide" Target="slides/slide48.xml"/><Relationship Id="rId12" Type="http://schemas.openxmlformats.org/officeDocument/2006/relationships/slide" Target="slides/slide53.xml"/><Relationship Id="rId2" Type="http://schemas.openxmlformats.org/officeDocument/2006/relationships/slide" Target="slides/slide43.xml"/><Relationship Id="rId1" Type="http://schemas.openxmlformats.org/officeDocument/2006/relationships/slide" Target="slides/slide5.xml"/><Relationship Id="rId6" Type="http://schemas.openxmlformats.org/officeDocument/2006/relationships/slide" Target="slides/slide47.xml"/><Relationship Id="rId11" Type="http://schemas.openxmlformats.org/officeDocument/2006/relationships/slide" Target="slides/slide52.xml"/><Relationship Id="rId5" Type="http://schemas.openxmlformats.org/officeDocument/2006/relationships/slide" Target="slides/slide46.xml"/><Relationship Id="rId10" Type="http://schemas.openxmlformats.org/officeDocument/2006/relationships/slide" Target="slides/slide51.xml"/><Relationship Id="rId4" Type="http://schemas.openxmlformats.org/officeDocument/2006/relationships/slide" Target="slides/slide45.xml"/><Relationship Id="rId9"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t>5/3/2023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Mr. R C Ravindranath, Asst. Prof., SOE-CSE</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pPr>
                <a:defRPr/>
              </a:pPr>
              <a:t>5/3/2023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r>
              <a:rPr lang="en-US"/>
              <a:t>Mr. R C Ravindranath, Asst. Prof., SOE-CSE</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DD763F7-5C11-4DBC-83B1-39D83E1FBE10}" type="slidenum">
              <a:rPr lang="en-US" altLang="en-US" smtClean="0"/>
              <a:pPr>
                <a:defRPr/>
              </a:pPr>
              <a:t>1</a:t>
            </a:fld>
            <a:endParaRPr lang="en-US" altLang="en-US"/>
          </a:p>
        </p:txBody>
      </p:sp>
      <p:sp>
        <p:nvSpPr>
          <p:cNvPr id="5" name="Footer Placeholder 4"/>
          <p:cNvSpPr>
            <a:spLocks noGrp="1"/>
          </p:cNvSpPr>
          <p:nvPr>
            <p:ph type="ftr" sz="quarter" idx="11"/>
          </p:nvPr>
        </p:nvSpPr>
        <p:spPr/>
        <p:txBody>
          <a:bodyPr/>
          <a:lstStyle/>
          <a:p>
            <a:pPr>
              <a:defRPr/>
            </a:pPr>
            <a:r>
              <a:rPr lang="en-US"/>
              <a:t>Mr. R C Ravindranath, Asst. Prof., SOE-CSE</a:t>
            </a:r>
          </a:p>
        </p:txBody>
      </p:sp>
    </p:spTree>
    <p:extLst>
      <p:ext uri="{BB962C8B-B14F-4D97-AF65-F5344CB8AC3E}">
        <p14:creationId xmlns:p14="http://schemas.microsoft.com/office/powerpoint/2010/main" val="418003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2BE670-627B-4710-A3DB-75C35D56B3B8}" type="slidenum">
              <a:rPr lang="en-US" altLang="en-US"/>
              <a:pPr/>
              <a:t>5</a:t>
            </a:fld>
            <a:endParaRPr lang="en-US" altLang="en-US"/>
          </a:p>
        </p:txBody>
      </p:sp>
      <p:sp>
        <p:nvSpPr>
          <p:cNvPr id="300034" name="Rectangle 2"/>
          <p:cNvSpPr>
            <a:spLocks noGrp="1" noRot="1" noChangeAspect="1" noChangeArrowheads="1" noTextEdit="1"/>
          </p:cNvSpPr>
          <p:nvPr>
            <p:ph type="sldImg"/>
          </p:nvPr>
        </p:nvSpPr>
        <p:spPr>
          <a:xfrm>
            <a:off x="469900" y="727075"/>
            <a:ext cx="6375400" cy="3586163"/>
          </a:xfrm>
          <a:ln/>
        </p:spPr>
      </p:sp>
      <p:sp>
        <p:nvSpPr>
          <p:cNvPr id="3000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02105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F661B57A-56AB-48B2-AF52-73D4D373C443}" type="slidenum">
              <a:rPr lang="en-US" altLang="en-US" sz="1200" b="0" smtClean="0">
                <a:solidFill>
                  <a:schemeClr val="tx1"/>
                </a:solidFill>
                <a:latin typeface="Times New Roman" panose="02020603050405020304" pitchFamily="18" charset="0"/>
              </a:rPr>
              <a:pPr/>
              <a:t>32</a:t>
            </a:fld>
            <a:endParaRPr lang="en-US" altLang="en-US" sz="1200" b="0" smtClean="0">
              <a:solidFill>
                <a:schemeClr val="tx1"/>
              </a:solidFill>
              <a:latin typeface="Times New Roman" panose="02020603050405020304" pitchFamily="18" charset="0"/>
            </a:endParaRPr>
          </a:p>
        </p:txBody>
      </p:sp>
      <p:sp>
        <p:nvSpPr>
          <p:cNvPr id="5123" name="Rectangle 2"/>
          <p:cNvSpPr>
            <a:spLocks noChangeArrowheads="1" noTextEdit="1"/>
          </p:cNvSpPr>
          <p:nvPr>
            <p:ph type="sldImg"/>
          </p:nvPr>
        </p:nvSpPr>
        <p:spPr>
          <a:solidFill>
            <a:srgbClr val="FFFFFF"/>
          </a:solidFill>
          <a:ln/>
        </p:spPr>
      </p:sp>
      <p:sp>
        <p:nvSpPr>
          <p:cNvPr id="5124" name="Rectangle 3"/>
          <p:cNvSpPr>
            <a:spLocks noChangeArrowheads="1"/>
          </p:cNvSpPr>
          <p:nvPr>
            <p:ph type="body" idx="1"/>
          </p:nvPr>
        </p:nvSpPr>
        <p:spPr>
          <a:solidFill>
            <a:srgbClr val="FFFFFF"/>
          </a:solidFill>
          <a:ln>
            <a:solidFill>
              <a:srgbClr val="000000"/>
            </a:solidFill>
            <a:miter lim="800000"/>
            <a:headEnd/>
            <a:tailEnd/>
          </a:ln>
        </p:spPr>
        <p:txBody>
          <a:bodyPr/>
          <a:lstStyle/>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1245024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0AFD9DF4-ED4E-4ABD-81C3-66A1DEF914B2}" type="slidenum">
              <a:rPr lang="en-US" altLang="en-US" sz="1200" b="0" smtClean="0">
                <a:solidFill>
                  <a:schemeClr val="tx1"/>
                </a:solidFill>
                <a:latin typeface="Times New Roman" panose="02020603050405020304" pitchFamily="18" charset="0"/>
              </a:rPr>
              <a:pPr/>
              <a:t>33</a:t>
            </a:fld>
            <a:endParaRPr lang="en-US" altLang="en-US" sz="1200" b="0" smtClean="0">
              <a:solidFill>
                <a:schemeClr val="tx1"/>
              </a:solidFill>
              <a:latin typeface="Times New Roman" panose="02020603050405020304" pitchFamily="18" charset="0"/>
            </a:endParaRPr>
          </a:p>
        </p:txBody>
      </p:sp>
      <p:sp>
        <p:nvSpPr>
          <p:cNvPr id="7171" name="Rectangle 2"/>
          <p:cNvSpPr>
            <a:spLocks noChangeArrowheads="1" noTextEdit="1"/>
          </p:cNvSpPr>
          <p:nvPr>
            <p:ph type="sldImg"/>
          </p:nvPr>
        </p:nvSpPr>
        <p:spPr>
          <a:xfrm>
            <a:off x="3430588" y="2401888"/>
            <a:ext cx="0" cy="0"/>
          </a:xfrm>
          <a:solidFill>
            <a:srgbClr val="FFFFFF"/>
          </a:solidFill>
          <a:ln/>
        </p:spPr>
      </p:sp>
      <p:sp>
        <p:nvSpPr>
          <p:cNvPr id="7172"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solidFill>
                  <a:srgbClr val="003399"/>
                </a:solidFill>
              </a:rPr>
              <a:t>Prevention:</a:t>
            </a:r>
            <a:r>
              <a:rPr lang="en-GB" altLang="en-US" smtClean="0"/>
              <a:t> encrypt your orders, rely on the merchant to perform checks on the caller, don’t use the Internet (?) …</a:t>
            </a:r>
          </a:p>
          <a:p>
            <a:pPr eaLnBrk="1" hangingPunct="1"/>
            <a:r>
              <a:rPr lang="en-GB" altLang="en-US" smtClean="0">
                <a:solidFill>
                  <a:srgbClr val="003399"/>
                </a:solidFill>
              </a:rPr>
              <a:t>Detection:</a:t>
            </a:r>
            <a:r>
              <a:rPr lang="en-GB" altLang="en-US" smtClean="0"/>
              <a:t> an unauthorized transaction appears on your credit card statement</a:t>
            </a:r>
          </a:p>
          <a:p>
            <a:pPr eaLnBrk="1" hangingPunct="1"/>
            <a:r>
              <a:rPr lang="en-GB" altLang="en-US" smtClean="0">
                <a:solidFill>
                  <a:srgbClr val="003399"/>
                </a:solidFill>
              </a:rPr>
              <a:t>Reaction:</a:t>
            </a:r>
            <a:r>
              <a:rPr lang="en-GB" altLang="en-US" smtClean="0"/>
              <a:t> complain, ask for a new card number, etc. </a:t>
            </a:r>
          </a:p>
          <a:p>
            <a:pPr eaLnBrk="1" hangingPunct="1"/>
            <a:endParaRPr lang="en-US" altLang="en-US" smtClean="0"/>
          </a:p>
        </p:txBody>
      </p:sp>
    </p:spTree>
    <p:extLst>
      <p:ext uri="{BB962C8B-B14F-4D97-AF65-F5344CB8AC3E}">
        <p14:creationId xmlns:p14="http://schemas.microsoft.com/office/powerpoint/2010/main" val="1517111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C180DDC1-7412-41B9-BC93-8E87191F04DF}" type="slidenum">
              <a:rPr lang="en-US" altLang="en-US" sz="1200" b="0" smtClean="0">
                <a:solidFill>
                  <a:schemeClr val="tx1"/>
                </a:solidFill>
                <a:latin typeface="Times New Roman" panose="02020603050405020304" pitchFamily="18" charset="0"/>
              </a:rPr>
              <a:pPr/>
              <a:t>34</a:t>
            </a:fld>
            <a:endParaRPr lang="en-US" altLang="en-US" sz="1200" b="0" smtClean="0">
              <a:solidFill>
                <a:schemeClr val="tx1"/>
              </a:solidFill>
              <a:latin typeface="Times New Roman" panose="02020603050405020304" pitchFamily="18" charset="0"/>
            </a:endParaRPr>
          </a:p>
        </p:txBody>
      </p:sp>
      <p:sp>
        <p:nvSpPr>
          <p:cNvPr id="9219" name="Rectangle 1026"/>
          <p:cNvSpPr>
            <a:spLocks noChangeArrowheads="1" noTextEdit="1"/>
          </p:cNvSpPr>
          <p:nvPr>
            <p:ph type="sldImg"/>
          </p:nvPr>
        </p:nvSpPr>
        <p:spPr>
          <a:xfrm>
            <a:off x="3430588" y="2401888"/>
            <a:ext cx="0" cy="0"/>
          </a:xfrm>
          <a:solidFill>
            <a:srgbClr val="FFFFFF"/>
          </a:solidFill>
          <a:ln/>
        </p:spPr>
      </p:sp>
      <p:sp>
        <p:nvSpPr>
          <p:cNvPr id="9220" name="Rectangle 1027"/>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t>Prevention: encrypt your orders, rely on the merchant to perform checks on the caller, don’t use the Internet (?) …</a:t>
            </a:r>
          </a:p>
          <a:p>
            <a:pPr eaLnBrk="1" hangingPunct="1"/>
            <a:r>
              <a:rPr lang="en-GB" altLang="en-US" smtClean="0"/>
              <a:t>Detection: an unauthorized transaction appears on your credit card statement</a:t>
            </a:r>
          </a:p>
          <a:p>
            <a:pPr eaLnBrk="1" hangingPunct="1"/>
            <a:r>
              <a:rPr lang="en-GB" altLang="en-US" smtClean="0"/>
              <a:t>Reaction: complain, ask for a new card number, etc. </a:t>
            </a:r>
          </a:p>
          <a:p>
            <a:pPr eaLnBrk="1" hangingPunct="1"/>
            <a:endParaRPr lang="en-US" altLang="en-US" smtClean="0"/>
          </a:p>
        </p:txBody>
      </p:sp>
    </p:spTree>
    <p:extLst>
      <p:ext uri="{BB962C8B-B14F-4D97-AF65-F5344CB8AC3E}">
        <p14:creationId xmlns:p14="http://schemas.microsoft.com/office/powerpoint/2010/main" val="1358513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44E9174F-6EE0-4A35-94F0-6DFF2CE08007}" type="slidenum">
              <a:rPr lang="en-US" altLang="en-US" sz="1200" b="0" smtClean="0">
                <a:solidFill>
                  <a:schemeClr val="tx1"/>
                </a:solidFill>
                <a:latin typeface="Times New Roman" panose="02020603050405020304" pitchFamily="18" charset="0"/>
              </a:rPr>
              <a:pPr/>
              <a:t>36</a:t>
            </a:fld>
            <a:endParaRPr lang="en-US" altLang="en-US" sz="1200" b="0" smtClean="0">
              <a:solidFill>
                <a:schemeClr val="tx1"/>
              </a:solidFill>
              <a:latin typeface="Times New Roman" panose="02020603050405020304" pitchFamily="18" charset="0"/>
            </a:endParaRPr>
          </a:p>
        </p:txBody>
      </p:sp>
      <p:sp>
        <p:nvSpPr>
          <p:cNvPr id="12291" name="Rectangle 2"/>
          <p:cNvSpPr>
            <a:spLocks noChangeArrowheads="1" noTextEdit="1"/>
          </p:cNvSpPr>
          <p:nvPr>
            <p:ph type="sldImg"/>
          </p:nvPr>
        </p:nvSpPr>
        <p:spPr>
          <a:xfrm>
            <a:off x="3430588" y="2401888"/>
            <a:ext cx="0" cy="0"/>
          </a:xfrm>
          <a:solidFill>
            <a:srgbClr val="FFFFFF"/>
          </a:solidFill>
          <a:ln/>
        </p:spPr>
      </p:sp>
      <p:sp>
        <p:nvSpPr>
          <p:cNvPr id="12292"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t>Prevention: encrypt your orders, rely on the merchant to perform checks on the caller, don’t use the Internet (?) …</a:t>
            </a:r>
          </a:p>
          <a:p>
            <a:pPr eaLnBrk="1" hangingPunct="1"/>
            <a:r>
              <a:rPr lang="en-GB" altLang="en-US" smtClean="0"/>
              <a:t>Detection: an unauthorized transaction appears on your credit card statement</a:t>
            </a:r>
          </a:p>
          <a:p>
            <a:pPr eaLnBrk="1" hangingPunct="1"/>
            <a:r>
              <a:rPr lang="en-GB" altLang="en-US" smtClean="0"/>
              <a:t>Reaction: complain, ask for a new card number, etc. </a:t>
            </a:r>
          </a:p>
          <a:p>
            <a:pPr eaLnBrk="1" hangingPunct="1"/>
            <a:endParaRPr lang="en-US" altLang="en-US" smtClean="0"/>
          </a:p>
        </p:txBody>
      </p:sp>
    </p:spTree>
    <p:extLst>
      <p:ext uri="{BB962C8B-B14F-4D97-AF65-F5344CB8AC3E}">
        <p14:creationId xmlns:p14="http://schemas.microsoft.com/office/powerpoint/2010/main" val="3214665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E23D99D2-B9C6-487C-99D8-20158A831FE1}" type="slidenum">
              <a:rPr lang="en-US" altLang="en-US" sz="1200" b="0" smtClean="0">
                <a:solidFill>
                  <a:schemeClr val="tx1"/>
                </a:solidFill>
                <a:latin typeface="Times New Roman" panose="02020603050405020304" pitchFamily="18" charset="0"/>
              </a:rPr>
              <a:pPr/>
              <a:t>37</a:t>
            </a:fld>
            <a:endParaRPr lang="en-US" altLang="en-US" sz="1200" b="0" smtClean="0">
              <a:solidFill>
                <a:schemeClr val="tx1"/>
              </a:solidFill>
              <a:latin typeface="Times New Roman" panose="02020603050405020304" pitchFamily="18" charset="0"/>
            </a:endParaRPr>
          </a:p>
        </p:txBody>
      </p:sp>
      <p:sp>
        <p:nvSpPr>
          <p:cNvPr id="14339" name="Rectangle 2"/>
          <p:cNvSpPr>
            <a:spLocks noChangeArrowheads="1" noTextEdit="1"/>
          </p:cNvSpPr>
          <p:nvPr>
            <p:ph type="sldImg"/>
          </p:nvPr>
        </p:nvSpPr>
        <p:spPr>
          <a:xfrm>
            <a:off x="3430588" y="2401888"/>
            <a:ext cx="0" cy="0"/>
          </a:xfrm>
          <a:solidFill>
            <a:srgbClr val="FFFFFF"/>
          </a:solidFill>
          <a:ln/>
        </p:spPr>
      </p:sp>
      <p:sp>
        <p:nvSpPr>
          <p:cNvPr id="14340"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t>Prevention: encrypt your orders, rely on the merchant to perform checks on the caller, don’t use the Internet (?) …</a:t>
            </a:r>
          </a:p>
          <a:p>
            <a:pPr eaLnBrk="1" hangingPunct="1"/>
            <a:r>
              <a:rPr lang="en-GB" altLang="en-US" smtClean="0"/>
              <a:t>Detection: an unauthorized transaction appears on your credit card statement</a:t>
            </a:r>
          </a:p>
          <a:p>
            <a:pPr eaLnBrk="1" hangingPunct="1"/>
            <a:r>
              <a:rPr lang="en-GB" altLang="en-US" smtClean="0"/>
              <a:t>Reaction: complain, ask for a new card number, etc. </a:t>
            </a:r>
          </a:p>
          <a:p>
            <a:pPr eaLnBrk="1" hangingPunct="1"/>
            <a:endParaRPr lang="en-US" altLang="en-US" smtClean="0"/>
          </a:p>
        </p:txBody>
      </p:sp>
    </p:spTree>
    <p:extLst>
      <p:ext uri="{BB962C8B-B14F-4D97-AF65-F5344CB8AC3E}">
        <p14:creationId xmlns:p14="http://schemas.microsoft.com/office/powerpoint/2010/main" val="2798978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7C6718F1-29C0-495E-A4FC-7A5565871A83}" type="slidenum">
              <a:rPr lang="en-US" altLang="en-US" sz="1200" b="0" smtClean="0">
                <a:solidFill>
                  <a:schemeClr val="tx1"/>
                </a:solidFill>
                <a:latin typeface="Times New Roman" panose="02020603050405020304" pitchFamily="18" charset="0"/>
              </a:rPr>
              <a:pPr/>
              <a:t>38</a:t>
            </a:fld>
            <a:endParaRPr lang="en-US" altLang="en-US" sz="1200" b="0" smtClean="0">
              <a:solidFill>
                <a:schemeClr val="tx1"/>
              </a:solidFill>
              <a:latin typeface="Times New Roman" panose="02020603050405020304" pitchFamily="18" charset="0"/>
            </a:endParaRPr>
          </a:p>
        </p:txBody>
      </p:sp>
      <p:sp>
        <p:nvSpPr>
          <p:cNvPr id="16387" name="Rectangle 2"/>
          <p:cNvSpPr>
            <a:spLocks noChangeArrowheads="1" noTextEdit="1"/>
          </p:cNvSpPr>
          <p:nvPr>
            <p:ph type="sldImg"/>
          </p:nvPr>
        </p:nvSpPr>
        <p:spPr>
          <a:xfrm>
            <a:off x="3430588" y="2401888"/>
            <a:ext cx="0" cy="0"/>
          </a:xfrm>
          <a:solidFill>
            <a:srgbClr val="FFFFFF"/>
          </a:solidFill>
          <a:ln/>
        </p:spPr>
      </p:sp>
      <p:sp>
        <p:nvSpPr>
          <p:cNvPr id="16388"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solidFill>
                  <a:srgbClr val="003399"/>
                </a:solidFill>
              </a:rPr>
              <a:t>Prevention:</a:t>
            </a:r>
            <a:r>
              <a:rPr lang="en-GB" altLang="en-US" smtClean="0"/>
              <a:t> encrypt your orders, rely on the merchant to perform checks on the caller, don’t use the Internet (?) …</a:t>
            </a:r>
          </a:p>
          <a:p>
            <a:pPr eaLnBrk="1" hangingPunct="1"/>
            <a:r>
              <a:rPr lang="en-GB" altLang="en-US" smtClean="0">
                <a:solidFill>
                  <a:srgbClr val="003399"/>
                </a:solidFill>
              </a:rPr>
              <a:t>Detection:</a:t>
            </a:r>
            <a:r>
              <a:rPr lang="en-GB" altLang="en-US" smtClean="0"/>
              <a:t> an unauthorized transaction appears on your credit card statement</a:t>
            </a:r>
          </a:p>
          <a:p>
            <a:pPr eaLnBrk="1" hangingPunct="1"/>
            <a:r>
              <a:rPr lang="en-GB" altLang="en-US" smtClean="0">
                <a:solidFill>
                  <a:srgbClr val="003399"/>
                </a:solidFill>
              </a:rPr>
              <a:t>Reaction:</a:t>
            </a:r>
            <a:r>
              <a:rPr lang="en-GB" altLang="en-US" smtClean="0"/>
              <a:t> complain, ask for a new card number, etc. </a:t>
            </a:r>
          </a:p>
          <a:p>
            <a:pPr eaLnBrk="1" hangingPunct="1"/>
            <a:endParaRPr lang="en-US" altLang="en-US" smtClean="0"/>
          </a:p>
        </p:txBody>
      </p:sp>
    </p:spTree>
    <p:extLst>
      <p:ext uri="{BB962C8B-B14F-4D97-AF65-F5344CB8AC3E}">
        <p14:creationId xmlns:p14="http://schemas.microsoft.com/office/powerpoint/2010/main" val="1158928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D808DB38-A7F5-4B68-9509-E25A6871F38C}" type="slidenum">
              <a:rPr lang="en-US" altLang="en-US" sz="1200" b="0" smtClean="0">
                <a:solidFill>
                  <a:schemeClr val="tx1"/>
                </a:solidFill>
                <a:latin typeface="Times New Roman" panose="02020603050405020304" pitchFamily="18" charset="0"/>
              </a:rPr>
              <a:pPr/>
              <a:t>39</a:t>
            </a:fld>
            <a:endParaRPr lang="en-US" altLang="en-US" sz="1200" b="0" smtClean="0">
              <a:solidFill>
                <a:schemeClr val="tx1"/>
              </a:solidFill>
              <a:latin typeface="Times New Roman" panose="02020603050405020304" pitchFamily="18" charset="0"/>
            </a:endParaRPr>
          </a:p>
        </p:txBody>
      </p:sp>
      <p:sp>
        <p:nvSpPr>
          <p:cNvPr id="18435" name="Rectangle 2"/>
          <p:cNvSpPr>
            <a:spLocks noChangeArrowheads="1" noTextEdit="1"/>
          </p:cNvSpPr>
          <p:nvPr>
            <p:ph type="sldImg"/>
          </p:nvPr>
        </p:nvSpPr>
        <p:spPr>
          <a:xfrm>
            <a:off x="3430588" y="2401888"/>
            <a:ext cx="0" cy="0"/>
          </a:xfrm>
          <a:solidFill>
            <a:srgbClr val="FFFFFF"/>
          </a:solidFill>
          <a:ln/>
        </p:spPr>
      </p:sp>
      <p:sp>
        <p:nvSpPr>
          <p:cNvPr id="18436"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solidFill>
                  <a:srgbClr val="003399"/>
                </a:solidFill>
              </a:rPr>
              <a:t>Prevention:</a:t>
            </a:r>
            <a:r>
              <a:rPr lang="en-GB" altLang="en-US" smtClean="0"/>
              <a:t> encrypt your orders, rely on the merchant to perform checks on the caller, don’t use the Internet (?) …</a:t>
            </a:r>
          </a:p>
          <a:p>
            <a:pPr eaLnBrk="1" hangingPunct="1"/>
            <a:r>
              <a:rPr lang="en-GB" altLang="en-US" smtClean="0">
                <a:solidFill>
                  <a:srgbClr val="003399"/>
                </a:solidFill>
              </a:rPr>
              <a:t>Detection:</a:t>
            </a:r>
            <a:r>
              <a:rPr lang="en-GB" altLang="en-US" smtClean="0"/>
              <a:t> an unauthorized transaction appears on your credit card statement</a:t>
            </a:r>
          </a:p>
          <a:p>
            <a:pPr eaLnBrk="1" hangingPunct="1"/>
            <a:r>
              <a:rPr lang="en-GB" altLang="en-US" smtClean="0">
                <a:solidFill>
                  <a:srgbClr val="003399"/>
                </a:solidFill>
              </a:rPr>
              <a:t>Reaction:</a:t>
            </a:r>
            <a:r>
              <a:rPr lang="en-GB" altLang="en-US" smtClean="0"/>
              <a:t> complain, ask for a new card number, etc. </a:t>
            </a:r>
          </a:p>
          <a:p>
            <a:pPr eaLnBrk="1" hangingPunct="1"/>
            <a:endParaRPr lang="en-US" altLang="en-US" smtClean="0"/>
          </a:p>
        </p:txBody>
      </p:sp>
    </p:spTree>
    <p:extLst>
      <p:ext uri="{BB962C8B-B14F-4D97-AF65-F5344CB8AC3E}">
        <p14:creationId xmlns:p14="http://schemas.microsoft.com/office/powerpoint/2010/main" val="4145991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24D0E2F0-6203-4723-A49E-14403CDCF384}" type="slidenum">
              <a:rPr lang="en-US" altLang="en-US" sz="1200" b="0" smtClean="0">
                <a:solidFill>
                  <a:schemeClr val="tx1"/>
                </a:solidFill>
                <a:latin typeface="Times New Roman" panose="02020603050405020304" pitchFamily="18" charset="0"/>
              </a:rPr>
              <a:pPr/>
              <a:t>40</a:t>
            </a:fld>
            <a:endParaRPr lang="en-US" altLang="en-US" sz="1200" b="0" smtClean="0">
              <a:solidFill>
                <a:schemeClr val="tx1"/>
              </a:solidFill>
              <a:latin typeface="Times New Roman" panose="02020603050405020304" pitchFamily="18" charset="0"/>
            </a:endParaRPr>
          </a:p>
        </p:txBody>
      </p:sp>
      <p:sp>
        <p:nvSpPr>
          <p:cNvPr id="20483" name="Rectangle 2"/>
          <p:cNvSpPr>
            <a:spLocks noChangeArrowheads="1" noTextEdit="1"/>
          </p:cNvSpPr>
          <p:nvPr>
            <p:ph type="sldImg"/>
          </p:nvPr>
        </p:nvSpPr>
        <p:spPr>
          <a:xfrm>
            <a:off x="3430588" y="2401888"/>
            <a:ext cx="0" cy="0"/>
          </a:xfrm>
          <a:solidFill>
            <a:srgbClr val="FFFFFF"/>
          </a:solidFill>
          <a:ln/>
        </p:spPr>
      </p:sp>
      <p:sp>
        <p:nvSpPr>
          <p:cNvPr id="20484"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solidFill>
                  <a:srgbClr val="003399"/>
                </a:solidFill>
              </a:rPr>
              <a:t>Prevention:</a:t>
            </a:r>
            <a:r>
              <a:rPr lang="en-GB" altLang="en-US" smtClean="0"/>
              <a:t> encrypt your orders, rely on the merchant to perform checks on the caller, don’t use the Internet (?) …</a:t>
            </a:r>
          </a:p>
          <a:p>
            <a:pPr eaLnBrk="1" hangingPunct="1"/>
            <a:r>
              <a:rPr lang="en-GB" altLang="en-US" smtClean="0">
                <a:solidFill>
                  <a:srgbClr val="003399"/>
                </a:solidFill>
              </a:rPr>
              <a:t>Detection:</a:t>
            </a:r>
            <a:r>
              <a:rPr lang="en-GB" altLang="en-US" smtClean="0"/>
              <a:t> an unauthorized transaction appears on your credit card statement</a:t>
            </a:r>
          </a:p>
          <a:p>
            <a:pPr eaLnBrk="1" hangingPunct="1"/>
            <a:r>
              <a:rPr lang="en-GB" altLang="en-US" smtClean="0">
                <a:solidFill>
                  <a:srgbClr val="003399"/>
                </a:solidFill>
              </a:rPr>
              <a:t>Reaction:</a:t>
            </a:r>
            <a:r>
              <a:rPr lang="en-GB" altLang="en-US" smtClean="0"/>
              <a:t> complain, ask for a new card number, etc. </a:t>
            </a:r>
          </a:p>
          <a:p>
            <a:pPr eaLnBrk="1" hangingPunct="1"/>
            <a:endParaRPr lang="en-US" altLang="en-US" smtClean="0"/>
          </a:p>
        </p:txBody>
      </p:sp>
    </p:spTree>
    <p:extLst>
      <p:ext uri="{BB962C8B-B14F-4D97-AF65-F5344CB8AC3E}">
        <p14:creationId xmlns:p14="http://schemas.microsoft.com/office/powerpoint/2010/main" val="2413641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7994AF83-C90C-4241-B53D-17941AE6A0AC}" type="slidenum">
              <a:rPr lang="en-US" altLang="en-US" sz="1200" b="0" smtClean="0">
                <a:solidFill>
                  <a:schemeClr val="tx1"/>
                </a:solidFill>
                <a:latin typeface="Times New Roman" panose="02020603050405020304" pitchFamily="18" charset="0"/>
              </a:rPr>
              <a:pPr/>
              <a:t>41</a:t>
            </a:fld>
            <a:endParaRPr lang="en-US" altLang="en-US" sz="1200" b="0" smtClean="0">
              <a:solidFill>
                <a:schemeClr val="tx1"/>
              </a:solidFill>
              <a:latin typeface="Times New Roman" panose="02020603050405020304" pitchFamily="18" charset="0"/>
            </a:endParaRPr>
          </a:p>
        </p:txBody>
      </p:sp>
      <p:sp>
        <p:nvSpPr>
          <p:cNvPr id="22531" name="Rectangle 2"/>
          <p:cNvSpPr>
            <a:spLocks noChangeArrowheads="1" noTextEdit="1"/>
          </p:cNvSpPr>
          <p:nvPr>
            <p:ph type="sldImg"/>
          </p:nvPr>
        </p:nvSpPr>
        <p:spPr>
          <a:xfrm>
            <a:off x="3430588" y="2401888"/>
            <a:ext cx="0" cy="0"/>
          </a:xfrm>
          <a:solidFill>
            <a:srgbClr val="FFFFFF"/>
          </a:solidFill>
          <a:ln/>
        </p:spPr>
      </p:sp>
      <p:sp>
        <p:nvSpPr>
          <p:cNvPr id="22532"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solidFill>
                  <a:srgbClr val="003399"/>
                </a:solidFill>
              </a:rPr>
              <a:t>Prevention:</a:t>
            </a:r>
            <a:r>
              <a:rPr lang="en-GB" altLang="en-US" smtClean="0"/>
              <a:t> encrypt your orders, rely on the merchant to perform checks on the caller, don’t use the Internet (?) …</a:t>
            </a:r>
          </a:p>
          <a:p>
            <a:pPr eaLnBrk="1" hangingPunct="1"/>
            <a:r>
              <a:rPr lang="en-GB" altLang="en-US" smtClean="0">
                <a:solidFill>
                  <a:srgbClr val="003399"/>
                </a:solidFill>
              </a:rPr>
              <a:t>Detection:</a:t>
            </a:r>
            <a:r>
              <a:rPr lang="en-GB" altLang="en-US" smtClean="0"/>
              <a:t> an unauthorized transaction appears on your credit card statement</a:t>
            </a:r>
          </a:p>
          <a:p>
            <a:pPr eaLnBrk="1" hangingPunct="1"/>
            <a:r>
              <a:rPr lang="en-GB" altLang="en-US" smtClean="0">
                <a:solidFill>
                  <a:srgbClr val="003399"/>
                </a:solidFill>
              </a:rPr>
              <a:t>Reaction:</a:t>
            </a:r>
            <a:r>
              <a:rPr lang="en-GB" altLang="en-US" smtClean="0"/>
              <a:t> complain, ask for a new card number, etc. </a:t>
            </a:r>
          </a:p>
          <a:p>
            <a:pPr eaLnBrk="1" hangingPunct="1"/>
            <a:endParaRPr lang="en-US" altLang="en-US" smtClean="0"/>
          </a:p>
        </p:txBody>
      </p:sp>
    </p:spTree>
    <p:extLst>
      <p:ext uri="{BB962C8B-B14F-4D97-AF65-F5344CB8AC3E}">
        <p14:creationId xmlns:p14="http://schemas.microsoft.com/office/powerpoint/2010/main" val="3694188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5F091E78-FCDD-46E4-9275-777FB7088E60}" type="slidenum">
              <a:rPr lang="en-US" altLang="en-US" sz="1200" b="0" smtClean="0">
                <a:solidFill>
                  <a:schemeClr val="tx1"/>
                </a:solidFill>
                <a:latin typeface="Times New Roman" panose="02020603050405020304" pitchFamily="18" charset="0"/>
              </a:rPr>
              <a:pPr/>
              <a:t>42</a:t>
            </a:fld>
            <a:endParaRPr lang="en-US" altLang="en-US" sz="1200" b="0" smtClean="0">
              <a:solidFill>
                <a:schemeClr val="tx1"/>
              </a:solidFill>
              <a:latin typeface="Times New Roman" panose="02020603050405020304" pitchFamily="18" charset="0"/>
            </a:endParaRPr>
          </a:p>
        </p:txBody>
      </p:sp>
      <p:sp>
        <p:nvSpPr>
          <p:cNvPr id="24579" name="Rectangle 2"/>
          <p:cNvSpPr>
            <a:spLocks noChangeArrowheads="1" noTextEdit="1"/>
          </p:cNvSpPr>
          <p:nvPr>
            <p:ph type="sldImg"/>
          </p:nvPr>
        </p:nvSpPr>
        <p:spPr>
          <a:xfrm>
            <a:off x="3430588" y="2401888"/>
            <a:ext cx="0" cy="0"/>
          </a:xfrm>
          <a:solidFill>
            <a:srgbClr val="FFFFFF"/>
          </a:solidFill>
          <a:ln/>
        </p:spPr>
      </p:sp>
      <p:sp>
        <p:nvSpPr>
          <p:cNvPr id="24580"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GB" altLang="en-US" smtClean="0">
                <a:solidFill>
                  <a:srgbClr val="003399"/>
                </a:solidFill>
              </a:rPr>
              <a:t>Prevention:</a:t>
            </a:r>
            <a:r>
              <a:rPr lang="en-GB" altLang="en-US" smtClean="0"/>
              <a:t> locks at doors, window bars, walls round the property</a:t>
            </a:r>
          </a:p>
          <a:p>
            <a:pPr eaLnBrk="1" hangingPunct="1"/>
            <a:r>
              <a:rPr lang="en-GB" altLang="en-US" smtClean="0">
                <a:solidFill>
                  <a:srgbClr val="003399"/>
                </a:solidFill>
              </a:rPr>
              <a:t>Detection:</a:t>
            </a:r>
            <a:r>
              <a:rPr lang="en-GB" altLang="en-US" smtClean="0"/>
              <a:t> stolen items are missing, burglar alarms, closed circuit TV</a:t>
            </a:r>
          </a:p>
          <a:p>
            <a:pPr eaLnBrk="1" hangingPunct="1"/>
            <a:r>
              <a:rPr lang="en-GB" altLang="en-US" smtClean="0">
                <a:solidFill>
                  <a:srgbClr val="003399"/>
                </a:solidFill>
              </a:rPr>
              <a:t>Reaction:</a:t>
            </a:r>
            <a:r>
              <a:rPr lang="en-GB" altLang="en-US" smtClean="0"/>
              <a:t> call the police, replace stolen items, make an insurance claim …</a:t>
            </a:r>
          </a:p>
          <a:p>
            <a:pPr eaLnBrk="1" hangingPunct="1"/>
            <a:endParaRPr lang="en-US" altLang="en-US" smtClean="0"/>
          </a:p>
          <a:p>
            <a:pPr eaLnBrk="1" hangingPunct="1"/>
            <a:r>
              <a:rPr lang="en-GB" altLang="en-US" smtClean="0">
                <a:solidFill>
                  <a:srgbClr val="003399"/>
                </a:solidFill>
              </a:rPr>
              <a:t>Prevention:</a:t>
            </a:r>
            <a:r>
              <a:rPr lang="en-GB" altLang="en-US" smtClean="0"/>
              <a:t> encrypt your orders, rely on the merchant to perform checks on the caller, don’t use the Internet (?) …</a:t>
            </a:r>
          </a:p>
          <a:p>
            <a:pPr eaLnBrk="1" hangingPunct="1"/>
            <a:r>
              <a:rPr lang="en-GB" altLang="en-US" smtClean="0">
                <a:solidFill>
                  <a:srgbClr val="003399"/>
                </a:solidFill>
              </a:rPr>
              <a:t>Detection:</a:t>
            </a:r>
            <a:r>
              <a:rPr lang="en-GB" altLang="en-US" smtClean="0"/>
              <a:t> an unauthorized transaction appears on your credit card statement</a:t>
            </a:r>
          </a:p>
          <a:p>
            <a:pPr eaLnBrk="1" hangingPunct="1"/>
            <a:r>
              <a:rPr lang="en-GB" altLang="en-US" smtClean="0">
                <a:solidFill>
                  <a:srgbClr val="003399"/>
                </a:solidFill>
              </a:rPr>
              <a:t>Reaction:</a:t>
            </a:r>
            <a:r>
              <a:rPr lang="en-GB" altLang="en-US" smtClean="0"/>
              <a:t> complain, ask for a new card number, etc. </a:t>
            </a:r>
          </a:p>
          <a:p>
            <a:pPr eaLnBrk="1" hangingPunct="1"/>
            <a:endParaRPr lang="en-US" altLang="en-US" smtClean="0"/>
          </a:p>
        </p:txBody>
      </p:sp>
    </p:spTree>
    <p:extLst>
      <p:ext uri="{BB962C8B-B14F-4D97-AF65-F5344CB8AC3E}">
        <p14:creationId xmlns:p14="http://schemas.microsoft.com/office/powerpoint/2010/main" val="2687061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342E7AB0-F539-4972-A83C-D87D43827617}" type="slidenum">
              <a:rPr lang="en-US" altLang="en-US" sz="1200" b="0" smtClean="0">
                <a:solidFill>
                  <a:schemeClr val="tx1"/>
                </a:solidFill>
                <a:latin typeface="Times New Roman" panose="02020603050405020304" pitchFamily="18" charset="0"/>
              </a:rPr>
              <a:pPr/>
              <a:t>43</a:t>
            </a:fld>
            <a:endParaRPr lang="en-US" altLang="en-US" sz="1200" b="0" smtClean="0">
              <a:solidFill>
                <a:schemeClr val="tx1"/>
              </a:solidFill>
              <a:latin typeface="Times New Roman" panose="02020603050405020304" pitchFamily="18" charset="0"/>
            </a:endParaRPr>
          </a:p>
        </p:txBody>
      </p:sp>
      <p:sp>
        <p:nvSpPr>
          <p:cNvPr id="26627" name="Rectangle 2"/>
          <p:cNvSpPr>
            <a:spLocks noChangeArrowheads="1" noTextEdit="1"/>
          </p:cNvSpPr>
          <p:nvPr>
            <p:ph type="sldImg"/>
          </p:nvPr>
        </p:nvSpPr>
        <p:spPr>
          <a:xfrm>
            <a:off x="3430588" y="2401888"/>
            <a:ext cx="0" cy="0"/>
          </a:xfrm>
          <a:solidFill>
            <a:srgbClr val="FFFFFF"/>
          </a:solidFill>
          <a:ln/>
        </p:spPr>
      </p:sp>
      <p:sp>
        <p:nvSpPr>
          <p:cNvPr id="26628"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1619879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FAEF3BB7-7F62-4F71-92C8-23D58342D8D5}" type="slidenum">
              <a:rPr lang="en-US" altLang="en-US" sz="1200" b="0" smtClean="0">
                <a:solidFill>
                  <a:schemeClr val="tx1"/>
                </a:solidFill>
                <a:latin typeface="Times New Roman" panose="02020603050405020304" pitchFamily="18" charset="0"/>
              </a:rPr>
              <a:pPr/>
              <a:t>44</a:t>
            </a:fld>
            <a:endParaRPr lang="en-US" altLang="en-US" sz="1200" b="0" smtClean="0">
              <a:solidFill>
                <a:schemeClr val="tx1"/>
              </a:solidFill>
              <a:latin typeface="Times New Roman" panose="02020603050405020304" pitchFamily="18" charset="0"/>
            </a:endParaRPr>
          </a:p>
        </p:txBody>
      </p:sp>
      <p:sp>
        <p:nvSpPr>
          <p:cNvPr id="28675" name="Rectangle 2"/>
          <p:cNvSpPr>
            <a:spLocks noChangeArrowheads="1" noTextEdit="1"/>
          </p:cNvSpPr>
          <p:nvPr>
            <p:ph type="sldImg"/>
          </p:nvPr>
        </p:nvSpPr>
        <p:spPr>
          <a:xfrm>
            <a:off x="3430588" y="2401888"/>
            <a:ext cx="0" cy="0"/>
          </a:xfrm>
          <a:solidFill>
            <a:srgbClr val="FFFFFF"/>
          </a:solidFill>
          <a:ln/>
        </p:spPr>
      </p:sp>
      <p:sp>
        <p:nvSpPr>
          <p:cNvPr id="28676"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641174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04028875-B538-4DC2-ABF4-CF06F1D2A270}" type="slidenum">
              <a:rPr lang="en-US" altLang="en-US" sz="1200" b="0" smtClean="0">
                <a:solidFill>
                  <a:schemeClr val="tx1"/>
                </a:solidFill>
                <a:latin typeface="Times New Roman" panose="02020603050405020304" pitchFamily="18" charset="0"/>
              </a:rPr>
              <a:pPr/>
              <a:t>45</a:t>
            </a:fld>
            <a:endParaRPr lang="en-US" altLang="en-US" sz="1200" b="0" smtClean="0">
              <a:solidFill>
                <a:schemeClr val="tx1"/>
              </a:solidFill>
              <a:latin typeface="Times New Roman" panose="02020603050405020304" pitchFamily="18" charset="0"/>
            </a:endParaRPr>
          </a:p>
        </p:txBody>
      </p:sp>
      <p:sp>
        <p:nvSpPr>
          <p:cNvPr id="30723" name="Rectangle 2"/>
          <p:cNvSpPr>
            <a:spLocks noChangeArrowheads="1" noTextEdit="1"/>
          </p:cNvSpPr>
          <p:nvPr>
            <p:ph type="sldImg"/>
          </p:nvPr>
        </p:nvSpPr>
        <p:spPr>
          <a:xfrm>
            <a:off x="3430588" y="2401888"/>
            <a:ext cx="0" cy="0"/>
          </a:xfrm>
          <a:solidFill>
            <a:srgbClr val="FFFFFF"/>
          </a:solidFill>
          <a:ln/>
        </p:spPr>
      </p:sp>
      <p:sp>
        <p:nvSpPr>
          <p:cNvPr id="30724"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1471436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458EBDF4-5075-441D-9899-B5001BA184A1}" type="slidenum">
              <a:rPr lang="en-US" altLang="en-US" sz="1200" b="0" smtClean="0">
                <a:solidFill>
                  <a:schemeClr val="tx1"/>
                </a:solidFill>
                <a:latin typeface="Times New Roman" panose="02020603050405020304" pitchFamily="18" charset="0"/>
              </a:rPr>
              <a:pPr/>
              <a:t>46</a:t>
            </a:fld>
            <a:endParaRPr lang="en-US" altLang="en-US" sz="1200" b="0" smtClean="0">
              <a:solidFill>
                <a:schemeClr val="tx1"/>
              </a:solidFill>
              <a:latin typeface="Times New Roman" panose="02020603050405020304" pitchFamily="18" charset="0"/>
            </a:endParaRPr>
          </a:p>
        </p:txBody>
      </p:sp>
      <p:sp>
        <p:nvSpPr>
          <p:cNvPr id="32771" name="Rectangle 2"/>
          <p:cNvSpPr>
            <a:spLocks noChangeArrowheads="1" noTextEdit="1"/>
          </p:cNvSpPr>
          <p:nvPr>
            <p:ph type="sldImg"/>
          </p:nvPr>
        </p:nvSpPr>
        <p:spPr>
          <a:xfrm>
            <a:off x="3430588" y="2401888"/>
            <a:ext cx="0" cy="0"/>
          </a:xfrm>
          <a:solidFill>
            <a:srgbClr val="FFFFFF"/>
          </a:solidFill>
          <a:ln/>
        </p:spPr>
      </p:sp>
      <p:sp>
        <p:nvSpPr>
          <p:cNvPr id="32772"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2302933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BD6B1D40-D2E5-4935-83A2-7110A980FC5A}" type="slidenum">
              <a:rPr lang="en-US" altLang="en-US" sz="1200" b="0" smtClean="0">
                <a:solidFill>
                  <a:schemeClr val="tx1"/>
                </a:solidFill>
                <a:latin typeface="Times New Roman" panose="02020603050405020304" pitchFamily="18" charset="0"/>
              </a:rPr>
              <a:pPr/>
              <a:t>47</a:t>
            </a:fld>
            <a:endParaRPr lang="en-US" altLang="en-US" sz="1200" b="0" smtClean="0">
              <a:solidFill>
                <a:schemeClr val="tx1"/>
              </a:solidFill>
              <a:latin typeface="Times New Roman" panose="02020603050405020304" pitchFamily="18" charset="0"/>
            </a:endParaRPr>
          </a:p>
        </p:txBody>
      </p:sp>
      <p:sp>
        <p:nvSpPr>
          <p:cNvPr id="34819" name="Rectangle 2"/>
          <p:cNvSpPr>
            <a:spLocks noChangeArrowheads="1" noTextEdit="1"/>
          </p:cNvSpPr>
          <p:nvPr>
            <p:ph type="sldImg"/>
          </p:nvPr>
        </p:nvSpPr>
        <p:spPr>
          <a:xfrm>
            <a:off x="3430588" y="2401888"/>
            <a:ext cx="0" cy="0"/>
          </a:xfrm>
          <a:solidFill>
            <a:srgbClr val="FFFFFF"/>
          </a:solidFill>
          <a:ln/>
        </p:spPr>
      </p:sp>
      <p:sp>
        <p:nvSpPr>
          <p:cNvPr id="34820"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518031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687D33D0-C8EE-4259-86AD-2E0366DAF74B}" type="slidenum">
              <a:rPr lang="en-US" altLang="en-US" sz="1200" b="0" smtClean="0">
                <a:solidFill>
                  <a:schemeClr val="tx1"/>
                </a:solidFill>
                <a:latin typeface="Times New Roman" panose="02020603050405020304" pitchFamily="18" charset="0"/>
              </a:rPr>
              <a:pPr/>
              <a:t>48</a:t>
            </a:fld>
            <a:endParaRPr lang="en-US" altLang="en-US" sz="1200" b="0" smtClean="0">
              <a:solidFill>
                <a:schemeClr val="tx1"/>
              </a:solidFill>
              <a:latin typeface="Times New Roman" panose="02020603050405020304" pitchFamily="18" charset="0"/>
            </a:endParaRPr>
          </a:p>
        </p:txBody>
      </p:sp>
      <p:sp>
        <p:nvSpPr>
          <p:cNvPr id="36867" name="Rectangle 2"/>
          <p:cNvSpPr>
            <a:spLocks noChangeArrowheads="1" noTextEdit="1"/>
          </p:cNvSpPr>
          <p:nvPr>
            <p:ph type="sldImg"/>
          </p:nvPr>
        </p:nvSpPr>
        <p:spPr>
          <a:xfrm>
            <a:off x="3430588" y="2401888"/>
            <a:ext cx="0" cy="0"/>
          </a:xfrm>
          <a:solidFill>
            <a:srgbClr val="FFFFFF"/>
          </a:solidFill>
          <a:ln/>
        </p:spPr>
      </p:sp>
      <p:sp>
        <p:nvSpPr>
          <p:cNvPr id="36868"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10091428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9A566BB1-70B0-4287-9FA2-814B95EA1E14}" type="slidenum">
              <a:rPr lang="en-US" altLang="en-US" sz="1200" b="0" smtClean="0">
                <a:solidFill>
                  <a:schemeClr val="tx1"/>
                </a:solidFill>
                <a:latin typeface="Times New Roman" panose="02020603050405020304" pitchFamily="18" charset="0"/>
              </a:rPr>
              <a:pPr/>
              <a:t>49</a:t>
            </a:fld>
            <a:endParaRPr lang="en-US" altLang="en-US" sz="1200" b="0" smtClean="0">
              <a:solidFill>
                <a:schemeClr val="tx1"/>
              </a:solidFill>
              <a:latin typeface="Times New Roman" panose="02020603050405020304" pitchFamily="18" charset="0"/>
            </a:endParaRPr>
          </a:p>
        </p:txBody>
      </p:sp>
      <p:sp>
        <p:nvSpPr>
          <p:cNvPr id="38915" name="Rectangle 2"/>
          <p:cNvSpPr>
            <a:spLocks noChangeArrowheads="1" noTextEdit="1"/>
          </p:cNvSpPr>
          <p:nvPr>
            <p:ph type="sldImg"/>
          </p:nvPr>
        </p:nvSpPr>
        <p:spPr>
          <a:xfrm>
            <a:off x="3430588" y="2401888"/>
            <a:ext cx="0" cy="0"/>
          </a:xfrm>
          <a:solidFill>
            <a:srgbClr val="FFFFFF"/>
          </a:solidFill>
          <a:ln/>
        </p:spPr>
      </p:sp>
      <p:sp>
        <p:nvSpPr>
          <p:cNvPr id="38916"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3889797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51CA2BB0-4A5B-4E94-A56F-E81D60A9F5E3}" type="slidenum">
              <a:rPr lang="en-US" altLang="en-US" sz="1200" b="0" smtClean="0">
                <a:solidFill>
                  <a:schemeClr val="tx1"/>
                </a:solidFill>
                <a:latin typeface="Times New Roman" panose="02020603050405020304" pitchFamily="18" charset="0"/>
              </a:rPr>
              <a:pPr/>
              <a:t>50</a:t>
            </a:fld>
            <a:endParaRPr lang="en-US" altLang="en-US" sz="1200" b="0" smtClean="0">
              <a:solidFill>
                <a:schemeClr val="tx1"/>
              </a:solidFill>
              <a:latin typeface="Times New Roman" panose="02020603050405020304" pitchFamily="18" charset="0"/>
            </a:endParaRPr>
          </a:p>
        </p:txBody>
      </p:sp>
      <p:sp>
        <p:nvSpPr>
          <p:cNvPr id="40963" name="Rectangle 2"/>
          <p:cNvSpPr>
            <a:spLocks noChangeArrowheads="1" noTextEdit="1"/>
          </p:cNvSpPr>
          <p:nvPr>
            <p:ph type="sldImg"/>
          </p:nvPr>
        </p:nvSpPr>
        <p:spPr>
          <a:xfrm>
            <a:off x="3430588" y="2401888"/>
            <a:ext cx="0" cy="0"/>
          </a:xfrm>
          <a:solidFill>
            <a:srgbClr val="FFFFFF"/>
          </a:solidFill>
          <a:ln/>
        </p:spPr>
      </p:sp>
      <p:sp>
        <p:nvSpPr>
          <p:cNvPr id="40964"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4171899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5B041ACC-6DC3-47AB-A8BB-A93DF03A7B65}" type="slidenum">
              <a:rPr lang="en-US" altLang="en-US" sz="1200" b="0" smtClean="0">
                <a:solidFill>
                  <a:schemeClr val="tx1"/>
                </a:solidFill>
                <a:latin typeface="Times New Roman" panose="02020603050405020304" pitchFamily="18" charset="0"/>
              </a:rPr>
              <a:pPr/>
              <a:t>51</a:t>
            </a:fld>
            <a:endParaRPr lang="en-US" altLang="en-US" sz="1200" b="0" smtClean="0">
              <a:solidFill>
                <a:schemeClr val="tx1"/>
              </a:solidFill>
              <a:latin typeface="Times New Roman" panose="02020603050405020304" pitchFamily="18" charset="0"/>
            </a:endParaRPr>
          </a:p>
        </p:txBody>
      </p:sp>
      <p:sp>
        <p:nvSpPr>
          <p:cNvPr id="43011" name="Rectangle 2"/>
          <p:cNvSpPr>
            <a:spLocks noChangeArrowheads="1" noTextEdit="1"/>
          </p:cNvSpPr>
          <p:nvPr>
            <p:ph type="sldImg"/>
          </p:nvPr>
        </p:nvSpPr>
        <p:spPr>
          <a:xfrm>
            <a:off x="3430588" y="2401888"/>
            <a:ext cx="0" cy="0"/>
          </a:xfrm>
          <a:solidFill>
            <a:srgbClr val="FFFFFF"/>
          </a:solidFill>
          <a:ln/>
        </p:spPr>
      </p:sp>
      <p:sp>
        <p:nvSpPr>
          <p:cNvPr id="43012"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30543311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F3025497-BA00-47D6-A871-6FFF03558D29}" type="slidenum">
              <a:rPr lang="en-US" altLang="en-US" sz="1200" b="0" smtClean="0">
                <a:solidFill>
                  <a:schemeClr val="tx1"/>
                </a:solidFill>
                <a:latin typeface="Times New Roman" panose="02020603050405020304" pitchFamily="18" charset="0"/>
              </a:rPr>
              <a:pPr/>
              <a:t>52</a:t>
            </a:fld>
            <a:endParaRPr lang="en-US" altLang="en-US" sz="1200" b="0" smtClean="0">
              <a:solidFill>
                <a:schemeClr val="tx1"/>
              </a:solidFill>
              <a:latin typeface="Times New Roman" panose="02020603050405020304" pitchFamily="18" charset="0"/>
            </a:endParaRPr>
          </a:p>
        </p:txBody>
      </p:sp>
      <p:sp>
        <p:nvSpPr>
          <p:cNvPr id="45059" name="Rectangle 2"/>
          <p:cNvSpPr>
            <a:spLocks noChangeArrowheads="1" noTextEdit="1"/>
          </p:cNvSpPr>
          <p:nvPr>
            <p:ph type="sldImg"/>
          </p:nvPr>
        </p:nvSpPr>
        <p:spPr>
          <a:xfrm>
            <a:off x="3430588" y="2401888"/>
            <a:ext cx="0" cy="0"/>
          </a:xfrm>
          <a:solidFill>
            <a:srgbClr val="FFFFFF"/>
          </a:solidFill>
          <a:ln/>
        </p:spPr>
      </p:sp>
      <p:sp>
        <p:nvSpPr>
          <p:cNvPr id="45060"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11654338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3DCBF0E4-CE0B-4660-87E6-EB90E61DC419}" type="slidenum">
              <a:rPr lang="en-US" altLang="en-US" sz="1200" b="0" smtClean="0">
                <a:solidFill>
                  <a:schemeClr val="tx1"/>
                </a:solidFill>
                <a:latin typeface="Times New Roman" panose="02020603050405020304" pitchFamily="18" charset="0"/>
              </a:rPr>
              <a:pPr/>
              <a:t>53</a:t>
            </a:fld>
            <a:endParaRPr lang="en-US" altLang="en-US" sz="1200" b="0" smtClean="0">
              <a:solidFill>
                <a:schemeClr val="tx1"/>
              </a:solidFill>
              <a:latin typeface="Times New Roman" panose="02020603050405020304" pitchFamily="18" charset="0"/>
            </a:endParaRPr>
          </a:p>
        </p:txBody>
      </p:sp>
      <p:sp>
        <p:nvSpPr>
          <p:cNvPr id="49155" name="Rectangle 2"/>
          <p:cNvSpPr>
            <a:spLocks noChangeArrowheads="1" noTextEdit="1"/>
          </p:cNvSpPr>
          <p:nvPr>
            <p:ph type="sldImg"/>
          </p:nvPr>
        </p:nvSpPr>
        <p:spPr>
          <a:xfrm>
            <a:off x="3430588" y="2401888"/>
            <a:ext cx="0" cy="0"/>
          </a:xfrm>
          <a:solidFill>
            <a:srgbClr val="FFFFFF"/>
          </a:solidFill>
          <a:ln/>
        </p:spPr>
      </p:sp>
      <p:sp>
        <p:nvSpPr>
          <p:cNvPr id="49156"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9645771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defTabSz="930275">
              <a:defRPr sz="2400" b="1">
                <a:solidFill>
                  <a:srgbClr val="0000FF"/>
                </a:solidFill>
                <a:latin typeface="Arial" panose="020B0604020202020204" pitchFamily="34" charset="0"/>
              </a:defRPr>
            </a:lvl1pPr>
            <a:lvl2pPr marL="742950" indent="-285750" defTabSz="930275">
              <a:defRPr sz="2400" b="1">
                <a:solidFill>
                  <a:srgbClr val="0000FF"/>
                </a:solidFill>
                <a:latin typeface="Arial" panose="020B0604020202020204" pitchFamily="34" charset="0"/>
              </a:defRPr>
            </a:lvl2pPr>
            <a:lvl3pPr marL="1143000" indent="-228600" defTabSz="930275">
              <a:defRPr sz="2400" b="1">
                <a:solidFill>
                  <a:srgbClr val="0000FF"/>
                </a:solidFill>
                <a:latin typeface="Arial" panose="020B0604020202020204" pitchFamily="34" charset="0"/>
              </a:defRPr>
            </a:lvl3pPr>
            <a:lvl4pPr marL="1600200" indent="-228600" defTabSz="930275">
              <a:defRPr sz="2400" b="1">
                <a:solidFill>
                  <a:srgbClr val="0000FF"/>
                </a:solidFill>
                <a:latin typeface="Arial" panose="020B0604020202020204" pitchFamily="34" charset="0"/>
              </a:defRPr>
            </a:lvl4pPr>
            <a:lvl5pPr marL="2057400" indent="-228600" defTabSz="930275">
              <a:defRPr sz="2400" b="1">
                <a:solidFill>
                  <a:srgbClr val="0000FF"/>
                </a:solidFill>
                <a:latin typeface="Arial" panose="020B0604020202020204" pitchFamily="34" charset="0"/>
              </a:defRPr>
            </a:lvl5pPr>
            <a:lvl6pPr marL="2514600" indent="-228600" defTabSz="930275" eaLnBrk="0" fontAlgn="base" hangingPunct="0">
              <a:spcBef>
                <a:spcPct val="0"/>
              </a:spcBef>
              <a:spcAft>
                <a:spcPct val="0"/>
              </a:spcAft>
              <a:defRPr sz="2400" b="1">
                <a:solidFill>
                  <a:srgbClr val="0000FF"/>
                </a:solidFill>
                <a:latin typeface="Arial" panose="020B0604020202020204" pitchFamily="34" charset="0"/>
              </a:defRPr>
            </a:lvl6pPr>
            <a:lvl7pPr marL="2971800" indent="-228600" defTabSz="930275" eaLnBrk="0" fontAlgn="base" hangingPunct="0">
              <a:spcBef>
                <a:spcPct val="0"/>
              </a:spcBef>
              <a:spcAft>
                <a:spcPct val="0"/>
              </a:spcAft>
              <a:defRPr sz="2400" b="1">
                <a:solidFill>
                  <a:srgbClr val="0000FF"/>
                </a:solidFill>
                <a:latin typeface="Arial" panose="020B0604020202020204" pitchFamily="34" charset="0"/>
              </a:defRPr>
            </a:lvl7pPr>
            <a:lvl8pPr marL="3429000" indent="-228600" defTabSz="930275" eaLnBrk="0" fontAlgn="base" hangingPunct="0">
              <a:spcBef>
                <a:spcPct val="0"/>
              </a:spcBef>
              <a:spcAft>
                <a:spcPct val="0"/>
              </a:spcAft>
              <a:defRPr sz="2400" b="1">
                <a:solidFill>
                  <a:srgbClr val="0000FF"/>
                </a:solidFill>
                <a:latin typeface="Arial" panose="020B0604020202020204" pitchFamily="34" charset="0"/>
              </a:defRPr>
            </a:lvl8pPr>
            <a:lvl9pPr marL="3886200" indent="-228600" defTabSz="930275" eaLnBrk="0" fontAlgn="base" hangingPunct="0">
              <a:spcBef>
                <a:spcPct val="0"/>
              </a:spcBef>
              <a:spcAft>
                <a:spcPct val="0"/>
              </a:spcAft>
              <a:defRPr sz="2400" b="1">
                <a:solidFill>
                  <a:srgbClr val="0000FF"/>
                </a:solidFill>
                <a:latin typeface="Arial" panose="020B0604020202020204" pitchFamily="34" charset="0"/>
              </a:defRPr>
            </a:lvl9pPr>
          </a:lstStyle>
          <a:p>
            <a:fld id="{F244B4A7-E4A3-4363-B019-682D9DFC45CE}" type="slidenum">
              <a:rPr lang="en-US" altLang="en-US" sz="1200" b="0" smtClean="0">
                <a:solidFill>
                  <a:schemeClr val="tx1"/>
                </a:solidFill>
                <a:latin typeface="Times New Roman" panose="02020603050405020304" pitchFamily="18" charset="0"/>
              </a:rPr>
              <a:pPr/>
              <a:t>54</a:t>
            </a:fld>
            <a:endParaRPr lang="en-US" altLang="en-US" sz="1200" b="0" smtClean="0">
              <a:solidFill>
                <a:schemeClr val="tx1"/>
              </a:solidFill>
              <a:latin typeface="Times New Roman" panose="02020603050405020304" pitchFamily="18" charset="0"/>
            </a:endParaRPr>
          </a:p>
        </p:txBody>
      </p:sp>
      <p:sp>
        <p:nvSpPr>
          <p:cNvPr id="51203" name="Rectangle 2"/>
          <p:cNvSpPr>
            <a:spLocks noChangeArrowheads="1" noTextEdit="1"/>
          </p:cNvSpPr>
          <p:nvPr>
            <p:ph type="sldImg"/>
          </p:nvPr>
        </p:nvSpPr>
        <p:spPr>
          <a:xfrm>
            <a:off x="3430588" y="2401888"/>
            <a:ext cx="0" cy="0"/>
          </a:xfrm>
          <a:solidFill>
            <a:srgbClr val="FFFFFF"/>
          </a:solidFill>
          <a:ln/>
        </p:spPr>
      </p:sp>
      <p:sp>
        <p:nvSpPr>
          <p:cNvPr id="51204" name="Rectangle 3"/>
          <p:cNvSpPr>
            <a:spLocks noChangeArrowheads="1"/>
          </p:cNvSpPr>
          <p:nvPr>
            <p:ph type="body" idx="1"/>
          </p:nvPr>
        </p:nvSpPr>
        <p:spPr>
          <a:solidFill>
            <a:srgbClr val="FFFFFF"/>
          </a:solidFill>
          <a:ln>
            <a:solidFill>
              <a:srgbClr val="000000"/>
            </a:solidFill>
            <a:miter lim="800000"/>
            <a:headEnd/>
            <a:tailEnd/>
          </a:ln>
        </p:spPr>
        <p:txBody>
          <a:bodyPr lIns="91424" tIns="45711" rIns="91424" bIns="45711"/>
          <a:lstStyle/>
          <a:p>
            <a:pPr eaLnBrk="1" hangingPunct="1"/>
            <a:r>
              <a:rPr lang="en-US" altLang="en-US" smtClean="0"/>
              <a:t>Potential Damages:</a:t>
            </a:r>
          </a:p>
          <a:p>
            <a:pPr eaLnBrk="1" hangingPunct="1"/>
            <a:endParaRPr lang="en-US" altLang="en-US" smtClean="0"/>
          </a:p>
          <a:p>
            <a:pPr eaLnBrk="1" hangingPunct="1"/>
            <a:r>
              <a:rPr lang="en-US" altLang="en-US" smtClean="0"/>
              <a:t>	1. Change orders placed by the client (Instead of 500 widgets he can make the order 50,000 widgets)</a:t>
            </a:r>
          </a:p>
          <a:p>
            <a:pPr eaLnBrk="1" hangingPunct="1"/>
            <a:r>
              <a:rPr lang="en-US" altLang="en-US" smtClean="0"/>
              <a:t>	2. Change meeting venues to send people on wild goose chases</a:t>
            </a:r>
          </a:p>
        </p:txBody>
      </p:sp>
    </p:spTree>
    <p:extLst>
      <p:ext uri="{BB962C8B-B14F-4D97-AF65-F5344CB8AC3E}">
        <p14:creationId xmlns:p14="http://schemas.microsoft.com/office/powerpoint/2010/main" val="2464167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338DF3D-30B5-4203-9F61-4DF4C93549F9}" type="datetime1">
              <a:rPr lang="en-US" smtClean="0"/>
              <a:t>5/3/2023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35B14D7-8BA9-4EE1-835E-4199F7C88E61}" type="datetime1">
              <a:rPr lang="en-US" smtClean="0"/>
              <a:t>5/3/2023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04ACBE5-8387-44C2-8244-3C027748E0C1}" type="datetime1">
              <a:rPr lang="en-US" smtClean="0"/>
              <a:t>5/3/2023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E333E74-61D9-4270-845E-08C577B4746D}" type="datetime1">
              <a:rPr lang="en-US" smtClean="0"/>
              <a:t>5/3/2023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122D354B-A90F-4649-BCD0-7311B9A1E519}" type="datetime1">
              <a:rPr lang="en-US" smtClean="0"/>
              <a:t>5/3/2023</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F25BB299-A05B-4721-910A-149978AA2F99}" type="datetime1">
              <a:rPr lang="en-US" smtClean="0"/>
              <a:t>5/3/2023</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485C664-8172-4B0B-91AD-99832E49CA68}" type="datetime1">
              <a:rPr lang="en-US" smtClean="0"/>
              <a:t>5/3/2023</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39FEB66-1999-4885-9013-09B59463BA52}" type="datetime1">
              <a:rPr lang="en-US" smtClean="0"/>
              <a:t>5/3/2023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228574B-A9ED-4C5D-BC0D-2EE4E2CF73B9}" type="datetime1">
              <a:rPr lang="en-US" smtClean="0"/>
              <a:t>5/3/2023</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9EF852DC-FA04-43A8-808A-7B02012B408F}" type="datetime1">
              <a:rPr lang="en-US" smtClean="0"/>
              <a:t>5/3/2023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B2285DBF-07E6-4C04-8128-7BB2323544A4}" type="datetime1">
              <a:rPr lang="en-US" smtClean="0"/>
              <a:t>5/3/2023</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Mr. R C Ravindranath, Asst. Prof, SOE-CSE</a:t>
            </a:r>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7290EFBF-FDBC-4E11-8D09-14402F29F22D}" type="datetime1">
              <a:rPr lang="en-US" smtClean="0"/>
              <a:t>5/3/2023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Mr. R C Ravindranath, Asst. Prof, SOE-CSE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14600" y="1905000"/>
            <a:ext cx="7162800" cy="1676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002060"/>
                </a:solidFill>
                <a:latin typeface="Times New Roman" panose="02020603050405020304" pitchFamily="18" charset="0"/>
                <a:cs typeface="Times New Roman" panose="02020603050405020304" pitchFamily="18" charset="0"/>
              </a:rPr>
              <a:t>MODULE – 2 </a:t>
            </a:r>
          </a:p>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FF0000"/>
                </a:solidFill>
                <a:latin typeface="Times New Roman" panose="02020603050405020304" pitchFamily="18" charset="0"/>
                <a:cs typeface="Times New Roman" panose="02020603050405020304" pitchFamily="18" charset="0"/>
              </a:rPr>
              <a:t>Multithreading in Java</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cs typeface="Arial" panose="020B0604020202020204" pitchFamily="34" charset="0"/>
              </a:rPr>
              <a:pPr>
                <a:defRPr/>
              </a:pPr>
              <a:t>1</a:t>
            </a:fld>
            <a:endParaRPr lang="en-US" altLang="en-US">
              <a:cs typeface="Arial" panose="020B0604020202020204" pitchFamily="34" charset="0"/>
            </a:endParaRPr>
          </a:p>
        </p:txBody>
      </p:sp>
      <p:sp>
        <p:nvSpPr>
          <p:cNvPr id="3" name="Rectangle 2">
            <a:extLst>
              <a:ext uri="{FF2B5EF4-FFF2-40B4-BE49-F238E27FC236}">
                <a16:creationId xmlns="" xmlns:a16="http://schemas.microsoft.com/office/drawing/2014/main" id="{B9605AF4-4543-768D-A72E-3C460AD43EFB}"/>
              </a:ext>
            </a:extLst>
          </p:cNvPr>
          <p:cNvSpPr/>
          <p:nvPr/>
        </p:nvSpPr>
        <p:spPr>
          <a:xfrm>
            <a:off x="2667000" y="2057400"/>
            <a:ext cx="7162800" cy="1676400"/>
          </a:xfrm>
          <a:prstGeom prst="rect">
            <a:avLst/>
          </a:prstGeo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solidFill>
                  <a:srgbClr val="002060"/>
                </a:solidFill>
                <a:latin typeface="Times New Roman" panose="02020603050405020304" pitchFamily="18" charset="0"/>
                <a:cs typeface="Times New Roman" panose="02020603050405020304" pitchFamily="18" charset="0"/>
              </a:rPr>
              <a:t>MODULE – </a:t>
            </a:r>
            <a:r>
              <a:rPr lang="en-US" sz="2800" b="1" dirty="0" smtClean="0">
                <a:solidFill>
                  <a:srgbClr val="002060"/>
                </a:solidFill>
                <a:latin typeface="Times New Roman" panose="02020603050405020304" pitchFamily="18" charset="0"/>
                <a:cs typeface="Times New Roman" panose="02020603050405020304" pitchFamily="18" charset="0"/>
              </a:rPr>
              <a:t>4</a:t>
            </a:r>
            <a:endParaRPr lang="en-US" sz="2800" b="1" dirty="0">
              <a:solidFill>
                <a:srgbClr val="002060"/>
              </a:solidFill>
              <a:latin typeface="Times New Roman" panose="02020603050405020304" pitchFamily="18" charset="0"/>
              <a:cs typeface="Times New Roman" panose="02020603050405020304" pitchFamily="18" charset="0"/>
            </a:endParaRPr>
          </a:p>
          <a:p>
            <a:pPr algn="ctr" defTabSz="45720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800" b="1" dirty="0"/>
              <a:t>Distributed Programming with servlets and JSP </a:t>
            </a:r>
            <a:endParaRPr lang="en-US" sz="28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19100" y="990600"/>
            <a:ext cx="10248900" cy="3200400"/>
          </a:xfrm>
        </p:spPr>
        <p:txBody>
          <a:bodyPr rtlCol="0">
            <a:noAutofit/>
          </a:bodyPr>
          <a:lstStyle/>
          <a:p>
            <a:pPr algn="just"/>
            <a:r>
              <a:rPr lang="en-US" sz="2400" b="1" dirty="0"/>
              <a:t>Servlet –</a:t>
            </a:r>
            <a:r>
              <a:rPr lang="en-US" sz="2400" dirty="0"/>
              <a:t> Web application basics, Architecture and challenges of web application, Introduction to servlets, Servlet life-cycle, Developing and Deploying servlets, creation and compilation of servlets, Introduction to Tomcat, Handling HTTP requests and responses, Handling HTTP GET and POST requests.</a:t>
            </a:r>
            <a:endParaRPr lang="en-IN" sz="2400" dirty="0"/>
          </a:p>
          <a:p>
            <a:pPr algn="just"/>
            <a:r>
              <a:rPr lang="en-US" sz="2400" b="1" dirty="0"/>
              <a:t>JSP – </a:t>
            </a:r>
            <a:r>
              <a:rPr lang="en-US" sz="2400" dirty="0"/>
              <a:t>Introduction to JSP, Creation and Test of simple JSP, JSP scripting constructs, JSP predefined variables, JSP directives, Database operations with JSP.</a:t>
            </a:r>
            <a:endParaRPr lang="en-IN" sz="24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a:t>
            </a:fld>
            <a:endParaRPr lang="en-US" altLang="en-US"/>
          </a:p>
        </p:txBody>
      </p:sp>
      <p:sp>
        <p:nvSpPr>
          <p:cNvPr id="7" name="Title 1"/>
          <p:cNvSpPr>
            <a:spLocks noGrp="1"/>
          </p:cNvSpPr>
          <p:nvPr>
            <p:ph type="title"/>
          </p:nvPr>
        </p:nvSpPr>
        <p:spPr>
          <a:xfrm>
            <a:off x="419100" y="154723"/>
            <a:ext cx="22479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a:solidFill>
                  <a:srgbClr val="002060"/>
                </a:solidFill>
                <a:latin typeface="Times New Roman" panose="02020603050405020304" pitchFamily="18" charset="0"/>
                <a:ea typeface="+mn-ea"/>
                <a:cs typeface="Times New Roman" panose="02020603050405020304" pitchFamily="18" charset="0"/>
              </a:rPr>
              <a:t>Syllabus</a:t>
            </a:r>
          </a:p>
        </p:txBody>
      </p:sp>
    </p:spTree>
    <p:extLst>
      <p:ext uri="{BB962C8B-B14F-4D97-AF65-F5344CB8AC3E}">
        <p14:creationId xmlns:p14="http://schemas.microsoft.com/office/powerpoint/2010/main" val="240548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419100" y="990600"/>
            <a:ext cx="10248900" cy="4191000"/>
          </a:xfrm>
        </p:spPr>
        <p:txBody>
          <a:bodyPr rtlCol="0">
            <a:noAutofit/>
          </a:bodyPr>
          <a:lstStyle/>
          <a:p>
            <a:pPr fontAlgn="auto">
              <a:lnSpc>
                <a:spcPct val="100000"/>
              </a:lnSpc>
              <a:spcBef>
                <a:spcPts val="1200"/>
              </a:spcBef>
              <a:spcAft>
                <a:spcPts val="0"/>
              </a:spcAft>
              <a:defRPr/>
            </a:pPr>
            <a:r>
              <a:rPr lang="en-IN" sz="2400" dirty="0" smtClean="0"/>
              <a:t> </a:t>
            </a:r>
            <a:r>
              <a:rPr lang="en-US" sz="2400" dirty="0"/>
              <a:t>Web application basics, Architecture and challenges of web application</a:t>
            </a:r>
            <a:endParaRPr lang="en-US" sz="2400" dirty="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r>
              <a:rPr lang="en-US" sz="2400" dirty="0"/>
              <a:t>Introduction to servlets</a:t>
            </a: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r>
              <a:rPr lang="en-US" sz="2400" dirty="0"/>
              <a:t>Servlet life-cycle</a:t>
            </a:r>
            <a:endParaRPr lang="en-US" sz="2400" dirty="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r>
              <a:rPr lang="en-US" sz="2400" dirty="0"/>
              <a:t>Developing and Deploying </a:t>
            </a:r>
            <a:r>
              <a:rPr lang="en-US" sz="2400" dirty="0" smtClean="0"/>
              <a:t>servlets</a:t>
            </a:r>
          </a:p>
          <a:p>
            <a:pPr fontAlgn="auto">
              <a:lnSpc>
                <a:spcPct val="100000"/>
              </a:lnSpc>
              <a:spcBef>
                <a:spcPts val="1200"/>
              </a:spcBef>
              <a:spcAft>
                <a:spcPts val="0"/>
              </a:spcAft>
              <a:defRPr/>
            </a:pPr>
            <a:r>
              <a:rPr lang="en-US" sz="2400" dirty="0"/>
              <a:t>C</a:t>
            </a:r>
            <a:r>
              <a:rPr lang="en-US" sz="2400" dirty="0" smtClean="0"/>
              <a:t>reation </a:t>
            </a:r>
            <a:r>
              <a:rPr lang="en-US" sz="2400" dirty="0"/>
              <a:t>and </a:t>
            </a:r>
            <a:r>
              <a:rPr lang="en-US" sz="2400" dirty="0" smtClean="0"/>
              <a:t>Compilation </a:t>
            </a:r>
            <a:r>
              <a:rPr lang="en-US" sz="2400" dirty="0"/>
              <a:t>of servlets</a:t>
            </a:r>
            <a:endParaRPr lang="en-US" sz="2400" dirty="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r>
              <a:rPr lang="en-US" sz="2400" dirty="0"/>
              <a:t>Introduction to Tomcat</a:t>
            </a:r>
            <a:endParaRPr lang="en-US" sz="2400" dirty="0">
              <a:latin typeface="Times New Roman" panose="02020603050405020304" pitchFamily="18" charset="0"/>
              <a:cs typeface="Times New Roman" panose="02020603050405020304" pitchFamily="18" charset="0"/>
            </a:endParaRPr>
          </a:p>
          <a:p>
            <a:pPr fontAlgn="auto">
              <a:lnSpc>
                <a:spcPct val="100000"/>
              </a:lnSpc>
              <a:spcBef>
                <a:spcPts val="1200"/>
              </a:spcBef>
              <a:spcAft>
                <a:spcPts val="0"/>
              </a:spcAft>
              <a:defRPr/>
            </a:pPr>
            <a:r>
              <a:rPr lang="en-US" sz="2400" dirty="0"/>
              <a:t>Handling HTTP requests and </a:t>
            </a:r>
            <a:r>
              <a:rPr lang="en-US" sz="2400" dirty="0" smtClean="0"/>
              <a:t>responses</a:t>
            </a:r>
          </a:p>
          <a:p>
            <a:pPr fontAlgn="auto">
              <a:lnSpc>
                <a:spcPct val="100000"/>
              </a:lnSpc>
              <a:spcBef>
                <a:spcPts val="1200"/>
              </a:spcBef>
              <a:spcAft>
                <a:spcPts val="0"/>
              </a:spcAft>
              <a:defRPr/>
            </a:pPr>
            <a:r>
              <a:rPr lang="en-US" sz="2400" dirty="0"/>
              <a:t>Handling HTTP GET and POST requests.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a:t>
            </a:fld>
            <a:endParaRPr lang="en-US" altLang="en-US"/>
          </a:p>
        </p:txBody>
      </p:sp>
      <p:sp>
        <p:nvSpPr>
          <p:cNvPr id="7" name="Title 1"/>
          <p:cNvSpPr>
            <a:spLocks noGrp="1"/>
          </p:cNvSpPr>
          <p:nvPr>
            <p:ph type="title"/>
          </p:nvPr>
        </p:nvSpPr>
        <p:spPr>
          <a:xfrm>
            <a:off x="419100" y="154723"/>
            <a:ext cx="2247900" cy="454878"/>
          </a:xfrm>
          <a:solidFill>
            <a:schemeClr val="bg1"/>
          </a:solidFill>
          <a:ln w="9525">
            <a:solidFill>
              <a:schemeClr val="accent1"/>
            </a:solidFill>
            <a:round/>
            <a:headEnd/>
            <a:tailEnd/>
          </a:ln>
          <a:effectLst>
            <a:outerShdw blurRad="50800" dist="38100" dir="2700000" algn="tl" rotWithShape="0">
              <a:prstClr val="black">
                <a:alpha val="40000"/>
              </a:prstClr>
            </a:outerShdw>
          </a:effectLst>
        </p:spPr>
        <p:txBody>
          <a:bodyPr lIns="90000" tIns="46800" rIns="90000" bIns="46800" anchor="ctr"/>
          <a:lstStyle/>
          <a:p>
            <a:pPr defTabSz="457200" eaLnBrk="0" hangingPunct="0">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000" b="1" dirty="0">
                <a:solidFill>
                  <a:srgbClr val="002060"/>
                </a:solidFill>
                <a:latin typeface="Times New Roman" panose="02020603050405020304" pitchFamily="18" charset="0"/>
                <a:ea typeface="+mn-ea"/>
                <a:cs typeface="Times New Roman" panose="02020603050405020304" pitchFamily="18" charset="0"/>
              </a:rPr>
              <a:t>Contents</a:t>
            </a:r>
          </a:p>
        </p:txBody>
      </p:sp>
    </p:spTree>
    <p:extLst>
      <p:ext uri="{BB962C8B-B14F-4D97-AF65-F5344CB8AC3E}">
        <p14:creationId xmlns:p14="http://schemas.microsoft.com/office/powerpoint/2010/main" val="573285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125"/>
            <a:ext cx="10591800" cy="4511675"/>
          </a:xfrm>
          <a:solidFill>
            <a:schemeClr val="bg1"/>
          </a:solidFill>
          <a:effectLst>
            <a:outerShdw blurRad="50800" dist="38100" dir="16200000" rotWithShape="0">
              <a:prstClr val="black">
                <a:alpha val="40000"/>
              </a:prstClr>
            </a:outerShdw>
          </a:effectLst>
          <a:scene3d>
            <a:camera prst="obliqueTopLeft"/>
            <a:lightRig rig="threePt" dir="t"/>
          </a:scene3d>
        </p:spPr>
        <p:txBody>
          <a:bodyPr/>
          <a:lstStyle/>
          <a:p>
            <a:pPr algn="ctr"/>
            <a:r>
              <a:rPr lang="en-US" smtClean="0"/>
              <a:t>Servlets</a:t>
            </a:r>
            <a:br>
              <a:rPr lang="en-US" smtClean="0"/>
            </a:br>
            <a:r>
              <a:rPr lang="en-US" smtClean="0">
                <a:latin typeface="Apple Chancery" panose="03020702040506060504" pitchFamily="66" charset="0"/>
              </a:rPr>
              <a:t>Introduction</a:t>
            </a:r>
            <a:r>
              <a:rPr lang="en-US" smtClean="0"/>
              <a:t> </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4</a:t>
            </a:fld>
            <a:endParaRPr lang="en-US" altLang="en-US"/>
          </a:p>
        </p:txBody>
      </p:sp>
    </p:spTree>
    <p:extLst>
      <p:ext uri="{BB962C8B-B14F-4D97-AF65-F5344CB8AC3E}">
        <p14:creationId xmlns:p14="http://schemas.microsoft.com/office/powerpoint/2010/main" val="1091712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838200" y="365125"/>
            <a:ext cx="9601200" cy="549275"/>
          </a:xfrm>
        </p:spPr>
        <p:txBody>
          <a:bodyPr/>
          <a:lstStyle/>
          <a:p>
            <a:r>
              <a:rPr lang="en-US" altLang="en-US" dirty="0" smtClean="0"/>
              <a:t>Servlets </a:t>
            </a:r>
            <a:r>
              <a:rPr lang="en-US" altLang="en-US" dirty="0"/>
              <a:t>Introduction</a:t>
            </a:r>
          </a:p>
        </p:txBody>
      </p:sp>
      <p:sp>
        <p:nvSpPr>
          <p:cNvPr id="299011" name="Rectangle 3"/>
          <p:cNvSpPr>
            <a:spLocks noGrp="1" noChangeArrowheads="1"/>
          </p:cNvSpPr>
          <p:nvPr>
            <p:ph type="body" idx="1"/>
          </p:nvPr>
        </p:nvSpPr>
        <p:spPr>
          <a:xfrm>
            <a:off x="1066800" y="1066800"/>
            <a:ext cx="10134600" cy="4267200"/>
          </a:xfrm>
        </p:spPr>
        <p:txBody>
          <a:bodyPr/>
          <a:lstStyle/>
          <a:p>
            <a:pPr algn="just"/>
            <a:r>
              <a:rPr lang="en-US" sz="2500" dirty="0">
                <a:latin typeface="Times New Roman" pitchFamily="18" charset="0"/>
                <a:cs typeface="Times New Roman" pitchFamily="18" charset="0"/>
              </a:rPr>
              <a:t>A servlet is a java class that extends an application hosted on a web server.</a:t>
            </a:r>
          </a:p>
          <a:p>
            <a:pPr algn="just"/>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Handles the HTTP request-response process (for our purposes)</a:t>
            </a:r>
          </a:p>
          <a:p>
            <a:pPr algn="just"/>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Provides a component base architecture for web development, using the Java Platform</a:t>
            </a:r>
          </a:p>
          <a:p>
            <a:pPr algn="just"/>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Alternative to CGI scripting and platform specific server side applications</a:t>
            </a:r>
            <a:r>
              <a:rPr lang="en-US" sz="2500" dirty="0"/>
              <a:t>.</a:t>
            </a:r>
            <a:endParaRPr lang="en-US" altLang="en-US" sz="2500" dirty="0">
              <a:latin typeface="Arial" panose="020B0604020202020204" pitchFamily="34" charset="0"/>
            </a:endParaRPr>
          </a:p>
        </p:txBody>
      </p:sp>
    </p:spTree>
    <p:extLst>
      <p:ext uri="{BB962C8B-B14F-4D97-AF65-F5344CB8AC3E}">
        <p14:creationId xmlns:p14="http://schemas.microsoft.com/office/powerpoint/2010/main" val="6537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Servlets</a:t>
            </a:r>
            <a:endParaRPr lang="en-IN" dirty="0"/>
          </a:p>
        </p:txBody>
      </p:sp>
      <p:sp>
        <p:nvSpPr>
          <p:cNvPr id="3" name="Content Placeholder 2"/>
          <p:cNvSpPr>
            <a:spLocks noGrp="1"/>
          </p:cNvSpPr>
          <p:nvPr>
            <p:ph idx="1"/>
          </p:nvPr>
        </p:nvSpPr>
        <p:spPr>
          <a:xfrm>
            <a:off x="838200" y="1825625"/>
            <a:ext cx="10515600" cy="3203575"/>
          </a:xfrm>
        </p:spPr>
        <p:txBody>
          <a:bodyPr/>
          <a:lstStyle/>
          <a:p>
            <a:pPr algn="just" eaLnBrk="1" hangingPunct="1"/>
            <a:r>
              <a:rPr lang="en-US" dirty="0">
                <a:latin typeface="Times New Roman" pitchFamily="18" charset="0"/>
                <a:cs typeface="Times New Roman" pitchFamily="18" charset="0"/>
              </a:rPr>
              <a:t>Processing and/or storing data submitted by an HTML form.</a:t>
            </a:r>
          </a:p>
          <a:p>
            <a:pPr algn="just" eaLnBrk="1" hangingPunct="1"/>
            <a:r>
              <a:rPr lang="en-US" dirty="0">
                <a:latin typeface="Times New Roman" pitchFamily="18" charset="0"/>
                <a:cs typeface="Times New Roman" pitchFamily="18" charset="0"/>
              </a:rPr>
              <a:t>Providing dynamic content, e.g. returning the results of a database query to the client.</a:t>
            </a:r>
          </a:p>
          <a:p>
            <a:pPr algn="just" eaLnBrk="1" hangingPunct="1"/>
            <a:r>
              <a:rPr lang="en-US" dirty="0">
                <a:latin typeface="Times New Roman" pitchFamily="18" charset="0"/>
                <a:cs typeface="Times New Roman" pitchFamily="18" charset="0"/>
              </a:rPr>
              <a:t>Managing state information on top of the stateless HTTP, e.g. for an online shopping cart system which manages shopping carts for many concurrent customers and maps every request to the right customer.</a:t>
            </a:r>
          </a:p>
          <a:p>
            <a:pPr marL="0" indent="0">
              <a:buNone/>
            </a:pP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6</a:t>
            </a:fld>
            <a:endParaRPr lang="en-US" altLang="en-US"/>
          </a:p>
        </p:txBody>
      </p:sp>
    </p:spTree>
    <p:extLst>
      <p:ext uri="{BB962C8B-B14F-4D97-AF65-F5344CB8AC3E}">
        <p14:creationId xmlns:p14="http://schemas.microsoft.com/office/powerpoint/2010/main" val="391240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Servlets</a:t>
            </a:r>
            <a:endParaRPr lang="en-IN" dirty="0"/>
          </a:p>
        </p:txBody>
      </p:sp>
      <p:sp>
        <p:nvSpPr>
          <p:cNvPr id="3" name="Content Placeholder 2"/>
          <p:cNvSpPr>
            <a:spLocks noGrp="1"/>
          </p:cNvSpPr>
          <p:nvPr>
            <p:ph idx="1"/>
          </p:nvPr>
        </p:nvSpPr>
        <p:spPr/>
        <p:txBody>
          <a:bodyPr/>
          <a:lstStyle/>
          <a:p>
            <a:pPr algn="just">
              <a:defRPr/>
            </a:pPr>
            <a:r>
              <a:rPr lang="en-US" dirty="0">
                <a:latin typeface="Times New Roman" panose="02020603050405020304" pitchFamily="18" charset="0"/>
                <a:cs typeface="Times New Roman" panose="02020603050405020304" pitchFamily="18" charset="0"/>
              </a:rPr>
              <a:t>Servlets provide the middle tier in a three or multi-tier system.</a:t>
            </a:r>
          </a:p>
          <a:p>
            <a:pPr marL="0" indent="0" algn="just">
              <a:buNone/>
              <a:defRPr/>
            </a:pPr>
            <a:endParaRPr lang="en-US" dirty="0">
              <a:latin typeface="Times New Roman" panose="02020603050405020304" pitchFamily="18" charset="0"/>
              <a:cs typeface="Times New Roman" panose="02020603050405020304" pitchFamily="18" charset="0"/>
            </a:endParaRPr>
          </a:p>
          <a:p>
            <a:pPr algn="just">
              <a:defRPr/>
            </a:pPr>
            <a:r>
              <a:rPr lang="en-US" dirty="0">
                <a:latin typeface="Times New Roman" panose="02020603050405020304" pitchFamily="18" charset="0"/>
                <a:cs typeface="Times New Roman" panose="02020603050405020304" pitchFamily="18" charset="0"/>
              </a:rPr>
              <a:t>Servlets provide logic and/or traffic control for requests/response to the server.</a:t>
            </a:r>
          </a:p>
          <a:p>
            <a:pPr marL="0" indent="0" algn="just">
              <a:buNone/>
              <a:defRPr/>
            </a:pPr>
            <a:endParaRPr lang="en-US" dirty="0">
              <a:latin typeface="Times New Roman" panose="02020603050405020304" pitchFamily="18" charset="0"/>
              <a:cs typeface="Times New Roman" panose="02020603050405020304" pitchFamily="18" charset="0"/>
            </a:endParaRPr>
          </a:p>
          <a:p>
            <a:pPr algn="just">
              <a:defRPr/>
            </a:pPr>
            <a:r>
              <a:rPr lang="en-US" dirty="0">
                <a:latin typeface="Times New Roman" panose="02020603050405020304" pitchFamily="18" charset="0"/>
                <a:cs typeface="Times New Roman" panose="02020603050405020304" pitchFamily="18" charset="0"/>
              </a:rPr>
              <a:t>Servlets allow web developers to remove code from the client and place the logic on the server.</a:t>
            </a:r>
          </a:p>
          <a:p>
            <a:pPr marL="0" indent="0">
              <a:buNone/>
            </a:pP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7</a:t>
            </a:fld>
            <a:endParaRPr lang="en-US" altLang="en-US"/>
          </a:p>
        </p:txBody>
      </p:sp>
    </p:spTree>
    <p:extLst>
      <p:ext uri="{BB962C8B-B14F-4D97-AF65-F5344CB8AC3E}">
        <p14:creationId xmlns:p14="http://schemas.microsoft.com/office/powerpoint/2010/main" val="693606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Servlets</a:t>
            </a:r>
            <a:endParaRPr lang="en-IN" dirty="0"/>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Servlets are not run in the same sense as applets and applications.</a:t>
            </a:r>
          </a:p>
          <a:p>
            <a:pPr algn="just"/>
            <a:r>
              <a:rPr lang="en-US" dirty="0">
                <a:latin typeface="Times New Roman" pitchFamily="18" charset="0"/>
                <a:cs typeface="Times New Roman" pitchFamily="18" charset="0"/>
              </a:rPr>
              <a:t>Since they extend a web server, they require a servlet container to function.</a:t>
            </a:r>
          </a:p>
          <a:p>
            <a:pPr algn="just"/>
            <a:r>
              <a:rPr lang="en-US" dirty="0">
                <a:latin typeface="Times New Roman" pitchFamily="18" charset="0"/>
                <a:cs typeface="Times New Roman" pitchFamily="18" charset="0"/>
              </a:rPr>
              <a:t>A servlet container is a part of a web server or application server that provides the network services over which request and response are sent.</a:t>
            </a:r>
          </a:p>
          <a:p>
            <a:pPr algn="just"/>
            <a:r>
              <a:rPr lang="en-US" dirty="0">
                <a:latin typeface="Times New Roman" pitchFamily="18" charset="0"/>
                <a:cs typeface="Times New Roman" pitchFamily="18" charset="0"/>
              </a:rPr>
              <a:t>Contains and manages the servlets through there </a:t>
            </a:r>
            <a:r>
              <a:rPr lang="en-US" dirty="0" smtClean="0">
                <a:latin typeface="Times New Roman" pitchFamily="18" charset="0"/>
                <a:cs typeface="Times New Roman" pitchFamily="18" charset="0"/>
              </a:rPr>
              <a:t>lifecycle.</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8</a:t>
            </a:fld>
            <a:endParaRPr lang="en-US" altLang="en-US"/>
          </a:p>
        </p:txBody>
      </p:sp>
    </p:spTree>
    <p:extLst>
      <p:ext uri="{BB962C8B-B14F-4D97-AF65-F5344CB8AC3E}">
        <p14:creationId xmlns:p14="http://schemas.microsoft.com/office/powerpoint/2010/main" val="755425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Container/Servlet engine</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9</a:t>
            </a:fld>
            <a:endParaRPr lang="en-US" altLang="en-US"/>
          </a:p>
        </p:txBody>
      </p:sp>
      <p:sp>
        <p:nvSpPr>
          <p:cNvPr id="6" name="Rectangle 7"/>
          <p:cNvSpPr>
            <a:spLocks noChangeArrowheads="1"/>
          </p:cNvSpPr>
          <p:nvPr/>
        </p:nvSpPr>
        <p:spPr bwMode="auto">
          <a:xfrm>
            <a:off x="6019800" y="1981200"/>
            <a:ext cx="4572000" cy="2971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t>J2EE Container</a:t>
            </a:r>
          </a:p>
        </p:txBody>
      </p:sp>
      <p:sp>
        <p:nvSpPr>
          <p:cNvPr id="7" name="Rectangle 4"/>
          <p:cNvSpPr>
            <a:spLocks noChangeArrowheads="1"/>
          </p:cNvSpPr>
          <p:nvPr/>
        </p:nvSpPr>
        <p:spPr bwMode="auto">
          <a:xfrm>
            <a:off x="1981200" y="2667000"/>
            <a:ext cx="1371600" cy="609600"/>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t>Browser</a:t>
            </a:r>
          </a:p>
        </p:txBody>
      </p:sp>
      <p:sp>
        <p:nvSpPr>
          <p:cNvPr id="8" name="Rectangle 5"/>
          <p:cNvSpPr>
            <a:spLocks noChangeArrowheads="1"/>
          </p:cNvSpPr>
          <p:nvPr/>
        </p:nvSpPr>
        <p:spPr bwMode="auto">
          <a:xfrm>
            <a:off x="8991600" y="2286000"/>
            <a:ext cx="1371600" cy="60960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solidFill>
                  <a:schemeClr val="bg1"/>
                </a:solidFill>
              </a:rPr>
              <a:t>Servlets</a:t>
            </a:r>
          </a:p>
        </p:txBody>
      </p:sp>
      <p:sp>
        <p:nvSpPr>
          <p:cNvPr id="9" name="Rectangle 6"/>
          <p:cNvSpPr>
            <a:spLocks noChangeArrowheads="1"/>
          </p:cNvSpPr>
          <p:nvPr/>
        </p:nvSpPr>
        <p:spPr bwMode="auto">
          <a:xfrm>
            <a:off x="3886200" y="2667000"/>
            <a:ext cx="1752600" cy="6858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t>Web Server</a:t>
            </a:r>
          </a:p>
        </p:txBody>
      </p:sp>
      <p:sp>
        <p:nvSpPr>
          <p:cNvPr id="10" name="Rectangle 9"/>
          <p:cNvSpPr>
            <a:spLocks noChangeArrowheads="1"/>
          </p:cNvSpPr>
          <p:nvPr/>
        </p:nvSpPr>
        <p:spPr bwMode="auto">
          <a:xfrm>
            <a:off x="6324600" y="4495800"/>
            <a:ext cx="4114800" cy="3810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t>Deployment Descriptor</a:t>
            </a:r>
          </a:p>
        </p:txBody>
      </p:sp>
      <p:sp>
        <p:nvSpPr>
          <p:cNvPr id="11" name="Oval 10"/>
          <p:cNvSpPr>
            <a:spLocks noChangeArrowheads="1"/>
          </p:cNvSpPr>
          <p:nvPr/>
        </p:nvSpPr>
        <p:spPr bwMode="auto">
          <a:xfrm>
            <a:off x="6172200" y="2133600"/>
            <a:ext cx="1981200" cy="914400"/>
          </a:xfrm>
          <a:prstGeom prst="ellipse">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t>Java Classes</a:t>
            </a:r>
          </a:p>
        </p:txBody>
      </p:sp>
      <p:sp>
        <p:nvSpPr>
          <p:cNvPr id="12" name="Line 11"/>
          <p:cNvSpPr>
            <a:spLocks noChangeShapeType="1"/>
          </p:cNvSpPr>
          <p:nvPr/>
        </p:nvSpPr>
        <p:spPr bwMode="auto">
          <a:xfrm>
            <a:off x="3352800" y="289560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Line 12"/>
          <p:cNvSpPr>
            <a:spLocks noChangeShapeType="1"/>
          </p:cNvSpPr>
          <p:nvPr/>
        </p:nvSpPr>
        <p:spPr bwMode="auto">
          <a:xfrm flipH="1">
            <a:off x="3352800" y="3124200"/>
            <a:ext cx="533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Line 13"/>
          <p:cNvSpPr>
            <a:spLocks noChangeShapeType="1"/>
          </p:cNvSpPr>
          <p:nvPr/>
        </p:nvSpPr>
        <p:spPr bwMode="auto">
          <a:xfrm>
            <a:off x="5638800" y="28194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14"/>
          <p:cNvSpPr>
            <a:spLocks noChangeShapeType="1"/>
          </p:cNvSpPr>
          <p:nvPr/>
        </p:nvSpPr>
        <p:spPr bwMode="auto">
          <a:xfrm flipH="1">
            <a:off x="5638800" y="32004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15"/>
          <p:cNvSpPr>
            <a:spLocks noChangeShapeType="1"/>
          </p:cNvSpPr>
          <p:nvPr/>
        </p:nvSpPr>
        <p:spPr bwMode="auto">
          <a:xfrm>
            <a:off x="6477000" y="4724400"/>
            <a:ext cx="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Text Box 16"/>
          <p:cNvSpPr txBox="1">
            <a:spLocks noChangeArrowheads="1"/>
          </p:cNvSpPr>
          <p:nvPr/>
        </p:nvSpPr>
        <p:spPr bwMode="auto">
          <a:xfrm>
            <a:off x="5562600" y="525780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ahoma" pitchFamily="34" charset="0"/>
              </a:defRPr>
            </a:lvl1pPr>
            <a:lvl2pPr>
              <a:defRPr sz="2800">
                <a:solidFill>
                  <a:schemeClr val="tx1"/>
                </a:solidFill>
                <a:latin typeface="Tahoma" pitchFamily="34" charset="0"/>
              </a:defRPr>
            </a:lvl2pPr>
            <a:lvl3pPr>
              <a:defRPr sz="24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50000"/>
              </a:spcBef>
            </a:pPr>
            <a:r>
              <a:rPr lang="en-US" sz="2400"/>
              <a:t>web.xml</a:t>
            </a:r>
          </a:p>
        </p:txBody>
      </p:sp>
      <p:sp>
        <p:nvSpPr>
          <p:cNvPr id="18" name="Text Box 17"/>
          <p:cNvSpPr txBox="1">
            <a:spLocks noChangeArrowheads="1"/>
          </p:cNvSpPr>
          <p:nvPr/>
        </p:nvSpPr>
        <p:spPr bwMode="auto">
          <a:xfrm>
            <a:off x="1828800" y="3581400"/>
            <a:ext cx="39624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Tahoma" pitchFamily="34" charset="0"/>
              </a:defRPr>
            </a:lvl1pPr>
            <a:lvl2pPr>
              <a:defRPr sz="2800">
                <a:solidFill>
                  <a:schemeClr val="tx1"/>
                </a:solidFill>
                <a:latin typeface="Tahoma" pitchFamily="34" charset="0"/>
              </a:defRPr>
            </a:lvl2pPr>
            <a:lvl3pPr>
              <a:defRPr sz="2400">
                <a:solidFill>
                  <a:schemeClr val="tx1"/>
                </a:solidFill>
                <a:latin typeface="Tahoma" pitchFamily="34" charset="0"/>
              </a:defRPr>
            </a:lvl3pPr>
            <a:lvl4pPr>
              <a:defRPr sz="2000">
                <a:solidFill>
                  <a:schemeClr val="tx1"/>
                </a:solidFill>
                <a:latin typeface="Tahoma" pitchFamily="34" charset="0"/>
              </a:defRPr>
            </a:lvl4pPr>
            <a:lvl5pPr>
              <a:defRPr sz="2000">
                <a:solidFill>
                  <a:schemeClr val="tx1"/>
                </a:solidFill>
                <a:latin typeface="Tahoma" pitchFamily="34" charset="0"/>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algn="ctr" eaLnBrk="1" hangingPunct="1">
              <a:spcBef>
                <a:spcPct val="50000"/>
              </a:spcBef>
            </a:pPr>
            <a:r>
              <a:rPr lang="en-US" sz="2400">
                <a:latin typeface="Times New Roman" pitchFamily="18" charset="0"/>
                <a:cs typeface="Times New Roman" pitchFamily="18" charset="0"/>
              </a:rPr>
              <a:t>Deployment Descriptor is used to configure web applications that are hosted in the App Server.</a:t>
            </a:r>
          </a:p>
        </p:txBody>
      </p:sp>
    </p:spTree>
    <p:extLst>
      <p:ext uri="{BB962C8B-B14F-4D97-AF65-F5344CB8AC3E}">
        <p14:creationId xmlns:p14="http://schemas.microsoft.com/office/powerpoint/2010/main" val="1699766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Application Directory Structure</a:t>
            </a:r>
            <a:endParaRPr lang="en-IN" dirty="0"/>
          </a:p>
        </p:txBody>
      </p:sp>
      <p:sp>
        <p:nvSpPr>
          <p:cNvPr id="3" name="Content Placeholder 2"/>
          <p:cNvSpPr>
            <a:spLocks noGrp="1"/>
          </p:cNvSpPr>
          <p:nvPr>
            <p:ph idx="1"/>
          </p:nvPr>
        </p:nvSpPr>
        <p:spPr/>
        <p:txBody>
          <a:bodyPr/>
          <a:lstStyle/>
          <a:p>
            <a:pPr eaLnBrk="1" hangingPunct="1"/>
            <a:r>
              <a:rPr lang="en-US" dirty="0">
                <a:latin typeface="Times New Roman" pitchFamily="18" charset="0"/>
                <a:cs typeface="Times New Roman" pitchFamily="18" charset="0"/>
              </a:rPr>
              <a:t>Application Root (</a:t>
            </a:r>
            <a:r>
              <a:rPr lang="en-US" dirty="0" err="1">
                <a:latin typeface="Times New Roman" pitchFamily="18" charset="0"/>
                <a:cs typeface="Times New Roman" pitchFamily="18" charset="0"/>
              </a:rPr>
              <a:t>htdocs</a:t>
            </a:r>
            <a:r>
              <a:rPr lang="en-US" dirty="0">
                <a:latin typeface="Times New Roman" pitchFamily="18" charset="0"/>
                <a:cs typeface="Times New Roman" pitchFamily="18" charset="0"/>
              </a:rPr>
              <a:t>/</a:t>
            </a:r>
            <a:r>
              <a:rPr lang="en-US" dirty="0" err="1">
                <a:latin typeface="Times New Roman" pitchFamily="18" charset="0"/>
                <a:cs typeface="Times New Roman" pitchFamily="18" charset="0"/>
              </a:rPr>
              <a:t>wwwroot</a:t>
            </a:r>
            <a:r>
              <a:rPr lang="en-US" dirty="0">
                <a:latin typeface="Times New Roman" pitchFamily="18" charset="0"/>
                <a:cs typeface="Times New Roman" pitchFamily="18" charset="0"/>
              </a:rPr>
              <a:t>)</a:t>
            </a:r>
          </a:p>
          <a:p>
            <a:pPr eaLnBrk="1" hangingPunct="1"/>
            <a:r>
              <a:rPr lang="en-US" dirty="0">
                <a:latin typeface="Times New Roman" pitchFamily="18" charset="0"/>
                <a:cs typeface="Times New Roman" pitchFamily="18" charset="0"/>
              </a:rPr>
              <a:t>WEB-INF/web.xml</a:t>
            </a:r>
          </a:p>
          <a:p>
            <a:pPr eaLnBrk="1" hangingPunct="1"/>
            <a:r>
              <a:rPr lang="en-US" dirty="0">
                <a:latin typeface="Times New Roman" pitchFamily="18" charset="0"/>
                <a:cs typeface="Times New Roman" pitchFamily="18" charset="0"/>
              </a:rPr>
              <a:t>WEB-INF/classes</a:t>
            </a:r>
          </a:p>
          <a:p>
            <a:pPr lvl="1" eaLnBrk="1" hangingPunct="1"/>
            <a:r>
              <a:rPr lang="en-US" dirty="0">
                <a:latin typeface="Times New Roman" pitchFamily="18" charset="0"/>
                <a:cs typeface="Times New Roman" pitchFamily="18" charset="0"/>
              </a:rPr>
              <a:t>Compiled servlet classes and other utility classes</a:t>
            </a:r>
          </a:p>
          <a:p>
            <a:pPr eaLnBrk="1" hangingPunct="1"/>
            <a:r>
              <a:rPr lang="en-US" dirty="0">
                <a:latin typeface="Times New Roman" pitchFamily="18" charset="0"/>
                <a:cs typeface="Times New Roman" pitchFamily="18" charset="0"/>
              </a:rPr>
              <a:t>WEB-INF/lib</a:t>
            </a:r>
          </a:p>
          <a:p>
            <a:pPr lvl="1" eaLnBrk="1" hangingPunct="1"/>
            <a:r>
              <a:rPr lang="en-US" dirty="0">
                <a:latin typeface="Times New Roman" pitchFamily="18" charset="0"/>
                <a:cs typeface="Times New Roman" pitchFamily="18" charset="0"/>
              </a:rPr>
              <a:t>Any required third party </a:t>
            </a:r>
            <a:r>
              <a:rPr lang="en-US" dirty="0" smtClean="0">
                <a:latin typeface="Times New Roman" pitchFamily="18" charset="0"/>
                <a:cs typeface="Times New Roman" pitchFamily="18" charset="0"/>
              </a:rPr>
              <a:t>jars</a:t>
            </a:r>
            <a:endParaRPr lang="en-US" dirty="0">
              <a:latin typeface="Times New Roman" pitchFamily="18" charset="0"/>
              <a:cs typeface="Times New Roman" pitchFamily="18" charset="0"/>
            </a:endParaRPr>
          </a:p>
          <a:p>
            <a:pPr eaLnBrk="1" hangingPunct="1"/>
            <a:r>
              <a:rPr lang="en-US" sz="2400" dirty="0">
                <a:latin typeface="Times New Roman" pitchFamily="18" charset="0"/>
                <a:cs typeface="Times New Roman" pitchFamily="18" charset="0"/>
              </a:rPr>
              <a:t>All J2EE compliant App Servers require this directory structure</a:t>
            </a: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10</a:t>
            </a:fld>
            <a:endParaRPr lang="en-US" altLang="en-US"/>
          </a:p>
        </p:txBody>
      </p:sp>
    </p:spTree>
    <p:extLst>
      <p:ext uri="{BB962C8B-B14F-4D97-AF65-F5344CB8AC3E}">
        <p14:creationId xmlns:p14="http://schemas.microsoft.com/office/powerpoint/2010/main" val="2243124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Servlet Interface</a:t>
            </a:r>
            <a:endParaRPr lang="en-IN" dirty="0"/>
          </a:p>
        </p:txBody>
      </p:sp>
      <p:sp>
        <p:nvSpPr>
          <p:cNvPr id="3" name="Content Placeholder 2"/>
          <p:cNvSpPr>
            <a:spLocks noGrp="1"/>
          </p:cNvSpPr>
          <p:nvPr>
            <p:ph idx="1"/>
          </p:nvPr>
        </p:nvSpPr>
        <p:spPr/>
        <p:txBody>
          <a:bodyPr/>
          <a:lstStyle/>
          <a:p>
            <a:r>
              <a:rPr lang="en-US" sz="3200" dirty="0">
                <a:latin typeface="Times New Roman" pitchFamily="18" charset="0"/>
                <a:cs typeface="Times New Roman" pitchFamily="18" charset="0"/>
              </a:rPr>
              <a:t>This is a contract between the servlet and the web container.</a:t>
            </a:r>
          </a:p>
          <a:p>
            <a:r>
              <a:rPr lang="en-US" sz="3200" dirty="0">
                <a:latin typeface="Times New Roman" pitchFamily="18" charset="0"/>
                <a:cs typeface="Times New Roman" pitchFamily="18" charset="0"/>
              </a:rPr>
              <a:t>Guarantees that all containers can communicate with a servlet.</a:t>
            </a:r>
          </a:p>
          <a:p>
            <a:r>
              <a:rPr lang="en-US" sz="2000" b="1" dirty="0" smtClean="0">
                <a:latin typeface="Times New Roman" pitchFamily="18" charset="0"/>
                <a:cs typeface="Times New Roman" pitchFamily="18" charset="0"/>
              </a:rPr>
              <a:t>public </a:t>
            </a:r>
            <a:r>
              <a:rPr lang="en-US" sz="2000" b="1" dirty="0">
                <a:latin typeface="Times New Roman" pitchFamily="18" charset="0"/>
                <a:cs typeface="Times New Roman" pitchFamily="18" charset="0"/>
              </a:rPr>
              <a:t>void </a:t>
            </a:r>
            <a:r>
              <a:rPr lang="en-US" sz="2000" b="1" dirty="0" err="1">
                <a:latin typeface="Times New Roman" pitchFamily="18" charset="0"/>
                <a:cs typeface="Times New Roman" pitchFamily="18" charset="0"/>
              </a:rPr>
              <a:t>init</a:t>
            </a:r>
            <a:r>
              <a:rPr lang="en-US" sz="2000" b="1" dirty="0">
                <a:latin typeface="Times New Roman" pitchFamily="18" charset="0"/>
                <a:cs typeface="Times New Roman" pitchFamily="18" charset="0"/>
              </a:rPr>
              <a:t>(</a:t>
            </a:r>
            <a:r>
              <a:rPr lang="en-US" sz="2000" b="1" dirty="0" err="1">
                <a:latin typeface="Times New Roman" pitchFamily="18" charset="0"/>
                <a:cs typeface="Times New Roman" pitchFamily="18" charset="0"/>
              </a:rPr>
              <a:t>ServletConfig</a:t>
            </a:r>
            <a:r>
              <a:rPr lang="en-US" sz="2000" b="1" dirty="0">
                <a:latin typeface="Times New Roman" pitchFamily="18" charset="0"/>
                <a:cs typeface="Times New Roman" pitchFamily="18" charset="0"/>
              </a:rPr>
              <a:t>)</a:t>
            </a:r>
          </a:p>
          <a:p>
            <a:r>
              <a:rPr lang="en-US" sz="2000" b="1" dirty="0">
                <a:latin typeface="Times New Roman" pitchFamily="18" charset="0"/>
                <a:cs typeface="Times New Roman" pitchFamily="18" charset="0"/>
              </a:rPr>
              <a:t>public void service(request, response)</a:t>
            </a:r>
          </a:p>
          <a:p>
            <a:r>
              <a:rPr lang="en-US" sz="2000" b="1" dirty="0">
                <a:latin typeface="Times New Roman" pitchFamily="18" charset="0"/>
                <a:cs typeface="Times New Roman" pitchFamily="18" charset="0"/>
              </a:rPr>
              <a:t>public void destroy()</a:t>
            </a:r>
          </a:p>
          <a:p>
            <a:r>
              <a:rPr lang="en-US" sz="2000" b="1" dirty="0">
                <a:latin typeface="Times New Roman" pitchFamily="18" charset="0"/>
                <a:cs typeface="Times New Roman" pitchFamily="18" charset="0"/>
              </a:rPr>
              <a:t>public </a:t>
            </a:r>
            <a:r>
              <a:rPr lang="en-US" sz="2000" b="1" dirty="0" err="1">
                <a:latin typeface="Times New Roman" pitchFamily="18" charset="0"/>
                <a:cs typeface="Times New Roman" pitchFamily="18" charset="0"/>
              </a:rPr>
              <a:t>ServletConfig</a:t>
            </a:r>
            <a:r>
              <a:rPr lang="en-US" sz="2000" b="1" dirty="0">
                <a:latin typeface="Times New Roman" pitchFamily="18" charset="0"/>
                <a:cs typeface="Times New Roman" pitchFamily="18" charset="0"/>
              </a:rPr>
              <a:t> </a:t>
            </a:r>
            <a:r>
              <a:rPr lang="en-US" sz="2000" b="1" dirty="0" err="1">
                <a:latin typeface="Times New Roman" pitchFamily="18" charset="0"/>
                <a:cs typeface="Times New Roman" pitchFamily="18" charset="0"/>
              </a:rPr>
              <a:t>getServletConfig</a:t>
            </a:r>
            <a:r>
              <a:rPr lang="en-US" sz="2000" b="1" dirty="0">
                <a:latin typeface="Times New Roman" pitchFamily="18" charset="0"/>
                <a:cs typeface="Times New Roman" pitchFamily="18" charset="0"/>
              </a:rPr>
              <a:t>()</a:t>
            </a:r>
          </a:p>
          <a:p>
            <a:r>
              <a:rPr lang="en-US" sz="2000" b="1" dirty="0">
                <a:latin typeface="Times New Roman" pitchFamily="18" charset="0"/>
                <a:cs typeface="Times New Roman" pitchFamily="18" charset="0"/>
              </a:rPr>
              <a:t>public String </a:t>
            </a:r>
            <a:r>
              <a:rPr lang="en-US" sz="2000" b="1" dirty="0" err="1">
                <a:latin typeface="Times New Roman" pitchFamily="18" charset="0"/>
                <a:cs typeface="Times New Roman" pitchFamily="18" charset="0"/>
              </a:rPr>
              <a:t>getServletInfo</a:t>
            </a:r>
            <a:r>
              <a:rPr lang="en-US" sz="2000" b="1" dirty="0">
                <a:latin typeface="Times New Roman" pitchFamily="18" charset="0"/>
                <a:cs typeface="Times New Roman" pitchFamily="18" charset="0"/>
              </a:rPr>
              <a:t>()</a:t>
            </a: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11</a:t>
            </a:fld>
            <a:endParaRPr lang="en-US" altLang="en-US"/>
          </a:p>
        </p:txBody>
      </p:sp>
    </p:spTree>
    <p:extLst>
      <p:ext uri="{BB962C8B-B14F-4D97-AF65-F5344CB8AC3E}">
        <p14:creationId xmlns:p14="http://schemas.microsoft.com/office/powerpoint/2010/main" val="1031512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The Servlet </a:t>
            </a:r>
            <a:r>
              <a:rPr lang="en-US" b="1" dirty="0" smtClean="0">
                <a:latin typeface="Times New Roman" pitchFamily="18" charset="0"/>
                <a:cs typeface="Times New Roman" pitchFamily="18" charset="0"/>
              </a:rPr>
              <a:t>API</a:t>
            </a:r>
            <a:endParaRPr lang="en-IN" dirty="0"/>
          </a:p>
        </p:txBody>
      </p:sp>
      <p:sp>
        <p:nvSpPr>
          <p:cNvPr id="3" name="Content Placeholder 2"/>
          <p:cNvSpPr>
            <a:spLocks noGrp="1"/>
          </p:cNvSpPr>
          <p:nvPr>
            <p:ph idx="1"/>
          </p:nvPr>
        </p:nvSpPr>
        <p:spPr/>
        <p:txBody>
          <a:bodyPr/>
          <a:lstStyle/>
          <a:p>
            <a:pPr algn="just">
              <a:defRPr/>
            </a:pPr>
            <a:r>
              <a:rPr lang="en-US" dirty="0">
                <a:latin typeface="Times New Roman" panose="02020603050405020304" pitchFamily="18" charset="0"/>
                <a:cs typeface="Times New Roman" panose="02020603050405020304" pitchFamily="18" charset="0"/>
              </a:rPr>
              <a:t>Two packages contain the classes and interfaces that are required to build servlets.</a:t>
            </a:r>
          </a:p>
          <a:p>
            <a:pPr marL="0" indent="0" algn="just">
              <a:buFont typeface="Wingdings" pitchFamily="2" charset="2"/>
              <a:buNone/>
              <a:defRPr/>
            </a:pPr>
            <a:endParaRPr lang="en-US" dirty="0">
              <a:latin typeface="Times New Roman" panose="02020603050405020304" pitchFamily="18" charset="0"/>
              <a:cs typeface="Times New Roman" panose="02020603050405020304" pitchFamily="18" charset="0"/>
            </a:endParaRPr>
          </a:p>
          <a:p>
            <a:pPr algn="just">
              <a:defRPr/>
            </a:pPr>
            <a:r>
              <a:rPr lang="en-US" dirty="0">
                <a:latin typeface="Times New Roman" panose="02020603050405020304" pitchFamily="18" charset="0"/>
                <a:cs typeface="Times New Roman" panose="02020603050405020304" pitchFamily="18" charset="0"/>
              </a:rPr>
              <a:t>These are </a:t>
            </a:r>
            <a:r>
              <a:rPr lang="en-US" dirty="0" err="1">
                <a:latin typeface="Times New Roman" panose="02020603050405020304" pitchFamily="18" charset="0"/>
                <a:cs typeface="Times New Roman" panose="02020603050405020304" pitchFamily="18" charset="0"/>
              </a:rPr>
              <a:t>javax.servlet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javax.servlet</a:t>
            </a:r>
            <a:r>
              <a:rPr lang="en-US" dirty="0">
                <a:latin typeface="Times New Roman" panose="02020603050405020304" pitchFamily="18" charset="0"/>
                <a:cs typeface="Times New Roman" panose="02020603050405020304" pitchFamily="18" charset="0"/>
              </a:rPr>
              <a:t> .http. They constitute the Servlet API. </a:t>
            </a:r>
          </a:p>
          <a:p>
            <a:pPr marL="0" indent="0">
              <a:buNone/>
              <a:defRPr/>
            </a:pPr>
            <a:endParaRPr lang="en-US"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12</a:t>
            </a:fld>
            <a:endParaRPr lang="en-US" altLang="en-US"/>
          </a:p>
        </p:txBody>
      </p:sp>
    </p:spTree>
    <p:extLst>
      <p:ext uri="{BB962C8B-B14F-4D97-AF65-F5344CB8AC3E}">
        <p14:creationId xmlns:p14="http://schemas.microsoft.com/office/powerpoint/2010/main" val="2683078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The </a:t>
            </a:r>
            <a:r>
              <a:rPr lang="en-US" b="1" dirty="0" err="1">
                <a:latin typeface="Times New Roman" pitchFamily="18" charset="0"/>
                <a:cs typeface="Times New Roman" pitchFamily="18" charset="0"/>
              </a:rPr>
              <a:t>javax.servlet</a:t>
            </a:r>
            <a:r>
              <a:rPr lang="en-US" b="1" dirty="0">
                <a:latin typeface="Times New Roman" pitchFamily="18" charset="0"/>
                <a:cs typeface="Times New Roman" pitchFamily="18" charset="0"/>
              </a:rPr>
              <a:t> Package </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13</a:t>
            </a:fld>
            <a:endParaRPr lang="en-US" alt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427408"/>
            <a:ext cx="7443787"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427658"/>
            <a:ext cx="7467600" cy="250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2283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HttpServlet</a:t>
            </a:r>
            <a:endParaRPr lang="en-IN" dirty="0"/>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Abstract class that extends </a:t>
            </a:r>
            <a:r>
              <a:rPr lang="en-US" b="1" dirty="0" err="1">
                <a:latin typeface="Times New Roman" pitchFamily="18" charset="0"/>
                <a:cs typeface="Times New Roman" pitchFamily="18" charset="0"/>
              </a:rPr>
              <a:t>GenericServlet</a:t>
            </a: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Provides additional methods that are called by the </a:t>
            </a:r>
            <a:r>
              <a:rPr lang="en-US" b="1" dirty="0">
                <a:latin typeface="Times New Roman" pitchFamily="18" charset="0"/>
                <a:cs typeface="Times New Roman" pitchFamily="18" charset="0"/>
              </a:rPr>
              <a:t>service()</a:t>
            </a:r>
            <a:r>
              <a:rPr lang="en-US" dirty="0">
                <a:latin typeface="Times New Roman" pitchFamily="18" charset="0"/>
                <a:cs typeface="Times New Roman" pitchFamily="18" charset="0"/>
              </a:rPr>
              <a:t> method automatically.</a:t>
            </a:r>
          </a:p>
          <a:p>
            <a:pPr algn="just"/>
            <a:r>
              <a:rPr lang="en-US" dirty="0">
                <a:latin typeface="Times New Roman" pitchFamily="18" charset="0"/>
                <a:cs typeface="Times New Roman" pitchFamily="18" charset="0"/>
              </a:rPr>
              <a:t>Both methods throw </a:t>
            </a:r>
            <a:r>
              <a:rPr lang="en-US" b="1" dirty="0" err="1">
                <a:latin typeface="Times New Roman" pitchFamily="18" charset="0"/>
                <a:cs typeface="Times New Roman" pitchFamily="18" charset="0"/>
              </a:rPr>
              <a:t>ServletException</a:t>
            </a:r>
            <a:r>
              <a:rPr lang="en-US" dirty="0">
                <a:latin typeface="Times New Roman" pitchFamily="18" charset="0"/>
                <a:cs typeface="Times New Roman" pitchFamily="18" charset="0"/>
              </a:rPr>
              <a:t> and </a:t>
            </a:r>
            <a:r>
              <a:rPr lang="en-US" b="1" dirty="0" err="1">
                <a:latin typeface="Times New Roman" pitchFamily="18" charset="0"/>
                <a:cs typeface="Times New Roman" pitchFamily="18" charset="0"/>
              </a:rPr>
              <a:t>IOException</a:t>
            </a:r>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Methods of most concern:</a:t>
            </a:r>
          </a:p>
          <a:p>
            <a:pPr lvl="1" algn="just"/>
            <a:r>
              <a:rPr lang="en-US" b="1" dirty="0">
                <a:latin typeface="Times New Roman" pitchFamily="18" charset="0"/>
                <a:cs typeface="Times New Roman" pitchFamily="18" charset="0"/>
              </a:rPr>
              <a:t>Protected void </a:t>
            </a:r>
            <a:r>
              <a:rPr lang="en-US" b="1" dirty="0" err="1">
                <a:latin typeface="Times New Roman" pitchFamily="18" charset="0"/>
                <a:cs typeface="Times New Roman" pitchFamily="18" charset="0"/>
              </a:rPr>
              <a:t>doGet</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HttpServletRequest</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HttpServletResponse</a:t>
            </a:r>
            <a:r>
              <a:rPr lang="en-US" b="1" dirty="0">
                <a:latin typeface="Times New Roman" pitchFamily="18" charset="0"/>
                <a:cs typeface="Times New Roman" pitchFamily="18" charset="0"/>
              </a:rPr>
              <a:t>)</a:t>
            </a:r>
          </a:p>
          <a:p>
            <a:pPr lvl="1" algn="just"/>
            <a:r>
              <a:rPr lang="en-US" b="1" dirty="0">
                <a:latin typeface="Times New Roman" pitchFamily="18" charset="0"/>
                <a:cs typeface="Times New Roman" pitchFamily="18" charset="0"/>
              </a:rPr>
              <a:t>protected void </a:t>
            </a:r>
            <a:r>
              <a:rPr lang="en-US" b="1" dirty="0" err="1">
                <a:latin typeface="Times New Roman" pitchFamily="18" charset="0"/>
                <a:cs typeface="Times New Roman" pitchFamily="18" charset="0"/>
              </a:rPr>
              <a:t>doPost</a:t>
            </a:r>
            <a:r>
              <a:rPr lang="en-US" b="1" dirty="0">
                <a:latin typeface="Times New Roman" pitchFamily="18" charset="0"/>
                <a:cs typeface="Times New Roman" pitchFamily="18" charset="0"/>
              </a:rPr>
              <a:t>(</a:t>
            </a:r>
            <a:r>
              <a:rPr lang="en-US" b="1" dirty="0" err="1">
                <a:latin typeface="Times New Roman" pitchFamily="18" charset="0"/>
                <a:cs typeface="Times New Roman" pitchFamily="18" charset="0"/>
              </a:rPr>
              <a:t>HttpServletRequest</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HttpServletResponse</a:t>
            </a:r>
            <a:r>
              <a:rPr lang="en-US" b="1" dirty="0">
                <a:latin typeface="Times New Roman" pitchFamily="18" charset="0"/>
                <a:cs typeface="Times New Roman" pitchFamily="18" charset="0"/>
              </a:rPr>
              <a:t>)</a:t>
            </a: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14</a:t>
            </a:fld>
            <a:endParaRPr lang="en-US" altLang="en-US"/>
          </a:p>
        </p:txBody>
      </p:sp>
    </p:spTree>
    <p:extLst>
      <p:ext uri="{BB962C8B-B14F-4D97-AF65-F5344CB8AC3E}">
        <p14:creationId xmlns:p14="http://schemas.microsoft.com/office/powerpoint/2010/main" val="3572332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Servlet Life Cycle</a:t>
            </a:r>
            <a:endParaRPr lang="en-IN" dirty="0"/>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Instantiation – web container creates an instance.</a:t>
            </a:r>
          </a:p>
          <a:p>
            <a:pPr algn="just"/>
            <a:r>
              <a:rPr lang="en-US" dirty="0">
                <a:latin typeface="Times New Roman" pitchFamily="18" charset="0"/>
                <a:cs typeface="Times New Roman" pitchFamily="18" charset="0"/>
              </a:rPr>
              <a:t>Initialization – container calls the instance’s </a:t>
            </a:r>
            <a:r>
              <a:rPr lang="en-US" b="1" dirty="0" err="1">
                <a:latin typeface="Times New Roman" pitchFamily="18" charset="0"/>
                <a:cs typeface="Times New Roman" pitchFamily="18" charset="0"/>
              </a:rPr>
              <a:t>init</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Service – if container has request, then it calls the </a:t>
            </a:r>
            <a:r>
              <a:rPr lang="en-US" b="1" dirty="0">
                <a:latin typeface="Times New Roman" pitchFamily="18" charset="0"/>
                <a:cs typeface="Times New Roman" pitchFamily="18" charset="0"/>
              </a:rPr>
              <a:t>service()</a:t>
            </a:r>
            <a:r>
              <a:rPr lang="en-US" dirty="0">
                <a:latin typeface="Times New Roman" pitchFamily="18" charset="0"/>
                <a:cs typeface="Times New Roman" pitchFamily="18" charset="0"/>
              </a:rPr>
              <a:t> method</a:t>
            </a:r>
          </a:p>
          <a:p>
            <a:pPr algn="just"/>
            <a:r>
              <a:rPr lang="en-US" dirty="0">
                <a:latin typeface="Times New Roman" pitchFamily="18" charset="0"/>
                <a:cs typeface="Times New Roman" pitchFamily="18" charset="0"/>
              </a:rPr>
              <a:t>Destroy – before reclaiming the memory (destroying the servlet), the container calls the </a:t>
            </a:r>
            <a:r>
              <a:rPr lang="en-US" b="1" dirty="0">
                <a:latin typeface="Times New Roman" pitchFamily="18" charset="0"/>
                <a:cs typeface="Times New Roman" pitchFamily="18" charset="0"/>
              </a:rPr>
              <a:t>destroy()</a:t>
            </a:r>
            <a:r>
              <a:rPr lang="en-US" dirty="0">
                <a:latin typeface="Times New Roman" pitchFamily="18" charset="0"/>
                <a:cs typeface="Times New Roman" pitchFamily="18" charset="0"/>
              </a:rPr>
              <a:t> method.</a:t>
            </a:r>
          </a:p>
          <a:p>
            <a:pPr algn="just"/>
            <a:r>
              <a:rPr lang="en-US" dirty="0">
                <a:latin typeface="Times New Roman" pitchFamily="18" charset="0"/>
                <a:cs typeface="Times New Roman" pitchFamily="18" charset="0"/>
              </a:rPr>
              <a:t>Unavailable – instance is destroyed and marked for GC.</a:t>
            </a: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15</a:t>
            </a:fld>
            <a:endParaRPr lang="en-US" altLang="en-US"/>
          </a:p>
        </p:txBody>
      </p:sp>
    </p:spTree>
    <p:extLst>
      <p:ext uri="{BB962C8B-B14F-4D97-AF65-F5344CB8AC3E}">
        <p14:creationId xmlns:p14="http://schemas.microsoft.com/office/powerpoint/2010/main" val="4138894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The Servlet Interface</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16</a:t>
            </a:fld>
            <a:endParaRPr lang="en-US" altLang="en-US"/>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14600" y="1219200"/>
            <a:ext cx="7315200" cy="4267200"/>
          </a:xfrm>
        </p:spPr>
      </p:pic>
    </p:spTree>
    <p:extLst>
      <p:ext uri="{BB962C8B-B14F-4D97-AF65-F5344CB8AC3E}">
        <p14:creationId xmlns:p14="http://schemas.microsoft.com/office/powerpoint/2010/main" val="2438424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itchFamily="18" charset="0"/>
                <a:cs typeface="Times New Roman" pitchFamily="18" charset="0"/>
              </a:rPr>
              <a:t>ServletConfig</a:t>
            </a:r>
            <a:r>
              <a:rPr lang="en-US" b="1" dirty="0">
                <a:latin typeface="Times New Roman" pitchFamily="18" charset="0"/>
                <a:cs typeface="Times New Roman" pitchFamily="18" charset="0"/>
              </a:rPr>
              <a:t> Interface</a:t>
            </a:r>
            <a:endParaRPr lang="en-IN" dirty="0"/>
          </a:p>
        </p:txBody>
      </p:sp>
      <p:sp>
        <p:nvSpPr>
          <p:cNvPr id="3" name="Content Placeholder 2"/>
          <p:cNvSpPr>
            <a:spLocks noGrp="1"/>
          </p:cNvSpPr>
          <p:nvPr>
            <p:ph idx="1"/>
          </p:nvPr>
        </p:nvSpPr>
        <p:spPr/>
        <p:txBody>
          <a:bodyPr/>
          <a:lstStyle/>
          <a:p>
            <a:pPr algn="just"/>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ServletConfig</a:t>
            </a:r>
            <a:r>
              <a:rPr lang="en-US" dirty="0">
                <a:latin typeface="Times New Roman" pitchFamily="18" charset="0"/>
                <a:cs typeface="Times New Roman" pitchFamily="18" charset="0"/>
              </a:rPr>
              <a:t> interface allows a servlet to obtain configuration data when it is loaded.</a:t>
            </a:r>
          </a:p>
          <a:p>
            <a:pPr algn="just"/>
            <a:r>
              <a:rPr lang="en-US" dirty="0">
                <a:latin typeface="Times New Roman" pitchFamily="18" charset="0"/>
                <a:cs typeface="Times New Roman" pitchFamily="18" charset="0"/>
              </a:rPr>
              <a:t>The </a:t>
            </a:r>
            <a:r>
              <a:rPr lang="en-US" dirty="0" smtClean="0">
                <a:latin typeface="Times New Roman" pitchFamily="18" charset="0"/>
                <a:cs typeface="Times New Roman" pitchFamily="18" charset="0"/>
              </a:rPr>
              <a:t>methods </a:t>
            </a:r>
            <a:r>
              <a:rPr lang="en-US" dirty="0">
                <a:latin typeface="Times New Roman" pitchFamily="18" charset="0"/>
                <a:cs typeface="Times New Roman" pitchFamily="18" charset="0"/>
              </a:rPr>
              <a:t>declared by this interface are summarized </a:t>
            </a:r>
            <a:r>
              <a:rPr lang="en-US" dirty="0" smtClean="0">
                <a:latin typeface="Times New Roman" pitchFamily="18" charset="0"/>
                <a:cs typeface="Times New Roman" pitchFamily="18" charset="0"/>
              </a:rPr>
              <a:t>here:</a:t>
            </a:r>
          </a:p>
          <a:p>
            <a:pPr algn="just"/>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17</a:t>
            </a:fld>
            <a:endParaRPr lang="en-US"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124200"/>
            <a:ext cx="7772400" cy="274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421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itchFamily="18" charset="0"/>
                <a:cs typeface="Times New Roman" pitchFamily="18" charset="0"/>
              </a:rPr>
              <a:t>ServletContext</a:t>
            </a:r>
            <a:r>
              <a:rPr lang="en-US" b="1" dirty="0">
                <a:latin typeface="Times New Roman" pitchFamily="18" charset="0"/>
                <a:cs typeface="Times New Roman" pitchFamily="18" charset="0"/>
              </a:rPr>
              <a:t> Interface</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ServletContext</a:t>
            </a:r>
            <a:r>
              <a:rPr lang="en-US" dirty="0">
                <a:latin typeface="Times New Roman" pitchFamily="18" charset="0"/>
                <a:cs typeface="Times New Roman" pitchFamily="18" charset="0"/>
              </a:rPr>
              <a:t> interface enables servlets to obtain information about their environment</a:t>
            </a:r>
            <a:endParaRPr lang="en-US" b="1" dirty="0">
              <a:latin typeface="Times New Roman" pitchFamily="18" charset="0"/>
              <a:cs typeface="Times New Roman" pitchFamily="18" charset="0"/>
            </a:endParaRP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18</a:t>
            </a:fld>
            <a:endParaRPr lang="en-US"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590800"/>
            <a:ext cx="84105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1716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itchFamily="18" charset="0"/>
                <a:cs typeface="Times New Roman" pitchFamily="18" charset="0"/>
              </a:rPr>
              <a:t>ServletRequest</a:t>
            </a:r>
            <a:r>
              <a:rPr lang="en-US" b="1" dirty="0">
                <a:latin typeface="Times New Roman" pitchFamily="18" charset="0"/>
                <a:cs typeface="Times New Roman" pitchFamily="18" charset="0"/>
              </a:rPr>
              <a:t> Interface</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19</a:t>
            </a:fld>
            <a:endParaRPr lang="en-US" altLang="en-US"/>
          </a:p>
        </p:txBody>
      </p:sp>
      <p:pic>
        <p:nvPicPr>
          <p:cNvPr id="6"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05000" y="1295400"/>
            <a:ext cx="8534399" cy="4115130"/>
          </a:xfrm>
        </p:spPr>
      </p:pic>
    </p:spTree>
    <p:extLst>
      <p:ext uri="{BB962C8B-B14F-4D97-AF65-F5344CB8AC3E}">
        <p14:creationId xmlns:p14="http://schemas.microsoft.com/office/powerpoint/2010/main" val="788309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latin typeface="Times New Roman" pitchFamily="18" charset="0"/>
                <a:cs typeface="Times New Roman" pitchFamily="18" charset="0"/>
              </a:rPr>
              <a:t>ServletResponse</a:t>
            </a:r>
            <a:r>
              <a:rPr lang="en-US" b="1" dirty="0">
                <a:latin typeface="Times New Roman" pitchFamily="18" charset="0"/>
                <a:cs typeface="Times New Roman" pitchFamily="18" charset="0"/>
              </a:rPr>
              <a:t> Interface</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20</a:t>
            </a:fld>
            <a:endParaRPr lang="en-US" altLang="en-US"/>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600200"/>
            <a:ext cx="9361543" cy="3044031"/>
          </a:xfrm>
        </p:spPr>
      </p:pic>
    </p:spTree>
    <p:extLst>
      <p:ext uri="{BB962C8B-B14F-4D97-AF65-F5344CB8AC3E}">
        <p14:creationId xmlns:p14="http://schemas.microsoft.com/office/powerpoint/2010/main" val="1799155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a:t>
            </a:r>
            <a:r>
              <a:rPr lang="en-US" b="1" dirty="0" err="1">
                <a:latin typeface="Times New Roman" panose="02020603050405020304" pitchFamily="18" charset="0"/>
                <a:cs typeface="Times New Roman" panose="02020603050405020304" pitchFamily="18" charset="0"/>
              </a:rPr>
              <a:t>GenericServlet</a:t>
            </a:r>
            <a:r>
              <a:rPr lang="en-US" b="1" dirty="0">
                <a:latin typeface="Times New Roman" panose="02020603050405020304" pitchFamily="18" charset="0"/>
                <a:cs typeface="Times New Roman" panose="02020603050405020304" pitchFamily="18" charset="0"/>
              </a:rPr>
              <a:t> Class</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838200" y="1295400"/>
            <a:ext cx="10515600" cy="4351338"/>
          </a:xfrm>
        </p:spPr>
        <p:txBody>
          <a:bodyPr/>
          <a:lstStyle/>
          <a:p>
            <a:pPr algn="just"/>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GenericServlet</a:t>
            </a:r>
            <a:r>
              <a:rPr lang="en-US" dirty="0">
                <a:latin typeface="Times New Roman" pitchFamily="18" charset="0"/>
                <a:cs typeface="Times New Roman" pitchFamily="18" charset="0"/>
              </a:rPr>
              <a:t> class provides implementations of the basic life cycle methods for a servlet.</a:t>
            </a:r>
          </a:p>
          <a:p>
            <a:pPr algn="just"/>
            <a:r>
              <a:rPr lang="en-US" dirty="0" err="1">
                <a:latin typeface="Times New Roman" pitchFamily="18" charset="0"/>
                <a:cs typeface="Times New Roman" pitchFamily="18" charset="0"/>
              </a:rPr>
              <a:t>GenericServlet</a:t>
            </a:r>
            <a:r>
              <a:rPr lang="en-US" dirty="0">
                <a:latin typeface="Times New Roman" pitchFamily="18" charset="0"/>
                <a:cs typeface="Times New Roman" pitchFamily="18" charset="0"/>
              </a:rPr>
              <a:t> implements the </a:t>
            </a:r>
            <a:r>
              <a:rPr lang="en-US" b="1" dirty="0">
                <a:latin typeface="Times New Roman" pitchFamily="18" charset="0"/>
                <a:cs typeface="Times New Roman" pitchFamily="18" charset="0"/>
              </a:rPr>
              <a:t>Servlet and </a:t>
            </a:r>
            <a:r>
              <a:rPr lang="en-US" b="1" dirty="0" err="1">
                <a:latin typeface="Times New Roman" pitchFamily="18" charset="0"/>
                <a:cs typeface="Times New Roman" pitchFamily="18" charset="0"/>
              </a:rPr>
              <a:t>ServletConfig</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interfaces. In addition, a method to append a string to the server log file is available. The signatures of this method are shown here:</a:t>
            </a:r>
          </a:p>
          <a:p>
            <a:pPr lvl="1" algn="just"/>
            <a:r>
              <a:rPr lang="en-US" dirty="0">
                <a:latin typeface="Times New Roman" pitchFamily="18" charset="0"/>
                <a:cs typeface="Times New Roman" pitchFamily="18" charset="0"/>
              </a:rPr>
              <a:t>void log(String </a:t>
            </a:r>
            <a:r>
              <a:rPr lang="en-US" i="1" dirty="0">
                <a:latin typeface="Times New Roman" pitchFamily="18" charset="0"/>
                <a:cs typeface="Times New Roman" pitchFamily="18" charset="0"/>
              </a:rPr>
              <a:t>s)</a:t>
            </a:r>
          </a:p>
          <a:p>
            <a:pPr lvl="1" algn="just"/>
            <a:r>
              <a:rPr lang="en-US" dirty="0">
                <a:latin typeface="Times New Roman" pitchFamily="18" charset="0"/>
                <a:cs typeface="Times New Roman" pitchFamily="18" charset="0"/>
              </a:rPr>
              <a:t>void log(String </a:t>
            </a:r>
            <a:r>
              <a:rPr lang="en-US" i="1" dirty="0">
                <a:latin typeface="Times New Roman" pitchFamily="18" charset="0"/>
                <a:cs typeface="Times New Roman" pitchFamily="18" charset="0"/>
              </a:rPr>
              <a:t>s, </a:t>
            </a:r>
            <a:r>
              <a:rPr lang="en-US" i="1" dirty="0" err="1">
                <a:latin typeface="Times New Roman" pitchFamily="18" charset="0"/>
                <a:cs typeface="Times New Roman" pitchFamily="18" charset="0"/>
              </a:rPr>
              <a:t>Throwable</a:t>
            </a:r>
            <a:r>
              <a:rPr lang="en-US" i="1" dirty="0">
                <a:latin typeface="Times New Roman" pitchFamily="18" charset="0"/>
                <a:cs typeface="Times New Roman" pitchFamily="18" charset="0"/>
              </a:rPr>
              <a:t> e)</a:t>
            </a:r>
          </a:p>
          <a:p>
            <a:pPr algn="just"/>
            <a:r>
              <a:rPr lang="en-US" dirty="0">
                <a:latin typeface="Times New Roman" pitchFamily="18" charset="0"/>
                <a:cs typeface="Times New Roman" pitchFamily="18" charset="0"/>
              </a:rPr>
              <a:t>Here, </a:t>
            </a:r>
            <a:r>
              <a:rPr lang="en-US" i="1" dirty="0">
                <a:latin typeface="Times New Roman" pitchFamily="18" charset="0"/>
                <a:cs typeface="Times New Roman" pitchFamily="18" charset="0"/>
              </a:rPr>
              <a:t>s is the string to be appended to the log, and e is an exception that occurred.</a:t>
            </a:r>
            <a:endParaRPr lang="en-US" dirty="0">
              <a:latin typeface="Times New Roman" pitchFamily="18" charset="0"/>
              <a:cs typeface="Times New Roman" pitchFamily="18" charset="0"/>
            </a:endParaRP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21</a:t>
            </a:fld>
            <a:endParaRPr lang="en-US" altLang="en-US"/>
          </a:p>
        </p:txBody>
      </p:sp>
    </p:spTree>
    <p:extLst>
      <p:ext uri="{BB962C8B-B14F-4D97-AF65-F5344CB8AC3E}">
        <p14:creationId xmlns:p14="http://schemas.microsoft.com/office/powerpoint/2010/main" val="2613807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Reading Servlet Parameters</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838200" y="1295400"/>
            <a:ext cx="10515600" cy="4351338"/>
          </a:xfrm>
        </p:spPr>
        <p:txBody>
          <a:bodyPr/>
          <a:lstStyle/>
          <a:p>
            <a:pPr algn="just"/>
            <a:r>
              <a:rPr lang="en-US" dirty="0">
                <a:latin typeface="Times New Roman" pitchFamily="18" charset="0"/>
                <a:cs typeface="Times New Roman" pitchFamily="18" charset="0"/>
              </a:rPr>
              <a:t>The </a:t>
            </a:r>
            <a:r>
              <a:rPr lang="en-US" b="1" dirty="0" err="1">
                <a:latin typeface="Times New Roman" pitchFamily="18" charset="0"/>
                <a:cs typeface="Times New Roman" pitchFamily="18" charset="0"/>
              </a:rPr>
              <a:t>ServletRequest</a:t>
            </a:r>
            <a:r>
              <a:rPr lang="en-US" b="1" dirty="0">
                <a:latin typeface="Times New Roman" pitchFamily="18" charset="0"/>
                <a:cs typeface="Times New Roman" pitchFamily="18" charset="0"/>
              </a:rPr>
              <a:t> </a:t>
            </a:r>
            <a:r>
              <a:rPr lang="en-US" dirty="0">
                <a:latin typeface="Times New Roman" pitchFamily="18" charset="0"/>
                <a:cs typeface="Times New Roman" pitchFamily="18" charset="0"/>
              </a:rPr>
              <a:t>interface includes methods that allow you to read the </a:t>
            </a:r>
            <a:r>
              <a:rPr lang="en-US" b="1" dirty="0">
                <a:latin typeface="Times New Roman" pitchFamily="18" charset="0"/>
                <a:cs typeface="Times New Roman" pitchFamily="18" charset="0"/>
              </a:rPr>
              <a:t>names and values</a:t>
            </a:r>
            <a:r>
              <a:rPr lang="en-US" dirty="0">
                <a:latin typeface="Times New Roman" pitchFamily="18" charset="0"/>
                <a:cs typeface="Times New Roman" pitchFamily="18" charset="0"/>
              </a:rPr>
              <a:t> of parameters that are included in a client request.</a:t>
            </a:r>
          </a:p>
          <a:p>
            <a:pPr algn="just"/>
            <a:r>
              <a:rPr lang="en-US" dirty="0">
                <a:latin typeface="Times New Roman" pitchFamily="18" charset="0"/>
                <a:cs typeface="Times New Roman" pitchFamily="18" charset="0"/>
              </a:rPr>
              <a:t>We will develop a servlet that illustrates their use. The example contains two files. </a:t>
            </a:r>
          </a:p>
          <a:p>
            <a:pPr lvl="1"/>
            <a:r>
              <a:rPr lang="en-US" dirty="0">
                <a:latin typeface="Times New Roman" pitchFamily="18" charset="0"/>
                <a:cs typeface="Times New Roman" pitchFamily="18" charset="0"/>
              </a:rPr>
              <a:t>A web page is defined in </a:t>
            </a:r>
            <a:r>
              <a:rPr lang="en-US" b="1" dirty="0">
                <a:latin typeface="Times New Roman" pitchFamily="18" charset="0"/>
                <a:cs typeface="Times New Roman" pitchFamily="18" charset="0"/>
              </a:rPr>
              <a:t>PostParameters.htm, </a:t>
            </a:r>
          </a:p>
          <a:p>
            <a:pPr lvl="1"/>
            <a:r>
              <a:rPr lang="en-US" dirty="0">
                <a:latin typeface="Times New Roman" pitchFamily="18" charset="0"/>
                <a:cs typeface="Times New Roman" pitchFamily="18" charset="0"/>
              </a:rPr>
              <a:t>A servlet is defined in </a:t>
            </a:r>
            <a:r>
              <a:rPr lang="en-US" b="1" dirty="0">
                <a:latin typeface="Times New Roman" pitchFamily="18" charset="0"/>
                <a:cs typeface="Times New Roman" pitchFamily="18" charset="0"/>
              </a:rPr>
              <a:t>PostParametersServlet.java.</a:t>
            </a:r>
            <a:endParaRPr lang="en-US" dirty="0">
              <a:latin typeface="Times New Roman" pitchFamily="18" charset="0"/>
              <a:cs typeface="Times New Roman" pitchFamily="18" charset="0"/>
            </a:endParaRPr>
          </a:p>
          <a:p>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22</a:t>
            </a:fld>
            <a:endParaRPr lang="en-US" altLang="en-US"/>
          </a:p>
        </p:txBody>
      </p:sp>
    </p:spTree>
    <p:extLst>
      <p:ext uri="{BB962C8B-B14F-4D97-AF65-F5344CB8AC3E}">
        <p14:creationId xmlns:p14="http://schemas.microsoft.com/office/powerpoint/2010/main" val="915156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itchFamily="18" charset="0"/>
                <a:cs typeface="Times New Roman" pitchFamily="18" charset="0"/>
              </a:rPr>
              <a:t>UnamePasswordServlet.html</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838200" y="1295400"/>
            <a:ext cx="10515600" cy="4351338"/>
          </a:xfrm>
        </p:spPr>
        <p:txBody>
          <a:bodyPr/>
          <a:lstStyle/>
          <a:p>
            <a:pPr lvl="1">
              <a:buFont typeface="Wingdings" pitchFamily="2" charset="2"/>
              <a:buNone/>
            </a:pPr>
            <a:r>
              <a:rPr lang="en-US" dirty="0">
                <a:latin typeface="Times New Roman" pitchFamily="18" charset="0"/>
                <a:cs typeface="Times New Roman" pitchFamily="18" charset="0"/>
              </a:rPr>
              <a:t>&lt;html&gt;</a:t>
            </a:r>
          </a:p>
          <a:p>
            <a:pPr lvl="1">
              <a:buFont typeface="Wingdings" pitchFamily="2" charset="2"/>
              <a:buNone/>
            </a:pPr>
            <a:r>
              <a:rPr lang="en-US" dirty="0">
                <a:latin typeface="Times New Roman" pitchFamily="18" charset="0"/>
                <a:cs typeface="Times New Roman" pitchFamily="18" charset="0"/>
              </a:rPr>
              <a:t>&lt;body </a:t>
            </a:r>
            <a:r>
              <a:rPr lang="en-US" dirty="0" err="1">
                <a:latin typeface="Times New Roman" pitchFamily="18" charset="0"/>
                <a:cs typeface="Times New Roman" pitchFamily="18" charset="0"/>
              </a:rPr>
              <a:t>bgcolor</a:t>
            </a:r>
            <a:r>
              <a:rPr lang="en-US" dirty="0">
                <a:latin typeface="Times New Roman" pitchFamily="18" charset="0"/>
                <a:cs typeface="Times New Roman" pitchFamily="18" charset="0"/>
              </a:rPr>
              <a:t>=</a:t>
            </a:r>
            <a:r>
              <a:rPr lang="en-US" i="1" dirty="0" err="1">
                <a:latin typeface="Times New Roman" pitchFamily="18" charset="0"/>
                <a:cs typeface="Times New Roman" pitchFamily="18" charset="0"/>
              </a:rPr>
              <a:t>aabbcc</a:t>
            </a:r>
            <a:r>
              <a:rPr lang="en-US" i="1" dirty="0">
                <a:latin typeface="Times New Roman" pitchFamily="18" charset="0"/>
                <a:cs typeface="Times New Roman" pitchFamily="18" charset="0"/>
              </a:rPr>
              <a:t>&gt;</a:t>
            </a:r>
          </a:p>
          <a:p>
            <a:pPr lvl="1">
              <a:buFont typeface="Wingdings" pitchFamily="2" charset="2"/>
              <a:buNone/>
            </a:pPr>
            <a:r>
              <a:rPr lang="en-US" dirty="0">
                <a:latin typeface="Times New Roman" pitchFamily="18" charset="0"/>
                <a:cs typeface="Times New Roman" pitchFamily="18" charset="0"/>
              </a:rPr>
              <a:t>&lt;form action=</a:t>
            </a:r>
            <a:r>
              <a:rPr lang="en-US" i="1" dirty="0">
                <a:latin typeface="Times New Roman" pitchFamily="18" charset="0"/>
                <a:cs typeface="Times New Roman" pitchFamily="18" charset="0"/>
              </a:rPr>
              <a:t>http://localhost:8000/myProject/UnamePasswordServlet method="post"&gt;</a:t>
            </a:r>
          </a:p>
          <a:p>
            <a:pPr lvl="1">
              <a:buFont typeface="Wingdings" pitchFamily="2" charset="2"/>
              <a:buNone/>
            </a:pPr>
            <a:r>
              <a:rPr lang="en-US" dirty="0">
                <a:latin typeface="Times New Roman" pitchFamily="18" charset="0"/>
                <a:cs typeface="Times New Roman" pitchFamily="18" charset="0"/>
              </a:rPr>
              <a:t>NAME:&lt;input type=</a:t>
            </a:r>
            <a:r>
              <a:rPr lang="en-US" i="1" dirty="0">
                <a:latin typeface="Times New Roman" pitchFamily="18" charset="0"/>
                <a:cs typeface="Times New Roman" pitchFamily="18" charset="0"/>
              </a:rPr>
              <a:t>"text" name="name"&gt;&lt;</a:t>
            </a:r>
            <a:r>
              <a:rPr lang="en-US" i="1" dirty="0" err="1">
                <a:latin typeface="Times New Roman" pitchFamily="18" charset="0"/>
                <a:cs typeface="Times New Roman" pitchFamily="18" charset="0"/>
              </a:rPr>
              <a:t>br</a:t>
            </a:r>
            <a:r>
              <a:rPr lang="en-US" i="1" dirty="0">
                <a:latin typeface="Times New Roman" pitchFamily="18" charset="0"/>
                <a:cs typeface="Times New Roman" pitchFamily="18" charset="0"/>
              </a:rPr>
              <a:t>&gt;</a:t>
            </a:r>
          </a:p>
          <a:p>
            <a:pPr lvl="1">
              <a:buFont typeface="Wingdings" pitchFamily="2" charset="2"/>
              <a:buNone/>
            </a:pPr>
            <a:r>
              <a:rPr lang="en-US" dirty="0">
                <a:latin typeface="Times New Roman" pitchFamily="18" charset="0"/>
                <a:cs typeface="Times New Roman" pitchFamily="18" charset="0"/>
              </a:rPr>
              <a:t>PASSWORD:&lt;input type=</a:t>
            </a:r>
            <a:r>
              <a:rPr lang="en-US" i="1" dirty="0">
                <a:latin typeface="Times New Roman" pitchFamily="18" charset="0"/>
                <a:cs typeface="Times New Roman" pitchFamily="18" charset="0"/>
              </a:rPr>
              <a:t>"password" name="</a:t>
            </a:r>
            <a:r>
              <a:rPr lang="en-US" i="1" dirty="0" err="1">
                <a:latin typeface="Times New Roman" pitchFamily="18" charset="0"/>
                <a:cs typeface="Times New Roman" pitchFamily="18" charset="0"/>
              </a:rPr>
              <a:t>pwd</a:t>
            </a:r>
            <a:r>
              <a:rPr lang="en-US" i="1" dirty="0">
                <a:latin typeface="Times New Roman" pitchFamily="18" charset="0"/>
                <a:cs typeface="Times New Roman" pitchFamily="18" charset="0"/>
              </a:rPr>
              <a:t>"&gt;&lt;</a:t>
            </a:r>
            <a:r>
              <a:rPr lang="en-US" i="1" dirty="0" err="1">
                <a:latin typeface="Times New Roman" pitchFamily="18" charset="0"/>
                <a:cs typeface="Times New Roman" pitchFamily="18" charset="0"/>
              </a:rPr>
              <a:t>br</a:t>
            </a:r>
            <a:r>
              <a:rPr lang="en-US" i="1" dirty="0">
                <a:latin typeface="Times New Roman" pitchFamily="18" charset="0"/>
                <a:cs typeface="Times New Roman" pitchFamily="18" charset="0"/>
              </a:rPr>
              <a:t>&gt;</a:t>
            </a:r>
          </a:p>
          <a:p>
            <a:pPr lvl="1">
              <a:buFont typeface="Wingdings" pitchFamily="2" charset="2"/>
              <a:buNone/>
            </a:pPr>
            <a:r>
              <a:rPr lang="en-US" dirty="0">
                <a:latin typeface="Times New Roman" pitchFamily="18" charset="0"/>
                <a:cs typeface="Times New Roman" pitchFamily="18" charset="0"/>
              </a:rPr>
              <a:t>&lt;input type=</a:t>
            </a:r>
            <a:r>
              <a:rPr lang="en-US" i="1" dirty="0">
                <a:latin typeface="Times New Roman" pitchFamily="18" charset="0"/>
                <a:cs typeface="Times New Roman" pitchFamily="18" charset="0"/>
              </a:rPr>
              <a:t>"submit"&gt;</a:t>
            </a:r>
          </a:p>
          <a:p>
            <a:pPr lvl="1">
              <a:buFont typeface="Wingdings" pitchFamily="2" charset="2"/>
              <a:buNone/>
            </a:pPr>
            <a:r>
              <a:rPr lang="en-US" dirty="0">
                <a:latin typeface="Times New Roman" pitchFamily="18" charset="0"/>
                <a:cs typeface="Times New Roman" pitchFamily="18" charset="0"/>
              </a:rPr>
              <a:t>&lt;input type=</a:t>
            </a:r>
            <a:r>
              <a:rPr lang="en-US" i="1" dirty="0">
                <a:latin typeface="Times New Roman" pitchFamily="18" charset="0"/>
                <a:cs typeface="Times New Roman" pitchFamily="18" charset="0"/>
              </a:rPr>
              <a:t>"reset”&gt;</a:t>
            </a:r>
            <a:r>
              <a:rPr lang="en-US" dirty="0">
                <a:latin typeface="Times New Roman" pitchFamily="18" charset="0"/>
                <a:cs typeface="Times New Roman" pitchFamily="18" charset="0"/>
              </a:rPr>
              <a:t>&lt;/form&gt;</a:t>
            </a:r>
          </a:p>
          <a:p>
            <a:pPr lvl="1">
              <a:buFont typeface="Wingdings" pitchFamily="2" charset="2"/>
              <a:buNone/>
            </a:pPr>
            <a:r>
              <a:rPr lang="en-US" dirty="0">
                <a:latin typeface="Times New Roman" pitchFamily="18" charset="0"/>
                <a:cs typeface="Times New Roman" pitchFamily="18" charset="0"/>
              </a:rPr>
              <a:t>&lt;/body&gt;</a:t>
            </a:r>
          </a:p>
          <a:p>
            <a:pPr lvl="1">
              <a:buFont typeface="Wingdings" pitchFamily="2" charset="2"/>
              <a:buNone/>
            </a:pPr>
            <a:r>
              <a:rPr lang="en-US" dirty="0">
                <a:latin typeface="Times New Roman" pitchFamily="18" charset="0"/>
                <a:cs typeface="Times New Roman" pitchFamily="18" charset="0"/>
              </a:rPr>
              <a:t>&lt;/html&gt;</a:t>
            </a: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23</a:t>
            </a:fld>
            <a:endParaRPr lang="en-US" altLang="en-US"/>
          </a:p>
        </p:txBody>
      </p:sp>
    </p:spTree>
    <p:extLst>
      <p:ext uri="{BB962C8B-B14F-4D97-AF65-F5344CB8AC3E}">
        <p14:creationId xmlns:p14="http://schemas.microsoft.com/office/powerpoint/2010/main" val="572596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itchFamily="18" charset="0"/>
                <a:cs typeface="Times New Roman" pitchFamily="18" charset="0"/>
              </a:rPr>
              <a:t>UnamePasswordServlet.java</a:t>
            </a:r>
            <a:endParaRPr lang="en-IN" dirty="0"/>
          </a:p>
        </p:txBody>
      </p:sp>
      <p:sp>
        <p:nvSpPr>
          <p:cNvPr id="3" name="Content Placeholder 2"/>
          <p:cNvSpPr>
            <a:spLocks noGrp="1"/>
          </p:cNvSpPr>
          <p:nvPr>
            <p:ph idx="1"/>
          </p:nvPr>
        </p:nvSpPr>
        <p:spPr>
          <a:xfrm>
            <a:off x="228600" y="1295400"/>
            <a:ext cx="6324600" cy="4351338"/>
          </a:xfrm>
        </p:spPr>
        <p:txBody>
          <a:bodyPr/>
          <a:lstStyle/>
          <a:p>
            <a:pPr lvl="1">
              <a:buFont typeface="Wingdings" pitchFamily="2" charset="2"/>
              <a:buNone/>
            </a:pPr>
            <a:r>
              <a:rPr lang="en-US" sz="2000" b="1" dirty="0">
                <a:latin typeface="Times New Roman" pitchFamily="18" charset="0"/>
                <a:cs typeface="Times New Roman" pitchFamily="18" charset="0"/>
              </a:rPr>
              <a:t>import </a:t>
            </a:r>
            <a:r>
              <a:rPr lang="en-US" sz="2000" b="1" dirty="0" err="1">
                <a:latin typeface="Times New Roman" pitchFamily="18" charset="0"/>
                <a:cs typeface="Times New Roman" pitchFamily="18" charset="0"/>
              </a:rPr>
              <a:t>javax.servlet</a:t>
            </a:r>
            <a:r>
              <a:rPr lang="en-US" sz="2000" b="1" dirty="0">
                <a:latin typeface="Times New Roman" pitchFamily="18" charset="0"/>
                <a:cs typeface="Times New Roman" pitchFamily="18" charset="0"/>
              </a:rPr>
              <a:t>.*;</a:t>
            </a:r>
          </a:p>
          <a:p>
            <a:pPr lvl="1">
              <a:buFont typeface="Wingdings" pitchFamily="2" charset="2"/>
              <a:buNone/>
            </a:pPr>
            <a:r>
              <a:rPr lang="en-US" sz="2000" b="1" dirty="0">
                <a:latin typeface="Times New Roman" pitchFamily="18" charset="0"/>
                <a:cs typeface="Times New Roman" pitchFamily="18" charset="0"/>
              </a:rPr>
              <a:t>import java.io.*;</a:t>
            </a:r>
          </a:p>
          <a:p>
            <a:pPr lvl="1">
              <a:buFont typeface="Wingdings" pitchFamily="2" charset="2"/>
              <a:buNone/>
            </a:pPr>
            <a:r>
              <a:rPr lang="en-US" sz="2000" b="1" dirty="0">
                <a:latin typeface="Times New Roman" pitchFamily="18" charset="0"/>
                <a:cs typeface="Times New Roman" pitchFamily="18" charset="0"/>
              </a:rPr>
              <a:t>public class </a:t>
            </a:r>
            <a:r>
              <a:rPr lang="en-US" sz="2000" b="1" u="sng" dirty="0" err="1">
                <a:latin typeface="Times New Roman" pitchFamily="18" charset="0"/>
                <a:cs typeface="Times New Roman" pitchFamily="18" charset="0"/>
              </a:rPr>
              <a:t>UnamePasswordServlet</a:t>
            </a:r>
            <a:r>
              <a:rPr lang="en-US" sz="2000" b="1" u="sng" dirty="0">
                <a:latin typeface="Times New Roman" pitchFamily="18" charset="0"/>
                <a:cs typeface="Times New Roman" pitchFamily="18" charset="0"/>
              </a:rPr>
              <a:t> extends </a:t>
            </a:r>
            <a:r>
              <a:rPr lang="en-US" sz="2000" b="1" u="sng" dirty="0" err="1">
                <a:latin typeface="Times New Roman" pitchFamily="18" charset="0"/>
                <a:cs typeface="Times New Roman" pitchFamily="18" charset="0"/>
              </a:rPr>
              <a:t>GenericServlet</a:t>
            </a:r>
            <a:endParaRPr lang="en-US" sz="2000" b="1" u="sng" dirty="0">
              <a:latin typeface="Times New Roman" pitchFamily="18" charset="0"/>
              <a:cs typeface="Times New Roman" pitchFamily="18" charset="0"/>
            </a:endParaRPr>
          </a:p>
          <a:p>
            <a:pPr lvl="1">
              <a:buFont typeface="Wingdings" pitchFamily="2" charset="2"/>
              <a:buNone/>
            </a:pPr>
            <a:r>
              <a:rPr lang="en-US" sz="2000" dirty="0">
                <a:latin typeface="Times New Roman" pitchFamily="18" charset="0"/>
                <a:cs typeface="Times New Roman" pitchFamily="18" charset="0"/>
              </a:rPr>
              <a:t>{</a:t>
            </a:r>
          </a:p>
          <a:p>
            <a:pPr lvl="1">
              <a:buFont typeface="Wingdings" pitchFamily="2" charset="2"/>
              <a:buNone/>
            </a:pPr>
            <a:r>
              <a:rPr lang="fr-FR" sz="2000" b="1" dirty="0">
                <a:latin typeface="Times New Roman" pitchFamily="18" charset="0"/>
                <a:cs typeface="Times New Roman" pitchFamily="18" charset="0"/>
              </a:rPr>
              <a:t>public </a:t>
            </a:r>
            <a:r>
              <a:rPr lang="fr-FR" sz="2000" b="1" dirty="0" err="1">
                <a:latin typeface="Times New Roman" pitchFamily="18" charset="0"/>
                <a:cs typeface="Times New Roman" pitchFamily="18" charset="0"/>
              </a:rPr>
              <a:t>void</a:t>
            </a:r>
            <a:r>
              <a:rPr lang="fr-FR" sz="2000" b="1" dirty="0">
                <a:latin typeface="Times New Roman" pitchFamily="18" charset="0"/>
                <a:cs typeface="Times New Roman" pitchFamily="18" charset="0"/>
              </a:rPr>
              <a:t> service(</a:t>
            </a:r>
            <a:r>
              <a:rPr lang="fr-FR" sz="2000" b="1" dirty="0" err="1">
                <a:latin typeface="Times New Roman" pitchFamily="18" charset="0"/>
                <a:cs typeface="Times New Roman" pitchFamily="18" charset="0"/>
              </a:rPr>
              <a:t>ServletRequest</a:t>
            </a:r>
            <a:r>
              <a:rPr lang="fr-FR" sz="2000" b="1" dirty="0">
                <a:latin typeface="Times New Roman" pitchFamily="18" charset="0"/>
                <a:cs typeface="Times New Roman" pitchFamily="18" charset="0"/>
              </a:rPr>
              <a:t> </a:t>
            </a:r>
            <a:r>
              <a:rPr lang="fr-FR" sz="2000" b="1" dirty="0" err="1">
                <a:latin typeface="Times New Roman" pitchFamily="18" charset="0"/>
                <a:cs typeface="Times New Roman" pitchFamily="18" charset="0"/>
              </a:rPr>
              <a:t>req,ServletResponse</a:t>
            </a:r>
            <a:r>
              <a:rPr lang="fr-FR" sz="2000" b="1" dirty="0">
                <a:latin typeface="Times New Roman" pitchFamily="18" charset="0"/>
                <a:cs typeface="Times New Roman" pitchFamily="18" charset="0"/>
              </a:rPr>
              <a:t> </a:t>
            </a:r>
            <a:r>
              <a:rPr lang="fr-FR" sz="2000" b="1" dirty="0" err="1">
                <a:latin typeface="Times New Roman" pitchFamily="18" charset="0"/>
                <a:cs typeface="Times New Roman" pitchFamily="18" charset="0"/>
              </a:rPr>
              <a:t>res</a:t>
            </a:r>
            <a:r>
              <a:rPr lang="fr-FR"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a:t>
            </a:r>
          </a:p>
          <a:p>
            <a:pPr lvl="1">
              <a:buFont typeface="Wingdings" pitchFamily="2" charset="2"/>
              <a:buNone/>
            </a:pPr>
            <a:r>
              <a:rPr lang="en-US" sz="2000" b="1" dirty="0">
                <a:latin typeface="Times New Roman" pitchFamily="18" charset="0"/>
                <a:cs typeface="Times New Roman" pitchFamily="18" charset="0"/>
              </a:rPr>
              <a:t>Try </a:t>
            </a:r>
            <a:r>
              <a:rPr lang="en-US" sz="2000" dirty="0">
                <a:latin typeface="Times New Roman" pitchFamily="18" charset="0"/>
                <a:cs typeface="Times New Roman" pitchFamily="18" charset="0"/>
              </a:rPr>
              <a:t>{</a:t>
            </a:r>
          </a:p>
          <a:p>
            <a:pPr lvl="1">
              <a:buFont typeface="Wingdings" pitchFamily="2" charset="2"/>
              <a:buNone/>
            </a:pPr>
            <a:r>
              <a:rPr lang="en-US" sz="2000" dirty="0" err="1">
                <a:latin typeface="Times New Roman" pitchFamily="18" charset="0"/>
                <a:cs typeface="Times New Roman" pitchFamily="18" charset="0"/>
              </a:rPr>
              <a:t>PrintWriter</a:t>
            </a:r>
            <a:r>
              <a:rPr lang="en-US" sz="2000" dirty="0">
                <a:latin typeface="Times New Roman" pitchFamily="18" charset="0"/>
                <a:cs typeface="Times New Roman" pitchFamily="18" charset="0"/>
              </a:rPr>
              <a:t> pw=</a:t>
            </a:r>
            <a:r>
              <a:rPr lang="en-US" sz="2000" dirty="0" err="1">
                <a:latin typeface="Times New Roman" pitchFamily="18" charset="0"/>
                <a:cs typeface="Times New Roman" pitchFamily="18" charset="0"/>
              </a:rPr>
              <a:t>res.getWriter</a:t>
            </a:r>
            <a:r>
              <a:rPr lang="en-US" sz="2000" dirty="0">
                <a:latin typeface="Times New Roman" pitchFamily="18" charset="0"/>
                <a:cs typeface="Times New Roman" pitchFamily="18" charset="0"/>
              </a:rPr>
              <a:t>();</a:t>
            </a:r>
          </a:p>
          <a:p>
            <a:pPr lvl="1">
              <a:buFont typeface="Wingdings" pitchFamily="2" charset="2"/>
              <a:buNone/>
            </a:pPr>
            <a:r>
              <a:rPr lang="en-US" sz="2000" dirty="0" err="1">
                <a:latin typeface="Times New Roman" pitchFamily="18" charset="0"/>
                <a:cs typeface="Times New Roman" pitchFamily="18" charset="0"/>
              </a:rPr>
              <a:t>res.setContentType</a:t>
            </a:r>
            <a:r>
              <a:rPr lang="en-US" sz="2000" dirty="0">
                <a:latin typeface="Times New Roman" pitchFamily="18" charset="0"/>
                <a:cs typeface="Times New Roman" pitchFamily="18" charset="0"/>
              </a:rPr>
              <a:t>("text/html");</a:t>
            </a:r>
          </a:p>
          <a:p>
            <a:pPr lvl="1">
              <a:buFont typeface="Wingdings" pitchFamily="2" charset="2"/>
              <a:buNone/>
            </a:pPr>
            <a:r>
              <a:rPr lang="en-US" sz="2000" dirty="0">
                <a:latin typeface="Times New Roman" pitchFamily="18" charset="0"/>
                <a:cs typeface="Times New Roman" pitchFamily="18" charset="0"/>
              </a:rPr>
              <a:t>String name=</a:t>
            </a:r>
            <a:r>
              <a:rPr lang="en-US" sz="2000" dirty="0" err="1">
                <a:latin typeface="Times New Roman" pitchFamily="18" charset="0"/>
                <a:cs typeface="Times New Roman" pitchFamily="18" charset="0"/>
              </a:rPr>
              <a:t>req.getParameter</a:t>
            </a:r>
            <a:r>
              <a:rPr lang="en-US" sz="2000" dirty="0">
                <a:latin typeface="Times New Roman" pitchFamily="18" charset="0"/>
                <a:cs typeface="Times New Roman" pitchFamily="18" charset="0"/>
              </a:rPr>
              <a:t>("name");</a:t>
            </a:r>
          </a:p>
          <a:p>
            <a:pPr lvl="1">
              <a:buFont typeface="Wingdings" pitchFamily="2" charset="2"/>
              <a:buNone/>
            </a:pPr>
            <a:r>
              <a:rPr lang="en-US" sz="2000" dirty="0">
                <a:latin typeface="Times New Roman" pitchFamily="18" charset="0"/>
                <a:cs typeface="Times New Roman" pitchFamily="18" charset="0"/>
              </a:rPr>
              <a:t>String </a:t>
            </a:r>
            <a:r>
              <a:rPr lang="en-US" sz="2000" dirty="0" err="1">
                <a:latin typeface="Times New Roman" pitchFamily="18" charset="0"/>
                <a:cs typeface="Times New Roman" pitchFamily="18" charset="0"/>
              </a:rPr>
              <a:t>pwd</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req.getParameter</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pwd</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24</a:t>
            </a:fld>
            <a:endParaRPr lang="en-US" altLang="en-US"/>
          </a:p>
        </p:txBody>
      </p:sp>
      <p:sp>
        <p:nvSpPr>
          <p:cNvPr id="6" name="Content Placeholder 2"/>
          <p:cNvSpPr txBox="1">
            <a:spLocks/>
          </p:cNvSpPr>
          <p:nvPr/>
        </p:nvSpPr>
        <p:spPr bwMode="auto">
          <a:xfrm>
            <a:off x="6400800" y="1295400"/>
            <a:ext cx="5181600" cy="4479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Wingdings" pitchFamily="2" charset="2"/>
              <a:buNone/>
            </a:pPr>
            <a:r>
              <a:rPr lang="en-US" sz="2000" dirty="0" err="1" smtClean="0">
                <a:latin typeface="Times New Roman" pitchFamily="18" charset="0"/>
                <a:cs typeface="Times New Roman" pitchFamily="18" charset="0"/>
              </a:rPr>
              <a:t>pw.println</a:t>
            </a:r>
            <a:r>
              <a:rPr lang="en-US" sz="2000" dirty="0" smtClean="0">
                <a:latin typeface="Times New Roman" pitchFamily="18" charset="0"/>
                <a:cs typeface="Times New Roman" pitchFamily="18" charset="0"/>
              </a:rPr>
              <a:t>("&lt;b&gt;Name="+name+"&lt;</a:t>
            </a:r>
            <a:r>
              <a:rPr lang="en-US" sz="2000" dirty="0" err="1" smtClean="0">
                <a:latin typeface="Times New Roman" pitchFamily="18" charset="0"/>
                <a:cs typeface="Times New Roman" pitchFamily="18" charset="0"/>
              </a:rPr>
              <a:t>br</a:t>
            </a:r>
            <a:r>
              <a:rPr lang="en-US" sz="2000" dirty="0" smtClean="0">
                <a:latin typeface="Times New Roman" pitchFamily="18" charset="0"/>
                <a:cs typeface="Times New Roman" pitchFamily="18" charset="0"/>
              </a:rPr>
              <a:t>&gt;Password="+</a:t>
            </a:r>
            <a:r>
              <a:rPr lang="en-US" sz="2000" dirty="0" err="1" smtClean="0">
                <a:latin typeface="Times New Roman" pitchFamily="18" charset="0"/>
                <a:cs typeface="Times New Roman" pitchFamily="18" charset="0"/>
              </a:rPr>
              <a:t>pwd</a:t>
            </a:r>
            <a:r>
              <a:rPr lang="en-US" sz="2000" dirty="0" smtClean="0">
                <a:latin typeface="Times New Roman" pitchFamily="18" charset="0"/>
                <a:cs typeface="Times New Roman" pitchFamily="18" charset="0"/>
              </a:rPr>
              <a:t>);</a:t>
            </a:r>
          </a:p>
          <a:p>
            <a:pPr lvl="1">
              <a:buFont typeface="Wingdings" pitchFamily="2" charset="2"/>
              <a:buNone/>
            </a:pPr>
            <a:r>
              <a:rPr lang="en-US" sz="2000" dirty="0" err="1" smtClean="0">
                <a:latin typeface="Times New Roman" pitchFamily="18" charset="0"/>
                <a:cs typeface="Times New Roman" pitchFamily="18" charset="0"/>
              </a:rPr>
              <a:t>pw.close</a:t>
            </a:r>
            <a:r>
              <a:rPr lang="en-US" sz="2000" dirty="0" smtClean="0">
                <a:latin typeface="Times New Roman" pitchFamily="18" charset="0"/>
                <a:cs typeface="Times New Roman" pitchFamily="18" charset="0"/>
              </a:rPr>
              <a:t>();</a:t>
            </a:r>
          </a:p>
          <a:p>
            <a:pPr lvl="1">
              <a:buFont typeface="Wingdings" pitchFamily="2" charset="2"/>
              <a:buNone/>
            </a:pPr>
            <a:r>
              <a:rPr lang="en-US" sz="2000" dirty="0" smtClean="0">
                <a:latin typeface="Times New Roman" pitchFamily="18" charset="0"/>
                <a:cs typeface="Times New Roman" pitchFamily="18" charset="0"/>
              </a:rPr>
              <a:t>}</a:t>
            </a:r>
          </a:p>
          <a:p>
            <a:pPr lvl="1">
              <a:buFont typeface="Wingdings" pitchFamily="2" charset="2"/>
              <a:buNone/>
            </a:pPr>
            <a:r>
              <a:rPr lang="en-US" sz="2000" b="1" dirty="0" smtClean="0">
                <a:latin typeface="Times New Roman" pitchFamily="18" charset="0"/>
                <a:cs typeface="Times New Roman" pitchFamily="18" charset="0"/>
              </a:rPr>
              <a:t>catch(Exception </a:t>
            </a:r>
            <a:r>
              <a:rPr lang="en-US" sz="2000" b="1" dirty="0" err="1" smtClean="0">
                <a:latin typeface="Times New Roman" pitchFamily="18" charset="0"/>
                <a:cs typeface="Times New Roman" pitchFamily="18" charset="0"/>
              </a:rPr>
              <a:t>excep</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t>
            </a:r>
          </a:p>
          <a:p>
            <a:pPr lvl="1">
              <a:buFont typeface="Wingdings" pitchFamily="2" charset="2"/>
              <a:buNone/>
            </a:pPr>
            <a:r>
              <a:rPr lang="en-US" sz="2000" dirty="0" err="1" smtClean="0">
                <a:latin typeface="Times New Roman" pitchFamily="18" charset="0"/>
                <a:cs typeface="Times New Roman" pitchFamily="18" charset="0"/>
              </a:rPr>
              <a:t>System.</a:t>
            </a:r>
            <a:r>
              <a:rPr lang="en-US" sz="2000" i="1" dirty="0" err="1" smtClean="0">
                <a:latin typeface="Times New Roman" pitchFamily="18" charset="0"/>
                <a:cs typeface="Times New Roman" pitchFamily="18" charset="0"/>
              </a:rPr>
              <a:t>out.println</a:t>
            </a:r>
            <a:r>
              <a:rPr lang="en-US" sz="2000" i="1" dirty="0" smtClean="0">
                <a:latin typeface="Times New Roman" pitchFamily="18" charset="0"/>
                <a:cs typeface="Times New Roman" pitchFamily="18" charset="0"/>
              </a:rPr>
              <a:t>(</a:t>
            </a:r>
            <a:r>
              <a:rPr lang="en-US" sz="2000" i="1" dirty="0" err="1" smtClean="0">
                <a:latin typeface="Times New Roman" pitchFamily="18" charset="0"/>
                <a:cs typeface="Times New Roman" pitchFamily="18" charset="0"/>
              </a:rPr>
              <a:t>excep.getMessage</a:t>
            </a:r>
            <a:r>
              <a:rPr lang="en-US" sz="2000" i="1" dirty="0" smtClean="0">
                <a:latin typeface="Times New Roman" pitchFamily="18" charset="0"/>
                <a:cs typeface="Times New Roman" pitchFamily="18" charset="0"/>
              </a:rPr>
              <a:t>());</a:t>
            </a:r>
          </a:p>
          <a:p>
            <a:pPr lvl="1">
              <a:buFont typeface="Wingdings" pitchFamily="2" charset="2"/>
              <a:buNone/>
            </a:pP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a:t>
            </a:r>
          </a:p>
          <a:p>
            <a:pPr lvl="1">
              <a:buFont typeface="Wingdings" pitchFamily="2" charset="2"/>
              <a:buNone/>
            </a:pPr>
            <a:r>
              <a:rPr lang="en-US" sz="2000" dirty="0" smtClean="0">
                <a:latin typeface="Times New Roman" pitchFamily="18" charset="0"/>
                <a:cs typeface="Times New Roman" pitchFamily="18" charset="0"/>
              </a:rPr>
              <a:t> }</a:t>
            </a:r>
          </a:p>
          <a:p>
            <a:pPr lvl="1">
              <a:buFont typeface="Wingdings" pitchFamily="2" charset="2"/>
              <a:buNone/>
            </a:pPr>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493597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
            </a:r>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Handling HTTP Requests and Responses</a:t>
            </a:r>
            <a:br>
              <a:rPr lang="en-US" b="1" dirty="0">
                <a:latin typeface="Times New Roman" pitchFamily="18" charset="0"/>
                <a:cs typeface="Times New Roman" pitchFamily="18" charset="0"/>
              </a:rPr>
            </a:b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25</a:t>
            </a:fld>
            <a:endParaRPr lang="en-US" altLang="en-US"/>
          </a:p>
        </p:txBody>
      </p:sp>
      <p:sp>
        <p:nvSpPr>
          <p:cNvPr id="4" name="Content Placeholder 3"/>
          <p:cNvSpPr>
            <a:spLocks noGrp="1"/>
          </p:cNvSpPr>
          <p:nvPr>
            <p:ph idx="1"/>
          </p:nvPr>
        </p:nvSpPr>
        <p:spPr/>
        <p:txBody>
          <a:bodyPr/>
          <a:lstStyle/>
          <a:p>
            <a:pPr algn="just"/>
            <a:r>
              <a:rPr lang="en-US" dirty="0">
                <a:latin typeface="Times New Roman" pitchFamily="18" charset="0"/>
                <a:cs typeface="Times New Roman" pitchFamily="18" charset="0"/>
              </a:rPr>
              <a:t>The </a:t>
            </a:r>
            <a:r>
              <a:rPr lang="en-US" b="1" dirty="0" err="1">
                <a:latin typeface="Times New Roman" pitchFamily="18" charset="0"/>
                <a:cs typeface="Times New Roman" pitchFamily="18" charset="0"/>
              </a:rPr>
              <a:t>HttpServlet</a:t>
            </a:r>
            <a:r>
              <a:rPr lang="en-US" b="1" dirty="0">
                <a:latin typeface="Times New Roman" pitchFamily="18" charset="0"/>
                <a:cs typeface="Times New Roman" pitchFamily="18" charset="0"/>
              </a:rPr>
              <a:t> class provides specialized methods that handle the various types of HTTP </a:t>
            </a:r>
            <a:r>
              <a:rPr lang="en-US" dirty="0">
                <a:latin typeface="Times New Roman" pitchFamily="18" charset="0"/>
                <a:cs typeface="Times New Roman" pitchFamily="18" charset="0"/>
              </a:rPr>
              <a:t>requests. </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These methods are </a:t>
            </a:r>
            <a:r>
              <a:rPr lang="en-US" b="1" dirty="0" err="1">
                <a:latin typeface="Times New Roman" pitchFamily="18" charset="0"/>
                <a:cs typeface="Times New Roman" pitchFamily="18" charset="0"/>
              </a:rPr>
              <a:t>doDelete</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doGet</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doHead</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doOptions</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doPost</a:t>
            </a:r>
            <a:r>
              <a:rPr lang="en-US" b="1" dirty="0">
                <a:latin typeface="Times New Roman" pitchFamily="18" charset="0"/>
                <a:cs typeface="Times New Roman" pitchFamily="18" charset="0"/>
              </a:rPr>
              <a:t>( ), </a:t>
            </a:r>
            <a:r>
              <a:rPr lang="en-US" b="1" dirty="0" err="1">
                <a:latin typeface="Times New Roman" pitchFamily="18" charset="0"/>
                <a:cs typeface="Times New Roman" pitchFamily="18" charset="0"/>
              </a:rPr>
              <a:t>doPut</a:t>
            </a:r>
            <a:r>
              <a:rPr lang="en-US" b="1" dirty="0">
                <a:latin typeface="Times New Roman" pitchFamily="18" charset="0"/>
                <a:cs typeface="Times New Roman" pitchFamily="18" charset="0"/>
              </a:rPr>
              <a:t>( ), and </a:t>
            </a:r>
            <a:r>
              <a:rPr lang="en-US" b="1" dirty="0" err="1">
                <a:latin typeface="Times New Roman" pitchFamily="18" charset="0"/>
                <a:cs typeface="Times New Roman" pitchFamily="18" charset="0"/>
              </a:rPr>
              <a:t>doTrace</a:t>
            </a:r>
            <a:r>
              <a:rPr lang="en-US" b="1" dirty="0">
                <a:latin typeface="Times New Roman" pitchFamily="18" charset="0"/>
                <a:cs typeface="Times New Roman" pitchFamily="18" charset="0"/>
              </a:rPr>
              <a:t>( ). </a:t>
            </a:r>
          </a:p>
          <a:p>
            <a:pPr algn="just"/>
            <a:endParaRPr lang="en-US" b="1"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However, the GET and POST requests are commonly used when handling form input. Therefore, this  section presents examples of these cases.</a:t>
            </a:r>
          </a:p>
          <a:p>
            <a:endParaRPr lang="en-IN" dirty="0"/>
          </a:p>
        </p:txBody>
      </p:sp>
    </p:spTree>
    <p:extLst>
      <p:ext uri="{BB962C8B-B14F-4D97-AF65-F5344CB8AC3E}">
        <p14:creationId xmlns:p14="http://schemas.microsoft.com/office/powerpoint/2010/main" val="417214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Handling HTTP GET Requests</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26</a:t>
            </a:fld>
            <a:endParaRPr lang="en-US" altLang="en-US"/>
          </a:p>
        </p:txBody>
      </p:sp>
      <p:sp>
        <p:nvSpPr>
          <p:cNvPr id="4" name="Content Placeholder 3"/>
          <p:cNvSpPr>
            <a:spLocks noGrp="1"/>
          </p:cNvSpPr>
          <p:nvPr>
            <p:ph idx="1"/>
          </p:nvPr>
        </p:nvSpPr>
        <p:spPr/>
        <p:txBody>
          <a:bodyPr/>
          <a:lstStyle/>
          <a:p>
            <a:r>
              <a:rPr lang="en-US" sz="2400" dirty="0">
                <a:latin typeface="Times New Roman" pitchFamily="18" charset="0"/>
                <a:cs typeface="Times New Roman" pitchFamily="18" charset="0"/>
              </a:rPr>
              <a:t>Here we will develop a servlet that handles an HTTP GET request. </a:t>
            </a:r>
          </a:p>
          <a:p>
            <a:r>
              <a:rPr lang="en-US" sz="2400" dirty="0">
                <a:latin typeface="Times New Roman" pitchFamily="18" charset="0"/>
                <a:cs typeface="Times New Roman" pitchFamily="18" charset="0"/>
              </a:rPr>
              <a:t>The servlet is invoked when a form on a web page is submitted. </a:t>
            </a:r>
          </a:p>
          <a:p>
            <a:r>
              <a:rPr lang="en-US" sz="2400" dirty="0">
                <a:latin typeface="Times New Roman" pitchFamily="18" charset="0"/>
                <a:cs typeface="Times New Roman" pitchFamily="18" charset="0"/>
              </a:rPr>
              <a:t>The example contains two files.</a:t>
            </a:r>
          </a:p>
          <a:p>
            <a:pPr lvl="1"/>
            <a:r>
              <a:rPr lang="en-US" dirty="0">
                <a:latin typeface="Times New Roman" pitchFamily="18" charset="0"/>
                <a:cs typeface="Times New Roman" pitchFamily="18" charset="0"/>
              </a:rPr>
              <a:t> A web page is defined in </a:t>
            </a:r>
            <a:r>
              <a:rPr lang="en-US" b="1" dirty="0">
                <a:latin typeface="Times New Roman" pitchFamily="18" charset="0"/>
                <a:cs typeface="Times New Roman" pitchFamily="18" charset="0"/>
              </a:rPr>
              <a:t>ColorGet.htm, </a:t>
            </a:r>
          </a:p>
          <a:p>
            <a:pPr lvl="1"/>
            <a:r>
              <a:rPr lang="en-US" b="1" dirty="0">
                <a:latin typeface="Times New Roman" pitchFamily="18" charset="0"/>
                <a:cs typeface="Times New Roman" pitchFamily="18" charset="0"/>
              </a:rPr>
              <a:t>servlet is defined in ColorGetServlet.java. </a:t>
            </a:r>
          </a:p>
          <a:p>
            <a:r>
              <a:rPr lang="en-US" sz="2400" b="1" dirty="0">
                <a:latin typeface="Times New Roman" pitchFamily="18" charset="0"/>
                <a:cs typeface="Times New Roman" pitchFamily="18" charset="0"/>
              </a:rPr>
              <a:t>The HTML source code </a:t>
            </a:r>
            <a:r>
              <a:rPr lang="en-US" sz="2400" dirty="0">
                <a:latin typeface="Times New Roman" pitchFamily="18" charset="0"/>
                <a:cs typeface="Times New Roman" pitchFamily="18" charset="0"/>
              </a:rPr>
              <a:t>for </a:t>
            </a:r>
            <a:r>
              <a:rPr lang="en-US" sz="2400" b="1" dirty="0">
                <a:latin typeface="Times New Roman" pitchFamily="18" charset="0"/>
                <a:cs typeface="Times New Roman" pitchFamily="18" charset="0"/>
              </a:rPr>
              <a:t>ColorGet.htm defines a form that contains a select </a:t>
            </a:r>
            <a:r>
              <a:rPr lang="en-US" sz="2400" dirty="0">
                <a:latin typeface="Times New Roman" pitchFamily="18" charset="0"/>
                <a:cs typeface="Times New Roman" pitchFamily="18" charset="0"/>
              </a:rPr>
              <a:t>element and a submit button. </a:t>
            </a:r>
          </a:p>
          <a:p>
            <a:r>
              <a:rPr lang="en-US" sz="2400" dirty="0">
                <a:latin typeface="Times New Roman" pitchFamily="18" charset="0"/>
                <a:cs typeface="Times New Roman" pitchFamily="18" charset="0"/>
              </a:rPr>
              <a:t>Notice that the action parameter of the form tag specifies a URL.</a:t>
            </a:r>
          </a:p>
          <a:p>
            <a:r>
              <a:rPr lang="en-US" sz="2400" dirty="0">
                <a:latin typeface="Times New Roman" pitchFamily="18" charset="0"/>
                <a:cs typeface="Times New Roman" pitchFamily="18" charset="0"/>
              </a:rPr>
              <a:t>The URL identifies a servlet to process the HTTP GET request</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128449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ColorGet.html</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27</a:t>
            </a:fld>
            <a:endParaRPr lang="en-US" altLang="en-US"/>
          </a:p>
        </p:txBody>
      </p:sp>
      <p:sp>
        <p:nvSpPr>
          <p:cNvPr id="4" name="Content Placeholder 3"/>
          <p:cNvSpPr>
            <a:spLocks noGrp="1"/>
          </p:cNvSpPr>
          <p:nvPr>
            <p:ph idx="1"/>
          </p:nvPr>
        </p:nvSpPr>
        <p:spPr>
          <a:xfrm>
            <a:off x="990600" y="1219200"/>
            <a:ext cx="10363200" cy="5032375"/>
          </a:xfrm>
        </p:spPr>
        <p:txBody>
          <a:bodyPr/>
          <a:lstStyle/>
          <a:p>
            <a:pPr lvl="1">
              <a:buFont typeface="Wingdings" pitchFamily="2" charset="2"/>
              <a:buNone/>
            </a:pPr>
            <a:r>
              <a:rPr lang="en-US" sz="2000" dirty="0">
                <a:latin typeface="Times New Roman" pitchFamily="18" charset="0"/>
                <a:cs typeface="Times New Roman" pitchFamily="18" charset="0"/>
              </a:rPr>
              <a:t>&lt;html&gt;</a:t>
            </a:r>
          </a:p>
          <a:p>
            <a:pPr lvl="1">
              <a:buFont typeface="Wingdings" pitchFamily="2" charset="2"/>
              <a:buNone/>
            </a:pPr>
            <a:r>
              <a:rPr lang="en-US" sz="2000" dirty="0">
                <a:latin typeface="Times New Roman" pitchFamily="18" charset="0"/>
                <a:cs typeface="Times New Roman" pitchFamily="18" charset="0"/>
              </a:rPr>
              <a:t>&lt;body&gt;</a:t>
            </a:r>
          </a:p>
          <a:p>
            <a:pPr lvl="1">
              <a:buFont typeface="Wingdings" pitchFamily="2" charset="2"/>
              <a:buNone/>
            </a:pPr>
            <a:r>
              <a:rPr lang="en-US" sz="2000" dirty="0">
                <a:latin typeface="Times New Roman" pitchFamily="18" charset="0"/>
                <a:cs typeface="Times New Roman" pitchFamily="18" charset="0"/>
              </a:rPr>
              <a:t>&lt;center&gt;</a:t>
            </a:r>
          </a:p>
          <a:p>
            <a:pPr lvl="1">
              <a:buFont typeface="Wingdings" pitchFamily="2" charset="2"/>
              <a:buNone/>
            </a:pPr>
            <a:r>
              <a:rPr lang="en-US" sz="2000" dirty="0">
                <a:latin typeface="Times New Roman" pitchFamily="18" charset="0"/>
                <a:cs typeface="Times New Roman" pitchFamily="18" charset="0"/>
              </a:rPr>
              <a:t>&lt;form name="Form1“ </a:t>
            </a:r>
            <a:r>
              <a:rPr lang="en-US" sz="2000" b="1" dirty="0">
                <a:latin typeface="Times New Roman" pitchFamily="18" charset="0"/>
                <a:cs typeface="Times New Roman" pitchFamily="18" charset="0"/>
              </a:rPr>
              <a:t>action="http://localhost:8080/servlets-examples/servlet/</a:t>
            </a:r>
            <a:r>
              <a:rPr lang="en-US" sz="2000" b="1" dirty="0" err="1">
                <a:latin typeface="Times New Roman" pitchFamily="18" charset="0"/>
                <a:cs typeface="Times New Roman" pitchFamily="18" charset="0"/>
              </a:rPr>
              <a:t>ColorGetServlet</a:t>
            </a:r>
            <a:r>
              <a:rPr lang="en-US" sz="2000" b="1" dirty="0">
                <a:latin typeface="Times New Roman" pitchFamily="18" charset="0"/>
                <a:cs typeface="Times New Roman" pitchFamily="18" charset="0"/>
              </a:rPr>
              <a:t>"&gt;</a:t>
            </a:r>
          </a:p>
          <a:p>
            <a:pPr lvl="1">
              <a:buFont typeface="Wingdings" pitchFamily="2" charset="2"/>
              <a:buNone/>
            </a:pPr>
            <a:r>
              <a:rPr lang="en-US" sz="2000" dirty="0">
                <a:latin typeface="Times New Roman" pitchFamily="18" charset="0"/>
                <a:cs typeface="Times New Roman" pitchFamily="18" charset="0"/>
              </a:rPr>
              <a:t>&lt;B&gt;Color:&lt;/B&gt;</a:t>
            </a:r>
          </a:p>
          <a:p>
            <a:pPr lvl="1">
              <a:buFont typeface="Wingdings" pitchFamily="2" charset="2"/>
              <a:buNone/>
            </a:pPr>
            <a:r>
              <a:rPr lang="en-US" sz="2000" dirty="0">
                <a:latin typeface="Times New Roman" pitchFamily="18" charset="0"/>
                <a:cs typeface="Times New Roman" pitchFamily="18" charset="0"/>
              </a:rPr>
              <a:t>&lt;select name="color" size="1"&lt;option value="Red"&gt;Red&lt;/option&gt;</a:t>
            </a:r>
          </a:p>
          <a:p>
            <a:pPr lvl="1">
              <a:buFont typeface="Wingdings" pitchFamily="2" charset="2"/>
              <a:buNone/>
            </a:pPr>
            <a:r>
              <a:rPr lang="en-US" sz="2000" dirty="0">
                <a:latin typeface="Times New Roman" pitchFamily="18" charset="0"/>
                <a:cs typeface="Times New Roman" pitchFamily="18" charset="0"/>
              </a:rPr>
              <a:t>&lt;option value="Green"&gt;Green&lt;/option&gt;</a:t>
            </a:r>
          </a:p>
          <a:p>
            <a:pPr lvl="1">
              <a:buFont typeface="Wingdings" pitchFamily="2" charset="2"/>
              <a:buNone/>
            </a:pPr>
            <a:r>
              <a:rPr lang="en-US" sz="2000" dirty="0">
                <a:latin typeface="Times New Roman" pitchFamily="18" charset="0"/>
                <a:cs typeface="Times New Roman" pitchFamily="18" charset="0"/>
              </a:rPr>
              <a:t>&lt;option value="Blue"&gt;Blue&lt;/option&gt;</a:t>
            </a:r>
          </a:p>
          <a:p>
            <a:pPr lvl="1">
              <a:buFont typeface="Wingdings" pitchFamily="2" charset="2"/>
              <a:buNone/>
            </a:pPr>
            <a:r>
              <a:rPr lang="en-US" sz="2000" dirty="0">
                <a:latin typeface="Times New Roman" pitchFamily="18" charset="0"/>
                <a:cs typeface="Times New Roman" pitchFamily="18" charset="0"/>
              </a:rPr>
              <a:t>&lt;/select&gt;</a:t>
            </a:r>
          </a:p>
          <a:p>
            <a:pPr lvl="1">
              <a:buFont typeface="Wingdings" pitchFamily="2" charset="2"/>
              <a:buNone/>
            </a:pPr>
            <a:r>
              <a:rPr lang="en-US" sz="2000" dirty="0">
                <a:latin typeface="Times New Roman" pitchFamily="18" charset="0"/>
                <a:cs typeface="Times New Roman" pitchFamily="18" charset="0"/>
              </a:rPr>
              <a:t>&lt;</a:t>
            </a:r>
            <a:r>
              <a:rPr lang="en-US" sz="2000" dirty="0" err="1">
                <a:latin typeface="Times New Roman" pitchFamily="18" charset="0"/>
                <a:cs typeface="Times New Roman" pitchFamily="18" charset="0"/>
              </a:rPr>
              <a:t>br</a:t>
            </a:r>
            <a:r>
              <a:rPr lang="en-US" sz="2000" dirty="0">
                <a:latin typeface="Times New Roman" pitchFamily="18" charset="0"/>
                <a:cs typeface="Times New Roman" pitchFamily="18" charset="0"/>
              </a:rPr>
              <a:t>&gt;&lt;</a:t>
            </a:r>
            <a:r>
              <a:rPr lang="en-US" sz="2000" dirty="0" err="1">
                <a:latin typeface="Times New Roman" pitchFamily="18" charset="0"/>
                <a:cs typeface="Times New Roman" pitchFamily="18" charset="0"/>
              </a:rPr>
              <a:t>br</a:t>
            </a:r>
            <a:r>
              <a:rPr lang="en-US" sz="2000" dirty="0">
                <a:latin typeface="Times New Roman" pitchFamily="18" charset="0"/>
                <a:cs typeface="Times New Roman" pitchFamily="18" charset="0"/>
              </a:rPr>
              <a:t>&gt;</a:t>
            </a:r>
          </a:p>
          <a:p>
            <a:pPr lvl="1">
              <a:buFont typeface="Wingdings" pitchFamily="2" charset="2"/>
              <a:buNone/>
            </a:pPr>
            <a:r>
              <a:rPr lang="en-US" sz="2000" dirty="0">
                <a:latin typeface="Times New Roman" pitchFamily="18" charset="0"/>
                <a:cs typeface="Times New Roman" pitchFamily="18" charset="0"/>
              </a:rPr>
              <a:t>&lt;input type=submit value="Submit"&gt;</a:t>
            </a:r>
          </a:p>
          <a:p>
            <a:pPr lvl="1">
              <a:buFont typeface="Wingdings" pitchFamily="2" charset="2"/>
              <a:buNone/>
            </a:pPr>
            <a:r>
              <a:rPr lang="en-US" sz="2000" dirty="0">
                <a:latin typeface="Times New Roman" pitchFamily="18" charset="0"/>
                <a:cs typeface="Times New Roman" pitchFamily="18" charset="0"/>
              </a:rPr>
              <a:t>&lt;/form&gt;</a:t>
            </a:r>
          </a:p>
          <a:p>
            <a:pPr lvl="1">
              <a:buFont typeface="Wingdings" pitchFamily="2" charset="2"/>
              <a:buNone/>
            </a:pPr>
            <a:r>
              <a:rPr lang="en-US" sz="2000" dirty="0">
                <a:latin typeface="Times New Roman" pitchFamily="18" charset="0"/>
                <a:cs typeface="Times New Roman" pitchFamily="18" charset="0"/>
              </a:rPr>
              <a:t>&lt;/body&gt;</a:t>
            </a:r>
          </a:p>
          <a:p>
            <a:pPr lvl="1">
              <a:buFont typeface="Wingdings" pitchFamily="2" charset="2"/>
              <a:buNone/>
            </a:pPr>
            <a:r>
              <a:rPr lang="en-US" sz="2000" dirty="0">
                <a:latin typeface="Times New Roman" pitchFamily="18" charset="0"/>
                <a:cs typeface="Times New Roman" pitchFamily="18" charset="0"/>
              </a:rPr>
              <a:t>&lt;/html&gt;</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05096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ColorGetServlet.java</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28</a:t>
            </a:fld>
            <a:endParaRPr lang="en-US" altLang="en-US"/>
          </a:p>
        </p:txBody>
      </p:sp>
      <p:sp>
        <p:nvSpPr>
          <p:cNvPr id="4" name="Content Placeholder 3"/>
          <p:cNvSpPr>
            <a:spLocks noGrp="1"/>
          </p:cNvSpPr>
          <p:nvPr>
            <p:ph idx="1"/>
          </p:nvPr>
        </p:nvSpPr>
        <p:spPr>
          <a:xfrm>
            <a:off x="990600" y="1219200"/>
            <a:ext cx="10363200" cy="5032375"/>
          </a:xfrm>
        </p:spPr>
        <p:txBody>
          <a:bodyPr/>
          <a:lstStyle/>
          <a:p>
            <a:pPr lvl="1">
              <a:buFont typeface="Wingdings" pitchFamily="2" charset="2"/>
              <a:buNone/>
            </a:pPr>
            <a:r>
              <a:rPr lang="en-US" sz="2200" dirty="0"/>
              <a:t>import java.io.*;</a:t>
            </a:r>
          </a:p>
          <a:p>
            <a:pPr lvl="1">
              <a:buFont typeface="Wingdings" pitchFamily="2" charset="2"/>
              <a:buNone/>
            </a:pPr>
            <a:r>
              <a:rPr lang="en-US" sz="2200" dirty="0"/>
              <a:t>import </a:t>
            </a:r>
            <a:r>
              <a:rPr lang="en-US" sz="2200" dirty="0" err="1"/>
              <a:t>javax.servlet</a:t>
            </a:r>
            <a:r>
              <a:rPr lang="en-US" sz="2200" dirty="0"/>
              <a:t>.*;</a:t>
            </a:r>
          </a:p>
          <a:p>
            <a:pPr lvl="1">
              <a:buFont typeface="Wingdings" pitchFamily="2" charset="2"/>
              <a:buNone/>
            </a:pPr>
            <a:r>
              <a:rPr lang="en-US" sz="2200" dirty="0"/>
              <a:t>import </a:t>
            </a:r>
            <a:r>
              <a:rPr lang="en-US" sz="2200" dirty="0" err="1"/>
              <a:t>javax.servlet.http</a:t>
            </a:r>
            <a:r>
              <a:rPr lang="en-US" sz="2200" dirty="0"/>
              <a:t>.*;</a:t>
            </a:r>
          </a:p>
          <a:p>
            <a:pPr lvl="1">
              <a:buFont typeface="Wingdings" pitchFamily="2" charset="2"/>
              <a:buNone/>
            </a:pPr>
            <a:endParaRPr lang="en-US" sz="2200" dirty="0"/>
          </a:p>
          <a:p>
            <a:pPr lvl="1">
              <a:buFont typeface="Wingdings" pitchFamily="2" charset="2"/>
              <a:buNone/>
            </a:pPr>
            <a:r>
              <a:rPr lang="en-US" sz="2200" dirty="0"/>
              <a:t>public class </a:t>
            </a:r>
            <a:r>
              <a:rPr lang="en-US" sz="2200" b="1" dirty="0" err="1"/>
              <a:t>ColorGetServlet</a:t>
            </a:r>
            <a:r>
              <a:rPr lang="en-US" sz="2200" dirty="0"/>
              <a:t> extends </a:t>
            </a:r>
            <a:r>
              <a:rPr lang="en-US" sz="2200" b="1" dirty="0" err="1"/>
              <a:t>HttpServlet</a:t>
            </a:r>
            <a:endParaRPr lang="en-US" sz="2200" b="1" dirty="0"/>
          </a:p>
          <a:p>
            <a:pPr lvl="1">
              <a:buFont typeface="Wingdings" pitchFamily="2" charset="2"/>
              <a:buNone/>
            </a:pPr>
            <a:r>
              <a:rPr lang="en-US" sz="2200" b="1" dirty="0"/>
              <a:t> {</a:t>
            </a:r>
          </a:p>
          <a:p>
            <a:pPr lvl="1">
              <a:buFont typeface="Wingdings" pitchFamily="2" charset="2"/>
              <a:buNone/>
            </a:pPr>
            <a:r>
              <a:rPr lang="en-US" sz="2200" dirty="0"/>
              <a:t>public void </a:t>
            </a:r>
            <a:r>
              <a:rPr lang="en-US" sz="2200" b="1" dirty="0" err="1"/>
              <a:t>doGet</a:t>
            </a:r>
            <a:r>
              <a:rPr lang="en-US" sz="2200" dirty="0"/>
              <a:t>(</a:t>
            </a:r>
            <a:r>
              <a:rPr lang="en-US" sz="2200" dirty="0" err="1"/>
              <a:t>HttpServletRequest</a:t>
            </a:r>
            <a:r>
              <a:rPr lang="en-US" sz="2200" dirty="0"/>
              <a:t> </a:t>
            </a:r>
            <a:r>
              <a:rPr lang="en-US" sz="2200" dirty="0" err="1"/>
              <a:t>request,HttpServletResponse</a:t>
            </a:r>
            <a:r>
              <a:rPr lang="en-US" sz="2200" dirty="0"/>
              <a:t> response) throws </a:t>
            </a:r>
            <a:r>
              <a:rPr lang="en-US" sz="2200" dirty="0" err="1"/>
              <a:t>ServletException</a:t>
            </a:r>
            <a:r>
              <a:rPr lang="en-US" sz="2200" dirty="0"/>
              <a:t>, </a:t>
            </a:r>
            <a:r>
              <a:rPr lang="en-US" sz="2200" dirty="0" err="1"/>
              <a:t>IOException</a:t>
            </a:r>
            <a:r>
              <a:rPr lang="en-US" sz="2200" dirty="0"/>
              <a:t>  {</a:t>
            </a:r>
          </a:p>
          <a:p>
            <a:pPr lvl="1">
              <a:buFont typeface="Wingdings" pitchFamily="2" charset="2"/>
              <a:buNone/>
            </a:pPr>
            <a:r>
              <a:rPr lang="en-US" sz="2200" dirty="0"/>
              <a:t>String color = </a:t>
            </a:r>
            <a:r>
              <a:rPr lang="en-US" sz="2200" dirty="0" err="1"/>
              <a:t>request.</a:t>
            </a:r>
            <a:r>
              <a:rPr lang="en-US" sz="2200" b="1" dirty="0" err="1"/>
              <a:t>getParameter</a:t>
            </a:r>
            <a:r>
              <a:rPr lang="en-US" sz="2200" dirty="0"/>
              <a:t>("color");</a:t>
            </a:r>
          </a:p>
          <a:p>
            <a:pPr lvl="1">
              <a:buFont typeface="Wingdings" pitchFamily="2" charset="2"/>
              <a:buNone/>
            </a:pPr>
            <a:r>
              <a:rPr lang="en-US" sz="2200" dirty="0" err="1"/>
              <a:t>response.</a:t>
            </a:r>
            <a:r>
              <a:rPr lang="en-US" sz="2200" b="1" dirty="0" err="1"/>
              <a:t>setContentType</a:t>
            </a:r>
            <a:r>
              <a:rPr lang="en-US" sz="2200" dirty="0"/>
              <a:t>("text/html");</a:t>
            </a:r>
          </a:p>
          <a:p>
            <a:pPr lvl="1">
              <a:buFont typeface="Wingdings" pitchFamily="2" charset="2"/>
              <a:buNone/>
            </a:pPr>
            <a:r>
              <a:rPr lang="en-US" sz="2200" dirty="0" err="1"/>
              <a:t>PrintWriter</a:t>
            </a:r>
            <a:r>
              <a:rPr lang="en-US" sz="2200" dirty="0"/>
              <a:t> pw = </a:t>
            </a:r>
            <a:r>
              <a:rPr lang="en-US" sz="2200" b="1" dirty="0" err="1"/>
              <a:t>response.getWriter</a:t>
            </a:r>
            <a:r>
              <a:rPr lang="en-US" sz="2200" b="1" dirty="0"/>
              <a:t>();</a:t>
            </a:r>
          </a:p>
          <a:p>
            <a:pPr lvl="1">
              <a:buFont typeface="Wingdings" pitchFamily="2" charset="2"/>
              <a:buNone/>
            </a:pPr>
            <a:r>
              <a:rPr lang="en-US" sz="2200" dirty="0" err="1"/>
              <a:t>pw.println</a:t>
            </a:r>
            <a:r>
              <a:rPr lang="en-US" sz="2200" dirty="0"/>
              <a:t>("&lt;B&gt;The selected color is: ");</a:t>
            </a:r>
          </a:p>
          <a:p>
            <a:pPr lvl="1">
              <a:buFont typeface="Wingdings" pitchFamily="2" charset="2"/>
              <a:buNone/>
            </a:pPr>
            <a:r>
              <a:rPr lang="en-US" sz="2200" dirty="0" err="1"/>
              <a:t>pw.println</a:t>
            </a:r>
            <a:r>
              <a:rPr lang="en-US" sz="2200" dirty="0"/>
              <a:t>(color);</a:t>
            </a:r>
          </a:p>
          <a:p>
            <a:pPr lvl="1">
              <a:buFont typeface="Wingdings" pitchFamily="2" charset="2"/>
              <a:buNone/>
            </a:pPr>
            <a:r>
              <a:rPr lang="en-US" sz="2200" dirty="0" err="1"/>
              <a:t>pw.close</a:t>
            </a:r>
            <a:r>
              <a:rPr lang="en-US" sz="2200" dirty="0"/>
              <a:t>(); } }</a:t>
            </a:r>
          </a:p>
          <a:p>
            <a:endParaRPr lang="en-US" dirty="0"/>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334123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Handling HTTP </a:t>
            </a:r>
            <a:r>
              <a:rPr lang="en-US" b="1" dirty="0" smtClean="0">
                <a:latin typeface="Times New Roman" pitchFamily="18" charset="0"/>
                <a:cs typeface="Times New Roman" pitchFamily="18" charset="0"/>
              </a:rPr>
              <a:t>POST </a:t>
            </a:r>
            <a:r>
              <a:rPr lang="en-US" b="1" dirty="0">
                <a:latin typeface="Times New Roman" pitchFamily="18" charset="0"/>
                <a:cs typeface="Times New Roman" pitchFamily="18" charset="0"/>
              </a:rPr>
              <a:t>Requests</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29</a:t>
            </a:fld>
            <a:endParaRPr lang="en-US" altLang="en-US"/>
          </a:p>
        </p:txBody>
      </p:sp>
      <p:sp>
        <p:nvSpPr>
          <p:cNvPr id="4" name="Content Placeholder 3"/>
          <p:cNvSpPr>
            <a:spLocks noGrp="1"/>
          </p:cNvSpPr>
          <p:nvPr>
            <p:ph idx="1"/>
          </p:nvPr>
        </p:nvSpPr>
        <p:spPr>
          <a:xfrm>
            <a:off x="990600" y="1219200"/>
            <a:ext cx="10363200" cy="5032375"/>
          </a:xfrm>
        </p:spPr>
        <p:txBody>
          <a:bodyPr/>
          <a:lstStyle/>
          <a:p>
            <a:r>
              <a:rPr lang="en-US" sz="2400" dirty="0" smtClean="0">
                <a:latin typeface="Times New Roman" pitchFamily="18" charset="0"/>
                <a:cs typeface="Times New Roman" pitchFamily="18" charset="0"/>
              </a:rPr>
              <a:t>The </a:t>
            </a:r>
            <a:r>
              <a:rPr lang="en-US" sz="2400" dirty="0" err="1" smtClean="0">
                <a:latin typeface="Times New Roman" pitchFamily="18" charset="0"/>
                <a:cs typeface="Times New Roman" pitchFamily="18" charset="0"/>
              </a:rPr>
              <a:t>DoPost</a:t>
            </a:r>
            <a:r>
              <a:rPr lang="en-US" sz="2400" dirty="0" smtClean="0">
                <a:latin typeface="Times New Roman" pitchFamily="18" charset="0"/>
                <a:cs typeface="Times New Roman" pitchFamily="18" charset="0"/>
              </a:rPr>
              <a:t>() method is used to handling POST request.</a:t>
            </a:r>
          </a:p>
          <a:p>
            <a:r>
              <a:rPr lang="en-GB" sz="2400" dirty="0">
                <a:latin typeface="Times New Roman" pitchFamily="18" charset="0"/>
                <a:cs typeface="Times New Roman" pitchFamily="18" charset="0"/>
              </a:rPr>
              <a:t>POST is used to send data to a server to create/update a resource</a:t>
            </a:r>
            <a:r>
              <a:rPr lang="en-GB" sz="2400" dirty="0" smtClean="0">
                <a:latin typeface="Times New Roman" pitchFamily="18" charset="0"/>
                <a:cs typeface="Times New Roman" pitchFamily="18" charset="0"/>
              </a:rPr>
              <a:t>.</a:t>
            </a:r>
          </a:p>
          <a:p>
            <a:r>
              <a:rPr lang="en-GB" sz="2400" dirty="0"/>
              <a:t>POST requests are never cached</a:t>
            </a:r>
          </a:p>
          <a:p>
            <a:r>
              <a:rPr lang="en-GB" sz="2400" dirty="0"/>
              <a:t>POST requests do not remain in the browser history</a:t>
            </a:r>
          </a:p>
          <a:p>
            <a:r>
              <a:rPr lang="en-GB" sz="2400" dirty="0"/>
              <a:t>POST requests cannot be bookmarked</a:t>
            </a:r>
          </a:p>
          <a:p>
            <a:r>
              <a:rPr lang="en-GB" sz="2400" dirty="0"/>
              <a:t>POST requests have no restrictions on data length</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05261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Handling HTTP </a:t>
            </a:r>
            <a:r>
              <a:rPr lang="en-US" b="1" dirty="0" smtClean="0">
                <a:latin typeface="Times New Roman" pitchFamily="18" charset="0"/>
                <a:cs typeface="Times New Roman" pitchFamily="18" charset="0"/>
              </a:rPr>
              <a:t>POST </a:t>
            </a:r>
            <a:r>
              <a:rPr lang="en-US" b="1" dirty="0">
                <a:latin typeface="Times New Roman" pitchFamily="18" charset="0"/>
                <a:cs typeface="Times New Roman" pitchFamily="18" charset="0"/>
              </a:rPr>
              <a:t>Requests</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30</a:t>
            </a:fld>
            <a:endParaRPr lang="en-US" altLang="en-US"/>
          </a:p>
        </p:txBody>
      </p:sp>
      <p:sp>
        <p:nvSpPr>
          <p:cNvPr id="4" name="Content Placeholder 3"/>
          <p:cNvSpPr>
            <a:spLocks noGrp="1"/>
          </p:cNvSpPr>
          <p:nvPr>
            <p:ph idx="1"/>
          </p:nvPr>
        </p:nvSpPr>
        <p:spPr>
          <a:xfrm>
            <a:off x="990600" y="1219200"/>
            <a:ext cx="10363200" cy="5032375"/>
          </a:xfrm>
        </p:spPr>
        <p:txBody>
          <a:bodyPr/>
          <a:lstStyle/>
          <a:p>
            <a:pPr lvl="1">
              <a:buFont typeface="Wingdings" pitchFamily="2" charset="2"/>
              <a:buNone/>
            </a:pPr>
            <a:r>
              <a:rPr lang="en-US" dirty="0">
                <a:latin typeface="Times New Roman" pitchFamily="18" charset="0"/>
                <a:cs typeface="Times New Roman" pitchFamily="18" charset="0"/>
              </a:rPr>
              <a:t>&lt;html&gt;</a:t>
            </a:r>
          </a:p>
          <a:p>
            <a:pPr lvl="1">
              <a:buFont typeface="Wingdings" pitchFamily="2" charset="2"/>
              <a:buNone/>
            </a:pPr>
            <a:r>
              <a:rPr lang="en-US" dirty="0">
                <a:latin typeface="Times New Roman" pitchFamily="18" charset="0"/>
                <a:cs typeface="Times New Roman" pitchFamily="18" charset="0"/>
              </a:rPr>
              <a:t>&lt;body&gt;</a:t>
            </a:r>
          </a:p>
          <a:p>
            <a:pPr lvl="1">
              <a:buFont typeface="Wingdings" pitchFamily="2" charset="2"/>
              <a:buNone/>
            </a:pPr>
            <a:r>
              <a:rPr lang="en-US" dirty="0">
                <a:latin typeface="Times New Roman" pitchFamily="18" charset="0"/>
                <a:cs typeface="Times New Roman" pitchFamily="18" charset="0"/>
              </a:rPr>
              <a:t>&lt;center&gt;</a:t>
            </a:r>
          </a:p>
          <a:p>
            <a:pPr lvl="1">
              <a:buFont typeface="Wingdings" pitchFamily="2" charset="2"/>
              <a:buNone/>
            </a:pPr>
            <a:r>
              <a:rPr lang="en-US" dirty="0">
                <a:latin typeface="Times New Roman" pitchFamily="18" charset="0"/>
                <a:cs typeface="Times New Roman" pitchFamily="18" charset="0"/>
              </a:rPr>
              <a:t>&lt;form name="Form1“ method="post"</a:t>
            </a:r>
          </a:p>
          <a:p>
            <a:pPr lvl="1">
              <a:buFont typeface="Wingdings" pitchFamily="2" charset="2"/>
              <a:buNone/>
            </a:pPr>
            <a:r>
              <a:rPr lang="en-US" dirty="0">
                <a:latin typeface="Times New Roman" pitchFamily="18" charset="0"/>
                <a:cs typeface="Times New Roman" pitchFamily="18" charset="0"/>
              </a:rPr>
              <a:t>action="http://localhost:8080/servlets-examples/servlet/</a:t>
            </a:r>
            <a:r>
              <a:rPr lang="en-US" dirty="0" err="1">
                <a:latin typeface="Times New Roman" pitchFamily="18" charset="0"/>
                <a:cs typeface="Times New Roman" pitchFamily="18" charset="0"/>
              </a:rPr>
              <a:t>AddCookieServlet</a:t>
            </a:r>
            <a:r>
              <a:rPr lang="en-US" dirty="0">
                <a:latin typeface="Times New Roman" pitchFamily="18" charset="0"/>
                <a:cs typeface="Times New Roman" pitchFamily="18" charset="0"/>
              </a:rPr>
              <a:t>"&gt;</a:t>
            </a:r>
          </a:p>
          <a:p>
            <a:pPr lvl="1">
              <a:buFont typeface="Wingdings" pitchFamily="2" charset="2"/>
              <a:buNone/>
            </a:pPr>
            <a:r>
              <a:rPr lang="en-US" b="1" dirty="0">
                <a:latin typeface="Times New Roman" pitchFamily="18" charset="0"/>
                <a:cs typeface="Times New Roman" pitchFamily="18" charset="0"/>
              </a:rPr>
              <a:t>&lt;B&gt;Enter a value for </a:t>
            </a:r>
            <a:r>
              <a:rPr lang="en-US" b="1" dirty="0" err="1">
                <a:latin typeface="Times New Roman" pitchFamily="18" charset="0"/>
                <a:cs typeface="Times New Roman" pitchFamily="18" charset="0"/>
              </a:rPr>
              <a:t>MyCookie</a:t>
            </a:r>
            <a:r>
              <a:rPr lang="en-US" b="1" dirty="0">
                <a:latin typeface="Times New Roman" pitchFamily="18" charset="0"/>
                <a:cs typeface="Times New Roman" pitchFamily="18" charset="0"/>
              </a:rPr>
              <a:t>:&lt;/B&gt;</a:t>
            </a:r>
          </a:p>
          <a:p>
            <a:pPr lvl="1">
              <a:buFont typeface="Wingdings" pitchFamily="2" charset="2"/>
              <a:buNone/>
            </a:pPr>
            <a:r>
              <a:rPr lang="en-US" dirty="0">
                <a:latin typeface="Times New Roman" pitchFamily="18" charset="0"/>
                <a:cs typeface="Times New Roman" pitchFamily="18" charset="0"/>
              </a:rPr>
              <a:t>&lt;input type=</a:t>
            </a:r>
            <a:r>
              <a:rPr lang="en-US" b="1" dirty="0">
                <a:latin typeface="Times New Roman" pitchFamily="18" charset="0"/>
                <a:cs typeface="Times New Roman" pitchFamily="18" charset="0"/>
              </a:rPr>
              <a:t>textbox</a:t>
            </a:r>
            <a:r>
              <a:rPr lang="en-US" dirty="0">
                <a:latin typeface="Times New Roman" pitchFamily="18" charset="0"/>
                <a:cs typeface="Times New Roman" pitchFamily="18" charset="0"/>
              </a:rPr>
              <a:t> name</a:t>
            </a:r>
            <a:r>
              <a:rPr lang="en-US" b="1" dirty="0">
                <a:latin typeface="Times New Roman" pitchFamily="18" charset="0"/>
                <a:cs typeface="Times New Roman" pitchFamily="18" charset="0"/>
              </a:rPr>
              <a:t>="data" </a:t>
            </a:r>
            <a:r>
              <a:rPr lang="en-US" dirty="0">
                <a:latin typeface="Times New Roman" pitchFamily="18" charset="0"/>
                <a:cs typeface="Times New Roman" pitchFamily="18" charset="0"/>
              </a:rPr>
              <a:t>size=25 value=“ "&gt;</a:t>
            </a:r>
          </a:p>
          <a:p>
            <a:pPr lvl="1">
              <a:buFont typeface="Wingdings" pitchFamily="2" charset="2"/>
              <a:buNone/>
            </a:pPr>
            <a:r>
              <a:rPr lang="en-US" dirty="0">
                <a:latin typeface="Times New Roman" pitchFamily="18" charset="0"/>
                <a:cs typeface="Times New Roman" pitchFamily="18" charset="0"/>
              </a:rPr>
              <a:t>&lt;input type=submit value</a:t>
            </a:r>
            <a:r>
              <a:rPr lang="en-US" b="1" dirty="0">
                <a:latin typeface="Times New Roman" pitchFamily="18" charset="0"/>
                <a:cs typeface="Times New Roman" pitchFamily="18" charset="0"/>
              </a:rPr>
              <a:t>="Submit"</a:t>
            </a:r>
            <a:r>
              <a:rPr lang="en-US" dirty="0">
                <a:latin typeface="Times New Roman" pitchFamily="18" charset="0"/>
                <a:cs typeface="Times New Roman" pitchFamily="18" charset="0"/>
              </a:rPr>
              <a:t>&gt;</a:t>
            </a:r>
          </a:p>
          <a:p>
            <a:pPr lvl="1">
              <a:buFont typeface="Wingdings" pitchFamily="2" charset="2"/>
              <a:buNone/>
            </a:pPr>
            <a:r>
              <a:rPr lang="en-US" dirty="0">
                <a:latin typeface="Times New Roman" pitchFamily="18" charset="0"/>
                <a:cs typeface="Times New Roman" pitchFamily="18" charset="0"/>
              </a:rPr>
              <a:t>&lt;/form&gt;&lt;/body&gt; &lt;/html&gt;</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957011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Handling HTTP </a:t>
            </a:r>
            <a:r>
              <a:rPr lang="en-US" b="1" dirty="0" smtClean="0">
                <a:latin typeface="Times New Roman" pitchFamily="18" charset="0"/>
                <a:cs typeface="Times New Roman" pitchFamily="18" charset="0"/>
              </a:rPr>
              <a:t>POST </a:t>
            </a:r>
            <a:r>
              <a:rPr lang="en-US" b="1" dirty="0">
                <a:latin typeface="Times New Roman" pitchFamily="18" charset="0"/>
                <a:cs typeface="Times New Roman" pitchFamily="18" charset="0"/>
              </a:rPr>
              <a:t>Requests</a:t>
            </a:r>
            <a:endParaRPr lang="en-IN" dirty="0"/>
          </a:p>
        </p:txBody>
      </p:sp>
      <p:sp>
        <p:nvSpPr>
          <p:cNvPr id="5" name="Slide Number Placeholder 4"/>
          <p:cNvSpPr>
            <a:spLocks noGrp="1"/>
          </p:cNvSpPr>
          <p:nvPr>
            <p:ph type="sldNum" sz="quarter" idx="12"/>
          </p:nvPr>
        </p:nvSpPr>
        <p:spPr/>
        <p:txBody>
          <a:bodyPr/>
          <a:lstStyle/>
          <a:p>
            <a:pPr>
              <a:defRPr/>
            </a:pPr>
            <a:fld id="{A01CA5F2-CD08-4EF5-BAD9-872B7BB27165}" type="slidenum">
              <a:rPr lang="en-US" altLang="en-US" smtClean="0"/>
              <a:pPr>
                <a:defRPr/>
              </a:pPr>
              <a:t>31</a:t>
            </a:fld>
            <a:endParaRPr lang="en-US" altLang="en-US"/>
          </a:p>
        </p:txBody>
      </p:sp>
      <p:sp>
        <p:nvSpPr>
          <p:cNvPr id="4" name="Content Placeholder 3"/>
          <p:cNvSpPr>
            <a:spLocks noGrp="1"/>
          </p:cNvSpPr>
          <p:nvPr>
            <p:ph idx="1"/>
          </p:nvPr>
        </p:nvSpPr>
        <p:spPr>
          <a:xfrm>
            <a:off x="990600" y="1219200"/>
            <a:ext cx="10363200" cy="5032375"/>
          </a:xfrm>
        </p:spPr>
        <p:txBody>
          <a:bodyPr/>
          <a:lstStyle/>
          <a:p>
            <a:pPr lvl="1">
              <a:buFont typeface="Wingdings" pitchFamily="2" charset="2"/>
              <a:buNone/>
            </a:pPr>
            <a:r>
              <a:rPr lang="en-US" sz="1600" dirty="0">
                <a:latin typeface="Times New Roman" pitchFamily="18" charset="0"/>
                <a:cs typeface="Times New Roman" pitchFamily="18" charset="0"/>
              </a:rPr>
              <a:t>import java.io.*;</a:t>
            </a:r>
          </a:p>
          <a:p>
            <a:pPr lvl="1">
              <a:buFont typeface="Wingdings" pitchFamily="2" charset="2"/>
              <a:buNone/>
            </a:pPr>
            <a:r>
              <a:rPr lang="en-US" sz="1600" dirty="0">
                <a:latin typeface="Times New Roman" pitchFamily="18" charset="0"/>
                <a:cs typeface="Times New Roman" pitchFamily="18" charset="0"/>
              </a:rPr>
              <a:t>import </a:t>
            </a:r>
            <a:r>
              <a:rPr lang="en-US" sz="1600" dirty="0" err="1">
                <a:latin typeface="Times New Roman" pitchFamily="18" charset="0"/>
                <a:cs typeface="Times New Roman" pitchFamily="18" charset="0"/>
              </a:rPr>
              <a:t>javax.servlet</a:t>
            </a:r>
            <a:r>
              <a:rPr lang="en-US" sz="1600" dirty="0">
                <a:latin typeface="Times New Roman" pitchFamily="18" charset="0"/>
                <a:cs typeface="Times New Roman" pitchFamily="18" charset="0"/>
              </a:rPr>
              <a:t>.*;</a:t>
            </a:r>
          </a:p>
          <a:p>
            <a:pPr lvl="1">
              <a:buFont typeface="Wingdings" pitchFamily="2" charset="2"/>
              <a:buNone/>
            </a:pPr>
            <a:r>
              <a:rPr lang="en-US" sz="1600" dirty="0">
                <a:latin typeface="Times New Roman" pitchFamily="18" charset="0"/>
                <a:cs typeface="Times New Roman" pitchFamily="18" charset="0"/>
              </a:rPr>
              <a:t>import </a:t>
            </a:r>
            <a:r>
              <a:rPr lang="en-US" sz="1600" dirty="0" err="1">
                <a:latin typeface="Times New Roman" pitchFamily="18" charset="0"/>
                <a:cs typeface="Times New Roman" pitchFamily="18" charset="0"/>
              </a:rPr>
              <a:t>javax.servlet.http</a:t>
            </a:r>
            <a:r>
              <a:rPr lang="en-US" sz="1600" dirty="0">
                <a:latin typeface="Times New Roman" pitchFamily="18" charset="0"/>
                <a:cs typeface="Times New Roman" pitchFamily="18" charset="0"/>
              </a:rPr>
              <a:t>.*;</a:t>
            </a:r>
          </a:p>
          <a:p>
            <a:pPr lvl="1">
              <a:buFont typeface="Wingdings" pitchFamily="2" charset="2"/>
              <a:buNone/>
            </a:pPr>
            <a:r>
              <a:rPr lang="en-US" sz="1600" dirty="0">
                <a:latin typeface="Times New Roman" pitchFamily="18" charset="0"/>
                <a:cs typeface="Times New Roman" pitchFamily="18" charset="0"/>
              </a:rPr>
              <a:t>public class </a:t>
            </a:r>
            <a:r>
              <a:rPr lang="en-US" sz="1600" dirty="0" err="1">
                <a:latin typeface="Times New Roman" pitchFamily="18" charset="0"/>
                <a:cs typeface="Times New Roman" pitchFamily="18" charset="0"/>
              </a:rPr>
              <a:t>AddCookieServlet</a:t>
            </a:r>
            <a:r>
              <a:rPr lang="en-US" sz="1600" dirty="0">
                <a:latin typeface="Times New Roman" pitchFamily="18" charset="0"/>
                <a:cs typeface="Times New Roman" pitchFamily="18" charset="0"/>
              </a:rPr>
              <a:t> extends </a:t>
            </a:r>
            <a:r>
              <a:rPr lang="en-US" sz="1600" dirty="0" err="1">
                <a:latin typeface="Times New Roman" pitchFamily="18" charset="0"/>
                <a:cs typeface="Times New Roman" pitchFamily="18" charset="0"/>
              </a:rPr>
              <a:t>HttpServlet</a:t>
            </a:r>
            <a:r>
              <a:rPr lang="en-US" sz="1600" dirty="0">
                <a:latin typeface="Times New Roman" pitchFamily="18" charset="0"/>
                <a:cs typeface="Times New Roman" pitchFamily="18" charset="0"/>
              </a:rPr>
              <a:t> {</a:t>
            </a:r>
          </a:p>
          <a:p>
            <a:pPr lvl="1">
              <a:buFont typeface="Wingdings" pitchFamily="2" charset="2"/>
              <a:buNone/>
            </a:pPr>
            <a:r>
              <a:rPr lang="en-US" sz="1600" dirty="0">
                <a:latin typeface="Times New Roman" pitchFamily="18" charset="0"/>
                <a:cs typeface="Times New Roman" pitchFamily="18" charset="0"/>
              </a:rPr>
              <a:t>public void </a:t>
            </a:r>
            <a:r>
              <a:rPr lang="en-US" sz="1600" dirty="0" err="1">
                <a:latin typeface="Times New Roman" pitchFamily="18" charset="0"/>
                <a:cs typeface="Times New Roman" pitchFamily="18" charset="0"/>
              </a:rPr>
              <a:t>doPost</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HttpServletRequest</a:t>
            </a:r>
            <a:r>
              <a:rPr lang="en-US" sz="1600" dirty="0">
                <a:latin typeface="Times New Roman" pitchFamily="18" charset="0"/>
                <a:cs typeface="Times New Roman" pitchFamily="18" charset="0"/>
              </a:rPr>
              <a:t> request, </a:t>
            </a:r>
            <a:r>
              <a:rPr lang="en-US" sz="1600" dirty="0" err="1">
                <a:latin typeface="Times New Roman" pitchFamily="18" charset="0"/>
                <a:cs typeface="Times New Roman" pitchFamily="18" charset="0"/>
              </a:rPr>
              <a:t>HttpServletResponse</a:t>
            </a:r>
            <a:r>
              <a:rPr lang="en-US" sz="1600" dirty="0">
                <a:latin typeface="Times New Roman" pitchFamily="18" charset="0"/>
                <a:cs typeface="Times New Roman" pitchFamily="18" charset="0"/>
              </a:rPr>
              <a:t> response)</a:t>
            </a:r>
          </a:p>
          <a:p>
            <a:pPr lvl="1">
              <a:buFont typeface="Wingdings" pitchFamily="2" charset="2"/>
              <a:buNone/>
            </a:pPr>
            <a:r>
              <a:rPr lang="en-US" sz="1600" dirty="0">
                <a:latin typeface="Times New Roman" pitchFamily="18" charset="0"/>
                <a:cs typeface="Times New Roman" pitchFamily="18" charset="0"/>
              </a:rPr>
              <a:t>throws </a:t>
            </a:r>
            <a:r>
              <a:rPr lang="en-US" sz="1600" dirty="0" err="1">
                <a:latin typeface="Times New Roman" pitchFamily="18" charset="0"/>
                <a:cs typeface="Times New Roman" pitchFamily="18" charset="0"/>
              </a:rPr>
              <a:t>ServletException</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IOException</a:t>
            </a:r>
            <a:r>
              <a:rPr lang="en-US" sz="1600" dirty="0">
                <a:latin typeface="Times New Roman" pitchFamily="18" charset="0"/>
                <a:cs typeface="Times New Roman" pitchFamily="18" charset="0"/>
              </a:rPr>
              <a:t> {</a:t>
            </a:r>
          </a:p>
          <a:p>
            <a:pPr lvl="1">
              <a:buFont typeface="Wingdings" pitchFamily="2" charset="2"/>
              <a:buNone/>
            </a:pPr>
            <a:r>
              <a:rPr lang="en-US" sz="1600" b="1" dirty="0">
                <a:solidFill>
                  <a:srgbClr val="C00000"/>
                </a:solidFill>
                <a:latin typeface="Times New Roman" pitchFamily="18" charset="0"/>
                <a:cs typeface="Times New Roman" pitchFamily="18" charset="0"/>
              </a:rPr>
              <a:t>// Get parameter from HTTP request.</a:t>
            </a:r>
          </a:p>
          <a:p>
            <a:pPr lvl="1">
              <a:buFont typeface="Wingdings" pitchFamily="2" charset="2"/>
              <a:buNone/>
            </a:pPr>
            <a:r>
              <a:rPr lang="en-US" sz="1600" dirty="0">
                <a:latin typeface="Times New Roman" pitchFamily="18" charset="0"/>
                <a:cs typeface="Times New Roman" pitchFamily="18" charset="0"/>
              </a:rPr>
              <a:t>String data = </a:t>
            </a:r>
            <a:r>
              <a:rPr lang="en-US" sz="1600" dirty="0" err="1">
                <a:latin typeface="Times New Roman" pitchFamily="18" charset="0"/>
                <a:cs typeface="Times New Roman" pitchFamily="18" charset="0"/>
              </a:rPr>
              <a:t>request.getParameter</a:t>
            </a:r>
            <a:r>
              <a:rPr lang="en-US" sz="1600" dirty="0">
                <a:latin typeface="Times New Roman" pitchFamily="18" charset="0"/>
                <a:cs typeface="Times New Roman" pitchFamily="18" charset="0"/>
              </a:rPr>
              <a:t>("data");</a:t>
            </a:r>
          </a:p>
          <a:p>
            <a:pPr lvl="1">
              <a:buFont typeface="Wingdings" pitchFamily="2" charset="2"/>
              <a:buNone/>
            </a:pPr>
            <a:r>
              <a:rPr lang="en-US" sz="1600" b="1" dirty="0">
                <a:solidFill>
                  <a:srgbClr val="C00000"/>
                </a:solidFill>
                <a:latin typeface="Times New Roman" pitchFamily="18" charset="0"/>
                <a:cs typeface="Times New Roman" pitchFamily="18" charset="0"/>
              </a:rPr>
              <a:t>// Create cookie.</a:t>
            </a:r>
          </a:p>
          <a:p>
            <a:pPr lvl="1">
              <a:buFont typeface="Wingdings" pitchFamily="2" charset="2"/>
              <a:buNone/>
            </a:pPr>
            <a:r>
              <a:rPr lang="en-US" sz="1600" dirty="0">
                <a:latin typeface="Times New Roman" pitchFamily="18" charset="0"/>
                <a:cs typeface="Times New Roman" pitchFamily="18" charset="0"/>
              </a:rPr>
              <a:t>Cookie </a:t>
            </a:r>
            <a:r>
              <a:rPr lang="en-US" sz="1600" dirty="0" err="1">
                <a:latin typeface="Times New Roman" pitchFamily="18" charset="0"/>
                <a:cs typeface="Times New Roman" pitchFamily="18" charset="0"/>
              </a:rPr>
              <a:t>cookie</a:t>
            </a:r>
            <a:r>
              <a:rPr lang="en-US" sz="1600" dirty="0">
                <a:latin typeface="Times New Roman" pitchFamily="18" charset="0"/>
                <a:cs typeface="Times New Roman" pitchFamily="18" charset="0"/>
              </a:rPr>
              <a:t> = new Cookie("</a:t>
            </a:r>
            <a:r>
              <a:rPr lang="en-US" sz="1600" dirty="0" err="1">
                <a:latin typeface="Times New Roman" pitchFamily="18" charset="0"/>
                <a:cs typeface="Times New Roman" pitchFamily="18" charset="0"/>
              </a:rPr>
              <a:t>MyCookie</a:t>
            </a:r>
            <a:r>
              <a:rPr lang="en-US" sz="1600" dirty="0">
                <a:latin typeface="Times New Roman" pitchFamily="18" charset="0"/>
                <a:cs typeface="Times New Roman" pitchFamily="18" charset="0"/>
              </a:rPr>
              <a:t>", data);</a:t>
            </a:r>
          </a:p>
          <a:p>
            <a:pPr lvl="1">
              <a:buFont typeface="Wingdings" pitchFamily="2" charset="2"/>
              <a:buNone/>
            </a:pPr>
            <a:r>
              <a:rPr lang="en-US" sz="1600" b="1" dirty="0">
                <a:solidFill>
                  <a:srgbClr val="C00000"/>
                </a:solidFill>
                <a:latin typeface="Times New Roman" pitchFamily="18" charset="0"/>
                <a:cs typeface="Times New Roman" pitchFamily="18" charset="0"/>
              </a:rPr>
              <a:t>// Add cookie to HTTP response</a:t>
            </a:r>
            <a:r>
              <a:rPr lang="en-US" sz="1600" dirty="0">
                <a:latin typeface="Times New Roman" pitchFamily="18" charset="0"/>
                <a:cs typeface="Times New Roman" pitchFamily="18" charset="0"/>
              </a:rPr>
              <a:t>.</a:t>
            </a:r>
          </a:p>
          <a:p>
            <a:pPr lvl="1">
              <a:buFont typeface="Wingdings" pitchFamily="2" charset="2"/>
              <a:buNone/>
            </a:pPr>
            <a:r>
              <a:rPr lang="en-US" sz="1600" dirty="0" err="1">
                <a:latin typeface="Times New Roman" pitchFamily="18" charset="0"/>
                <a:cs typeface="Times New Roman" pitchFamily="18" charset="0"/>
              </a:rPr>
              <a:t>response.addCookie</a:t>
            </a:r>
            <a:r>
              <a:rPr lang="en-US" sz="1600" dirty="0">
                <a:latin typeface="Times New Roman" pitchFamily="18" charset="0"/>
                <a:cs typeface="Times New Roman" pitchFamily="18" charset="0"/>
              </a:rPr>
              <a:t>(cookie);</a:t>
            </a:r>
          </a:p>
          <a:p>
            <a:pPr lvl="1">
              <a:buFont typeface="Wingdings" pitchFamily="2" charset="2"/>
              <a:buNone/>
            </a:pPr>
            <a:r>
              <a:rPr lang="en-US" sz="1600" b="1" dirty="0">
                <a:solidFill>
                  <a:srgbClr val="C00000"/>
                </a:solidFill>
                <a:latin typeface="Times New Roman" pitchFamily="18" charset="0"/>
                <a:cs typeface="Times New Roman" pitchFamily="18" charset="0"/>
              </a:rPr>
              <a:t>// Write output to browser.</a:t>
            </a:r>
          </a:p>
          <a:p>
            <a:pPr lvl="1">
              <a:buFont typeface="Wingdings" pitchFamily="2" charset="2"/>
              <a:buNone/>
            </a:pPr>
            <a:r>
              <a:rPr lang="en-US" sz="1600" dirty="0" err="1">
                <a:latin typeface="Times New Roman" pitchFamily="18" charset="0"/>
                <a:cs typeface="Times New Roman" pitchFamily="18" charset="0"/>
              </a:rPr>
              <a:t>response.setContentType</a:t>
            </a:r>
            <a:r>
              <a:rPr lang="en-US" sz="1600" dirty="0">
                <a:latin typeface="Times New Roman" pitchFamily="18" charset="0"/>
                <a:cs typeface="Times New Roman" pitchFamily="18" charset="0"/>
              </a:rPr>
              <a:t>("text/html");</a:t>
            </a:r>
          </a:p>
          <a:p>
            <a:pPr lvl="1">
              <a:buFont typeface="Wingdings" pitchFamily="2" charset="2"/>
              <a:buNone/>
            </a:pPr>
            <a:r>
              <a:rPr lang="en-US" sz="1600" dirty="0" err="1">
                <a:latin typeface="Times New Roman" pitchFamily="18" charset="0"/>
                <a:cs typeface="Times New Roman" pitchFamily="18" charset="0"/>
              </a:rPr>
              <a:t>PrintWriter</a:t>
            </a:r>
            <a:r>
              <a:rPr lang="en-US" sz="1600" dirty="0">
                <a:latin typeface="Times New Roman" pitchFamily="18" charset="0"/>
                <a:cs typeface="Times New Roman" pitchFamily="18" charset="0"/>
              </a:rPr>
              <a:t> pw = </a:t>
            </a:r>
            <a:r>
              <a:rPr lang="en-US" sz="1600" dirty="0" err="1">
                <a:latin typeface="Times New Roman" pitchFamily="18" charset="0"/>
                <a:cs typeface="Times New Roman" pitchFamily="18" charset="0"/>
              </a:rPr>
              <a:t>response.getWriter</a:t>
            </a:r>
            <a:r>
              <a:rPr lang="en-US" sz="1600" dirty="0">
                <a:latin typeface="Times New Roman" pitchFamily="18" charset="0"/>
                <a:cs typeface="Times New Roman" pitchFamily="18" charset="0"/>
              </a:rPr>
              <a:t>();</a:t>
            </a:r>
          </a:p>
          <a:p>
            <a:pPr lvl="1">
              <a:buFont typeface="Wingdings" pitchFamily="2" charset="2"/>
              <a:buNone/>
            </a:pPr>
            <a:r>
              <a:rPr lang="en-US" sz="1600" dirty="0" err="1">
                <a:latin typeface="Times New Roman" pitchFamily="18" charset="0"/>
                <a:cs typeface="Times New Roman" pitchFamily="18" charset="0"/>
              </a:rPr>
              <a:t>pw.println</a:t>
            </a:r>
            <a:r>
              <a:rPr lang="en-US" sz="1600" dirty="0">
                <a:latin typeface="Times New Roman" pitchFamily="18" charset="0"/>
                <a:cs typeface="Times New Roman" pitchFamily="18" charset="0"/>
              </a:rPr>
              <a:t>("&lt;B&gt;</a:t>
            </a:r>
            <a:r>
              <a:rPr lang="en-US" sz="1600" dirty="0" err="1">
                <a:latin typeface="Times New Roman" pitchFamily="18" charset="0"/>
                <a:cs typeface="Times New Roman" pitchFamily="18" charset="0"/>
              </a:rPr>
              <a:t>MyCookie</a:t>
            </a:r>
            <a:r>
              <a:rPr lang="en-US" sz="1600" dirty="0">
                <a:latin typeface="Times New Roman" pitchFamily="18" charset="0"/>
                <a:cs typeface="Times New Roman" pitchFamily="18" charset="0"/>
              </a:rPr>
              <a:t> has been set to");</a:t>
            </a:r>
          </a:p>
          <a:p>
            <a:pPr lvl="1">
              <a:buFont typeface="Wingdings" pitchFamily="2" charset="2"/>
              <a:buNone/>
            </a:pPr>
            <a:r>
              <a:rPr lang="en-US" sz="1600" dirty="0" err="1">
                <a:latin typeface="Times New Roman" pitchFamily="18" charset="0"/>
                <a:cs typeface="Times New Roman" pitchFamily="18" charset="0"/>
              </a:rPr>
              <a:t>pw.println</a:t>
            </a:r>
            <a:r>
              <a:rPr lang="en-US" sz="1600" dirty="0">
                <a:latin typeface="Times New Roman" pitchFamily="18" charset="0"/>
                <a:cs typeface="Times New Roman" pitchFamily="18" charset="0"/>
              </a:rPr>
              <a:t>(data);</a:t>
            </a:r>
          </a:p>
          <a:p>
            <a:pPr lvl="1">
              <a:buFont typeface="Wingdings" pitchFamily="2" charset="2"/>
              <a:buNone/>
            </a:pPr>
            <a:r>
              <a:rPr lang="en-US" sz="1600" dirty="0" err="1">
                <a:latin typeface="Times New Roman" pitchFamily="18" charset="0"/>
                <a:cs typeface="Times New Roman" pitchFamily="18" charset="0"/>
              </a:rPr>
              <a:t>pw.close</a:t>
            </a:r>
            <a:r>
              <a:rPr lang="en-US" sz="1600" dirty="0">
                <a:latin typeface="Times New Roman" pitchFamily="18" charset="0"/>
                <a:cs typeface="Times New Roman" pitchFamily="18" charset="0"/>
              </a:rPr>
              <a:t>();</a:t>
            </a:r>
          </a:p>
          <a:p>
            <a:pPr lvl="1">
              <a:buFont typeface="Wingdings" pitchFamily="2" charset="2"/>
              <a:buNone/>
            </a:pPr>
            <a:r>
              <a:rPr lang="en-US" sz="1600" dirty="0">
                <a:latin typeface="Times New Roman" pitchFamily="18" charset="0"/>
                <a:cs typeface="Times New Roman" pitchFamily="18" charset="0"/>
              </a:rPr>
              <a:t>}  }</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558364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2209800" y="381000"/>
            <a:ext cx="7772400" cy="1143000"/>
          </a:xfrm>
        </p:spPr>
        <p:txBody>
          <a:bodyPr anchor="ctr"/>
          <a:lstStyle/>
          <a:p>
            <a:pPr eaLnBrk="1" hangingPunct="1"/>
            <a:r>
              <a:rPr lang="en-US" altLang="en-US" sz="4400" b="1">
                <a:solidFill>
                  <a:srgbClr val="CC0000"/>
                </a:solidFill>
              </a:rPr>
              <a:t>Server Side Development</a:t>
            </a:r>
          </a:p>
        </p:txBody>
      </p:sp>
      <p:sp>
        <p:nvSpPr>
          <p:cNvPr id="4099" name="Rectangle 3"/>
          <p:cNvSpPr>
            <a:spLocks noGrp="1" noChangeArrowheads="1"/>
          </p:cNvSpPr>
          <p:nvPr>
            <p:ph type="subTitle" idx="1"/>
          </p:nvPr>
        </p:nvSpPr>
        <p:spPr>
          <a:xfrm>
            <a:off x="2438400" y="1828800"/>
            <a:ext cx="7543800" cy="4840288"/>
          </a:xfrm>
        </p:spPr>
        <p:txBody>
          <a:bodyPr/>
          <a:lstStyle/>
          <a:p>
            <a:pPr eaLnBrk="1" hangingPunct="1"/>
            <a:endParaRPr lang="en-US" altLang="en-US" sz="2800" b="1">
              <a:solidFill>
                <a:schemeClr val="accent2"/>
              </a:solidFill>
            </a:endParaRPr>
          </a:p>
          <a:p>
            <a:pPr eaLnBrk="1" hangingPunct="1"/>
            <a:r>
              <a:rPr lang="en-US" altLang="en-US" sz="3600" b="1">
                <a:solidFill>
                  <a:srgbClr val="CC0000"/>
                </a:solidFill>
              </a:rPr>
              <a:t>Java Server Pages</a:t>
            </a:r>
          </a:p>
          <a:p>
            <a:pPr eaLnBrk="1" hangingPunct="1"/>
            <a:r>
              <a:rPr lang="en-IN" altLang="en-US" sz="3600" b="1">
                <a:solidFill>
                  <a:srgbClr val="CC0000"/>
                </a:solidFill>
              </a:rPr>
              <a:t>(JSP)</a:t>
            </a:r>
          </a:p>
          <a:p>
            <a:pPr eaLnBrk="1" hangingPunct="1"/>
            <a:endParaRPr lang="en-IN" altLang="en-US" sz="2800" b="1">
              <a:solidFill>
                <a:srgbClr val="CC0000"/>
              </a:solidFill>
            </a:endParaRPr>
          </a:p>
          <a:p>
            <a:pPr eaLnBrk="1" hangingPunct="1"/>
            <a:r>
              <a:rPr lang="en-IN" altLang="en-US" sz="2800" b="1">
                <a:solidFill>
                  <a:srgbClr val="CC0000"/>
                </a:solidFill>
              </a:rPr>
              <a:t>by</a:t>
            </a:r>
          </a:p>
          <a:p>
            <a:pPr eaLnBrk="1" hangingPunct="1"/>
            <a:r>
              <a:rPr lang="en-IN" altLang="en-US" sz="2800" b="1">
                <a:solidFill>
                  <a:srgbClr val="CC0000"/>
                </a:solidFill>
              </a:rPr>
              <a:t>Impa B H</a:t>
            </a:r>
          </a:p>
          <a:p>
            <a:pPr eaLnBrk="1" hangingPunct="1"/>
            <a:r>
              <a:rPr lang="en-IN" altLang="en-US" sz="2800" b="1">
                <a:solidFill>
                  <a:srgbClr val="CC0000"/>
                </a:solidFill>
              </a:rPr>
              <a:t>Asst.Prof</a:t>
            </a:r>
          </a:p>
          <a:p>
            <a:pPr eaLnBrk="1" hangingPunct="1"/>
            <a:r>
              <a:rPr lang="en-IN" altLang="en-US" sz="2800" b="1">
                <a:solidFill>
                  <a:srgbClr val="CC0000"/>
                </a:solidFill>
              </a:rPr>
              <a:t>Dept of CSE</a:t>
            </a:r>
          </a:p>
          <a:p>
            <a:pPr eaLnBrk="1" hangingPunct="1"/>
            <a:endParaRPr lang="en-US" altLang="en-US" b="1" smtClean="0">
              <a:solidFill>
                <a:srgbClr val="CC0000"/>
              </a:solidFill>
            </a:endParaRPr>
          </a:p>
        </p:txBody>
      </p:sp>
    </p:spTree>
    <p:extLst>
      <p:ext uri="{BB962C8B-B14F-4D97-AF65-F5344CB8AC3E}">
        <p14:creationId xmlns:p14="http://schemas.microsoft.com/office/powerpoint/2010/main" val="278939473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xfrm>
            <a:off x="1828800" y="1143000"/>
            <a:ext cx="8610600" cy="5334000"/>
          </a:xfrm>
        </p:spPr>
        <p:txBody>
          <a:bodyPr/>
          <a:lstStyle/>
          <a:p>
            <a:pPr marL="609600" indent="-609600"/>
            <a:r>
              <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rPr>
              <a:t>JSP Fundamentals</a:t>
            </a:r>
          </a:p>
          <a:p>
            <a:pPr marL="609600" indent="-609600"/>
            <a:r>
              <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rPr>
              <a:t>JSP Scripting Elements</a:t>
            </a:r>
          </a:p>
          <a:p>
            <a:pPr marL="609600" indent="-609600"/>
            <a:r>
              <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rPr>
              <a:t>JSP Implicit Objects</a:t>
            </a:r>
          </a:p>
          <a:p>
            <a:pPr marL="609600" indent="-609600"/>
            <a:r>
              <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rPr>
              <a:t>JSP Directives</a:t>
            </a:r>
          </a:p>
          <a:p>
            <a:pPr marL="609600" indent="-609600"/>
            <a:r>
              <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rPr>
              <a:t>JSP Actions</a:t>
            </a:r>
          </a:p>
          <a:p>
            <a:pPr marL="609600" indent="-609600"/>
            <a:r>
              <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rPr>
              <a:t>Tag Libraries</a:t>
            </a:r>
          </a:p>
          <a:p>
            <a:pPr marL="566738" lvl="1" indent="0">
              <a:buNone/>
            </a:pPr>
            <a:endParaRPr lang="en-US" altLang="en-US">
              <a:solidFill>
                <a:srgbClr val="000000"/>
              </a:solidFill>
              <a:latin typeface="Verdana" panose="020B0604030504040204" pitchFamily="34" charset="0"/>
              <a:ea typeface="Arial Unicode MS" panose="020B0604020202020204" pitchFamily="34" charset="-128"/>
              <a:cs typeface="Arial Unicode MS" panose="020B0604020202020204" pitchFamily="34" charset="-128"/>
            </a:endParaRPr>
          </a:p>
        </p:txBody>
      </p:sp>
      <p:sp>
        <p:nvSpPr>
          <p:cNvPr id="6147"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4400">
                <a:solidFill>
                  <a:srgbClr val="CC0000"/>
                </a:solidFill>
                <a:latin typeface="Arial-BoldMT"/>
              </a:rPr>
              <a:t>Topics </a:t>
            </a:r>
          </a:p>
        </p:txBody>
      </p:sp>
    </p:spTree>
    <p:extLst>
      <p:ext uri="{BB962C8B-B14F-4D97-AF65-F5344CB8AC3E}">
        <p14:creationId xmlns:p14="http://schemas.microsoft.com/office/powerpoint/2010/main" val="18018380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1026"/>
          <p:cNvSpPr>
            <a:spLocks noGrp="1" noChangeArrowheads="1"/>
          </p:cNvSpPr>
          <p:nvPr>
            <p:ph type="body" idx="1"/>
          </p:nvPr>
        </p:nvSpPr>
        <p:spPr>
          <a:xfrm>
            <a:off x="2209800" y="1143000"/>
            <a:ext cx="8229600" cy="5410200"/>
          </a:xfrm>
        </p:spPr>
        <p:txBody>
          <a:bodyPr/>
          <a:lstStyle/>
          <a:p>
            <a:pPr marL="609600" indent="-609600">
              <a:defRPr/>
            </a:pPr>
            <a:r>
              <a:rPr lang="en-US" dirty="0">
                <a:solidFill>
                  <a:srgbClr val="000000"/>
                </a:solidFill>
                <a:ea typeface="Arial Unicode MS" panose="020B0604020202020204" pitchFamily="34" charset="-128"/>
                <a:cs typeface="Arial Unicode MS" panose="020B0604020202020204" pitchFamily="34" charset="-128"/>
              </a:rPr>
              <a:t>Java Server Pages are HTML pages embedded with snippets of Java code.</a:t>
            </a:r>
          </a:p>
          <a:p>
            <a:pPr marL="1100138" lvl="1" indent="-533400">
              <a:defRPr/>
            </a:pPr>
            <a:r>
              <a:rPr lang="en-US" dirty="0">
                <a:solidFill>
                  <a:srgbClr val="000000"/>
                </a:solidFill>
                <a:ea typeface="Arial Unicode MS" panose="020B0604020202020204" pitchFamily="34" charset="-128"/>
                <a:cs typeface="Arial Unicode MS" panose="020B0604020202020204" pitchFamily="34" charset="-128"/>
              </a:rPr>
              <a:t>It is an inverse of a Java Servlet</a:t>
            </a:r>
          </a:p>
          <a:p>
            <a:pPr marL="609600" lvl="1" indent="-609600">
              <a:buFontTx/>
              <a:buChar char="•"/>
              <a:defRPr/>
            </a:pPr>
            <a:r>
              <a:rPr lang="en-IN" dirty="0">
                <a:solidFill>
                  <a:srgbClr val="000000"/>
                </a:solidFill>
                <a:ea typeface="Arial Unicode MS" panose="020B0604020202020204" pitchFamily="34" charset="-128"/>
                <a:cs typeface="Arial Unicode MS" panose="020B0604020202020204" pitchFamily="34" charset="-128"/>
              </a:rPr>
              <a:t>JSP and Servlets are key components of the Java Enterprise Edition.</a:t>
            </a:r>
            <a:endParaRPr lang="en-US" dirty="0" smtClean="0">
              <a:solidFill>
                <a:srgbClr val="000000"/>
              </a:solidFill>
              <a:ea typeface="Arial Unicode MS" panose="020B0604020202020204" pitchFamily="34" charset="-128"/>
              <a:cs typeface="Arial Unicode MS" panose="020B0604020202020204" pitchFamily="34" charset="-128"/>
            </a:endParaRPr>
          </a:p>
          <a:p>
            <a:pPr marL="609600" indent="-609600">
              <a:defRPr/>
            </a:pPr>
            <a:r>
              <a:rPr lang="en-US" dirty="0">
                <a:solidFill>
                  <a:srgbClr val="000000"/>
                </a:solidFill>
                <a:ea typeface="Arial Unicode MS" panose="020B0604020202020204" pitchFamily="34" charset="-128"/>
                <a:cs typeface="Arial Unicode MS" panose="020B0604020202020204" pitchFamily="34" charset="-128"/>
              </a:rPr>
              <a:t>Four different elements are used in constructing JSPs </a:t>
            </a:r>
          </a:p>
          <a:p>
            <a:pPr marL="1100138" lvl="1" indent="-533400">
              <a:defRPr/>
            </a:pPr>
            <a:r>
              <a:rPr lang="en-US" dirty="0">
                <a:solidFill>
                  <a:srgbClr val="000000"/>
                </a:solidFill>
                <a:ea typeface="Arial Unicode MS" panose="020B0604020202020204" pitchFamily="34" charset="-128"/>
                <a:cs typeface="Arial Unicode MS" panose="020B0604020202020204" pitchFamily="34" charset="-128"/>
              </a:rPr>
              <a:t>Scripting Elements</a:t>
            </a:r>
          </a:p>
          <a:p>
            <a:pPr marL="1100138" lvl="1" indent="-533400">
              <a:defRPr/>
            </a:pPr>
            <a:r>
              <a:rPr lang="en-US" dirty="0">
                <a:solidFill>
                  <a:srgbClr val="000000"/>
                </a:solidFill>
                <a:ea typeface="Arial Unicode MS" panose="020B0604020202020204" pitchFamily="34" charset="-128"/>
                <a:cs typeface="Arial Unicode MS" panose="020B0604020202020204" pitchFamily="34" charset="-128"/>
              </a:rPr>
              <a:t>Implicit Objects</a:t>
            </a:r>
          </a:p>
          <a:p>
            <a:pPr marL="1100138" lvl="1" indent="-533400">
              <a:defRPr/>
            </a:pPr>
            <a:r>
              <a:rPr lang="en-US" dirty="0">
                <a:solidFill>
                  <a:srgbClr val="000000"/>
                </a:solidFill>
                <a:ea typeface="Arial Unicode MS" panose="020B0604020202020204" pitchFamily="34" charset="-128"/>
                <a:cs typeface="Arial Unicode MS" panose="020B0604020202020204" pitchFamily="34" charset="-128"/>
              </a:rPr>
              <a:t>Directives</a:t>
            </a:r>
          </a:p>
          <a:p>
            <a:pPr marL="1100138" lvl="1" indent="-533400">
              <a:defRPr/>
            </a:pPr>
            <a:r>
              <a:rPr lang="en-US" dirty="0">
                <a:solidFill>
                  <a:srgbClr val="000000"/>
                </a:solidFill>
                <a:ea typeface="Arial Unicode MS" panose="020B0604020202020204" pitchFamily="34" charset="-128"/>
                <a:cs typeface="Arial Unicode MS" panose="020B0604020202020204" pitchFamily="34" charset="-128"/>
              </a:rPr>
              <a:t>Actions</a:t>
            </a:r>
          </a:p>
        </p:txBody>
      </p:sp>
      <p:sp>
        <p:nvSpPr>
          <p:cNvPr id="8195" name="Rectangle 1027"/>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Java Server Pages (JSP) </a:t>
            </a:r>
            <a:br>
              <a:rPr lang="en-US" altLang="en-US" sz="3600">
                <a:solidFill>
                  <a:srgbClr val="CC0000"/>
                </a:solidFill>
              </a:rPr>
            </a:br>
            <a:r>
              <a:rPr lang="en-US" altLang="en-US" sz="2400">
                <a:solidFill>
                  <a:srgbClr val="333399"/>
                </a:solidFill>
                <a:latin typeface="Arial" panose="020B0604020202020204" pitchFamily="34" charset="0"/>
              </a:rPr>
              <a:t>Fundamentals </a:t>
            </a:r>
            <a:endParaRPr lang="en-US" altLang="en-US" sz="4400">
              <a:solidFill>
                <a:srgbClr val="CC0000"/>
              </a:solidFill>
              <a:latin typeface="Arial-BoldMT"/>
            </a:endParaRPr>
          </a:p>
        </p:txBody>
      </p:sp>
    </p:spTree>
    <p:extLst>
      <p:ext uri="{BB962C8B-B14F-4D97-AF65-F5344CB8AC3E}">
        <p14:creationId xmlns:p14="http://schemas.microsoft.com/office/powerpoint/2010/main" val="5896445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algn="l"/>
            <a:r>
              <a:rPr lang="en-IN" altLang="en-US" sz="4000" b="1">
                <a:solidFill>
                  <a:srgbClr val="C00000"/>
                </a:solidFill>
              </a:rPr>
              <a:t>JSP Life Cycle</a:t>
            </a:r>
            <a:endParaRPr lang="en-US" altLang="en-US" sz="4000" b="1">
              <a:solidFill>
                <a:srgbClr val="C00000"/>
              </a:solidFill>
            </a:endParaRPr>
          </a:p>
        </p:txBody>
      </p:sp>
      <p:sp>
        <p:nvSpPr>
          <p:cNvPr id="3" name="Content Placeholder 2"/>
          <p:cNvSpPr>
            <a:spLocks noGrp="1"/>
          </p:cNvSpPr>
          <p:nvPr>
            <p:ph idx="1"/>
          </p:nvPr>
        </p:nvSpPr>
        <p:spPr/>
        <p:txBody>
          <a:bodyPr/>
          <a:lstStyle/>
          <a:p>
            <a:pPr marL="0" indent="0">
              <a:buNone/>
              <a:defRPr/>
            </a:pPr>
            <a:r>
              <a:rPr lang="en-US" dirty="0"/>
              <a:t>The life cycle of a JSP page can be divided into the following phase:</a:t>
            </a:r>
          </a:p>
          <a:p>
            <a:pPr>
              <a:defRPr/>
            </a:pPr>
            <a:r>
              <a:rPr lang="en-US" sz="2400" dirty="0"/>
              <a:t>Translation Phase</a:t>
            </a:r>
          </a:p>
          <a:p>
            <a:pPr>
              <a:defRPr/>
            </a:pPr>
            <a:r>
              <a:rPr lang="en-US" sz="2400" dirty="0"/>
              <a:t>Compilation Phase</a:t>
            </a:r>
          </a:p>
          <a:p>
            <a:pPr>
              <a:defRPr/>
            </a:pPr>
            <a:r>
              <a:rPr lang="en-US" sz="2400" dirty="0"/>
              <a:t>Initialization Phase</a:t>
            </a:r>
          </a:p>
          <a:p>
            <a:pPr>
              <a:defRPr/>
            </a:pPr>
            <a:r>
              <a:rPr lang="en-US" sz="2400" dirty="0"/>
              <a:t>Execution Phase</a:t>
            </a:r>
          </a:p>
          <a:p>
            <a:pPr>
              <a:defRPr/>
            </a:pPr>
            <a:r>
              <a:rPr lang="en-US" sz="2400" dirty="0"/>
              <a:t>Destruction(Cleanup) Phase</a:t>
            </a:r>
          </a:p>
          <a:p>
            <a:pPr>
              <a:defRPr/>
            </a:pPr>
            <a:endParaRPr lang="en-US" dirty="0"/>
          </a:p>
        </p:txBody>
      </p:sp>
    </p:spTree>
    <p:extLst>
      <p:ext uri="{BB962C8B-B14F-4D97-AF65-F5344CB8AC3E}">
        <p14:creationId xmlns:p14="http://schemas.microsoft.com/office/powerpoint/2010/main" val="16082751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body" idx="1"/>
          </p:nvPr>
        </p:nvSpPr>
        <p:spPr>
          <a:xfrm>
            <a:off x="2209800" y="1143000"/>
            <a:ext cx="4267200" cy="5410200"/>
          </a:xfrm>
        </p:spPr>
        <p:txBody>
          <a:bodyPr/>
          <a:lstStyle/>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 translation phase JSP page is compiled into a servlet</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called JSP Page Implementation class</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 execution phase the compliled JSP is processed</a:t>
            </a:r>
          </a:p>
        </p:txBody>
      </p:sp>
      <p:sp>
        <p:nvSpPr>
          <p:cNvPr id="11267"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Java Server Pages (JSP) </a:t>
            </a:r>
            <a:br>
              <a:rPr lang="en-US" altLang="en-US" sz="3600">
                <a:solidFill>
                  <a:srgbClr val="CC0000"/>
                </a:solidFill>
              </a:rPr>
            </a:br>
            <a:r>
              <a:rPr lang="en-US" altLang="en-US" sz="2400">
                <a:solidFill>
                  <a:srgbClr val="333399"/>
                </a:solidFill>
                <a:latin typeface="Arial" panose="020B0604020202020204" pitchFamily="34" charset="0"/>
              </a:rPr>
              <a:t>Architecture </a:t>
            </a:r>
            <a:endParaRPr lang="en-US" altLang="en-US" sz="4400">
              <a:solidFill>
                <a:srgbClr val="CC0000"/>
              </a:solidFill>
              <a:latin typeface="Arial-BoldMT"/>
            </a:endParaRPr>
          </a:p>
        </p:txBody>
      </p:sp>
      <p:grpSp>
        <p:nvGrpSpPr>
          <p:cNvPr id="11268" name="Group 53"/>
          <p:cNvGrpSpPr>
            <a:grpSpLocks/>
          </p:cNvGrpSpPr>
          <p:nvPr/>
        </p:nvGrpSpPr>
        <p:grpSpPr bwMode="auto">
          <a:xfrm>
            <a:off x="6477000" y="1143000"/>
            <a:ext cx="4038600" cy="5334000"/>
            <a:chOff x="3072" y="720"/>
            <a:chExt cx="2544" cy="3360"/>
          </a:xfrm>
        </p:grpSpPr>
        <p:sp>
          <p:nvSpPr>
            <p:cNvPr id="11269" name="Rectangle 5"/>
            <p:cNvSpPr>
              <a:spLocks noChangeArrowheads="1"/>
            </p:cNvSpPr>
            <p:nvPr/>
          </p:nvSpPr>
          <p:spPr bwMode="auto">
            <a:xfrm>
              <a:off x="3072" y="720"/>
              <a:ext cx="2496" cy="3360"/>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sp>
          <p:nvSpPr>
            <p:cNvPr id="11270" name="Rectangle 6"/>
            <p:cNvSpPr>
              <a:spLocks noChangeArrowheads="1"/>
            </p:cNvSpPr>
            <p:nvPr/>
          </p:nvSpPr>
          <p:spPr bwMode="auto">
            <a:xfrm>
              <a:off x="3176" y="1168"/>
              <a:ext cx="2293" cy="2449"/>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endParaRPr lang="en-US" altLang="en-US" sz="2400"/>
            </a:p>
          </p:txBody>
        </p:sp>
        <p:sp>
          <p:nvSpPr>
            <p:cNvPr id="11271" name="Rectangle 7"/>
            <p:cNvSpPr>
              <a:spLocks noChangeArrowheads="1"/>
            </p:cNvSpPr>
            <p:nvPr/>
          </p:nvSpPr>
          <p:spPr bwMode="auto">
            <a:xfrm>
              <a:off x="3261" y="1325"/>
              <a:ext cx="2110" cy="1583"/>
            </a:xfrm>
            <a:prstGeom prst="rect">
              <a:avLst/>
            </a:prstGeom>
            <a:solidFill>
              <a:srgbClr val="C0C0C0"/>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sp>
          <p:nvSpPr>
            <p:cNvPr id="11272" name="Rectangle 8"/>
            <p:cNvSpPr>
              <a:spLocks noChangeArrowheads="1"/>
            </p:cNvSpPr>
            <p:nvPr/>
          </p:nvSpPr>
          <p:spPr bwMode="auto">
            <a:xfrm>
              <a:off x="3261" y="2990"/>
              <a:ext cx="2110" cy="560"/>
            </a:xfrm>
            <a:prstGeom prst="rect">
              <a:avLst/>
            </a:prstGeom>
            <a:solidFill>
              <a:srgbClr val="C0C0C0"/>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sp>
          <p:nvSpPr>
            <p:cNvPr id="11273" name="AutoShape 9"/>
            <p:cNvSpPr>
              <a:spLocks noChangeArrowheads="1"/>
            </p:cNvSpPr>
            <p:nvPr/>
          </p:nvSpPr>
          <p:spPr bwMode="auto">
            <a:xfrm>
              <a:off x="3533" y="3722"/>
              <a:ext cx="741" cy="313"/>
            </a:xfrm>
            <a:prstGeom prst="parallelogram">
              <a:avLst>
                <a:gd name="adj" fmla="val 59185"/>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Send </a:t>
              </a:r>
            </a:p>
            <a:p>
              <a:pPr algn="ctr" eaLnBrk="1" hangingPunct="1">
                <a:spcBef>
                  <a:spcPct val="0"/>
                </a:spcBef>
                <a:buFontTx/>
                <a:buNone/>
              </a:pPr>
              <a:r>
                <a:rPr lang="en-US" altLang="en-US" sz="1200"/>
                <a:t>Response</a:t>
              </a:r>
            </a:p>
          </p:txBody>
        </p:sp>
        <p:sp>
          <p:nvSpPr>
            <p:cNvPr id="11274" name="AutoShape 10"/>
            <p:cNvSpPr>
              <a:spLocks noChangeArrowheads="1"/>
            </p:cNvSpPr>
            <p:nvPr/>
          </p:nvSpPr>
          <p:spPr bwMode="auto">
            <a:xfrm>
              <a:off x="3533" y="765"/>
              <a:ext cx="741" cy="313"/>
            </a:xfrm>
            <a:prstGeom prst="parallelogram">
              <a:avLst>
                <a:gd name="adj" fmla="val 59185"/>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Receive </a:t>
              </a:r>
            </a:p>
            <a:p>
              <a:pPr algn="ctr" eaLnBrk="1" hangingPunct="1">
                <a:spcBef>
                  <a:spcPct val="0"/>
                </a:spcBef>
                <a:buFontTx/>
                <a:buNone/>
              </a:pPr>
              <a:r>
                <a:rPr lang="en-US" altLang="en-US" sz="1200"/>
                <a:t>Request</a:t>
              </a:r>
            </a:p>
          </p:txBody>
        </p:sp>
        <p:grpSp>
          <p:nvGrpSpPr>
            <p:cNvPr id="11275" name="Group 11"/>
            <p:cNvGrpSpPr>
              <a:grpSpLocks/>
            </p:cNvGrpSpPr>
            <p:nvPr/>
          </p:nvGrpSpPr>
          <p:grpSpPr bwMode="auto">
            <a:xfrm>
              <a:off x="3533" y="2445"/>
              <a:ext cx="741" cy="313"/>
              <a:chOff x="1776" y="2304"/>
              <a:chExt cx="768" cy="336"/>
            </a:xfrm>
          </p:grpSpPr>
          <p:sp>
            <p:nvSpPr>
              <p:cNvPr id="11314" name="Rectangle 12"/>
              <p:cNvSpPr>
                <a:spLocks noChangeArrowheads="1"/>
              </p:cNvSpPr>
              <p:nvPr/>
            </p:nvSpPr>
            <p:spPr bwMode="auto">
              <a:xfrm>
                <a:off x="1776" y="2304"/>
                <a:ext cx="768"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Load Servlet</a:t>
                </a:r>
              </a:p>
            </p:txBody>
          </p:sp>
          <p:sp>
            <p:nvSpPr>
              <p:cNvPr id="11315" name="Line 13"/>
              <p:cNvSpPr>
                <a:spLocks noChangeShapeType="1"/>
              </p:cNvSpPr>
              <p:nvPr/>
            </p:nvSpPr>
            <p:spPr bwMode="auto">
              <a:xfrm>
                <a:off x="1837" y="23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16" name="Line 14"/>
              <p:cNvSpPr>
                <a:spLocks noChangeShapeType="1"/>
              </p:cNvSpPr>
              <p:nvPr/>
            </p:nvSpPr>
            <p:spPr bwMode="auto">
              <a:xfrm>
                <a:off x="2483" y="23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1276" name="Group 15"/>
            <p:cNvGrpSpPr>
              <a:grpSpLocks/>
            </p:cNvGrpSpPr>
            <p:nvPr/>
          </p:nvGrpSpPr>
          <p:grpSpPr bwMode="auto">
            <a:xfrm>
              <a:off x="4551" y="2445"/>
              <a:ext cx="741" cy="313"/>
              <a:chOff x="2832" y="2304"/>
              <a:chExt cx="768" cy="336"/>
            </a:xfrm>
          </p:grpSpPr>
          <p:sp>
            <p:nvSpPr>
              <p:cNvPr id="11311" name="Rectangle 16"/>
              <p:cNvSpPr>
                <a:spLocks noChangeArrowheads="1"/>
              </p:cNvSpPr>
              <p:nvPr/>
            </p:nvSpPr>
            <p:spPr bwMode="auto">
              <a:xfrm>
                <a:off x="2832" y="2304"/>
                <a:ext cx="768"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Compile JSP</a:t>
                </a:r>
              </a:p>
              <a:p>
                <a:pPr algn="ctr" eaLnBrk="1" hangingPunct="1">
                  <a:spcBef>
                    <a:spcPct val="0"/>
                  </a:spcBef>
                  <a:buFontTx/>
                  <a:buNone/>
                </a:pPr>
                <a:r>
                  <a:rPr lang="en-US" altLang="en-US" sz="1200"/>
                  <a:t>Servlet</a:t>
                </a:r>
              </a:p>
            </p:txBody>
          </p:sp>
          <p:sp>
            <p:nvSpPr>
              <p:cNvPr id="11312" name="Line 17"/>
              <p:cNvSpPr>
                <a:spLocks noChangeShapeType="1"/>
              </p:cNvSpPr>
              <p:nvPr/>
            </p:nvSpPr>
            <p:spPr bwMode="auto">
              <a:xfrm>
                <a:off x="2893" y="23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13" name="Line 18"/>
              <p:cNvSpPr>
                <a:spLocks noChangeShapeType="1"/>
              </p:cNvSpPr>
              <p:nvPr/>
            </p:nvSpPr>
            <p:spPr bwMode="auto">
              <a:xfrm>
                <a:off x="3539" y="230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1277" name="Group 19"/>
            <p:cNvGrpSpPr>
              <a:grpSpLocks/>
            </p:cNvGrpSpPr>
            <p:nvPr/>
          </p:nvGrpSpPr>
          <p:grpSpPr bwMode="auto">
            <a:xfrm>
              <a:off x="4551" y="2004"/>
              <a:ext cx="741" cy="314"/>
              <a:chOff x="2832" y="1832"/>
              <a:chExt cx="768" cy="336"/>
            </a:xfrm>
          </p:grpSpPr>
          <p:sp>
            <p:nvSpPr>
              <p:cNvPr id="11308" name="Rectangle 20"/>
              <p:cNvSpPr>
                <a:spLocks noChangeArrowheads="1"/>
              </p:cNvSpPr>
              <p:nvPr/>
            </p:nvSpPr>
            <p:spPr bwMode="auto">
              <a:xfrm>
                <a:off x="2832" y="1832"/>
                <a:ext cx="768"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Generate JSP</a:t>
                </a:r>
              </a:p>
              <a:p>
                <a:pPr algn="ctr" eaLnBrk="1" hangingPunct="1">
                  <a:spcBef>
                    <a:spcPct val="0"/>
                  </a:spcBef>
                  <a:buFontTx/>
                  <a:buNone/>
                </a:pPr>
                <a:r>
                  <a:rPr lang="en-US" altLang="en-US" sz="1200"/>
                  <a:t>Servlet Source</a:t>
                </a:r>
              </a:p>
            </p:txBody>
          </p:sp>
          <p:sp>
            <p:nvSpPr>
              <p:cNvPr id="11309" name="Line 21"/>
              <p:cNvSpPr>
                <a:spLocks noChangeShapeType="1"/>
              </p:cNvSpPr>
              <p:nvPr/>
            </p:nvSpPr>
            <p:spPr bwMode="auto">
              <a:xfrm>
                <a:off x="2893" y="1832"/>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10" name="Line 22"/>
              <p:cNvSpPr>
                <a:spLocks noChangeShapeType="1"/>
              </p:cNvSpPr>
              <p:nvPr/>
            </p:nvSpPr>
            <p:spPr bwMode="auto">
              <a:xfrm>
                <a:off x="3539" y="1832"/>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11278" name="Group 23"/>
            <p:cNvGrpSpPr>
              <a:grpSpLocks/>
            </p:cNvGrpSpPr>
            <p:nvPr/>
          </p:nvGrpSpPr>
          <p:grpSpPr bwMode="auto">
            <a:xfrm>
              <a:off x="4551" y="1526"/>
              <a:ext cx="741" cy="314"/>
              <a:chOff x="2832" y="1320"/>
              <a:chExt cx="768" cy="336"/>
            </a:xfrm>
          </p:grpSpPr>
          <p:sp>
            <p:nvSpPr>
              <p:cNvPr id="11305" name="Rectangle 24"/>
              <p:cNvSpPr>
                <a:spLocks noChangeArrowheads="1"/>
              </p:cNvSpPr>
              <p:nvPr/>
            </p:nvSpPr>
            <p:spPr bwMode="auto">
              <a:xfrm>
                <a:off x="2832" y="1320"/>
                <a:ext cx="768"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Parse JSP</a:t>
                </a:r>
              </a:p>
            </p:txBody>
          </p:sp>
          <p:sp>
            <p:nvSpPr>
              <p:cNvPr id="11306" name="Line 25"/>
              <p:cNvSpPr>
                <a:spLocks noChangeShapeType="1"/>
              </p:cNvSpPr>
              <p:nvPr/>
            </p:nvSpPr>
            <p:spPr bwMode="auto">
              <a:xfrm>
                <a:off x="2893" y="1320"/>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07" name="Line 26"/>
              <p:cNvSpPr>
                <a:spLocks noChangeShapeType="1"/>
              </p:cNvSpPr>
              <p:nvPr/>
            </p:nvSpPr>
            <p:spPr bwMode="auto">
              <a:xfrm>
                <a:off x="3539" y="1320"/>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1279" name="AutoShape 27"/>
            <p:cNvSpPr>
              <a:spLocks noChangeArrowheads="1"/>
            </p:cNvSpPr>
            <p:nvPr/>
          </p:nvSpPr>
          <p:spPr bwMode="auto">
            <a:xfrm>
              <a:off x="3533" y="1504"/>
              <a:ext cx="741" cy="358"/>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100"/>
                <a:t>JSP Servlet</a:t>
              </a:r>
            </a:p>
            <a:p>
              <a:pPr algn="ctr" eaLnBrk="1" hangingPunct="1">
                <a:spcBef>
                  <a:spcPct val="0"/>
                </a:spcBef>
                <a:buFontTx/>
                <a:buNone/>
              </a:pPr>
              <a:r>
                <a:rPr lang="en-US" altLang="en-US" sz="1100"/>
                <a:t>Current?</a:t>
              </a:r>
            </a:p>
          </p:txBody>
        </p:sp>
        <p:sp>
          <p:nvSpPr>
            <p:cNvPr id="11280" name="AutoShape 28"/>
            <p:cNvSpPr>
              <a:spLocks noChangeArrowheads="1"/>
            </p:cNvSpPr>
            <p:nvPr/>
          </p:nvSpPr>
          <p:spPr bwMode="auto">
            <a:xfrm>
              <a:off x="3533" y="1952"/>
              <a:ext cx="741" cy="358"/>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100"/>
                <a:t>JSP Servlet</a:t>
              </a:r>
            </a:p>
            <a:p>
              <a:pPr algn="ctr" eaLnBrk="1" hangingPunct="1">
                <a:spcBef>
                  <a:spcPct val="0"/>
                </a:spcBef>
                <a:buFontTx/>
                <a:buNone/>
              </a:pPr>
              <a:r>
                <a:rPr lang="en-US" altLang="en-US" sz="1100"/>
                <a:t>Loaded?</a:t>
              </a:r>
            </a:p>
          </p:txBody>
        </p:sp>
        <p:grpSp>
          <p:nvGrpSpPr>
            <p:cNvPr id="11281" name="Group 29"/>
            <p:cNvGrpSpPr>
              <a:grpSpLocks/>
            </p:cNvGrpSpPr>
            <p:nvPr/>
          </p:nvGrpSpPr>
          <p:grpSpPr bwMode="auto">
            <a:xfrm>
              <a:off x="3533" y="3117"/>
              <a:ext cx="741" cy="313"/>
              <a:chOff x="1776" y="3024"/>
              <a:chExt cx="768" cy="336"/>
            </a:xfrm>
          </p:grpSpPr>
          <p:sp>
            <p:nvSpPr>
              <p:cNvPr id="11302" name="Rectangle 30"/>
              <p:cNvSpPr>
                <a:spLocks noChangeArrowheads="1"/>
              </p:cNvSpPr>
              <p:nvPr/>
            </p:nvSpPr>
            <p:spPr bwMode="auto">
              <a:xfrm>
                <a:off x="1776" y="3024"/>
                <a:ext cx="768"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200"/>
                  <a:t>Generate</a:t>
                </a:r>
              </a:p>
              <a:p>
                <a:pPr algn="ctr" eaLnBrk="1" hangingPunct="1">
                  <a:spcBef>
                    <a:spcPct val="0"/>
                  </a:spcBef>
                  <a:buFontTx/>
                  <a:buNone/>
                </a:pPr>
                <a:r>
                  <a:rPr lang="en-US" altLang="en-US" sz="1200"/>
                  <a:t>Response</a:t>
                </a:r>
              </a:p>
            </p:txBody>
          </p:sp>
          <p:sp>
            <p:nvSpPr>
              <p:cNvPr id="11303" name="Line 31"/>
              <p:cNvSpPr>
                <a:spLocks noChangeShapeType="1"/>
              </p:cNvSpPr>
              <p:nvPr/>
            </p:nvSpPr>
            <p:spPr bwMode="auto">
              <a:xfrm>
                <a:off x="1837" y="302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304" name="Line 32"/>
              <p:cNvSpPr>
                <a:spLocks noChangeShapeType="1"/>
              </p:cNvSpPr>
              <p:nvPr/>
            </p:nvSpPr>
            <p:spPr bwMode="auto">
              <a:xfrm>
                <a:off x="2483" y="3024"/>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11282" name="Line 33"/>
            <p:cNvSpPr>
              <a:spLocks noChangeShapeType="1"/>
            </p:cNvSpPr>
            <p:nvPr/>
          </p:nvSpPr>
          <p:spPr bwMode="auto">
            <a:xfrm>
              <a:off x="4922" y="1855"/>
              <a:ext cx="0" cy="134"/>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3" name="Line 34"/>
            <p:cNvSpPr>
              <a:spLocks noChangeShapeType="1"/>
            </p:cNvSpPr>
            <p:nvPr/>
          </p:nvSpPr>
          <p:spPr bwMode="auto">
            <a:xfrm>
              <a:off x="4922" y="2310"/>
              <a:ext cx="0" cy="135"/>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4" name="Line 35"/>
            <p:cNvSpPr>
              <a:spLocks noChangeShapeType="1"/>
            </p:cNvSpPr>
            <p:nvPr/>
          </p:nvSpPr>
          <p:spPr bwMode="auto">
            <a:xfrm>
              <a:off x="4274" y="1683"/>
              <a:ext cx="277"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5" name="Line 36"/>
            <p:cNvSpPr>
              <a:spLocks noChangeShapeType="1"/>
            </p:cNvSpPr>
            <p:nvPr/>
          </p:nvSpPr>
          <p:spPr bwMode="auto">
            <a:xfrm>
              <a:off x="3903" y="1078"/>
              <a:ext cx="0" cy="426"/>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6" name="Line 37"/>
            <p:cNvSpPr>
              <a:spLocks noChangeShapeType="1"/>
            </p:cNvSpPr>
            <p:nvPr/>
          </p:nvSpPr>
          <p:spPr bwMode="auto">
            <a:xfrm>
              <a:off x="3903" y="1862"/>
              <a:ext cx="0" cy="9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7" name="Line 38"/>
            <p:cNvSpPr>
              <a:spLocks noChangeShapeType="1"/>
            </p:cNvSpPr>
            <p:nvPr/>
          </p:nvSpPr>
          <p:spPr bwMode="auto">
            <a:xfrm>
              <a:off x="3903" y="2310"/>
              <a:ext cx="0" cy="135"/>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8" name="Line 39"/>
            <p:cNvSpPr>
              <a:spLocks noChangeShapeType="1"/>
            </p:cNvSpPr>
            <p:nvPr/>
          </p:nvSpPr>
          <p:spPr bwMode="auto">
            <a:xfrm>
              <a:off x="3903" y="2758"/>
              <a:ext cx="0" cy="9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89" name="Oval 40"/>
            <p:cNvSpPr>
              <a:spLocks noChangeArrowheads="1"/>
            </p:cNvSpPr>
            <p:nvPr/>
          </p:nvSpPr>
          <p:spPr bwMode="auto">
            <a:xfrm>
              <a:off x="3880" y="2841"/>
              <a:ext cx="47" cy="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400">
                <a:solidFill>
                  <a:srgbClr val="0000FF"/>
                </a:solidFill>
                <a:latin typeface="Arial" panose="020B0604020202020204" pitchFamily="34" charset="0"/>
              </a:endParaRPr>
            </a:p>
          </p:txBody>
        </p:sp>
        <p:sp>
          <p:nvSpPr>
            <p:cNvPr id="11290" name="Line 41"/>
            <p:cNvSpPr>
              <a:spLocks noChangeShapeType="1"/>
            </p:cNvSpPr>
            <p:nvPr/>
          </p:nvSpPr>
          <p:spPr bwMode="auto">
            <a:xfrm>
              <a:off x="3903" y="2893"/>
              <a:ext cx="0" cy="224"/>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1" name="Line 42"/>
            <p:cNvSpPr>
              <a:spLocks noChangeShapeType="1"/>
            </p:cNvSpPr>
            <p:nvPr/>
          </p:nvSpPr>
          <p:spPr bwMode="auto">
            <a:xfrm flipH="1">
              <a:off x="4274" y="2594"/>
              <a:ext cx="277" cy="0"/>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2" name="Line 43"/>
            <p:cNvSpPr>
              <a:spLocks noChangeShapeType="1"/>
            </p:cNvSpPr>
            <p:nvPr/>
          </p:nvSpPr>
          <p:spPr bwMode="auto">
            <a:xfrm>
              <a:off x="3903" y="3430"/>
              <a:ext cx="0" cy="284"/>
            </a:xfrm>
            <a:prstGeom prst="line">
              <a:avLst/>
            </a:prstGeom>
            <a:noFill/>
            <a:ln w="9525">
              <a:solidFill>
                <a:schemeClr val="tx1"/>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11293" name="AutoShape 44"/>
            <p:cNvCxnSpPr>
              <a:cxnSpLocks noChangeShapeType="1"/>
              <a:stCxn id="11280" idx="1"/>
              <a:endCxn id="11289" idx="2"/>
            </p:cNvCxnSpPr>
            <p:nvPr/>
          </p:nvCxnSpPr>
          <p:spPr bwMode="auto">
            <a:xfrm rot="10800000" flipH="1" flipV="1">
              <a:off x="3533" y="2131"/>
              <a:ext cx="347" cy="732"/>
            </a:xfrm>
            <a:prstGeom prst="bentConnector3">
              <a:avLst>
                <a:gd name="adj1" fmla="val -40000"/>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294" name="Text Box 45"/>
            <p:cNvSpPr txBox="1">
              <a:spLocks noChangeArrowheads="1"/>
            </p:cNvSpPr>
            <p:nvPr/>
          </p:nvSpPr>
          <p:spPr bwMode="auto">
            <a:xfrm>
              <a:off x="3834" y="1835"/>
              <a:ext cx="417"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Yes</a:t>
              </a:r>
            </a:p>
          </p:txBody>
        </p:sp>
        <p:sp>
          <p:nvSpPr>
            <p:cNvPr id="11295" name="Text Box 46"/>
            <p:cNvSpPr txBox="1">
              <a:spLocks noChangeArrowheads="1"/>
            </p:cNvSpPr>
            <p:nvPr/>
          </p:nvSpPr>
          <p:spPr bwMode="auto">
            <a:xfrm>
              <a:off x="4243" y="1549"/>
              <a:ext cx="31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No</a:t>
              </a:r>
            </a:p>
          </p:txBody>
        </p:sp>
        <p:sp>
          <p:nvSpPr>
            <p:cNvPr id="11296" name="Text Box 47"/>
            <p:cNvSpPr txBox="1">
              <a:spLocks noChangeArrowheads="1"/>
            </p:cNvSpPr>
            <p:nvPr/>
          </p:nvSpPr>
          <p:spPr bwMode="auto">
            <a:xfrm>
              <a:off x="3863" y="2306"/>
              <a:ext cx="310"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No</a:t>
              </a:r>
            </a:p>
          </p:txBody>
        </p:sp>
        <p:sp>
          <p:nvSpPr>
            <p:cNvPr id="11297" name="Text Box 48"/>
            <p:cNvSpPr txBox="1">
              <a:spLocks noChangeArrowheads="1"/>
            </p:cNvSpPr>
            <p:nvPr/>
          </p:nvSpPr>
          <p:spPr bwMode="auto">
            <a:xfrm>
              <a:off x="3302" y="2288"/>
              <a:ext cx="416"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Yes</a:t>
              </a:r>
            </a:p>
          </p:txBody>
        </p:sp>
        <p:sp>
          <p:nvSpPr>
            <p:cNvPr id="11298" name="Text Box 49"/>
            <p:cNvSpPr txBox="1">
              <a:spLocks noChangeArrowheads="1"/>
            </p:cNvSpPr>
            <p:nvPr/>
          </p:nvSpPr>
          <p:spPr bwMode="auto">
            <a:xfrm>
              <a:off x="4875" y="765"/>
              <a:ext cx="741"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HTTP Server </a:t>
              </a:r>
            </a:p>
          </p:txBody>
        </p:sp>
        <p:sp>
          <p:nvSpPr>
            <p:cNvPr id="11299" name="Text Box 50"/>
            <p:cNvSpPr txBox="1">
              <a:spLocks noChangeArrowheads="1"/>
            </p:cNvSpPr>
            <p:nvPr/>
          </p:nvSpPr>
          <p:spPr bwMode="auto">
            <a:xfrm>
              <a:off x="4744" y="1186"/>
              <a:ext cx="741"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JSP Container </a:t>
              </a:r>
            </a:p>
          </p:txBody>
        </p:sp>
        <p:sp>
          <p:nvSpPr>
            <p:cNvPr id="11300" name="Text Box 51"/>
            <p:cNvSpPr txBox="1">
              <a:spLocks noChangeArrowheads="1"/>
            </p:cNvSpPr>
            <p:nvPr/>
          </p:nvSpPr>
          <p:spPr bwMode="auto">
            <a:xfrm>
              <a:off x="4274" y="1325"/>
              <a:ext cx="120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Page Compiler Servlet </a:t>
              </a:r>
            </a:p>
          </p:txBody>
        </p:sp>
        <p:sp>
          <p:nvSpPr>
            <p:cNvPr id="11301" name="Text Box 52"/>
            <p:cNvSpPr txBox="1">
              <a:spLocks noChangeArrowheads="1"/>
            </p:cNvSpPr>
            <p:nvPr/>
          </p:nvSpPr>
          <p:spPr bwMode="auto">
            <a:xfrm>
              <a:off x="4582" y="2993"/>
              <a:ext cx="833"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200"/>
                <a:t>JSP Page Servlet </a:t>
              </a:r>
            </a:p>
          </p:txBody>
        </p:sp>
      </p:grpSp>
    </p:spTree>
    <p:extLst>
      <p:ext uri="{BB962C8B-B14F-4D97-AF65-F5344CB8AC3E}">
        <p14:creationId xmlns:p14="http://schemas.microsoft.com/office/powerpoint/2010/main" val="22503530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body" idx="1"/>
          </p:nvPr>
        </p:nvSpPr>
        <p:spPr>
          <a:xfrm>
            <a:off x="2209800" y="1143000"/>
            <a:ext cx="8229600" cy="5334000"/>
          </a:xfrm>
        </p:spPr>
        <p:txBody>
          <a:bodyPr/>
          <a:lstStyle/>
          <a:p>
            <a:pPr marL="609600" indent="-609600">
              <a:defRPr/>
            </a:pPr>
            <a:r>
              <a:rPr lang="en-US" dirty="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There are three kinds of scripting elements</a:t>
            </a:r>
          </a:p>
          <a:p>
            <a:pPr marL="1100138" lvl="1" indent="-533400">
              <a:defRPr/>
            </a:pPr>
            <a:r>
              <a:rPr lang="en-US" dirty="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Expressions</a:t>
            </a:r>
          </a:p>
          <a:p>
            <a:pPr marL="1100138" lvl="1" indent="-533400">
              <a:defRPr/>
            </a:pPr>
            <a:r>
              <a:rPr lang="en-US" dirty="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Scriplets</a:t>
            </a:r>
          </a:p>
          <a:p>
            <a:pPr marL="1100138" lvl="1" indent="-533400">
              <a:defRPr/>
            </a:pPr>
            <a:r>
              <a:rPr lang="en-US" dirty="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Declarations</a:t>
            </a:r>
          </a:p>
          <a:p>
            <a:pPr marL="566738" lvl="1" indent="0">
              <a:buNone/>
              <a:defRPr/>
            </a:pPr>
            <a:endParaRPr lang="en-US" dirty="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endParaRPr>
          </a:p>
        </p:txBody>
      </p:sp>
      <p:sp>
        <p:nvSpPr>
          <p:cNvPr id="13315"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Scripting Elements </a:t>
            </a:r>
            <a:br>
              <a:rPr lang="en-US" altLang="en-US" sz="3600">
                <a:solidFill>
                  <a:srgbClr val="CC0000"/>
                </a:solidFill>
              </a:rPr>
            </a:br>
            <a:r>
              <a:rPr lang="en-US" altLang="en-US" sz="2400">
                <a:solidFill>
                  <a:srgbClr val="333399"/>
                </a:solidFill>
                <a:latin typeface="Arial" panose="020B0604020202020204" pitchFamily="34" charset="0"/>
              </a:rPr>
              <a:t>Types</a:t>
            </a:r>
          </a:p>
        </p:txBody>
      </p:sp>
    </p:spTree>
    <p:extLst>
      <p:ext uri="{BB962C8B-B14F-4D97-AF65-F5344CB8AC3E}">
        <p14:creationId xmlns:p14="http://schemas.microsoft.com/office/powerpoint/2010/main" val="39264536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a:xfrm>
            <a:off x="2209800" y="1143000"/>
            <a:ext cx="8229600" cy="4572000"/>
          </a:xfrm>
        </p:spPr>
        <p:txBody>
          <a:bodyPr/>
          <a:lstStyle/>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Used to write dynamic content back to the browser.</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If the output of expression is Java primitive the value is printed back to the browser</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If the output is an object then the result of calling toString on the object is output to the browser</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Embedded in &lt;%= and %&gt; delimiters</a:t>
            </a:r>
          </a:p>
          <a:p>
            <a:pPr marL="1100138" lvl="1" indent="-533400">
              <a:buNone/>
            </a:pPr>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&lt;%=“Fred”+ “ “ + “Flintstone %&gt; </a:t>
            </a:r>
          </a:p>
          <a:p>
            <a:pPr marL="1100138" lvl="1" indent="-533400">
              <a:buNone/>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prints “Fred Flintstone” to the browser</a:t>
            </a:r>
          </a:p>
          <a:p>
            <a:pPr marL="1100138" lvl="1" indent="-533400"/>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&lt;%=Math.sqrt(100)%&gt; </a:t>
            </a:r>
          </a:p>
          <a:p>
            <a:pPr marL="1100138" lvl="1" indent="-533400">
              <a:buNone/>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prints 10 to the browser</a:t>
            </a:r>
          </a:p>
        </p:txBody>
      </p:sp>
      <p:sp>
        <p:nvSpPr>
          <p:cNvPr id="15363"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Expressions</a:t>
            </a:r>
            <a:r>
              <a:rPr lang="en-US" altLang="en-US" sz="3600">
                <a:solidFill>
                  <a:srgbClr val="CC0000"/>
                </a:solidFill>
                <a:latin typeface="Garamond" panose="02020404030301010803" pitchFamily="18" charset="0"/>
              </a:rPr>
              <a:t> </a:t>
            </a:r>
            <a:br>
              <a:rPr lang="en-US" altLang="en-US" sz="3600">
                <a:solidFill>
                  <a:srgbClr val="CC0000"/>
                </a:solidFill>
                <a:latin typeface="Garamond" panose="02020404030301010803" pitchFamily="18" charset="0"/>
              </a:rPr>
            </a:br>
            <a:r>
              <a:rPr lang="en-US" altLang="en-US" sz="2400">
                <a:solidFill>
                  <a:srgbClr val="333399"/>
                </a:solidFill>
                <a:latin typeface="Arial" panose="020B0604020202020204" pitchFamily="34" charset="0"/>
              </a:rPr>
              <a:t>Basics</a:t>
            </a:r>
          </a:p>
        </p:txBody>
      </p:sp>
    </p:spTree>
    <p:extLst>
      <p:ext uri="{BB962C8B-B14F-4D97-AF65-F5344CB8AC3E}">
        <p14:creationId xmlns:p14="http://schemas.microsoft.com/office/powerpoint/2010/main" val="4507955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a:xfrm>
            <a:off x="2209800" y="1143000"/>
            <a:ext cx="8229600" cy="5486400"/>
          </a:xfrm>
        </p:spPr>
        <p:txBody>
          <a:bodyPr/>
          <a:lstStyle/>
          <a:p>
            <a:pPr marL="609600" indent="-609600"/>
            <a:r>
              <a:rPr lang="en-US" altLang="en-US">
                <a:solidFill>
                  <a:srgbClr val="000000"/>
                </a:solidFill>
                <a:ea typeface="Arial Unicode MS" panose="020B0604020202020204" pitchFamily="34" charset="-128"/>
                <a:cs typeface="Arial Unicode MS" panose="020B0604020202020204" pitchFamily="34" charset="-128"/>
              </a:rPr>
              <a:t>Used to embed java code in JSP pages.</a:t>
            </a:r>
          </a:p>
          <a:p>
            <a:pPr marL="1100138" lvl="1" indent="-533400"/>
            <a:r>
              <a:rPr lang="en-IN" altLang="en-US">
                <a:solidFill>
                  <a:srgbClr val="000000"/>
                </a:solidFill>
                <a:ea typeface="Arial Unicode MS" panose="020B0604020202020204" pitchFamily="34" charset="-128"/>
                <a:cs typeface="Arial Unicode MS" panose="020B0604020202020204" pitchFamily="34" charset="-128"/>
              </a:rPr>
              <a:t>Inserts  one to many lines of Java code</a:t>
            </a:r>
            <a:endParaRPr lang="en-US" altLang="en-US">
              <a:solidFill>
                <a:srgbClr val="000000"/>
              </a:solidFill>
              <a:ea typeface="Arial Unicode MS" panose="020B0604020202020204" pitchFamily="34" charset="-128"/>
              <a:cs typeface="Arial Unicode MS" panose="020B0604020202020204" pitchFamily="34" charset="-128"/>
            </a:endParaRPr>
          </a:p>
          <a:p>
            <a:pPr marL="1100138" lvl="1" indent="-533400"/>
            <a:r>
              <a:rPr lang="en-US" altLang="en-US">
                <a:solidFill>
                  <a:srgbClr val="000000"/>
                </a:solidFill>
                <a:ea typeface="Arial Unicode MS" panose="020B0604020202020204" pitchFamily="34" charset="-128"/>
                <a:cs typeface="Arial Unicode MS" panose="020B0604020202020204" pitchFamily="34" charset="-128"/>
              </a:rPr>
              <a:t>Embedded in &lt;% and %&gt; delimiters</a:t>
            </a:r>
          </a:p>
          <a:p>
            <a:pPr marL="1100138" lvl="1" indent="-533400">
              <a:buNone/>
            </a:pPr>
            <a:r>
              <a:rPr lang="en-US" altLang="en-US">
                <a:solidFill>
                  <a:srgbClr val="000000"/>
                </a:solidFill>
                <a:ea typeface="Arial Unicode MS" panose="020B0604020202020204" pitchFamily="34" charset="-128"/>
                <a:cs typeface="Arial Unicode MS" panose="020B0604020202020204" pitchFamily="34" charset="-128"/>
              </a:rPr>
              <a:t>Example:</a:t>
            </a:r>
          </a:p>
          <a:p>
            <a:pPr marL="1100138" lvl="1" indent="-533400">
              <a:buNone/>
            </a:pPr>
            <a:r>
              <a:rPr lang="en-US" altLang="en-US" sz="1600">
                <a:solidFill>
                  <a:srgbClr val="000000"/>
                </a:solidFill>
                <a:ea typeface="Arial Unicode MS" panose="020B0604020202020204" pitchFamily="34" charset="-128"/>
                <a:cs typeface="Arial Unicode MS" panose="020B0604020202020204" pitchFamily="34" charset="-128"/>
              </a:rPr>
              <a:t>&lt;%</a:t>
            </a:r>
          </a:p>
          <a:p>
            <a:pPr marL="1366838" lvl="2" indent="-457200">
              <a:buNone/>
            </a:pPr>
            <a:r>
              <a:rPr lang="en-US" altLang="en-US" sz="1600">
                <a:solidFill>
                  <a:srgbClr val="000000"/>
                </a:solidFill>
                <a:ea typeface="Arial Unicode MS" panose="020B0604020202020204" pitchFamily="34" charset="-128"/>
                <a:cs typeface="Arial Unicode MS" panose="020B0604020202020204" pitchFamily="34" charset="-128"/>
              </a:rPr>
              <a:t>int x = 5;</a:t>
            </a:r>
          </a:p>
          <a:p>
            <a:pPr marL="1366838" lvl="2" indent="-457200">
              <a:buNone/>
            </a:pPr>
            <a:r>
              <a:rPr lang="en-US" altLang="en-US" sz="1600">
                <a:solidFill>
                  <a:srgbClr val="000000"/>
                </a:solidFill>
                <a:ea typeface="Arial Unicode MS" panose="020B0604020202020204" pitchFamily="34" charset="-128"/>
                <a:cs typeface="Arial Unicode MS" panose="020B0604020202020204" pitchFamily="34" charset="-128"/>
              </a:rPr>
              <a:t>int y = 7;</a:t>
            </a:r>
          </a:p>
          <a:p>
            <a:pPr marL="1366838" lvl="2" indent="-457200">
              <a:buNone/>
            </a:pPr>
            <a:r>
              <a:rPr lang="en-US" altLang="en-US" sz="1600">
                <a:solidFill>
                  <a:srgbClr val="000000"/>
                </a:solidFill>
                <a:ea typeface="Arial Unicode MS" panose="020B0604020202020204" pitchFamily="34" charset="-128"/>
                <a:cs typeface="Arial Unicode MS" panose="020B0604020202020204" pitchFamily="34" charset="-128"/>
              </a:rPr>
              <a:t>int z = x + y;</a:t>
            </a:r>
          </a:p>
          <a:p>
            <a:pPr marL="1100138" lvl="1" indent="-533400">
              <a:buNone/>
            </a:pPr>
            <a:r>
              <a:rPr lang="en-US" altLang="en-US" sz="1600">
                <a:solidFill>
                  <a:srgbClr val="000000"/>
                </a:solidFill>
                <a:ea typeface="Arial Unicode MS" panose="020B0604020202020204" pitchFamily="34" charset="-128"/>
                <a:cs typeface="Arial Unicode MS" panose="020B0604020202020204" pitchFamily="34" charset="-128"/>
              </a:rPr>
              <a:t>%&gt;</a:t>
            </a:r>
          </a:p>
        </p:txBody>
      </p:sp>
      <p:sp>
        <p:nvSpPr>
          <p:cNvPr id="17411"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Scriptlets </a:t>
            </a:r>
            <a:br>
              <a:rPr lang="en-US" altLang="en-US" sz="3600">
                <a:solidFill>
                  <a:srgbClr val="CC0000"/>
                </a:solidFill>
              </a:rPr>
            </a:br>
            <a:r>
              <a:rPr lang="en-US" altLang="en-US" sz="2400">
                <a:solidFill>
                  <a:srgbClr val="333399"/>
                </a:solidFill>
                <a:latin typeface="Arial" panose="020B0604020202020204" pitchFamily="34" charset="0"/>
              </a:rPr>
              <a:t>Basics</a:t>
            </a:r>
          </a:p>
        </p:txBody>
      </p:sp>
    </p:spTree>
    <p:extLst>
      <p:ext uri="{BB962C8B-B14F-4D97-AF65-F5344CB8AC3E}">
        <p14:creationId xmlns:p14="http://schemas.microsoft.com/office/powerpoint/2010/main" val="33283416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body" idx="1"/>
          </p:nvPr>
        </p:nvSpPr>
        <p:spPr>
          <a:xfrm>
            <a:off x="2209800" y="1143000"/>
            <a:ext cx="8229600" cy="5562600"/>
          </a:xfrm>
        </p:spPr>
        <p:txBody>
          <a:bodyPr/>
          <a:lstStyle/>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Declarations are used to define methods &amp; instance variables</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Do not produce any output that is sent to client</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Embedded in &lt;%! and %&gt; delimiters</a:t>
            </a:r>
          </a:p>
          <a:p>
            <a:pPr marL="1100138" lvl="1" indent="-533400">
              <a:buNone/>
            </a:pPr>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 </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Public void jspDestroy() {</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System.out.println(“JSP Destroyed”);</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Public void jspInit() {</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System.out.println(“JSP Loaded”);</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t>
            </a:r>
          </a:p>
          <a:p>
            <a:pPr marL="1366838" lvl="2" indent="-4572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int myVar = 123;</a:t>
            </a:r>
          </a:p>
          <a:p>
            <a:pPr marL="1100138" lvl="1" indent="-533400">
              <a:buNone/>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%&gt;</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The functions and variables defined are available to the JSP Page as well as to the servlet in which it is compiled</a:t>
            </a:r>
          </a:p>
        </p:txBody>
      </p:sp>
      <p:sp>
        <p:nvSpPr>
          <p:cNvPr id="19459"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Declarations  </a:t>
            </a:r>
            <a:br>
              <a:rPr lang="en-US" altLang="en-US" sz="3600">
                <a:solidFill>
                  <a:srgbClr val="CC0000"/>
                </a:solidFill>
              </a:rPr>
            </a:br>
            <a:r>
              <a:rPr lang="en-US" altLang="en-US" sz="2400">
                <a:solidFill>
                  <a:srgbClr val="333399"/>
                </a:solidFill>
                <a:latin typeface="Arial" panose="020B0604020202020204" pitchFamily="34" charset="0"/>
              </a:rPr>
              <a:t>Basics</a:t>
            </a:r>
          </a:p>
        </p:txBody>
      </p:sp>
    </p:spTree>
    <p:extLst>
      <p:ext uri="{BB962C8B-B14F-4D97-AF65-F5344CB8AC3E}">
        <p14:creationId xmlns:p14="http://schemas.microsoft.com/office/powerpoint/2010/main" val="4999922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2209800" y="1143000"/>
            <a:ext cx="8229600" cy="5334000"/>
          </a:xfrm>
        </p:spPr>
        <p:txBody>
          <a:bodyPr/>
          <a:lstStyle/>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request: Reference to the current request</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response: Response to the request</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session: session associated woth current request</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application: Servlet context to which a page belongs </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pageContext: Object to access request, response, session and application associated with a page</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config: Servlet configuration for the page</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out: Object that writes to the response output stream</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page: instance of the page implementation class (this)</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exception: Available with JSP pages which are error pages</a:t>
            </a:r>
          </a:p>
        </p:txBody>
      </p:sp>
      <p:sp>
        <p:nvSpPr>
          <p:cNvPr id="21507"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Java Implicit Objects </a:t>
            </a:r>
            <a:br>
              <a:rPr lang="en-US" altLang="en-US" sz="3600">
                <a:solidFill>
                  <a:srgbClr val="CC0000"/>
                </a:solidFill>
              </a:rPr>
            </a:br>
            <a:r>
              <a:rPr lang="en-US" altLang="en-US" sz="2400">
                <a:solidFill>
                  <a:srgbClr val="333399"/>
                </a:solidFill>
                <a:latin typeface="Arial" panose="020B0604020202020204" pitchFamily="34" charset="0"/>
              </a:rPr>
              <a:t>List</a:t>
            </a:r>
          </a:p>
        </p:txBody>
      </p:sp>
    </p:spTree>
    <p:extLst>
      <p:ext uri="{BB962C8B-B14F-4D97-AF65-F5344CB8AC3E}">
        <p14:creationId xmlns:p14="http://schemas.microsoft.com/office/powerpoint/2010/main" val="41890768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body" idx="1"/>
          </p:nvPr>
        </p:nvSpPr>
        <p:spPr>
          <a:xfrm>
            <a:off x="2209800" y="1143000"/>
            <a:ext cx="8229600" cy="5410200"/>
          </a:xfrm>
        </p:spPr>
        <p:txBody>
          <a:bodyPr/>
          <a:lstStyle/>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Implicit objects provide access to server side objects </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e.g. request, response, session etc.</a:t>
            </a:r>
          </a:p>
          <a:p>
            <a:pPr marL="609600" indent="-6096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There are four scopes of the objects</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Page: Objects can only be accessed in the page where they have created.</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Request: Objects can be accessed within all pages that serve the current request.</a:t>
            </a:r>
          </a:p>
          <a:p>
            <a:pPr marL="1100138" lvl="1" indent="-533400">
              <a:buNone/>
            </a:pPr>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(Including the pages that are forwarded to and included in the original jsp page)</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Session: Objects can be accessed within the JSP pages for which the objects are defined that belong to the same session.</a:t>
            </a:r>
          </a:p>
          <a:p>
            <a:pPr marL="1100138" lvl="1" indent="-533400"/>
            <a:r>
              <a:rPr lang="en-US" altLang="en-US">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Application: Objects can be accessed by all JSP pages in a given context</a:t>
            </a:r>
          </a:p>
        </p:txBody>
      </p:sp>
      <p:sp>
        <p:nvSpPr>
          <p:cNvPr id="23555"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Java Implicit Objects</a:t>
            </a:r>
            <a:r>
              <a:rPr lang="en-US" altLang="en-US" sz="4400">
                <a:solidFill>
                  <a:srgbClr val="CC0000"/>
                </a:solidFill>
                <a:latin typeface="Arial-BoldMT"/>
              </a:rPr>
              <a:t> </a:t>
            </a:r>
            <a:br>
              <a:rPr lang="en-US" altLang="en-US" sz="4400">
                <a:solidFill>
                  <a:srgbClr val="CC0000"/>
                </a:solidFill>
                <a:latin typeface="Arial-BoldMT"/>
              </a:rPr>
            </a:br>
            <a:r>
              <a:rPr lang="en-US" altLang="en-US" sz="2400">
                <a:solidFill>
                  <a:srgbClr val="333399"/>
                </a:solidFill>
                <a:latin typeface="Arial" panose="020B0604020202020204" pitchFamily="34" charset="0"/>
              </a:rPr>
              <a:t>Scope</a:t>
            </a:r>
            <a:endParaRPr lang="en-US" altLang="en-US" sz="4400">
              <a:solidFill>
                <a:srgbClr val="CC0000"/>
              </a:solidFill>
              <a:latin typeface="Arial-BoldMT"/>
            </a:endParaRPr>
          </a:p>
        </p:txBody>
      </p:sp>
    </p:spTree>
    <p:extLst>
      <p:ext uri="{BB962C8B-B14F-4D97-AF65-F5344CB8AC3E}">
        <p14:creationId xmlns:p14="http://schemas.microsoft.com/office/powerpoint/2010/main" val="4342574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1828800" y="1143000"/>
            <a:ext cx="4343400" cy="5334000"/>
          </a:xfrm>
        </p:spPr>
        <p:txBody>
          <a:bodyPr/>
          <a:lstStyle/>
          <a:p>
            <a:pPr marL="609600" indent="-609600">
              <a:spcBef>
                <a:spcPct val="50000"/>
              </a:spcBef>
              <a:buNone/>
            </a:pPr>
            <a:r>
              <a:rPr lang="en-US" altLang="en-US" sz="1200">
                <a:latin typeface="Arial" panose="020B0604020202020204" pitchFamily="34" charset="0"/>
              </a:rPr>
              <a:t>&lt;html&gt;</a:t>
            </a:r>
          </a:p>
          <a:p>
            <a:pPr marL="609600" indent="-609600">
              <a:spcBef>
                <a:spcPct val="50000"/>
              </a:spcBef>
              <a:buNone/>
            </a:pPr>
            <a:r>
              <a:rPr lang="en-US" altLang="en-US" sz="1200">
                <a:latin typeface="Arial" panose="020B0604020202020204" pitchFamily="34" charset="0"/>
              </a:rPr>
              <a:t>  &lt;head&gt;</a:t>
            </a:r>
          </a:p>
          <a:p>
            <a:pPr marL="609600" indent="-609600">
              <a:spcBef>
                <a:spcPct val="50000"/>
              </a:spcBef>
              <a:buNone/>
            </a:pPr>
            <a:r>
              <a:rPr lang="en-US" altLang="en-US" sz="1200">
                <a:latin typeface="Arial" panose="020B0604020202020204" pitchFamily="34" charset="0"/>
              </a:rPr>
              <a:t>    &lt;title&gt;Implicit Objects&lt;/title&gt;</a:t>
            </a:r>
          </a:p>
          <a:p>
            <a:pPr marL="609600" indent="-609600">
              <a:spcBef>
                <a:spcPct val="50000"/>
              </a:spcBef>
              <a:buNone/>
            </a:pPr>
            <a:r>
              <a:rPr lang="en-US" altLang="en-US" sz="1200">
                <a:latin typeface="Arial" panose="020B0604020202020204" pitchFamily="34" charset="0"/>
              </a:rPr>
              <a:t>  &lt;/head&gt;</a:t>
            </a:r>
          </a:p>
          <a:p>
            <a:pPr marL="609600" indent="-609600">
              <a:spcBef>
                <a:spcPct val="50000"/>
              </a:spcBef>
              <a:buNone/>
            </a:pPr>
            <a:r>
              <a:rPr lang="en-US" altLang="en-US" sz="1200">
                <a:latin typeface="Arial" panose="020B0604020202020204" pitchFamily="34" charset="0"/>
              </a:rPr>
              <a:t>  &lt;body style="font-family:verdana;font-size:10pt"&gt;</a:t>
            </a:r>
          </a:p>
          <a:p>
            <a:pPr marL="609600" indent="-609600">
              <a:spcBef>
                <a:spcPct val="50000"/>
              </a:spcBef>
              <a:buNone/>
            </a:pPr>
            <a:r>
              <a:rPr lang="en-US" altLang="en-US" sz="1200">
                <a:latin typeface="Arial" panose="020B0604020202020204" pitchFamily="34" charset="0"/>
              </a:rPr>
              <a:t>    &lt;p&gt;</a:t>
            </a:r>
          </a:p>
          <a:p>
            <a:pPr marL="609600" indent="-609600">
              <a:spcBef>
                <a:spcPct val="50000"/>
              </a:spcBef>
              <a:buNone/>
            </a:pPr>
            <a:r>
              <a:rPr lang="en-US" altLang="en-US" sz="1200">
                <a:latin typeface="Arial" panose="020B0604020202020204" pitchFamily="34" charset="0"/>
              </a:rPr>
              <a:t>      Using Request parameters...&lt;br&gt;</a:t>
            </a:r>
          </a:p>
          <a:p>
            <a:pPr marL="609600" indent="-609600">
              <a:spcBef>
                <a:spcPct val="50000"/>
              </a:spcBef>
              <a:buNone/>
            </a:pPr>
            <a:r>
              <a:rPr lang="en-US" altLang="en-US" sz="1200">
                <a:latin typeface="Arial" panose="020B0604020202020204" pitchFamily="34" charset="0"/>
              </a:rPr>
              <a:t>      &lt;b&gt;Name:&lt;/b&gt; </a:t>
            </a:r>
            <a:r>
              <a:rPr lang="en-US" altLang="en-US" sz="1200" b="1">
                <a:solidFill>
                  <a:schemeClr val="accent2"/>
                </a:solidFill>
                <a:latin typeface="Arial" panose="020B0604020202020204" pitchFamily="34" charset="0"/>
              </a:rPr>
              <a:t>&lt;%= request.getParameter("name") %&gt;</a:t>
            </a:r>
          </a:p>
          <a:p>
            <a:pPr marL="609600" indent="-609600">
              <a:spcBef>
                <a:spcPct val="50000"/>
              </a:spcBef>
              <a:buNone/>
            </a:pPr>
            <a:r>
              <a:rPr lang="en-US" altLang="en-US" sz="1200">
                <a:latin typeface="Arial" panose="020B0604020202020204" pitchFamily="34" charset="0"/>
              </a:rPr>
              <a:t>    &lt;/p&gt;</a:t>
            </a:r>
          </a:p>
          <a:p>
            <a:pPr marL="609600" indent="-609600">
              <a:spcBef>
                <a:spcPct val="50000"/>
              </a:spcBef>
              <a:buNone/>
            </a:pPr>
            <a:r>
              <a:rPr lang="en-US" altLang="en-US" sz="1200">
                <a:latin typeface="Arial" panose="020B0604020202020204" pitchFamily="34" charset="0"/>
              </a:rPr>
              <a:t>    &lt;p&gt;</a:t>
            </a:r>
          </a:p>
          <a:p>
            <a:pPr marL="609600" indent="-609600">
              <a:spcBef>
                <a:spcPct val="50000"/>
              </a:spcBef>
              <a:buNone/>
            </a:pPr>
            <a:r>
              <a:rPr lang="en-US" altLang="en-US" sz="1200">
                <a:latin typeface="Arial" panose="020B0604020202020204" pitchFamily="34" charset="0"/>
              </a:rPr>
              <a:t>      </a:t>
            </a:r>
            <a:r>
              <a:rPr lang="en-US" altLang="en-US" sz="1200" b="1">
                <a:solidFill>
                  <a:schemeClr val="accent2"/>
                </a:solidFill>
                <a:latin typeface="Arial" panose="020B0604020202020204" pitchFamily="34" charset="0"/>
              </a:rPr>
              <a:t>&lt;% out.println("This is printed using the out implicit variable"); %&gt;</a:t>
            </a:r>
          </a:p>
          <a:p>
            <a:pPr marL="609600" indent="-609600">
              <a:spcBef>
                <a:spcPct val="50000"/>
              </a:spcBef>
              <a:buNone/>
            </a:pPr>
            <a:r>
              <a:rPr lang="en-US" altLang="en-US" sz="1200">
                <a:latin typeface="Arial" panose="020B0604020202020204" pitchFamily="34" charset="0"/>
              </a:rPr>
              <a:t>    &lt;/p&gt;</a:t>
            </a:r>
          </a:p>
          <a:p>
            <a:pPr marL="609600" indent="-609600">
              <a:spcBef>
                <a:spcPct val="50000"/>
              </a:spcBef>
              <a:buNone/>
            </a:pPr>
            <a:r>
              <a:rPr lang="en-US" altLang="en-US" sz="1200">
                <a:latin typeface="Arial" panose="020B0604020202020204" pitchFamily="34" charset="0"/>
              </a:rPr>
              <a:t>    &lt;p&gt;</a:t>
            </a:r>
          </a:p>
          <a:p>
            <a:pPr marL="609600" indent="-609600">
              <a:spcBef>
                <a:spcPct val="50000"/>
              </a:spcBef>
              <a:buNone/>
            </a:pPr>
            <a:r>
              <a:rPr lang="en-US" altLang="en-US" sz="1200">
                <a:latin typeface="Arial" panose="020B0604020202020204" pitchFamily="34" charset="0"/>
              </a:rPr>
              <a:t>      Storing a string to the session...&lt;br&gt;</a:t>
            </a:r>
          </a:p>
          <a:p>
            <a:pPr marL="609600" indent="-609600">
              <a:spcBef>
                <a:spcPct val="50000"/>
              </a:spcBef>
              <a:buNone/>
            </a:pPr>
            <a:r>
              <a:rPr lang="en-US" altLang="en-US" sz="1200">
                <a:latin typeface="Arial" panose="020B0604020202020204" pitchFamily="34" charset="0"/>
              </a:rPr>
              <a:t>      </a:t>
            </a:r>
            <a:r>
              <a:rPr lang="en-US" altLang="en-US" sz="1200" b="1">
                <a:solidFill>
                  <a:schemeClr val="accent2"/>
                </a:solidFill>
                <a:latin typeface="Arial" panose="020B0604020202020204" pitchFamily="34" charset="0"/>
              </a:rPr>
              <a:t>&lt;% session.setAttribute("name", "Meeraj"); %&gt;</a:t>
            </a:r>
          </a:p>
          <a:p>
            <a:pPr marL="609600" indent="-609600">
              <a:spcBef>
                <a:spcPct val="50000"/>
              </a:spcBef>
              <a:buNone/>
            </a:pPr>
            <a:r>
              <a:rPr lang="en-US" altLang="en-US" sz="1200">
                <a:latin typeface="Arial" panose="020B0604020202020204" pitchFamily="34" charset="0"/>
              </a:rPr>
              <a:t>      Retrieving the string from session...&lt;br&gt;</a:t>
            </a:r>
          </a:p>
          <a:p>
            <a:pPr marL="609600" indent="-609600">
              <a:spcBef>
                <a:spcPct val="50000"/>
              </a:spcBef>
              <a:buNone/>
            </a:pPr>
            <a:r>
              <a:rPr lang="en-US" altLang="en-US" sz="1200">
                <a:latin typeface="Arial" panose="020B0604020202020204" pitchFamily="34" charset="0"/>
              </a:rPr>
              <a:t>      &lt;b&gt;Name:&lt;/b&gt; </a:t>
            </a:r>
            <a:r>
              <a:rPr lang="en-US" altLang="en-US" sz="1200" b="1">
                <a:solidFill>
                  <a:schemeClr val="accent2"/>
                </a:solidFill>
                <a:latin typeface="Arial" panose="020B0604020202020204" pitchFamily="34" charset="0"/>
              </a:rPr>
              <a:t>&lt;%= session.getAttribute("name") %&gt;</a:t>
            </a:r>
          </a:p>
          <a:p>
            <a:pPr marL="609600" indent="-609600">
              <a:spcBef>
                <a:spcPct val="50000"/>
              </a:spcBef>
              <a:buNone/>
            </a:pPr>
            <a:r>
              <a:rPr lang="en-US" altLang="en-US" sz="1200">
                <a:latin typeface="Arial" panose="020B0604020202020204" pitchFamily="34" charset="0"/>
              </a:rPr>
              <a:t>    &lt;/p&gt;</a:t>
            </a:r>
          </a:p>
          <a:p>
            <a:pPr marL="609600" indent="-609600">
              <a:spcBef>
                <a:spcPct val="50000"/>
              </a:spcBef>
              <a:buNone/>
            </a:pPr>
            <a:r>
              <a:rPr lang="en-US" altLang="en-US" sz="1200">
                <a:latin typeface="Arial" panose="020B0604020202020204" pitchFamily="34" charset="0"/>
              </a:rPr>
              <a:t>    </a:t>
            </a:r>
          </a:p>
        </p:txBody>
      </p:sp>
      <p:sp>
        <p:nvSpPr>
          <p:cNvPr id="25603"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Java Implicit Objects </a:t>
            </a:r>
            <a:br>
              <a:rPr lang="en-US" altLang="en-US" sz="3600">
                <a:solidFill>
                  <a:srgbClr val="CC0000"/>
                </a:solidFill>
              </a:rPr>
            </a:br>
            <a:r>
              <a:rPr lang="en-US" altLang="en-US" sz="2400">
                <a:solidFill>
                  <a:srgbClr val="333399"/>
                </a:solidFill>
                <a:latin typeface="Arial" panose="020B0604020202020204" pitchFamily="34" charset="0"/>
              </a:rPr>
              <a:t>Example</a:t>
            </a:r>
          </a:p>
        </p:txBody>
      </p:sp>
      <p:sp>
        <p:nvSpPr>
          <p:cNvPr id="25604" name="Rectangle 5"/>
          <p:cNvSpPr>
            <a:spLocks noChangeArrowheads="1"/>
          </p:cNvSpPr>
          <p:nvPr/>
        </p:nvSpPr>
        <p:spPr bwMode="auto">
          <a:xfrm>
            <a:off x="6172200" y="1143000"/>
            <a:ext cx="43434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sz="2400" b="1">
                <a:solidFill>
                  <a:srgbClr val="0000FF"/>
                </a:solidFill>
                <a:latin typeface="Arial" panose="020B0604020202020204" pitchFamily="34" charset="0"/>
              </a:defRPr>
            </a:lvl1pPr>
            <a:lvl2pPr marL="1100138" indent="-533400">
              <a:defRPr sz="2400" b="1">
                <a:solidFill>
                  <a:srgbClr val="0000FF"/>
                </a:solidFill>
                <a:latin typeface="Arial" panose="020B0604020202020204" pitchFamily="34" charset="0"/>
              </a:defRPr>
            </a:lvl2pPr>
            <a:lvl3pPr marL="1366838" indent="-457200">
              <a:defRPr sz="2400" b="1">
                <a:solidFill>
                  <a:srgbClr val="0000FF"/>
                </a:solidFill>
                <a:latin typeface="Arial" panose="020B0604020202020204" pitchFamily="34" charset="0"/>
              </a:defRPr>
            </a:lvl3pPr>
            <a:lvl4pPr marL="1633538" indent="-381000">
              <a:defRPr sz="2400" b="1">
                <a:solidFill>
                  <a:srgbClr val="0000FF"/>
                </a:solidFill>
                <a:latin typeface="Arial" panose="020B0604020202020204" pitchFamily="34" charset="0"/>
              </a:defRPr>
            </a:lvl4pPr>
            <a:lvl5pPr marL="1919288" indent="-381000">
              <a:defRPr sz="2400" b="1">
                <a:solidFill>
                  <a:srgbClr val="0000FF"/>
                </a:solidFill>
                <a:latin typeface="Arial" panose="020B0604020202020204" pitchFamily="34" charset="0"/>
              </a:defRPr>
            </a:lvl5pPr>
            <a:lvl6pPr marL="2376488" indent="-381000" eaLnBrk="0" fontAlgn="base" hangingPunct="0">
              <a:spcBef>
                <a:spcPct val="0"/>
              </a:spcBef>
              <a:spcAft>
                <a:spcPct val="0"/>
              </a:spcAft>
              <a:defRPr sz="2400" b="1">
                <a:solidFill>
                  <a:srgbClr val="0000FF"/>
                </a:solidFill>
                <a:latin typeface="Arial" panose="020B0604020202020204" pitchFamily="34" charset="0"/>
              </a:defRPr>
            </a:lvl6pPr>
            <a:lvl7pPr marL="2833688" indent="-381000" eaLnBrk="0" fontAlgn="base" hangingPunct="0">
              <a:spcBef>
                <a:spcPct val="0"/>
              </a:spcBef>
              <a:spcAft>
                <a:spcPct val="0"/>
              </a:spcAft>
              <a:defRPr sz="2400" b="1">
                <a:solidFill>
                  <a:srgbClr val="0000FF"/>
                </a:solidFill>
                <a:latin typeface="Arial" panose="020B0604020202020204" pitchFamily="34" charset="0"/>
              </a:defRPr>
            </a:lvl7pPr>
            <a:lvl8pPr marL="3290888" indent="-381000" eaLnBrk="0" fontAlgn="base" hangingPunct="0">
              <a:spcBef>
                <a:spcPct val="0"/>
              </a:spcBef>
              <a:spcAft>
                <a:spcPct val="0"/>
              </a:spcAft>
              <a:defRPr sz="2400" b="1">
                <a:solidFill>
                  <a:srgbClr val="0000FF"/>
                </a:solidFill>
                <a:latin typeface="Arial" panose="020B0604020202020204" pitchFamily="34" charset="0"/>
              </a:defRPr>
            </a:lvl8pPr>
            <a:lvl9pPr marL="3748088" indent="-381000" eaLnBrk="0" fontAlgn="base" hangingPunct="0">
              <a:spcBef>
                <a:spcPct val="0"/>
              </a:spcBef>
              <a:spcAft>
                <a:spcPct val="0"/>
              </a:spcAft>
              <a:defRPr sz="2400" b="1">
                <a:solidFill>
                  <a:srgbClr val="0000FF"/>
                </a:solidFill>
                <a:latin typeface="Arial" panose="020B0604020202020204" pitchFamily="34" charset="0"/>
              </a:defRPr>
            </a:lvl9pPr>
          </a:lstStyle>
          <a:p>
            <a:pPr eaLnBrk="1" hangingPunct="1">
              <a:lnSpc>
                <a:spcPct val="90000"/>
              </a:lnSpc>
              <a:spcBef>
                <a:spcPct val="50000"/>
              </a:spcBef>
            </a:pPr>
            <a:r>
              <a:rPr lang="en-US" altLang="en-US" sz="1200" b="0">
                <a:solidFill>
                  <a:schemeClr val="tx1"/>
                </a:solidFill>
              </a:rPr>
              <a:t>    &lt;p&gt;</a:t>
            </a:r>
          </a:p>
          <a:p>
            <a:pPr eaLnBrk="1" hangingPunct="1">
              <a:lnSpc>
                <a:spcPct val="90000"/>
              </a:lnSpc>
              <a:spcBef>
                <a:spcPct val="50000"/>
              </a:spcBef>
            </a:pPr>
            <a:r>
              <a:rPr lang="en-US" altLang="en-US" sz="1200" b="0">
                <a:solidFill>
                  <a:schemeClr val="tx1"/>
                </a:solidFill>
              </a:rPr>
              <a:t>      Storing a string to the application...&lt;br&gt;</a:t>
            </a:r>
          </a:p>
          <a:p>
            <a:pPr eaLnBrk="1" hangingPunct="1">
              <a:lnSpc>
                <a:spcPct val="90000"/>
              </a:lnSpc>
              <a:spcBef>
                <a:spcPct val="50000"/>
              </a:spcBef>
            </a:pPr>
            <a:r>
              <a:rPr lang="en-US" altLang="en-US" sz="1200" b="0">
                <a:solidFill>
                  <a:schemeClr val="tx1"/>
                </a:solidFill>
              </a:rPr>
              <a:t>      </a:t>
            </a:r>
            <a:r>
              <a:rPr lang="en-US" altLang="en-US" sz="1200">
                <a:solidFill>
                  <a:schemeClr val="accent2"/>
                </a:solidFill>
              </a:rPr>
              <a:t>&lt;% application.setAttribute("name", "Meeraj"); %&gt;</a:t>
            </a:r>
          </a:p>
          <a:p>
            <a:pPr eaLnBrk="1" hangingPunct="1">
              <a:lnSpc>
                <a:spcPct val="90000"/>
              </a:lnSpc>
              <a:spcBef>
                <a:spcPct val="50000"/>
              </a:spcBef>
            </a:pPr>
            <a:r>
              <a:rPr lang="en-US" altLang="en-US" sz="1200" b="0">
                <a:solidFill>
                  <a:schemeClr val="tx1"/>
                </a:solidFill>
              </a:rPr>
              <a:t>      Retrieving the string from application...&lt;br&gt;</a:t>
            </a:r>
          </a:p>
          <a:p>
            <a:pPr eaLnBrk="1" hangingPunct="1">
              <a:lnSpc>
                <a:spcPct val="90000"/>
              </a:lnSpc>
              <a:spcBef>
                <a:spcPct val="50000"/>
              </a:spcBef>
            </a:pPr>
            <a:r>
              <a:rPr lang="en-US" altLang="en-US" sz="1200" b="0">
                <a:solidFill>
                  <a:schemeClr val="tx1"/>
                </a:solidFill>
              </a:rPr>
              <a:t>      &lt;b&gt;Name:&lt;/b&gt;</a:t>
            </a:r>
          </a:p>
          <a:p>
            <a:pPr eaLnBrk="1" hangingPunct="1">
              <a:lnSpc>
                <a:spcPct val="90000"/>
              </a:lnSpc>
              <a:spcBef>
                <a:spcPct val="50000"/>
              </a:spcBef>
            </a:pPr>
            <a:r>
              <a:rPr lang="en-US" altLang="en-US" sz="1200" b="0">
                <a:solidFill>
                  <a:schemeClr val="tx1"/>
                </a:solidFill>
              </a:rPr>
              <a:t>      </a:t>
            </a:r>
            <a:r>
              <a:rPr lang="en-US" altLang="en-US" sz="1200">
                <a:solidFill>
                  <a:schemeClr val="accent2"/>
                </a:solidFill>
              </a:rPr>
              <a:t>&lt;%= application.getAttribute("name") %&gt;</a:t>
            </a:r>
          </a:p>
          <a:p>
            <a:pPr eaLnBrk="1" hangingPunct="1">
              <a:lnSpc>
                <a:spcPct val="90000"/>
              </a:lnSpc>
              <a:spcBef>
                <a:spcPct val="50000"/>
              </a:spcBef>
            </a:pPr>
            <a:r>
              <a:rPr lang="en-US" altLang="en-US" sz="1200" b="0">
                <a:solidFill>
                  <a:schemeClr val="tx1"/>
                </a:solidFill>
              </a:rPr>
              <a:t>    &lt;/p&gt;</a:t>
            </a:r>
          </a:p>
          <a:p>
            <a:pPr eaLnBrk="1" hangingPunct="1">
              <a:lnSpc>
                <a:spcPct val="90000"/>
              </a:lnSpc>
              <a:spcBef>
                <a:spcPct val="50000"/>
              </a:spcBef>
            </a:pPr>
            <a:r>
              <a:rPr lang="en-US" altLang="en-US" sz="1200" b="0">
                <a:solidFill>
                  <a:schemeClr val="tx1"/>
                </a:solidFill>
              </a:rPr>
              <a:t>    &lt;p&gt;</a:t>
            </a:r>
          </a:p>
          <a:p>
            <a:pPr eaLnBrk="1" hangingPunct="1">
              <a:lnSpc>
                <a:spcPct val="90000"/>
              </a:lnSpc>
              <a:spcBef>
                <a:spcPct val="50000"/>
              </a:spcBef>
            </a:pPr>
            <a:r>
              <a:rPr lang="en-US" altLang="en-US" sz="1200" b="0">
                <a:solidFill>
                  <a:schemeClr val="tx1"/>
                </a:solidFill>
              </a:rPr>
              <a:t>      Storing a string to the page context...&lt;br&gt;</a:t>
            </a:r>
          </a:p>
          <a:p>
            <a:pPr eaLnBrk="1" hangingPunct="1">
              <a:lnSpc>
                <a:spcPct val="90000"/>
              </a:lnSpc>
              <a:spcBef>
                <a:spcPct val="50000"/>
              </a:spcBef>
            </a:pPr>
            <a:r>
              <a:rPr lang="en-US" altLang="en-US" sz="1200" b="0">
                <a:solidFill>
                  <a:schemeClr val="tx1"/>
                </a:solidFill>
              </a:rPr>
              <a:t>      </a:t>
            </a:r>
            <a:r>
              <a:rPr lang="en-US" altLang="en-US" sz="1200">
                <a:solidFill>
                  <a:schemeClr val="accent2"/>
                </a:solidFill>
              </a:rPr>
              <a:t>&lt;% pageContext.setAttribute("name", "Meeraj"); %&gt;</a:t>
            </a:r>
          </a:p>
          <a:p>
            <a:pPr eaLnBrk="1" hangingPunct="1">
              <a:lnSpc>
                <a:spcPct val="90000"/>
              </a:lnSpc>
              <a:spcBef>
                <a:spcPct val="50000"/>
              </a:spcBef>
            </a:pPr>
            <a:r>
              <a:rPr lang="en-US" altLang="en-US" sz="1200" b="0">
                <a:solidFill>
                  <a:schemeClr val="tx1"/>
                </a:solidFill>
              </a:rPr>
              <a:t>      Retrieving the string from page context...&lt;/br&gt;</a:t>
            </a:r>
          </a:p>
          <a:p>
            <a:pPr eaLnBrk="1" hangingPunct="1">
              <a:lnSpc>
                <a:spcPct val="90000"/>
              </a:lnSpc>
              <a:spcBef>
                <a:spcPct val="50000"/>
              </a:spcBef>
            </a:pPr>
            <a:r>
              <a:rPr lang="en-US" altLang="en-US" sz="1200" b="0">
                <a:solidFill>
                  <a:schemeClr val="tx1"/>
                </a:solidFill>
              </a:rPr>
              <a:t>      &lt;b&gt;Name:&lt;/b&gt; </a:t>
            </a:r>
          </a:p>
          <a:p>
            <a:pPr eaLnBrk="1" hangingPunct="1">
              <a:lnSpc>
                <a:spcPct val="90000"/>
              </a:lnSpc>
              <a:spcBef>
                <a:spcPct val="50000"/>
              </a:spcBef>
            </a:pPr>
            <a:r>
              <a:rPr lang="en-US" altLang="en-US" sz="1200" b="0">
                <a:solidFill>
                  <a:schemeClr val="accent2"/>
                </a:solidFill>
              </a:rPr>
              <a:t>      </a:t>
            </a:r>
            <a:r>
              <a:rPr lang="en-US" altLang="en-US" sz="1200">
                <a:solidFill>
                  <a:schemeClr val="accent2"/>
                </a:solidFill>
              </a:rPr>
              <a:t>&lt;%= pageContext.getAttribute("name") %&gt;</a:t>
            </a:r>
          </a:p>
          <a:p>
            <a:pPr eaLnBrk="1" hangingPunct="1">
              <a:lnSpc>
                <a:spcPct val="90000"/>
              </a:lnSpc>
              <a:spcBef>
                <a:spcPct val="50000"/>
              </a:spcBef>
            </a:pPr>
            <a:r>
              <a:rPr lang="en-US" altLang="en-US" sz="1200" b="0">
                <a:solidFill>
                  <a:schemeClr val="tx1"/>
                </a:solidFill>
              </a:rPr>
              <a:t>    &lt;/p&gt;</a:t>
            </a:r>
          </a:p>
          <a:p>
            <a:pPr eaLnBrk="1" hangingPunct="1">
              <a:lnSpc>
                <a:spcPct val="90000"/>
              </a:lnSpc>
              <a:spcBef>
                <a:spcPct val="50000"/>
              </a:spcBef>
            </a:pPr>
            <a:r>
              <a:rPr lang="en-US" altLang="en-US" sz="1200" b="0">
                <a:solidFill>
                  <a:schemeClr val="tx1"/>
                </a:solidFill>
              </a:rPr>
              <a:t>  &lt;/body&gt;</a:t>
            </a:r>
          </a:p>
          <a:p>
            <a:pPr eaLnBrk="1" hangingPunct="1">
              <a:lnSpc>
                <a:spcPct val="90000"/>
              </a:lnSpc>
              <a:spcBef>
                <a:spcPct val="50000"/>
              </a:spcBef>
            </a:pPr>
            <a:r>
              <a:rPr lang="en-US" altLang="en-US" sz="1200" b="0">
                <a:solidFill>
                  <a:schemeClr val="tx1"/>
                </a:solidFill>
              </a:rPr>
              <a:t>&lt;/html&gt;</a:t>
            </a:r>
          </a:p>
        </p:txBody>
      </p:sp>
    </p:spTree>
    <p:extLst>
      <p:ext uri="{BB962C8B-B14F-4D97-AF65-F5344CB8AC3E}">
        <p14:creationId xmlns:p14="http://schemas.microsoft.com/office/powerpoint/2010/main" val="40559216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2209800" y="1143000"/>
            <a:ext cx="8229600" cy="5486400"/>
          </a:xfrm>
        </p:spPr>
        <p:txBody>
          <a:bodyPr/>
          <a:lstStyle/>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Messages sent to the JSP container </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Aids the container in page translation</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Used for</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Importing tag libraries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Import required classes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Set output buffering options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 content from external files</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The jsp specification defines three directives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Page: provder information about page, such as scripting language that is used, content type, or buffer size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 – used to include the content of external files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Taglib – used to import custom actions defined in tag libraries</a:t>
            </a:r>
          </a:p>
          <a:p>
            <a:pPr marL="609600" indent="-609600">
              <a:spcBef>
                <a:spcPct val="50000"/>
              </a:spcBef>
              <a:buNone/>
            </a:pPr>
            <a:r>
              <a:rPr lang="en-US" altLang="en-US" sz="1400">
                <a:latin typeface="Garamond" panose="02020404030301010803" pitchFamily="18" charset="0"/>
              </a:rPr>
              <a:t>    </a:t>
            </a:r>
          </a:p>
        </p:txBody>
      </p:sp>
      <p:sp>
        <p:nvSpPr>
          <p:cNvPr id="27651"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Directives </a:t>
            </a:r>
            <a:br>
              <a:rPr lang="en-US" altLang="en-US" sz="3600">
                <a:solidFill>
                  <a:srgbClr val="CC0000"/>
                </a:solidFill>
              </a:rPr>
            </a:br>
            <a:r>
              <a:rPr lang="en-US" altLang="en-US" sz="2400">
                <a:solidFill>
                  <a:srgbClr val="333399"/>
                </a:solidFill>
                <a:latin typeface="Arial" panose="020B0604020202020204" pitchFamily="34" charset="0"/>
              </a:rPr>
              <a:t>Basics &amp; Types</a:t>
            </a:r>
            <a:endParaRPr lang="en-US" altLang="en-US" sz="2400">
              <a:solidFill>
                <a:srgbClr val="333399"/>
              </a:solidFill>
              <a:latin typeface="Garamond" panose="02020404030301010803" pitchFamily="18" charset="0"/>
            </a:endParaRPr>
          </a:p>
        </p:txBody>
      </p:sp>
    </p:spTree>
    <p:extLst>
      <p:ext uri="{BB962C8B-B14F-4D97-AF65-F5344CB8AC3E}">
        <p14:creationId xmlns:p14="http://schemas.microsoft.com/office/powerpoint/2010/main" val="26324535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a:xfrm>
            <a:off x="2209800" y="1143000"/>
            <a:ext cx="8229600" cy="5562600"/>
          </a:xfrm>
        </p:spPr>
        <p:txBody>
          <a:bodyPr/>
          <a:lstStyle/>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Page directive sets page properties used during translation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JSP Page can have any number of directives</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Import directive can only occur once</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Embedded in &lt;%@ and %&gt; delimiters</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Different directives are</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Language: (Default Java) Defines server side scripting language (e.g. java)</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Extends: Declares the class which the servlet compiled from JSP needs to extend</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Import: Declares the packages and classes that need to be imported for using in the java code (comma separated list)</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Session: (Default true) Boolean which says if the session implicit variable is allowed or not</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Buffer: defines buffer size of the jsp in kilobytes (if set to none no buffering is done)</a:t>
            </a:r>
          </a:p>
        </p:txBody>
      </p:sp>
      <p:sp>
        <p:nvSpPr>
          <p:cNvPr id="29699"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Page Directives </a:t>
            </a:r>
            <a:br>
              <a:rPr lang="en-US" altLang="en-US" sz="3600">
                <a:solidFill>
                  <a:srgbClr val="CC0000"/>
                </a:solidFill>
              </a:rPr>
            </a:br>
            <a:r>
              <a:rPr lang="en-US" altLang="en-US" sz="2400">
                <a:solidFill>
                  <a:srgbClr val="333399"/>
                </a:solidFill>
                <a:latin typeface="Arial" panose="020B0604020202020204" pitchFamily="34" charset="0"/>
              </a:rPr>
              <a:t>Basics &amp; Types</a:t>
            </a:r>
          </a:p>
        </p:txBody>
      </p:sp>
    </p:spTree>
    <p:extLst>
      <p:ext uri="{BB962C8B-B14F-4D97-AF65-F5344CB8AC3E}">
        <p14:creationId xmlns:p14="http://schemas.microsoft.com/office/powerpoint/2010/main" val="15358933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2209800" y="1143000"/>
            <a:ext cx="8229600" cy="5562600"/>
          </a:xfrm>
        </p:spPr>
        <p:txBody>
          <a:bodyPr/>
          <a:lstStyle/>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Different directives are (cont’d.)</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autoFlush:When true the buffer is flushed when max buffer size is reached (if set to false an exception is thrown when buffer exceeds the limit)</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isThreadSafe: (default true) If false the compiled servlet implements SingleThreadModel interface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Info: String returned by the getServletInfo() of the compiled servlet</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errorPage: Defines the relative URI of web resource to which the response should be forwarded in case of an exception</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contentType: (Default text/html) Defines MIME type for the output response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isErrorPage: True for JSP pages that are defined as error pages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pageEncoding: Defines the character encoding for the jsp page</a:t>
            </a:r>
          </a:p>
          <a:p>
            <a:pPr marL="609600" indent="-609600">
              <a:spcBef>
                <a:spcPct val="50000"/>
              </a:spcBef>
              <a:buNone/>
            </a:pPr>
            <a:r>
              <a:rPr lang="en-US" altLang="en-US" sz="1400">
                <a:latin typeface="Garamond" panose="02020404030301010803" pitchFamily="18" charset="0"/>
              </a:rPr>
              <a:t>    </a:t>
            </a:r>
          </a:p>
        </p:txBody>
      </p:sp>
      <p:sp>
        <p:nvSpPr>
          <p:cNvPr id="31747"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Page Directives </a:t>
            </a:r>
            <a:br>
              <a:rPr lang="en-US" altLang="en-US" sz="3600">
                <a:solidFill>
                  <a:srgbClr val="CC0000"/>
                </a:solidFill>
              </a:rPr>
            </a:br>
            <a:r>
              <a:rPr lang="en-US" altLang="en-US" sz="2400">
                <a:solidFill>
                  <a:srgbClr val="333399"/>
                </a:solidFill>
                <a:latin typeface="Arial" panose="020B0604020202020204" pitchFamily="34" charset="0"/>
              </a:rPr>
              <a:t>Types con’t.</a:t>
            </a:r>
          </a:p>
        </p:txBody>
      </p:sp>
    </p:spTree>
    <p:extLst>
      <p:ext uri="{BB962C8B-B14F-4D97-AF65-F5344CB8AC3E}">
        <p14:creationId xmlns:p14="http://schemas.microsoft.com/office/powerpoint/2010/main" val="40716115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2209800" y="1143000"/>
            <a:ext cx="8229600" cy="5410200"/>
          </a:xfrm>
        </p:spPr>
        <p:txBody>
          <a:bodyPr/>
          <a:lstStyle/>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 </a:t>
            </a:r>
          </a:p>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page language=“java”			</a:t>
            </a:r>
          </a:p>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buffer=“10kb”</a:t>
            </a:r>
          </a:p>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autoflush=“true”</a:t>
            </a:r>
          </a:p>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errorPage=“/error.jsp”</a:t>
            </a:r>
          </a:p>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import=“java.util.*, javax.sql.RowSet”</a:t>
            </a:r>
          </a:p>
          <a:p>
            <a:pPr marL="609600" indent="-609600">
              <a:spcBef>
                <a:spcPct val="50000"/>
              </a:spcBef>
              <a:buNone/>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%&gt;</a:t>
            </a:r>
          </a:p>
          <a:p>
            <a:pPr marL="1100138" lvl="1" indent="-533400">
              <a:spcBef>
                <a:spcPct val="50000"/>
              </a:spcBef>
            </a:pPr>
            <a:endPar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endParaRPr>
          </a:p>
          <a:p>
            <a:pPr marL="609600" indent="-609600">
              <a:spcBef>
                <a:spcPct val="50000"/>
              </a:spcBef>
              <a:buNone/>
            </a:pPr>
            <a:r>
              <a:rPr lang="en-US" altLang="en-US" sz="1400">
                <a:latin typeface="Garamond" panose="02020404030301010803" pitchFamily="18" charset="0"/>
              </a:rPr>
              <a:t>    </a:t>
            </a:r>
          </a:p>
        </p:txBody>
      </p:sp>
      <p:sp>
        <p:nvSpPr>
          <p:cNvPr id="33795"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Page Directives </a:t>
            </a:r>
            <a:br>
              <a:rPr lang="en-US" altLang="en-US" sz="3600">
                <a:solidFill>
                  <a:srgbClr val="CC0000"/>
                </a:solidFill>
              </a:rPr>
            </a:br>
            <a:r>
              <a:rPr lang="en-US" altLang="en-US" sz="2400">
                <a:solidFill>
                  <a:srgbClr val="333399"/>
                </a:solidFill>
                <a:latin typeface="Arial" panose="020B0604020202020204" pitchFamily="34" charset="0"/>
              </a:rPr>
              <a:t>Example</a:t>
            </a:r>
          </a:p>
        </p:txBody>
      </p:sp>
    </p:spTree>
    <p:extLst>
      <p:ext uri="{BB962C8B-B14F-4D97-AF65-F5344CB8AC3E}">
        <p14:creationId xmlns:p14="http://schemas.microsoft.com/office/powerpoint/2010/main" val="28197789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xfrm>
            <a:off x="2209800" y="1143000"/>
            <a:ext cx="8229600" cy="5486400"/>
          </a:xfrm>
        </p:spPr>
        <p:txBody>
          <a:bodyPr/>
          <a:lstStyle/>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Used to insert template text and JSP code during the translation phase.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The content of the included file specified by the directive is included in the including JSP page</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 include file=“included.jsp” %&gt;</a:t>
            </a:r>
          </a:p>
          <a:p>
            <a:pPr marL="609600" indent="-609600">
              <a:spcBef>
                <a:spcPct val="50000"/>
              </a:spcBef>
              <a:buNone/>
            </a:pPr>
            <a:r>
              <a:rPr lang="en-US" altLang="en-US" sz="1400">
                <a:latin typeface="Garamond" panose="02020404030301010803" pitchFamily="18" charset="0"/>
              </a:rPr>
              <a:t>	    </a:t>
            </a:r>
          </a:p>
        </p:txBody>
      </p:sp>
      <p:sp>
        <p:nvSpPr>
          <p:cNvPr id="35843"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Include Directive</a:t>
            </a:r>
            <a:br>
              <a:rPr lang="en-US" altLang="en-US" sz="3600">
                <a:solidFill>
                  <a:srgbClr val="CC0000"/>
                </a:solidFill>
              </a:rPr>
            </a:br>
            <a:r>
              <a:rPr lang="en-US" altLang="en-US" sz="2400">
                <a:solidFill>
                  <a:srgbClr val="333399"/>
                </a:solidFill>
                <a:latin typeface="Arial" panose="020B0604020202020204" pitchFamily="34" charset="0"/>
              </a:rPr>
              <a:t>Basics</a:t>
            </a:r>
          </a:p>
        </p:txBody>
      </p:sp>
    </p:spTree>
    <p:extLst>
      <p:ext uri="{BB962C8B-B14F-4D97-AF65-F5344CB8AC3E}">
        <p14:creationId xmlns:p14="http://schemas.microsoft.com/office/powerpoint/2010/main" val="3125015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xfrm>
            <a:off x="2209800" y="1143000"/>
            <a:ext cx="8229600" cy="5410200"/>
          </a:xfrm>
        </p:spPr>
        <p:txBody>
          <a:bodyPr/>
          <a:lstStyle/>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Processed during the request processing phase.</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As opposed to JSP directives which are processed during translation</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Standard actions should be supported by J2EE compliant web servers</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Custom actions can be created using tag libraries</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The different actions are</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 action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Forward action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Param action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useBean action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getProperty action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setProperty action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plugIn action</a:t>
            </a:r>
            <a:r>
              <a:rPr lang="en-US" altLang="en-US" sz="1000">
                <a:latin typeface="Garamond" panose="02020404030301010803" pitchFamily="18" charset="0"/>
              </a:rPr>
              <a:t>	    </a:t>
            </a:r>
          </a:p>
        </p:txBody>
      </p:sp>
      <p:sp>
        <p:nvSpPr>
          <p:cNvPr id="37891"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JSP Actions </a:t>
            </a:r>
            <a:br>
              <a:rPr lang="en-US" altLang="en-US" sz="3600">
                <a:solidFill>
                  <a:srgbClr val="CC0000"/>
                </a:solidFill>
              </a:rPr>
            </a:br>
            <a:r>
              <a:rPr lang="en-US" altLang="en-US" sz="2400">
                <a:solidFill>
                  <a:srgbClr val="333399"/>
                </a:solidFill>
                <a:latin typeface="Arial" panose="020B0604020202020204" pitchFamily="34" charset="0"/>
              </a:rPr>
              <a:t>Basics &amp; Types</a:t>
            </a:r>
          </a:p>
        </p:txBody>
      </p:sp>
    </p:spTree>
    <p:extLst>
      <p:ext uri="{BB962C8B-B14F-4D97-AF65-F5344CB8AC3E}">
        <p14:creationId xmlns:p14="http://schemas.microsoft.com/office/powerpoint/2010/main" val="23900652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2209800" y="1143000"/>
            <a:ext cx="8229600" cy="5334000"/>
          </a:xfrm>
        </p:spPr>
        <p:txBody>
          <a:bodyPr/>
          <a:lstStyle/>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 action used for including resources in a JSP page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 directive includes resources in a JSP page at translation time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 action includes response of a resource into the response of the JSP page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Same as including resources using RequestDispatcher interface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Changes in the included resource reflected while accessing the page.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Normally used for including dynamic resources</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&lt;jsp:include page=“inlcudedPage.jsp”&gt;</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Includes the the output of includedPage.jsp into the page where this is included.</a:t>
            </a:r>
          </a:p>
        </p:txBody>
      </p:sp>
      <p:sp>
        <p:nvSpPr>
          <p:cNvPr id="39939"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JSP Actions </a:t>
            </a:r>
            <a:br>
              <a:rPr lang="en-US" altLang="en-US" sz="3600">
                <a:solidFill>
                  <a:srgbClr val="CC0000"/>
                </a:solidFill>
              </a:rPr>
            </a:br>
            <a:r>
              <a:rPr lang="en-US" altLang="en-US" sz="2400">
                <a:solidFill>
                  <a:srgbClr val="333399"/>
                </a:solidFill>
                <a:latin typeface="Arial" panose="020B0604020202020204" pitchFamily="34" charset="0"/>
              </a:rPr>
              <a:t>Include</a:t>
            </a:r>
            <a:endParaRPr lang="en-US" altLang="en-US">
              <a:solidFill>
                <a:srgbClr val="CC0000"/>
              </a:solidFill>
              <a:latin typeface="Arial-BoldMT"/>
            </a:endParaRPr>
          </a:p>
        </p:txBody>
      </p:sp>
    </p:spTree>
    <p:extLst>
      <p:ext uri="{BB962C8B-B14F-4D97-AF65-F5344CB8AC3E}">
        <p14:creationId xmlns:p14="http://schemas.microsoft.com/office/powerpoint/2010/main" val="31257976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xfrm>
            <a:off x="2209800" y="1143000"/>
            <a:ext cx="8229600" cy="5410200"/>
          </a:xfrm>
        </p:spPr>
        <p:txBody>
          <a:bodyPr/>
          <a:lstStyle/>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Forwards the response to other web specification resources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Same as forwarding to resources using RequestDispatcher interface</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Forwarded only when content is not committed to other web application resources</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Otherwise an IllegalStateException is thrown</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Can be avoided by setting a high buffer size for the forwarding jsp page</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&lt;jsp:forward page=“Forwarded.html”&gt;</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Forwards the request to Forwarded.html</a:t>
            </a:r>
          </a:p>
        </p:txBody>
      </p:sp>
      <p:sp>
        <p:nvSpPr>
          <p:cNvPr id="41987"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JSP Actions </a:t>
            </a:r>
            <a:br>
              <a:rPr lang="en-US" altLang="en-US" sz="3600">
                <a:solidFill>
                  <a:srgbClr val="CC0000"/>
                </a:solidFill>
              </a:rPr>
            </a:br>
            <a:r>
              <a:rPr lang="en-US" altLang="en-US" sz="2400">
                <a:solidFill>
                  <a:srgbClr val="333399"/>
                </a:solidFill>
                <a:latin typeface="Arial" panose="020B0604020202020204" pitchFamily="34" charset="0"/>
              </a:rPr>
              <a:t>Forward</a:t>
            </a:r>
          </a:p>
        </p:txBody>
      </p:sp>
    </p:spTree>
    <p:extLst>
      <p:ext uri="{BB962C8B-B14F-4D97-AF65-F5344CB8AC3E}">
        <p14:creationId xmlns:p14="http://schemas.microsoft.com/office/powerpoint/2010/main" val="11186828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xfrm>
            <a:off x="2209800" y="1143000"/>
            <a:ext cx="8229600" cy="5410200"/>
          </a:xfrm>
        </p:spPr>
        <p:txBody>
          <a:bodyPr/>
          <a:lstStyle/>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Used in conjunction with Include &amp; Forward actions to include additional request parameters to the included or forwarded resource</a:t>
            </a:r>
          </a:p>
          <a:p>
            <a:pPr marL="609600" indent="-609600">
              <a:spcBef>
                <a:spcPct val="50000"/>
              </a:spcBef>
            </a:pPr>
            <a:r>
              <a:rPr lang="en-US" altLang="en-US" sz="24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spcBef>
                <a:spcPct val="50000"/>
              </a:spcBef>
              <a:buNone/>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&lt;jsp:forward page=“Param2.jsp”&gt;</a:t>
            </a:r>
          </a:p>
          <a:p>
            <a:pPr marL="1100138" lvl="1" indent="-533400">
              <a:spcBef>
                <a:spcPct val="50000"/>
              </a:spcBef>
              <a:buNone/>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&lt;jsp:param name=“FirstName” value=“Sanjay”&gt;</a:t>
            </a:r>
          </a:p>
          <a:p>
            <a:pPr marL="1100138" lvl="1" indent="-533400">
              <a:spcBef>
                <a:spcPct val="50000"/>
              </a:spcBef>
              <a:buNone/>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&lt;/jsp:forward&gt;</a:t>
            </a:r>
          </a:p>
          <a:p>
            <a:pPr marL="1100138" lvl="1" indent="-5334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This will result in the forwarded resource having an additional parameter FirstName with a value of Sanjay</a:t>
            </a:r>
            <a:r>
              <a:rPr lang="en-US" altLang="en-US" sz="1200">
                <a:latin typeface="Garamond" panose="02020404030301010803" pitchFamily="18" charset="0"/>
              </a:rPr>
              <a:t>	    </a:t>
            </a:r>
          </a:p>
        </p:txBody>
      </p:sp>
      <p:sp>
        <p:nvSpPr>
          <p:cNvPr id="44035"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JSP Actions </a:t>
            </a:r>
            <a:br>
              <a:rPr lang="en-US" altLang="en-US" sz="3600">
                <a:solidFill>
                  <a:srgbClr val="CC0000"/>
                </a:solidFill>
              </a:rPr>
            </a:br>
            <a:r>
              <a:rPr lang="en-US" altLang="en-US" sz="2400">
                <a:solidFill>
                  <a:srgbClr val="333399"/>
                </a:solidFill>
                <a:latin typeface="Arial" panose="020B0604020202020204" pitchFamily="34" charset="0"/>
              </a:rPr>
              <a:t>Param</a:t>
            </a:r>
          </a:p>
        </p:txBody>
      </p:sp>
    </p:spTree>
    <p:extLst>
      <p:ext uri="{BB962C8B-B14F-4D97-AF65-F5344CB8AC3E}">
        <p14:creationId xmlns:p14="http://schemas.microsoft.com/office/powerpoint/2010/main" val="4401546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xfrm>
            <a:off x="2209800" y="1143000"/>
            <a:ext cx="8229600" cy="5486400"/>
          </a:xfrm>
        </p:spPr>
        <p:txBody>
          <a:bodyPr/>
          <a:lstStyle/>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getProperty is used in conjunction with useBean to get property values of the bean defined by the useBean action</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 (getProperty)</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&lt;jsp:getProperty name=“myBean” property=“firstName” /&gt;</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Name corresponds to the id value in the useBean</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Property refers to the name of the bean property</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setProperty is used to set bean properties</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 (setProperty)</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&lt;jsp:setProperty name=“myBean” property=“firstName”  value=“Sanjay”/&gt;</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Sets the name property of myBean to SanjayExample (setProperty)</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&lt;jsp:setProperty name=“myBean” property=“firstName”  param=“fname”/&gt;</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Sets the name property of myBean to the request parameter fname</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&lt;jsp:setProperty name=“myBean” property=“*”&gt;</a:t>
            </a:r>
          </a:p>
          <a:p>
            <a:pPr marL="1100138" lvl="1" indent="-533400">
              <a:spcBef>
                <a:spcPct val="50000"/>
              </a:spcBef>
            </a:pPr>
            <a:r>
              <a:rPr lang="en-US" altLang="en-US" sz="16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Sets property to the corresponding value in request</a:t>
            </a:r>
          </a:p>
        </p:txBody>
      </p:sp>
      <p:sp>
        <p:nvSpPr>
          <p:cNvPr id="48131"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JSP Actions </a:t>
            </a:r>
            <a:br>
              <a:rPr lang="en-US" altLang="en-US" sz="3600">
                <a:solidFill>
                  <a:srgbClr val="CC0000"/>
                </a:solidFill>
              </a:rPr>
            </a:br>
            <a:r>
              <a:rPr lang="en-US" altLang="en-US" sz="2400">
                <a:solidFill>
                  <a:srgbClr val="333399"/>
                </a:solidFill>
                <a:latin typeface="Arial" panose="020B0604020202020204" pitchFamily="34" charset="0"/>
              </a:rPr>
              <a:t>get/setProperty</a:t>
            </a:r>
            <a:endParaRPr lang="en-US" altLang="en-US">
              <a:solidFill>
                <a:srgbClr val="CC0000"/>
              </a:solidFill>
              <a:latin typeface="Arial-BoldMT"/>
            </a:endParaRPr>
          </a:p>
        </p:txBody>
      </p:sp>
    </p:spTree>
    <p:extLst>
      <p:ext uri="{BB962C8B-B14F-4D97-AF65-F5344CB8AC3E}">
        <p14:creationId xmlns:p14="http://schemas.microsoft.com/office/powerpoint/2010/main" val="42732646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xfrm>
            <a:off x="2209800" y="1143000"/>
            <a:ext cx="8229600" cy="5410200"/>
          </a:xfrm>
        </p:spPr>
        <p:txBody>
          <a:bodyPr/>
          <a:lstStyle/>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Enables the JSP container to render appropriate HTML (based on the browser type) to:</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Initiate the download of the Java plugin</a:t>
            </a:r>
          </a:p>
          <a:p>
            <a:pPr marL="1100138" lvl="1" indent="-533400">
              <a:spcBef>
                <a:spcPct val="50000"/>
              </a:spcBef>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Execution of the specified applet or bean</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plugIn standard action allows the applet to be embedded in a browser neutral fashion</a:t>
            </a:r>
          </a:p>
          <a:p>
            <a:pPr marL="609600" indent="-609600">
              <a:spcBef>
                <a:spcPct val="50000"/>
              </a:spcBef>
            </a:pPr>
            <a:r>
              <a:rPr lang="en-US" altLang="en-US" sz="20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Example</a:t>
            </a:r>
          </a:p>
          <a:p>
            <a:pPr marL="1100138" lvl="1" indent="-533400">
              <a:spcBef>
                <a:spcPct val="50000"/>
              </a:spcBef>
              <a:buNone/>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 plugin type=“applet” code=“MyApplet.class” codebase=“/”&gt;</a:t>
            </a:r>
          </a:p>
          <a:p>
            <a:pPr marL="1100138" lvl="1" indent="-533400">
              <a:spcBef>
                <a:spcPct val="50000"/>
              </a:spcBef>
              <a:buNone/>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&lt;jsp:params&gt;</a:t>
            </a:r>
          </a:p>
          <a:p>
            <a:pPr marL="1100138" lvl="1" indent="-533400">
              <a:spcBef>
                <a:spcPct val="50000"/>
              </a:spcBef>
              <a:buNone/>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&lt;jsp:param name=“myParam” value=“122”/&gt;</a:t>
            </a:r>
          </a:p>
          <a:p>
            <a:pPr marL="1100138" lvl="1" indent="-533400">
              <a:spcBef>
                <a:spcPct val="50000"/>
              </a:spcBef>
              <a:buNone/>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&lt;/jsp:params&gt;</a:t>
            </a:r>
          </a:p>
          <a:p>
            <a:pPr marL="1100138" lvl="1" indent="-533400">
              <a:spcBef>
                <a:spcPct val="50000"/>
              </a:spcBef>
              <a:buNone/>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	&lt;jsp:fallback&gt;&lt;b&gt;Unable to load applet&lt;/b&gt;&lt;/jsp:fallback&gt;</a:t>
            </a:r>
          </a:p>
          <a:p>
            <a:pPr marL="1100138" lvl="1" indent="-533400">
              <a:spcBef>
                <a:spcPct val="50000"/>
              </a:spcBef>
              <a:buNone/>
            </a:pPr>
            <a:r>
              <a:rPr lang="en-US" altLang="en-US" sz="1800">
                <a:solidFill>
                  <a:srgbClr val="000000"/>
                </a:solidFill>
                <a:latin typeface="Garamond" panose="02020404030301010803" pitchFamily="18" charset="0"/>
                <a:ea typeface="Arial Unicode MS" panose="020B0604020202020204" pitchFamily="34" charset="-128"/>
                <a:cs typeface="Arial Unicode MS" panose="020B0604020202020204" pitchFamily="34" charset="-128"/>
              </a:rPr>
              <a:t>&lt;/jsp:plugin&gt;</a:t>
            </a:r>
          </a:p>
          <a:p>
            <a:pPr marL="1100138" lvl="1" indent="-533400">
              <a:spcBef>
                <a:spcPct val="50000"/>
              </a:spcBef>
              <a:buNone/>
            </a:pPr>
            <a:endParaRPr lang="en-US" altLang="en-US" sz="1000">
              <a:latin typeface="Garamond" panose="02020404030301010803" pitchFamily="18" charset="0"/>
            </a:endParaRPr>
          </a:p>
          <a:p>
            <a:pPr marL="1100138" lvl="1" indent="-533400">
              <a:spcBef>
                <a:spcPct val="50000"/>
              </a:spcBef>
              <a:buNone/>
            </a:pPr>
            <a:r>
              <a:rPr lang="en-US" altLang="en-US" sz="1000">
                <a:latin typeface="Garamond" panose="02020404030301010803" pitchFamily="18" charset="0"/>
              </a:rPr>
              <a:t>    </a:t>
            </a:r>
          </a:p>
        </p:txBody>
      </p:sp>
      <p:sp>
        <p:nvSpPr>
          <p:cNvPr id="50179" name="Rectangle 3"/>
          <p:cNvSpPr>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a:solidFill>
                  <a:srgbClr val="CC0000"/>
                </a:solidFill>
              </a:rPr>
              <a:t>JSP Actions </a:t>
            </a:r>
            <a:br>
              <a:rPr lang="en-US" altLang="en-US" sz="3600">
                <a:solidFill>
                  <a:srgbClr val="CC0000"/>
                </a:solidFill>
              </a:rPr>
            </a:br>
            <a:r>
              <a:rPr lang="en-US" altLang="en-US" sz="2400">
                <a:solidFill>
                  <a:srgbClr val="333399"/>
                </a:solidFill>
                <a:latin typeface="Arial" panose="020B0604020202020204" pitchFamily="34" charset="0"/>
              </a:rPr>
              <a:t>plugIn</a:t>
            </a:r>
          </a:p>
        </p:txBody>
      </p:sp>
    </p:spTree>
    <p:extLst>
      <p:ext uri="{BB962C8B-B14F-4D97-AF65-F5344CB8AC3E}">
        <p14:creationId xmlns:p14="http://schemas.microsoft.com/office/powerpoint/2010/main" val="28867482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p:cNvSpPr>
            <a:spLocks noGrp="1"/>
          </p:cNvSpPr>
          <p:nvPr>
            <p:ph idx="1"/>
          </p:nvPr>
        </p:nvSpPr>
        <p:spPr/>
        <p:txBody>
          <a:bodyPr/>
          <a:lstStyle/>
          <a:p>
            <a:pPr marL="0" indent="0">
              <a:buNone/>
            </a:pPr>
            <a:endParaRPr lang="en-IN" altLang="en-US" smtClean="0"/>
          </a:p>
          <a:p>
            <a:pPr marL="0" indent="0" algn="ctr">
              <a:buNone/>
            </a:pPr>
            <a:r>
              <a:rPr lang="en-IN" altLang="en-US" sz="8000" i="1">
                <a:solidFill>
                  <a:srgbClr val="C00000"/>
                </a:solidFill>
                <a:latin typeface="Forte" panose="03060902040502070203" pitchFamily="66" charset="0"/>
              </a:rPr>
              <a:t>Thank you</a:t>
            </a:r>
            <a:endParaRPr lang="en-US" altLang="en-US" sz="8000" i="1">
              <a:solidFill>
                <a:srgbClr val="C00000"/>
              </a:solidFill>
              <a:latin typeface="Forte" panose="03060902040502070203" pitchFamily="66" charset="0"/>
            </a:endParaRPr>
          </a:p>
        </p:txBody>
      </p:sp>
    </p:spTree>
    <p:extLst>
      <p:ext uri="{BB962C8B-B14F-4D97-AF65-F5344CB8AC3E}">
        <p14:creationId xmlns:p14="http://schemas.microsoft.com/office/powerpoint/2010/main" val="1901887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9070</TotalTime>
  <Words>3841</Words>
  <Application>Microsoft Office PowerPoint</Application>
  <PresentationFormat>Widescreen</PresentationFormat>
  <Paragraphs>652</Paragraphs>
  <Slides>55</Slides>
  <Notes>24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55</vt:i4>
      </vt:variant>
    </vt:vector>
  </HeadingPairs>
  <TitlesOfParts>
    <vt:vector size="68" baseType="lpstr">
      <vt:lpstr>Arial Unicode MS</vt:lpstr>
      <vt:lpstr>Apple Chancery</vt:lpstr>
      <vt:lpstr>Arial</vt:lpstr>
      <vt:lpstr>Arial-BoldMT</vt:lpstr>
      <vt:lpstr>Calibri</vt:lpstr>
      <vt:lpstr>Calibri Light</vt:lpstr>
      <vt:lpstr>Forte</vt:lpstr>
      <vt:lpstr>Garamond</vt:lpstr>
      <vt:lpstr>Tahoma</vt:lpstr>
      <vt:lpstr>Times New Roman</vt:lpstr>
      <vt:lpstr>Verdana</vt:lpstr>
      <vt:lpstr>Wingdings</vt:lpstr>
      <vt:lpstr>Office Theme</vt:lpstr>
      <vt:lpstr>PowerPoint Presentation</vt:lpstr>
      <vt:lpstr>Syllabus</vt:lpstr>
      <vt:lpstr>Contents</vt:lpstr>
      <vt:lpstr>Servlets Introduction </vt:lpstr>
      <vt:lpstr>Servlets Introduction</vt:lpstr>
      <vt:lpstr>Servlets</vt:lpstr>
      <vt:lpstr>Servlets</vt:lpstr>
      <vt:lpstr>Servlets</vt:lpstr>
      <vt:lpstr>Web Container/Servlet engine</vt:lpstr>
      <vt:lpstr>Web Application Directory Structure</vt:lpstr>
      <vt:lpstr>Servlet Interface</vt:lpstr>
      <vt:lpstr>The Servlet API</vt:lpstr>
      <vt:lpstr>The javax.servlet Package </vt:lpstr>
      <vt:lpstr>HttpServlet</vt:lpstr>
      <vt:lpstr>Servlet Life Cycle</vt:lpstr>
      <vt:lpstr>The Servlet Interface</vt:lpstr>
      <vt:lpstr>ServletConfig Interface</vt:lpstr>
      <vt:lpstr>ServletContext Interface</vt:lpstr>
      <vt:lpstr>ServletRequest Interface</vt:lpstr>
      <vt:lpstr>ServletResponse Interface</vt:lpstr>
      <vt:lpstr>The GenericServlet Class </vt:lpstr>
      <vt:lpstr>Reading Servlet Parameters </vt:lpstr>
      <vt:lpstr>UnamePasswordServlet.html </vt:lpstr>
      <vt:lpstr>UnamePasswordServlet.java</vt:lpstr>
      <vt:lpstr> Handling HTTP Requests and Responses </vt:lpstr>
      <vt:lpstr>Handling HTTP GET Requests</vt:lpstr>
      <vt:lpstr>ColorGet.html</vt:lpstr>
      <vt:lpstr>ColorGetServlet.java</vt:lpstr>
      <vt:lpstr>Handling HTTP POST Requests</vt:lpstr>
      <vt:lpstr>Handling HTTP POST Requests</vt:lpstr>
      <vt:lpstr>Handling HTTP POST Requests</vt:lpstr>
      <vt:lpstr>Server Side Development</vt:lpstr>
      <vt:lpstr>PowerPoint Presentation</vt:lpstr>
      <vt:lpstr>PowerPoint Presentation</vt:lpstr>
      <vt:lpstr>JSP Life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Microsoft account</cp:lastModifiedBy>
  <cp:revision>497</cp:revision>
  <dcterms:created xsi:type="dcterms:W3CDTF">2007-08-28T09:12:38Z</dcterms:created>
  <dcterms:modified xsi:type="dcterms:W3CDTF">2023-05-03T04:50:04Z</dcterms:modified>
</cp:coreProperties>
</file>