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5" r:id="rId1"/>
  </p:sldMasterIdLst>
  <p:notesMasterIdLst>
    <p:notesMasterId r:id="rId37"/>
  </p:notesMasterIdLst>
  <p:handoutMasterIdLst>
    <p:handoutMasterId r:id="rId38"/>
  </p:handoutMasterIdLst>
  <p:sldIdLst>
    <p:sldId id="520" r:id="rId2"/>
    <p:sldId id="509" r:id="rId3"/>
    <p:sldId id="418" r:id="rId4"/>
    <p:sldId id="579" r:id="rId5"/>
    <p:sldId id="580" r:id="rId6"/>
    <p:sldId id="581" r:id="rId7"/>
    <p:sldId id="582" r:id="rId8"/>
    <p:sldId id="583" r:id="rId9"/>
    <p:sldId id="584" r:id="rId10"/>
    <p:sldId id="585" r:id="rId11"/>
    <p:sldId id="586" r:id="rId12"/>
    <p:sldId id="587" r:id="rId13"/>
    <p:sldId id="588" r:id="rId14"/>
    <p:sldId id="589" r:id="rId15"/>
    <p:sldId id="613" r:id="rId16"/>
    <p:sldId id="614" r:id="rId17"/>
    <p:sldId id="590" r:id="rId18"/>
    <p:sldId id="592" r:id="rId19"/>
    <p:sldId id="591" r:id="rId20"/>
    <p:sldId id="593" r:id="rId21"/>
    <p:sldId id="594" r:id="rId22"/>
    <p:sldId id="595" r:id="rId23"/>
    <p:sldId id="597" r:id="rId24"/>
    <p:sldId id="599" r:id="rId25"/>
    <p:sldId id="600" r:id="rId26"/>
    <p:sldId id="601" r:id="rId27"/>
    <p:sldId id="602" r:id="rId28"/>
    <p:sldId id="605" r:id="rId29"/>
    <p:sldId id="606" r:id="rId30"/>
    <p:sldId id="607" r:id="rId31"/>
    <p:sldId id="608" r:id="rId32"/>
    <p:sldId id="609" r:id="rId33"/>
    <p:sldId id="610" r:id="rId34"/>
    <p:sldId id="611" r:id="rId35"/>
    <p:sldId id="612" r:id="rId3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B29A"/>
    <a:srgbClr val="000F2E"/>
    <a:srgbClr val="00194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12" autoAdjust="0"/>
    <p:restoredTop sz="94434" autoAdjust="0"/>
  </p:normalViewPr>
  <p:slideViewPr>
    <p:cSldViewPr>
      <p:cViewPr>
        <p:scale>
          <a:sx n="68" d="100"/>
          <a:sy n="68" d="100"/>
        </p:scale>
        <p:origin x="-744" y="-22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D5163DD-12C9-4B8E-91F3-BECE4B548A1F}" type="datetimeFigureOut">
              <a:rPr lang="en-US" smtClean="0"/>
              <a:t>10/28/2022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smtClean="0"/>
              <a:t>Mr. R C Ravindranath, Asst. Prof., SOE-CSE</a:t>
            </a:r>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884565-77A9-41BC-A3D1-C71554A711C1}" type="slidenum">
              <a:rPr lang="en-US" smtClean="0"/>
              <a:t>‹#›</a:t>
            </a:fld>
            <a:endParaRPr lang="en-US"/>
          </a:p>
        </p:txBody>
      </p:sp>
    </p:spTree>
    <p:extLst>
      <p:ext uri="{BB962C8B-B14F-4D97-AF65-F5344CB8AC3E}">
        <p14:creationId xmlns:p14="http://schemas.microsoft.com/office/powerpoint/2010/main" val="53441510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a:defRPr/>
            </a:pPr>
            <a:fld id="{B35E0ABE-3FD2-4491-A84F-F5DF78F574D2}" type="datetimeFigureOut">
              <a:rPr lang="en-US"/>
              <a:pPr>
                <a:defRPr/>
              </a:pPr>
              <a:t>10/28/2022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a:defRPr/>
            </a:pPr>
            <a:r>
              <a:rPr lang="en-US" smtClean="0"/>
              <a:t>Mr. R C Ravindranath, Asst. Prof., SOE-CSE</a:t>
            </a: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CDD763F7-5C11-4DBC-83B1-39D83E1FBE10}" type="slidenum">
              <a:rPr lang="en-US" altLang="en-US"/>
              <a:pPr>
                <a:defRPr/>
              </a:pPr>
              <a:t>‹#›</a:t>
            </a:fld>
            <a:endParaRPr lang="en-US" altLang="en-US"/>
          </a:p>
        </p:txBody>
      </p:sp>
    </p:spTree>
    <p:extLst>
      <p:ext uri="{BB962C8B-B14F-4D97-AF65-F5344CB8AC3E}">
        <p14:creationId xmlns:p14="http://schemas.microsoft.com/office/powerpoint/2010/main" val="2171985713"/>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CDD763F7-5C11-4DBC-83B1-39D83E1FBE10}" type="slidenum">
              <a:rPr lang="en-US" altLang="en-US" smtClean="0"/>
              <a:pPr>
                <a:defRPr/>
              </a:pPr>
              <a:t>1</a:t>
            </a:fld>
            <a:endParaRPr lang="en-US" altLang="en-US"/>
          </a:p>
        </p:txBody>
      </p:sp>
      <p:sp>
        <p:nvSpPr>
          <p:cNvPr id="5" name="Footer Placeholder 4"/>
          <p:cNvSpPr>
            <a:spLocks noGrp="1"/>
          </p:cNvSpPr>
          <p:nvPr>
            <p:ph type="ftr" sz="quarter" idx="11"/>
          </p:nvPr>
        </p:nvSpPr>
        <p:spPr/>
        <p:txBody>
          <a:bodyPr/>
          <a:lstStyle/>
          <a:p>
            <a:pPr>
              <a:defRPr/>
            </a:pPr>
            <a:r>
              <a:rPr lang="en-US" smtClean="0"/>
              <a:t>Mr. R C Ravindranath, Asst. Prof., SOE-CSE</a:t>
            </a:r>
            <a:endParaRPr lang="en-US"/>
          </a:p>
        </p:txBody>
      </p:sp>
    </p:spTree>
    <p:extLst>
      <p:ext uri="{BB962C8B-B14F-4D97-AF65-F5344CB8AC3E}">
        <p14:creationId xmlns:p14="http://schemas.microsoft.com/office/powerpoint/2010/main" val="41800373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Footer Placeholder 3"/>
          <p:cNvSpPr>
            <a:spLocks noGrp="1"/>
          </p:cNvSpPr>
          <p:nvPr>
            <p:ph type="ftr" sz="quarter" idx="10"/>
          </p:nvPr>
        </p:nvSpPr>
        <p:spPr/>
        <p:txBody>
          <a:bodyPr/>
          <a:lstStyle/>
          <a:p>
            <a:pPr>
              <a:defRPr/>
            </a:pPr>
            <a:r>
              <a:rPr lang="en-US" smtClean="0"/>
              <a:t>Mr. R C Ravindranath, Asst. Prof., SOE-CSE</a:t>
            </a:r>
            <a:endParaRPr lang="en-US"/>
          </a:p>
        </p:txBody>
      </p:sp>
      <p:sp>
        <p:nvSpPr>
          <p:cNvPr id="5" name="Slide Number Placeholder 4"/>
          <p:cNvSpPr>
            <a:spLocks noGrp="1"/>
          </p:cNvSpPr>
          <p:nvPr>
            <p:ph type="sldNum" sz="quarter" idx="11"/>
          </p:nvPr>
        </p:nvSpPr>
        <p:spPr/>
        <p:txBody>
          <a:bodyPr/>
          <a:lstStyle/>
          <a:p>
            <a:pPr>
              <a:defRPr/>
            </a:pPr>
            <a:fld id="{CDD763F7-5C11-4DBC-83B1-39D83E1FBE10}" type="slidenum">
              <a:rPr lang="en-US" altLang="en-US" smtClean="0"/>
              <a:pPr>
                <a:defRPr/>
              </a:pPr>
              <a:t>2</a:t>
            </a:fld>
            <a:endParaRPr lang="en-US" altLang="en-US"/>
          </a:p>
        </p:txBody>
      </p:sp>
    </p:spTree>
    <p:extLst>
      <p:ext uri="{BB962C8B-B14F-4D97-AF65-F5344CB8AC3E}">
        <p14:creationId xmlns:p14="http://schemas.microsoft.com/office/powerpoint/2010/main" val="3218778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74ABA448-C6E3-40D2-9C86-B67F69C61C9B}" type="datetime1">
              <a:rPr lang="en-US" smtClean="0"/>
              <a:t>10/28/2022</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Ms Sridevi S, Asst. Prof, SOE-CSE</a:t>
            </a:r>
            <a:endParaRPr lang="en-US"/>
          </a:p>
        </p:txBody>
      </p:sp>
      <p:sp>
        <p:nvSpPr>
          <p:cNvPr id="6" name="Slide Number Placeholder 5"/>
          <p:cNvSpPr>
            <a:spLocks noGrp="1"/>
          </p:cNvSpPr>
          <p:nvPr>
            <p:ph type="sldNum" sz="quarter" idx="12"/>
          </p:nvPr>
        </p:nvSpPr>
        <p:spPr/>
        <p:txBody>
          <a:bodyPr/>
          <a:lstStyle>
            <a:lvl1pPr>
              <a:defRPr/>
            </a:lvl1pPr>
          </a:lstStyle>
          <a:p>
            <a:pPr>
              <a:defRPr/>
            </a:pPr>
            <a:fld id="{772A8AC2-F0C4-4335-A6D7-C22D8A222454}" type="slidenum">
              <a:rPr lang="en-US" altLang="en-US"/>
              <a:pPr>
                <a:defRPr/>
              </a:pPr>
              <a:t>‹#›</a:t>
            </a:fld>
            <a:endParaRPr lang="en-US" altLang="en-US"/>
          </a:p>
        </p:txBody>
      </p:sp>
    </p:spTree>
    <p:extLst>
      <p:ext uri="{BB962C8B-B14F-4D97-AF65-F5344CB8AC3E}">
        <p14:creationId xmlns:p14="http://schemas.microsoft.com/office/powerpoint/2010/main" val="2096596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CFDE93B6-12C5-4ADE-9E03-DC64CFC8A38B}" type="datetime1">
              <a:rPr lang="en-US" smtClean="0"/>
              <a:t>10/28/2022</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Ms Sridevi S, Asst. Prof, SOE-CSE</a:t>
            </a:r>
            <a:endParaRPr lang="en-US"/>
          </a:p>
        </p:txBody>
      </p:sp>
      <p:sp>
        <p:nvSpPr>
          <p:cNvPr id="6" name="Slide Number Placeholder 5"/>
          <p:cNvSpPr>
            <a:spLocks noGrp="1"/>
          </p:cNvSpPr>
          <p:nvPr>
            <p:ph type="sldNum" sz="quarter" idx="12"/>
          </p:nvPr>
        </p:nvSpPr>
        <p:spPr/>
        <p:txBody>
          <a:bodyPr/>
          <a:lstStyle>
            <a:lvl1pPr>
              <a:defRPr/>
            </a:lvl1pPr>
          </a:lstStyle>
          <a:p>
            <a:pPr>
              <a:defRPr/>
            </a:pPr>
            <a:fld id="{A01CA5F2-CD08-4EF5-BAD9-872B7BB27165}" type="slidenum">
              <a:rPr lang="en-US" altLang="en-US"/>
              <a:pPr>
                <a:defRPr/>
              </a:pPr>
              <a:t>‹#›</a:t>
            </a:fld>
            <a:endParaRPr lang="en-US" altLang="en-US"/>
          </a:p>
        </p:txBody>
      </p:sp>
    </p:spTree>
    <p:extLst>
      <p:ext uri="{BB962C8B-B14F-4D97-AF65-F5344CB8AC3E}">
        <p14:creationId xmlns:p14="http://schemas.microsoft.com/office/powerpoint/2010/main" val="3633679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45A2C55B-A05C-487A-B53A-C19CEEBCEAAA}" type="datetime1">
              <a:rPr lang="en-US" smtClean="0"/>
              <a:t>10/28/2022</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Ms Sridevi S, Asst. Prof, SOE-CSE</a:t>
            </a:r>
            <a:endParaRPr lang="en-US"/>
          </a:p>
        </p:txBody>
      </p:sp>
      <p:sp>
        <p:nvSpPr>
          <p:cNvPr id="6" name="Slide Number Placeholder 5"/>
          <p:cNvSpPr>
            <a:spLocks noGrp="1"/>
          </p:cNvSpPr>
          <p:nvPr>
            <p:ph type="sldNum" sz="quarter" idx="12"/>
          </p:nvPr>
        </p:nvSpPr>
        <p:spPr/>
        <p:txBody>
          <a:bodyPr/>
          <a:lstStyle>
            <a:lvl1pPr>
              <a:defRPr/>
            </a:lvl1pPr>
          </a:lstStyle>
          <a:p>
            <a:pPr>
              <a:defRPr/>
            </a:pPr>
            <a:fld id="{3CB43365-358E-4EFB-9D2F-D6778ADA2A33}" type="slidenum">
              <a:rPr lang="en-US" altLang="en-US"/>
              <a:pPr>
                <a:defRPr/>
              </a:pPr>
              <a:t>‹#›</a:t>
            </a:fld>
            <a:endParaRPr lang="en-US" altLang="en-US"/>
          </a:p>
        </p:txBody>
      </p:sp>
    </p:spTree>
    <p:extLst>
      <p:ext uri="{BB962C8B-B14F-4D97-AF65-F5344CB8AC3E}">
        <p14:creationId xmlns:p14="http://schemas.microsoft.com/office/powerpoint/2010/main" val="811156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B7FFCCF7-C2BB-4136-ACC5-302224068068}" type="datetime1">
              <a:rPr lang="en-US" smtClean="0"/>
              <a:t>10/28/2022</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Ms Sridevi S, Asst. Prof, SOE-CSE</a:t>
            </a:r>
            <a:endParaRPr lang="en-US"/>
          </a:p>
        </p:txBody>
      </p:sp>
      <p:sp>
        <p:nvSpPr>
          <p:cNvPr id="7" name="Slide Number Placeholder 5"/>
          <p:cNvSpPr>
            <a:spLocks noGrp="1"/>
          </p:cNvSpPr>
          <p:nvPr>
            <p:ph type="sldNum" sz="quarter" idx="12"/>
          </p:nvPr>
        </p:nvSpPr>
        <p:spPr/>
        <p:txBody>
          <a:bodyPr/>
          <a:lstStyle>
            <a:lvl1pPr>
              <a:defRPr/>
            </a:lvl1pPr>
          </a:lstStyle>
          <a:p>
            <a:pPr>
              <a:defRPr/>
            </a:pPr>
            <a:fld id="{7061B66A-860D-4F77-A12A-57453AAB16AB}" type="slidenum">
              <a:rPr lang="en-US" altLang="en-US"/>
              <a:pPr>
                <a:defRPr/>
              </a:pPr>
              <a:t>‹#›</a:t>
            </a:fld>
            <a:endParaRPr lang="en-US" altLang="en-US"/>
          </a:p>
        </p:txBody>
      </p:sp>
    </p:spTree>
    <p:extLst>
      <p:ext uri="{BB962C8B-B14F-4D97-AF65-F5344CB8AC3E}">
        <p14:creationId xmlns:p14="http://schemas.microsoft.com/office/powerpoint/2010/main" val="3945981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412C2DA6-FAE0-4407-B7C3-F4473BF74543}" type="datetime1">
              <a:rPr lang="en-US" smtClean="0"/>
              <a:t>10/28/2022</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smtClean="0"/>
              <a:t>Ms Sridevi S, Asst. Prof, SOE-CSE</a:t>
            </a:r>
            <a:endParaRPr lang="en-US"/>
          </a:p>
        </p:txBody>
      </p:sp>
      <p:sp>
        <p:nvSpPr>
          <p:cNvPr id="9" name="Slide Number Placeholder 5"/>
          <p:cNvSpPr>
            <a:spLocks noGrp="1"/>
          </p:cNvSpPr>
          <p:nvPr>
            <p:ph type="sldNum" sz="quarter" idx="12"/>
          </p:nvPr>
        </p:nvSpPr>
        <p:spPr/>
        <p:txBody>
          <a:bodyPr/>
          <a:lstStyle>
            <a:lvl1pPr>
              <a:defRPr/>
            </a:lvl1pPr>
          </a:lstStyle>
          <a:p>
            <a:pPr>
              <a:defRPr/>
            </a:pPr>
            <a:fld id="{F19E9FAA-A59B-4AE0-A044-7FE2AB03AB9B}" type="slidenum">
              <a:rPr lang="en-US" altLang="en-US"/>
              <a:pPr>
                <a:defRPr/>
              </a:pPr>
              <a:t>‹#›</a:t>
            </a:fld>
            <a:endParaRPr lang="en-US" altLang="en-US"/>
          </a:p>
        </p:txBody>
      </p:sp>
    </p:spTree>
    <p:extLst>
      <p:ext uri="{BB962C8B-B14F-4D97-AF65-F5344CB8AC3E}">
        <p14:creationId xmlns:p14="http://schemas.microsoft.com/office/powerpoint/2010/main" val="970077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784B94F3-5C8F-4244-8146-E3DBB855AB3E}" type="datetime1">
              <a:rPr lang="en-US" smtClean="0"/>
              <a:t>10/28/2022</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smtClean="0"/>
              <a:t>Ms Sridevi S, Asst. Prof, SOE-CSE</a:t>
            </a:r>
            <a:endParaRPr lang="en-US"/>
          </a:p>
        </p:txBody>
      </p:sp>
      <p:sp>
        <p:nvSpPr>
          <p:cNvPr id="5" name="Slide Number Placeholder 5"/>
          <p:cNvSpPr>
            <a:spLocks noGrp="1"/>
          </p:cNvSpPr>
          <p:nvPr>
            <p:ph type="sldNum" sz="quarter" idx="12"/>
          </p:nvPr>
        </p:nvSpPr>
        <p:spPr/>
        <p:txBody>
          <a:bodyPr/>
          <a:lstStyle>
            <a:lvl1pPr>
              <a:defRPr/>
            </a:lvl1pPr>
          </a:lstStyle>
          <a:p>
            <a:pPr>
              <a:defRPr/>
            </a:pPr>
            <a:fld id="{5FF55CBD-5A35-43A0-8B72-DFEEFFF78235}" type="slidenum">
              <a:rPr lang="en-US" altLang="en-US"/>
              <a:pPr>
                <a:defRPr/>
              </a:pPr>
              <a:t>‹#›</a:t>
            </a:fld>
            <a:endParaRPr lang="en-US" altLang="en-US"/>
          </a:p>
        </p:txBody>
      </p:sp>
    </p:spTree>
    <p:extLst>
      <p:ext uri="{BB962C8B-B14F-4D97-AF65-F5344CB8AC3E}">
        <p14:creationId xmlns:p14="http://schemas.microsoft.com/office/powerpoint/2010/main" val="3784130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3DA8331-5D00-4F27-8889-058BE3DC73A8}" type="datetime1">
              <a:rPr lang="en-US" smtClean="0"/>
              <a:t>10/28/2022</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smtClean="0"/>
              <a:t>Ms Sridevi S, Asst. Prof, SOE-CSE</a:t>
            </a:r>
            <a:endParaRPr lang="en-US"/>
          </a:p>
        </p:txBody>
      </p:sp>
      <p:sp>
        <p:nvSpPr>
          <p:cNvPr id="4" name="Slide Number Placeholder 5"/>
          <p:cNvSpPr>
            <a:spLocks noGrp="1"/>
          </p:cNvSpPr>
          <p:nvPr>
            <p:ph type="sldNum" sz="quarter" idx="12"/>
          </p:nvPr>
        </p:nvSpPr>
        <p:spPr/>
        <p:txBody>
          <a:bodyPr/>
          <a:lstStyle>
            <a:lvl1pPr>
              <a:defRPr/>
            </a:lvl1pPr>
          </a:lstStyle>
          <a:p>
            <a:pPr>
              <a:defRPr/>
            </a:pPr>
            <a:fld id="{5EDAE260-203A-48BA-B1E0-2820BBC6B005}" type="slidenum">
              <a:rPr lang="en-US" altLang="en-US"/>
              <a:pPr>
                <a:defRPr/>
              </a:pPr>
              <a:t>‹#›</a:t>
            </a:fld>
            <a:endParaRPr lang="en-US" altLang="en-US"/>
          </a:p>
        </p:txBody>
      </p:sp>
    </p:spTree>
    <p:extLst>
      <p:ext uri="{BB962C8B-B14F-4D97-AF65-F5344CB8AC3E}">
        <p14:creationId xmlns:p14="http://schemas.microsoft.com/office/powerpoint/2010/main" val="3511905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8751A549-7269-43EB-BB38-60CCD9223F2F}" type="datetime1">
              <a:rPr lang="en-US" smtClean="0"/>
              <a:t>10/28/2022</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Ms Sridevi S, Asst. Prof, SOE-CSE</a:t>
            </a:r>
            <a:endParaRPr lang="en-US"/>
          </a:p>
        </p:txBody>
      </p:sp>
      <p:sp>
        <p:nvSpPr>
          <p:cNvPr id="7" name="Slide Number Placeholder 5"/>
          <p:cNvSpPr>
            <a:spLocks noGrp="1"/>
          </p:cNvSpPr>
          <p:nvPr>
            <p:ph type="sldNum" sz="quarter" idx="12"/>
          </p:nvPr>
        </p:nvSpPr>
        <p:spPr/>
        <p:txBody>
          <a:bodyPr/>
          <a:lstStyle>
            <a:lvl1pPr>
              <a:defRPr/>
            </a:lvl1pPr>
          </a:lstStyle>
          <a:p>
            <a:pPr>
              <a:defRPr/>
            </a:pPr>
            <a:fld id="{4043378E-E05F-4D65-B4F7-A87FC0276302}" type="slidenum">
              <a:rPr lang="en-US" altLang="en-US"/>
              <a:pPr>
                <a:defRPr/>
              </a:pPr>
              <a:t>‹#›</a:t>
            </a:fld>
            <a:endParaRPr lang="en-US" altLang="en-US"/>
          </a:p>
        </p:txBody>
      </p:sp>
    </p:spTree>
    <p:extLst>
      <p:ext uri="{BB962C8B-B14F-4D97-AF65-F5344CB8AC3E}">
        <p14:creationId xmlns:p14="http://schemas.microsoft.com/office/powerpoint/2010/main" val="2398914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9D81FE25-BAFE-4210-884A-3E00D99FA3FA}" type="datetime1">
              <a:rPr lang="en-US" smtClean="0"/>
              <a:t>10/28/2022</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Ms Sridevi S, Asst. Prof, SOE-CSE</a:t>
            </a:r>
            <a:endParaRPr lang="en-US"/>
          </a:p>
        </p:txBody>
      </p:sp>
      <p:sp>
        <p:nvSpPr>
          <p:cNvPr id="7" name="Slide Number Placeholder 5"/>
          <p:cNvSpPr>
            <a:spLocks noGrp="1"/>
          </p:cNvSpPr>
          <p:nvPr>
            <p:ph type="sldNum" sz="quarter" idx="12"/>
          </p:nvPr>
        </p:nvSpPr>
        <p:spPr/>
        <p:txBody>
          <a:bodyPr/>
          <a:lstStyle>
            <a:lvl1pPr>
              <a:defRPr/>
            </a:lvl1pPr>
          </a:lstStyle>
          <a:p>
            <a:pPr>
              <a:defRPr/>
            </a:pPr>
            <a:fld id="{7D2A09E5-A14B-4738-A48E-EF064E453217}" type="slidenum">
              <a:rPr lang="en-US" altLang="en-US"/>
              <a:pPr>
                <a:defRPr/>
              </a:pPr>
              <a:t>‹#›</a:t>
            </a:fld>
            <a:endParaRPr lang="en-US" altLang="en-US"/>
          </a:p>
        </p:txBody>
      </p:sp>
    </p:spTree>
    <p:extLst>
      <p:ext uri="{BB962C8B-B14F-4D97-AF65-F5344CB8AC3E}">
        <p14:creationId xmlns:p14="http://schemas.microsoft.com/office/powerpoint/2010/main" val="3949383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2A9ED574-D5DE-439F-8C60-FA935DF881EA}" type="datetime1">
              <a:rPr lang="en-US" smtClean="0"/>
              <a:t>10/28/2022</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Ms Sridevi S, Asst. Prof, SOE-CSE</a:t>
            </a:r>
            <a:endParaRPr lang="en-US"/>
          </a:p>
        </p:txBody>
      </p:sp>
      <p:sp>
        <p:nvSpPr>
          <p:cNvPr id="6" name="Slide Number Placeholder 5"/>
          <p:cNvSpPr>
            <a:spLocks noGrp="1"/>
          </p:cNvSpPr>
          <p:nvPr>
            <p:ph type="sldNum" sz="quarter" idx="12"/>
          </p:nvPr>
        </p:nvSpPr>
        <p:spPr/>
        <p:txBody>
          <a:bodyPr/>
          <a:lstStyle>
            <a:lvl1pPr>
              <a:defRPr/>
            </a:lvl1pPr>
          </a:lstStyle>
          <a:p>
            <a:pPr>
              <a:defRPr/>
            </a:pPr>
            <a:fld id="{9A110372-953E-4601-976C-D82CD9FCE073}" type="slidenum">
              <a:rPr lang="en-US" altLang="en-US"/>
              <a:pPr>
                <a:defRPr/>
              </a:pPr>
              <a:t>‹#›</a:t>
            </a:fld>
            <a:endParaRPr lang="en-US" altLang="en-US"/>
          </a:p>
        </p:txBody>
      </p:sp>
    </p:spTree>
    <p:extLst>
      <p:ext uri="{BB962C8B-B14F-4D97-AF65-F5344CB8AC3E}">
        <p14:creationId xmlns:p14="http://schemas.microsoft.com/office/powerpoint/2010/main" val="2314918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E429D4BC-830B-4BB7-820D-205716A54A7B}" type="datetime1">
              <a:rPr lang="en-US" smtClean="0"/>
              <a:t>10/28/2022</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Ms Sridevi S, Asst. Prof, SOE-CSE</a:t>
            </a:r>
            <a:endParaRPr lang="en-US"/>
          </a:p>
        </p:txBody>
      </p:sp>
      <p:sp>
        <p:nvSpPr>
          <p:cNvPr id="6" name="Slide Number Placeholder 5"/>
          <p:cNvSpPr>
            <a:spLocks noGrp="1"/>
          </p:cNvSpPr>
          <p:nvPr>
            <p:ph type="sldNum" sz="quarter" idx="12"/>
          </p:nvPr>
        </p:nvSpPr>
        <p:spPr/>
        <p:txBody>
          <a:bodyPr/>
          <a:lstStyle>
            <a:lvl1pPr>
              <a:defRPr/>
            </a:lvl1pPr>
          </a:lstStyle>
          <a:p>
            <a:pPr>
              <a:defRPr/>
            </a:pPr>
            <a:fld id="{0BCDF80F-6F68-4B94-9701-0F2026993C48}" type="slidenum">
              <a:rPr lang="en-US" altLang="en-US"/>
              <a:pPr>
                <a:defRPr/>
              </a:pPr>
              <a:t>‹#›</a:t>
            </a:fld>
            <a:endParaRPr lang="en-US" altLang="en-US"/>
          </a:p>
        </p:txBody>
      </p:sp>
    </p:spTree>
    <p:extLst>
      <p:ext uri="{BB962C8B-B14F-4D97-AF65-F5344CB8AC3E}">
        <p14:creationId xmlns:p14="http://schemas.microsoft.com/office/powerpoint/2010/main" val="2144011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mtClean="0">
                <a:solidFill>
                  <a:schemeClr val="tx1">
                    <a:tint val="75000"/>
                  </a:schemeClr>
                </a:solidFill>
              </a:defRPr>
            </a:lvl1pPr>
          </a:lstStyle>
          <a:p>
            <a:pPr>
              <a:defRPr/>
            </a:pPr>
            <a:fld id="{BAC54FE7-A251-427C-AD25-B89973A9BB17}" type="datetime1">
              <a:rPr lang="en-US" smtClean="0"/>
              <a:t>10/28/2022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smtClean="0"/>
              <a:t>Ms Sridevi S, Asst. Prof, SOE-CSE</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mtClean="0">
                <a:solidFill>
                  <a:schemeClr val="tx1">
                    <a:tint val="75000"/>
                  </a:schemeClr>
                </a:solidFill>
              </a:defRPr>
            </a:lvl1pPr>
          </a:lstStyle>
          <a:p>
            <a:pPr>
              <a:defRPr/>
            </a:pPr>
            <a:fld id="{03391736-D1CD-4256-BC31-406FE5C1CD1F}" type="slidenum">
              <a:rPr lang="en-US" altLang="en-US"/>
              <a:pPr>
                <a:defRPr/>
              </a:pPr>
              <a:t>‹#›</a:t>
            </a:fld>
            <a:endParaRPr lang="en-US" altLang="en-US"/>
          </a:p>
        </p:txBody>
      </p:sp>
      <p:pic>
        <p:nvPicPr>
          <p:cNvPr id="1031" name="Picture 7"/>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153025"/>
            <a:ext cx="1219200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Lst>
  <p:hf hdr="0" dt="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hyperlink" Target="https://www.programiz.com/java-programming/library/string/charat" TargetMode="External"/><Relationship Id="rId13" Type="http://schemas.openxmlformats.org/officeDocument/2006/relationships/hyperlink" Target="https://www.programiz.com/java-programming/library/string/trim" TargetMode="External"/><Relationship Id="rId18" Type="http://schemas.openxmlformats.org/officeDocument/2006/relationships/hyperlink" Target="https://www.programiz.com/java-programming/library/string/valueof" TargetMode="External"/><Relationship Id="rId26" Type="http://schemas.openxmlformats.org/officeDocument/2006/relationships/hyperlink" Target="https://www.programiz.com/java-programming/library/string/hashcode" TargetMode="External"/><Relationship Id="rId3" Type="http://schemas.openxmlformats.org/officeDocument/2006/relationships/hyperlink" Target="https://www.programiz.com/java-programming/library/string/substring" TargetMode="External"/><Relationship Id="rId21" Type="http://schemas.openxmlformats.org/officeDocument/2006/relationships/hyperlink" Target="https://www.programiz.com/java-programming/library/string/startswith" TargetMode="External"/><Relationship Id="rId7" Type="http://schemas.openxmlformats.org/officeDocument/2006/relationships/hyperlink" Target="https://www.programiz.com/java-programming/library/string/replacefirst" TargetMode="External"/><Relationship Id="rId12" Type="http://schemas.openxmlformats.org/officeDocument/2006/relationships/hyperlink" Target="https://www.programiz.com/java-programming/library/string/comparetoignorecase" TargetMode="External"/><Relationship Id="rId17" Type="http://schemas.openxmlformats.org/officeDocument/2006/relationships/hyperlink" Target="https://www.programiz.com/java-programming/library/string/touppercase" TargetMode="External"/><Relationship Id="rId25" Type="http://schemas.openxmlformats.org/officeDocument/2006/relationships/hyperlink" Target="https://www.programiz.com/java-programming/library/string/contentequals" TargetMode="External"/><Relationship Id="rId2" Type="http://schemas.openxmlformats.org/officeDocument/2006/relationships/hyperlink" Target="https://www.programiz.com/java-programming/library/string/contains" TargetMode="External"/><Relationship Id="rId16" Type="http://schemas.openxmlformats.org/officeDocument/2006/relationships/hyperlink" Target="https://www.programiz.com/java-programming/library/string/tolowercase" TargetMode="External"/><Relationship Id="rId20" Type="http://schemas.openxmlformats.org/officeDocument/2006/relationships/hyperlink" Target="https://www.programiz.com/java-programming/library/string/matches" TargetMode="External"/><Relationship Id="rId1" Type="http://schemas.openxmlformats.org/officeDocument/2006/relationships/slideLayout" Target="../slideLayouts/slideLayout7.xml"/><Relationship Id="rId6" Type="http://schemas.openxmlformats.org/officeDocument/2006/relationships/hyperlink" Target="https://www.programiz.com/java-programming/library/string/replaceall" TargetMode="External"/><Relationship Id="rId11" Type="http://schemas.openxmlformats.org/officeDocument/2006/relationships/hyperlink" Target="https://www.programiz.com/java-programming/library/string/compareto" TargetMode="External"/><Relationship Id="rId24" Type="http://schemas.openxmlformats.org/officeDocument/2006/relationships/hyperlink" Target="https://www.programiz.com/java-programming/library/string/intern" TargetMode="External"/><Relationship Id="rId5" Type="http://schemas.openxmlformats.org/officeDocument/2006/relationships/hyperlink" Target="https://www.programiz.com/java-programming/library/string/replace" TargetMode="External"/><Relationship Id="rId15" Type="http://schemas.openxmlformats.org/officeDocument/2006/relationships/hyperlink" Target="https://www.programiz.com/java-programming/library/string/split" TargetMode="External"/><Relationship Id="rId23" Type="http://schemas.openxmlformats.org/officeDocument/2006/relationships/hyperlink" Target="https://www.programiz.com/java-programming/library/string/isempty" TargetMode="External"/><Relationship Id="rId10" Type="http://schemas.openxmlformats.org/officeDocument/2006/relationships/hyperlink" Target="https://www.programiz.com/java-programming/library/string/indexof" TargetMode="External"/><Relationship Id="rId19" Type="http://schemas.openxmlformats.org/officeDocument/2006/relationships/hyperlink" Target="https://www.programiz.com/java-programming/library/string/tochararray" TargetMode="External"/><Relationship Id="rId4" Type="http://schemas.openxmlformats.org/officeDocument/2006/relationships/hyperlink" Target="https://www.programiz.com/java-programming/library/string/join" TargetMode="External"/><Relationship Id="rId9" Type="http://schemas.openxmlformats.org/officeDocument/2006/relationships/hyperlink" Target="https://www.programiz.com/java-programming/library/string/getbytes" TargetMode="External"/><Relationship Id="rId14" Type="http://schemas.openxmlformats.org/officeDocument/2006/relationships/hyperlink" Target="https://www.programiz.com/java-programming/library/string/format" TargetMode="External"/><Relationship Id="rId22" Type="http://schemas.openxmlformats.org/officeDocument/2006/relationships/hyperlink" Target="https://www.programiz.com/java-programming/library/string/endswith" TargetMode="External"/><Relationship Id="rId27" Type="http://schemas.openxmlformats.org/officeDocument/2006/relationships/hyperlink" Target="https://www.programiz.com/java-programming/library/string/subsequence" TargetMode="Externa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514600" y="1905000"/>
            <a:ext cx="7162800" cy="1676400"/>
          </a:xfrm>
          <a:prstGeom prst="rect">
            <a:avLst/>
          </a:prstGeom>
          <a:ln>
            <a:solidFill>
              <a:srgbClr val="FF0000"/>
            </a:solidFill>
            <a:headEnd/>
            <a:tailEnd/>
          </a:ln>
          <a:effectLst>
            <a:outerShdw blurRad="50800" dist="38100" dir="2700000" algn="tl" rotWithShape="0">
              <a:prstClr val="black">
                <a:alpha val="40000"/>
              </a:prstClr>
            </a:outerShdw>
          </a:effectLst>
        </p:spPr>
        <p:style>
          <a:lnRef idx="1">
            <a:schemeClr val="dk1"/>
          </a:lnRef>
          <a:fillRef idx="2">
            <a:schemeClr val="dk1"/>
          </a:fillRef>
          <a:effectRef idx="1">
            <a:schemeClr val="dk1"/>
          </a:effectRef>
          <a:fontRef idx="minor">
            <a:schemeClr val="dk1"/>
          </a:fontRef>
        </p:style>
        <p:txBody>
          <a:bodyPr lIns="90000" tIns="46800" rIns="90000" bIns="46800" anchor="ctr"/>
          <a:lstStyle/>
          <a:p>
            <a:pPr algn="ctr" defTabSz="457200">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800" b="1" dirty="0" smtClean="0">
                <a:solidFill>
                  <a:srgbClr val="FF0000"/>
                </a:solidFill>
                <a:latin typeface="Times New Roman" panose="02020603050405020304" pitchFamily="18" charset="0"/>
                <a:cs typeface="Times New Roman" panose="02020603050405020304" pitchFamily="18" charset="0"/>
              </a:rPr>
              <a:t>MODULE – 2</a:t>
            </a:r>
          </a:p>
          <a:p>
            <a:pPr algn="ctr" defTabSz="457200">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800" dirty="0">
                <a:solidFill>
                  <a:srgbClr val="002060"/>
                </a:solidFill>
              </a:rPr>
              <a:t>Arrays, String and String </a:t>
            </a:r>
            <a:r>
              <a:rPr lang="en-US" sz="2800" dirty="0" smtClean="0">
                <a:solidFill>
                  <a:srgbClr val="002060"/>
                </a:solidFill>
              </a:rPr>
              <a:t>Buffer</a:t>
            </a:r>
            <a:endParaRPr lang="en-US" sz="2800" b="1" dirty="0" smtClean="0">
              <a:solidFill>
                <a:srgbClr val="002060"/>
              </a:solidFill>
              <a:latin typeface="Times New Roman" panose="02020603050405020304" pitchFamily="18" charset="0"/>
              <a:cs typeface="Times New Roman" panose="02020603050405020304" pitchFamily="18" charset="0"/>
            </a:endParaRPr>
          </a:p>
          <a:p>
            <a:pPr algn="ctr" defTabSz="457200">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endParaRPr lang="en-US" sz="2800" b="1" dirty="0" smtClean="0">
              <a:solidFill>
                <a:srgbClr val="00206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cs typeface="Arial" panose="020B0604020202020204" pitchFamily="34" charset="0"/>
              </a:rPr>
              <a:pPr>
                <a:defRPr/>
              </a:pPr>
              <a:t>1</a:t>
            </a:fld>
            <a:endParaRPr lang="en-US" altLang="en-US">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419100" y="152400"/>
            <a:ext cx="2324100" cy="454878"/>
          </a:xfrm>
          <a:solidFill>
            <a:schemeClr val="bg1"/>
          </a:solidFill>
          <a:ln w="9525">
            <a:solidFill>
              <a:schemeClr val="accent1"/>
            </a:solidFill>
            <a:round/>
            <a:headEnd/>
            <a:tailEnd/>
          </a:ln>
          <a:effectLst>
            <a:glow rad="63500">
              <a:schemeClr val="accent2">
                <a:satMod val="175000"/>
                <a:alpha val="40000"/>
              </a:schemeClr>
            </a:glow>
            <a:innerShdw blurRad="63500" dist="50800" dir="10800000">
              <a:prstClr val="black">
                <a:alpha val="50000"/>
              </a:prstClr>
            </a:innerShdw>
          </a:effectLst>
        </p:spPr>
        <p:txBody>
          <a:bodyPr lIns="90000" tIns="46800" rIns="90000" bIns="46800" anchor="ctr"/>
          <a:lstStyle/>
          <a:p>
            <a:pPr defTabSz="457200" eaLnBrk="0" hangingPunct="0">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000" b="1" dirty="0" smtClean="0">
                <a:solidFill>
                  <a:srgbClr val="FF0000"/>
                </a:solidFill>
                <a:latin typeface="Times New Roman" panose="02020603050405020304" pitchFamily="18" charset="0"/>
                <a:ea typeface="+mn-ea"/>
                <a:cs typeface="Times New Roman" panose="02020603050405020304" pitchFamily="18" charset="0"/>
              </a:rPr>
              <a:t>Agenda</a:t>
            </a:r>
            <a:endParaRPr lang="en-US" sz="3000" b="1" dirty="0">
              <a:solidFill>
                <a:srgbClr val="FF0000"/>
              </a:solidFill>
              <a:latin typeface="Times New Roman" panose="02020603050405020304" pitchFamily="18" charset="0"/>
              <a:ea typeface="+mn-ea"/>
              <a:cs typeface="Times New Roman" panose="02020603050405020304" pitchFamily="18" charset="0"/>
            </a:endParaRPr>
          </a:p>
        </p:txBody>
      </p:sp>
      <p:sp>
        <p:nvSpPr>
          <p:cNvPr id="15363" name="Content Placeholder 2"/>
          <p:cNvSpPr>
            <a:spLocks noGrp="1"/>
          </p:cNvSpPr>
          <p:nvPr>
            <p:ph idx="1"/>
          </p:nvPr>
        </p:nvSpPr>
        <p:spPr>
          <a:xfrm>
            <a:off x="419100" y="990600"/>
            <a:ext cx="10096500" cy="2667000"/>
          </a:xfrm>
        </p:spPr>
        <p:txBody>
          <a:bodyPr rtlCol="0">
            <a:noAutofit/>
          </a:bodyPr>
          <a:lstStyle/>
          <a:p>
            <a:pPr fontAlgn="auto">
              <a:lnSpc>
                <a:spcPct val="100000"/>
              </a:lnSpc>
              <a:spcBef>
                <a:spcPts val="1200"/>
              </a:spcBef>
              <a:spcAft>
                <a:spcPts val="0"/>
              </a:spcAft>
              <a:buFont typeface="Wingdings" panose="05000000000000000000" pitchFamily="2" charset="2"/>
              <a:buChar char="ü"/>
              <a:defRPr/>
            </a:pPr>
            <a:r>
              <a:rPr lang="en-US" sz="2400" dirty="0" smtClean="0">
                <a:solidFill>
                  <a:srgbClr val="002060"/>
                </a:solidFill>
                <a:latin typeface="Times New Roman" panose="02020603050405020304" pitchFamily="18" charset="0"/>
                <a:cs typeface="Times New Roman" panose="02020603050405020304" pitchFamily="18" charset="0"/>
              </a:rPr>
              <a:t>Introduction To Arrays</a:t>
            </a:r>
          </a:p>
          <a:p>
            <a:pPr fontAlgn="auto">
              <a:lnSpc>
                <a:spcPct val="100000"/>
              </a:lnSpc>
              <a:spcBef>
                <a:spcPts val="1200"/>
              </a:spcBef>
              <a:spcAft>
                <a:spcPts val="0"/>
              </a:spcAft>
              <a:buFont typeface="Wingdings" panose="05000000000000000000" pitchFamily="2" charset="2"/>
              <a:buChar char="ü"/>
              <a:defRPr/>
            </a:pPr>
            <a:r>
              <a:rPr lang="en-US" sz="2400" dirty="0" err="1" smtClean="0">
                <a:solidFill>
                  <a:srgbClr val="002060"/>
                </a:solidFill>
                <a:latin typeface="Times New Roman" panose="02020603050405020304" pitchFamily="18" charset="0"/>
                <a:cs typeface="Times New Roman" panose="02020603050405020304" pitchFamily="18" charset="0"/>
              </a:rPr>
              <a:t>Declaration,Initialization,Accessing</a:t>
            </a:r>
            <a:r>
              <a:rPr lang="en-US" sz="2400" dirty="0" smtClean="0">
                <a:solidFill>
                  <a:srgbClr val="002060"/>
                </a:solidFill>
                <a:latin typeface="Times New Roman" panose="02020603050405020304" pitchFamily="18" charset="0"/>
                <a:cs typeface="Times New Roman" panose="02020603050405020304" pitchFamily="18" charset="0"/>
              </a:rPr>
              <a:t> an Array</a:t>
            </a:r>
          </a:p>
          <a:p>
            <a:pPr fontAlgn="auto">
              <a:lnSpc>
                <a:spcPct val="100000"/>
              </a:lnSpc>
              <a:spcBef>
                <a:spcPts val="1200"/>
              </a:spcBef>
              <a:spcAft>
                <a:spcPts val="0"/>
              </a:spcAft>
              <a:buFont typeface="Wingdings" panose="05000000000000000000" pitchFamily="2" charset="2"/>
              <a:buChar char="ü"/>
              <a:defRPr/>
            </a:pPr>
            <a:r>
              <a:rPr lang="en-IN" sz="2400" dirty="0">
                <a:solidFill>
                  <a:srgbClr val="002060"/>
                </a:solidFill>
              </a:rPr>
              <a:t>Multi –Dimensional </a:t>
            </a:r>
            <a:r>
              <a:rPr lang="en-IN" sz="2400" dirty="0" smtClean="0">
                <a:solidFill>
                  <a:srgbClr val="002060"/>
                </a:solidFill>
              </a:rPr>
              <a:t>Array</a:t>
            </a:r>
          </a:p>
          <a:p>
            <a:pPr fontAlgn="auto">
              <a:lnSpc>
                <a:spcPct val="100000"/>
              </a:lnSpc>
              <a:spcBef>
                <a:spcPts val="1200"/>
              </a:spcBef>
              <a:spcAft>
                <a:spcPts val="0"/>
              </a:spcAft>
              <a:buFont typeface="Wingdings" panose="05000000000000000000" pitchFamily="2" charset="2"/>
              <a:buChar char="ü"/>
              <a:defRPr/>
            </a:pPr>
            <a:r>
              <a:rPr lang="en-IN" sz="2400" dirty="0">
                <a:solidFill>
                  <a:srgbClr val="002060"/>
                </a:solidFill>
              </a:rPr>
              <a:t>Array of </a:t>
            </a:r>
            <a:r>
              <a:rPr lang="en-IN" sz="2400" dirty="0" smtClean="0">
                <a:solidFill>
                  <a:srgbClr val="002060"/>
                </a:solidFill>
              </a:rPr>
              <a:t>objects</a:t>
            </a:r>
          </a:p>
          <a:p>
            <a:pPr fontAlgn="auto">
              <a:lnSpc>
                <a:spcPct val="100000"/>
              </a:lnSpc>
              <a:spcBef>
                <a:spcPts val="1200"/>
              </a:spcBef>
              <a:spcAft>
                <a:spcPts val="0"/>
              </a:spcAft>
              <a:buFont typeface="Wingdings" panose="05000000000000000000" pitchFamily="2" charset="2"/>
              <a:buChar char="ü"/>
              <a:defRPr/>
            </a:pPr>
            <a:r>
              <a:rPr lang="en-IN" sz="2400" dirty="0">
                <a:solidFill>
                  <a:srgbClr val="002060"/>
                </a:solidFill>
              </a:rPr>
              <a:t>String: Creation &amp; </a:t>
            </a:r>
            <a:r>
              <a:rPr lang="en-IN" sz="2400" dirty="0" smtClean="0">
                <a:solidFill>
                  <a:srgbClr val="002060"/>
                </a:solidFill>
              </a:rPr>
              <a:t>Operation</a:t>
            </a:r>
          </a:p>
          <a:p>
            <a:pPr fontAlgn="auto">
              <a:lnSpc>
                <a:spcPct val="100000"/>
              </a:lnSpc>
              <a:spcBef>
                <a:spcPts val="1200"/>
              </a:spcBef>
              <a:spcAft>
                <a:spcPts val="0"/>
              </a:spcAft>
              <a:buFont typeface="Wingdings" panose="05000000000000000000" pitchFamily="2" charset="2"/>
              <a:buChar char="ü"/>
              <a:defRPr/>
            </a:pPr>
            <a:r>
              <a:rPr lang="en-IN" sz="2400" dirty="0">
                <a:solidFill>
                  <a:srgbClr val="002060"/>
                </a:solidFill>
              </a:rPr>
              <a:t>String buffer: Creation &amp; Operation</a:t>
            </a:r>
            <a:endParaRPr lang="en-US" sz="2400" dirty="0">
              <a:solidFill>
                <a:srgbClr val="00206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a:t>
            </a:fld>
            <a:endParaRPr lang="en-US" alt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idx="1"/>
          </p:nvPr>
        </p:nvSpPr>
        <p:spPr>
          <a:xfrm>
            <a:off x="450730" y="1042492"/>
            <a:ext cx="11468099" cy="2440483"/>
          </a:xfrm>
        </p:spPr>
        <p:txBody>
          <a:bodyPr/>
          <a:lstStyle/>
          <a:p>
            <a:pPr algn="just">
              <a:buFont typeface="Wingdings" panose="05000000000000000000" pitchFamily="2" charset="2"/>
              <a:buChar char="Ø"/>
            </a:pPr>
            <a:r>
              <a:rPr lang="en-US" altLang="en-US" sz="2000" dirty="0" smtClean="0">
                <a:solidFill>
                  <a:srgbClr val="000000"/>
                </a:solidFill>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Java array is an object which contains elements of a similar data type. </a:t>
            </a:r>
            <a:endParaRPr lang="en-US" sz="2000" b="1"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000" b="1" dirty="0" smtClean="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The elements of an array are stored in a contiguous memory location</a:t>
            </a:r>
            <a:r>
              <a:rPr lang="en-US" sz="2000" b="1" dirty="0" smtClean="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Ø"/>
            </a:pPr>
            <a:endParaRPr lang="en-US" sz="2000" b="1"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000" b="1" dirty="0" smtClean="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It is a data structure where we store similar elements</a:t>
            </a:r>
            <a:r>
              <a:rPr lang="en-US" sz="2000" b="1" dirty="0" smtClean="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Ø"/>
            </a:pPr>
            <a:endParaRPr lang="en-US" sz="2000" b="1"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000" b="1" dirty="0" smtClean="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We can store only a fixed set of elements in a Java array</a:t>
            </a:r>
            <a:r>
              <a:rPr lang="en-US" sz="2000" b="1" dirty="0" smtClean="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000" b="1" dirty="0" smtClean="0">
                <a:latin typeface="Times New Roman" panose="02020603050405020304" pitchFamily="18" charset="0"/>
                <a:cs typeface="Times New Roman" panose="02020603050405020304" pitchFamily="18" charset="0"/>
              </a:rPr>
              <a:t>Array </a:t>
            </a:r>
            <a:r>
              <a:rPr lang="en-US" sz="2000" b="1" dirty="0">
                <a:latin typeface="Times New Roman" panose="02020603050405020304" pitchFamily="18" charset="0"/>
                <a:cs typeface="Times New Roman" panose="02020603050405020304" pitchFamily="18" charset="0"/>
              </a:rPr>
              <a:t>in Java is index-based, the first element of the array is stored at the 0th index, 2nd element is stored on 1st index and so on</a:t>
            </a:r>
            <a:r>
              <a:rPr lang="en-US" sz="2000" b="1" dirty="0" smtClean="0">
                <a:latin typeface="Times New Roman" panose="02020603050405020304" pitchFamily="18" charset="0"/>
                <a:cs typeface="Times New Roman" panose="02020603050405020304" pitchFamily="18" charset="0"/>
              </a:rPr>
              <a:t>.</a:t>
            </a:r>
          </a:p>
          <a:p>
            <a:pPr marL="0" indent="0" algn="just">
              <a:buNone/>
            </a:pPr>
            <a:endParaRPr lang="en-US" altLang="en-US" sz="2000" dirty="0" smtClean="0">
              <a:solidFill>
                <a:srgbClr val="000000"/>
              </a:solidFill>
              <a:latin typeface="Times New Roman" panose="02020603050405020304" pitchFamily="18" charset="0"/>
              <a:cs typeface="Times New Roman" panose="02020603050405020304" pitchFamily="18" charset="0"/>
            </a:endParaRPr>
          </a:p>
        </p:txBody>
      </p:sp>
      <p:sp>
        <p:nvSpPr>
          <p:cNvPr id="4" name="Title 1"/>
          <p:cNvSpPr txBox="1">
            <a:spLocks/>
          </p:cNvSpPr>
          <p:nvPr/>
        </p:nvSpPr>
        <p:spPr bwMode="auto">
          <a:xfrm>
            <a:off x="419100" y="154723"/>
            <a:ext cx="4560524" cy="454878"/>
          </a:xfrm>
          <a:prstGeom prst="rect">
            <a:avLst/>
          </a:prstGeom>
          <a:solidFill>
            <a:schemeClr val="bg1"/>
          </a:solidFill>
          <a:ln w="9525">
            <a:solidFill>
              <a:schemeClr val="accent1"/>
            </a:solidFill>
            <a:round/>
            <a:headEnd/>
            <a:tailEnd/>
          </a:ln>
          <a:effectLst>
            <a:glow rad="101600">
              <a:schemeClr val="accent2">
                <a:satMod val="175000"/>
                <a:alpha val="40000"/>
              </a:schemeClr>
            </a:glow>
            <a:outerShdw blurRad="50800" dist="38100" dir="2700000" algn="tl" rotWithShape="0">
              <a:prstClr val="black">
                <a:alpha val="40000"/>
              </a:prstClr>
            </a:outerShdw>
          </a:effectLst>
          <a:extLst/>
        </p:spPr>
        <p:txBody>
          <a:bodyPr vert="horz" wrap="square" lIns="90000" tIns="46800" rIns="90000" bIns="46800" numCol="1" anchor="ctr" anchorCtr="0" compatLnSpc="1">
            <a:prstTxWarp prst="textNoShape">
              <a:avLst/>
            </a:prstTxWarp>
          </a:bodyP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defTabSz="457200">
              <a:buClr>
                <a:srgbClr val="000000"/>
              </a:buClr>
              <a:buSzPct val="1000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3000" b="1" dirty="0" smtClean="0">
                <a:solidFill>
                  <a:srgbClr val="FF0000"/>
                </a:solidFill>
                <a:latin typeface="Times New Roman" panose="02020603050405020304" pitchFamily="18" charset="0"/>
                <a:cs typeface="Times New Roman" panose="02020603050405020304" pitchFamily="18" charset="0"/>
              </a:rPr>
              <a:t>Introduction to Arrays</a:t>
            </a:r>
            <a:endParaRPr lang="en-US" sz="3000" b="1" dirty="0">
              <a:solidFill>
                <a:srgbClr val="FF0000"/>
              </a:solidFill>
              <a:latin typeface="Times New Roman" panose="02020603050405020304" pitchFamily="18" charset="0"/>
              <a:ea typeface="+mn-ea"/>
              <a:cs typeface="Times New Roman" panose="02020603050405020304" pitchFamily="18" charset="0"/>
            </a:endParaRPr>
          </a:p>
        </p:txBody>
      </p:sp>
      <p:sp>
        <p:nvSpPr>
          <p:cNvPr id="16" name="Slide Number Placeholder 15"/>
          <p:cNvSpPr>
            <a:spLocks noGrp="1"/>
          </p:cNvSpPr>
          <p:nvPr>
            <p:ph type="sldNum" sz="quarter" idx="12"/>
          </p:nvPr>
        </p:nvSpPr>
        <p:spPr/>
        <p:txBody>
          <a:bodyPr/>
          <a:lstStyle/>
          <a:p>
            <a:pPr>
              <a:defRPr/>
            </a:pPr>
            <a:fld id="{A01CA5F2-CD08-4EF5-BAD9-872B7BB27165}" type="slidenum">
              <a:rPr lang="en-US" altLang="en-US" smtClean="0"/>
              <a:pPr>
                <a:defRPr/>
              </a:pPr>
              <a:t>3</a:t>
            </a:fld>
            <a:endParaRPr lang="en-US"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barn(inVertical)">
                                      <p:cBhvr>
                                        <p:cTn id="7" dur="500"/>
                                        <p:tgtEl>
                                          <p:spTgt spid="6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147">
                                            <p:txEl>
                                              <p:pRg st="2" end="2"/>
                                            </p:txEl>
                                          </p:spTgt>
                                        </p:tgtEl>
                                        <p:attrNameLst>
                                          <p:attrName>style.visibility</p:attrName>
                                        </p:attrNameLst>
                                      </p:cBhvr>
                                      <p:to>
                                        <p:strVal val="visible"/>
                                      </p:to>
                                    </p:set>
                                    <p:animEffect transition="in" filter="barn(inVertical)">
                                      <p:cBhvr>
                                        <p:cTn id="12" dur="500"/>
                                        <p:tgtEl>
                                          <p:spTgt spid="614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6147">
                                            <p:txEl>
                                              <p:pRg st="4" end="4"/>
                                            </p:txEl>
                                          </p:spTgt>
                                        </p:tgtEl>
                                        <p:attrNameLst>
                                          <p:attrName>style.visibility</p:attrName>
                                        </p:attrNameLst>
                                      </p:cBhvr>
                                      <p:to>
                                        <p:strVal val="visible"/>
                                      </p:to>
                                    </p:set>
                                    <p:animEffect transition="in" filter="barn(inVertical)">
                                      <p:cBhvr>
                                        <p:cTn id="17" dur="500"/>
                                        <p:tgtEl>
                                          <p:spTgt spid="614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6147">
                                            <p:txEl>
                                              <p:pRg st="6" end="6"/>
                                            </p:txEl>
                                          </p:spTgt>
                                        </p:tgtEl>
                                        <p:attrNameLst>
                                          <p:attrName>style.visibility</p:attrName>
                                        </p:attrNameLst>
                                      </p:cBhvr>
                                      <p:to>
                                        <p:strVal val="visible"/>
                                      </p:to>
                                    </p:set>
                                    <p:animEffect transition="in" filter="barn(inVertical)">
                                      <p:cBhvr>
                                        <p:cTn id="22" dur="500"/>
                                        <p:tgtEl>
                                          <p:spTgt spid="6147">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6147">
                                            <p:txEl>
                                              <p:pRg st="8" end="8"/>
                                            </p:txEl>
                                          </p:spTgt>
                                        </p:tgtEl>
                                        <p:attrNameLst>
                                          <p:attrName>style.visibility</p:attrName>
                                        </p:attrNameLst>
                                      </p:cBhvr>
                                      <p:to>
                                        <p:strVal val="visible"/>
                                      </p:to>
                                    </p:set>
                                    <p:animEffect transition="in" filter="barn(inVertical)">
                                      <p:cBhvr>
                                        <p:cTn id="27" dur="500"/>
                                        <p:tgtEl>
                                          <p:spTgt spid="614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5EDAE260-203A-48BA-B1E0-2820BBC6B005}" type="slidenum">
              <a:rPr lang="en-US" altLang="en-US" smtClean="0"/>
              <a:pPr>
                <a:defRPr/>
              </a:pPr>
              <a:t>4</a:t>
            </a:fld>
            <a:endParaRPr lang="en-US" altLang="en-US"/>
          </a:p>
        </p:txBody>
      </p:sp>
      <p:pic>
        <p:nvPicPr>
          <p:cNvPr id="4" name="Picture 3"/>
          <p:cNvPicPr>
            <a:picLocks noChangeAspect="1"/>
          </p:cNvPicPr>
          <p:nvPr/>
        </p:nvPicPr>
        <p:blipFill>
          <a:blip r:embed="rId2"/>
          <a:stretch>
            <a:fillRect/>
          </a:stretch>
        </p:blipFill>
        <p:spPr>
          <a:xfrm>
            <a:off x="2667000" y="838200"/>
            <a:ext cx="6629400" cy="1181100"/>
          </a:xfrm>
          <a:prstGeom prst="rect">
            <a:avLst/>
          </a:prstGeom>
          <a:effectLst>
            <a:glow rad="101600">
              <a:schemeClr val="accent2">
                <a:satMod val="175000"/>
                <a:alpha val="40000"/>
              </a:schemeClr>
            </a:glow>
          </a:effectLst>
        </p:spPr>
      </p:pic>
      <p:sp>
        <p:nvSpPr>
          <p:cNvPr id="5" name="Rectangle 4"/>
          <p:cNvSpPr/>
          <p:nvPr/>
        </p:nvSpPr>
        <p:spPr>
          <a:xfrm>
            <a:off x="990600" y="2590800"/>
            <a:ext cx="10210800" cy="1015663"/>
          </a:xfrm>
          <a:prstGeom prst="rect">
            <a:avLst/>
          </a:prstGeom>
        </p:spPr>
        <p:txBody>
          <a:bodyPr wrap="square">
            <a:spAutoFit/>
          </a:bodyPr>
          <a:lstStyle/>
          <a:p>
            <a:pPr marL="285750" indent="-285750">
              <a:buFont typeface="Wingdings" panose="05000000000000000000" pitchFamily="2" charset="2"/>
              <a:buChar char="ü"/>
            </a:pPr>
            <a:r>
              <a:rPr lang="en-US" sz="2000" dirty="0"/>
              <a:t>Each item in an array is called an element, and each element is accessed by its numerical index. As shown </a:t>
            </a:r>
            <a:r>
              <a:rPr lang="en-US" sz="2000" dirty="0" smtClean="0"/>
              <a:t>above, </a:t>
            </a:r>
            <a:r>
              <a:rPr lang="en-US" sz="2000" dirty="0"/>
              <a:t>numbering begins with 0. The 9th element, for example, would therefore be accessed at index 8.</a:t>
            </a:r>
            <a:endParaRPr lang="en-IN" sz="2000" dirty="0"/>
          </a:p>
        </p:txBody>
      </p:sp>
      <p:pic>
        <p:nvPicPr>
          <p:cNvPr id="6" name="Picture 5"/>
          <p:cNvPicPr>
            <a:picLocks noChangeAspect="1"/>
          </p:cNvPicPr>
          <p:nvPr/>
        </p:nvPicPr>
        <p:blipFill>
          <a:blip r:embed="rId3"/>
          <a:stretch>
            <a:fillRect/>
          </a:stretch>
        </p:blipFill>
        <p:spPr>
          <a:xfrm>
            <a:off x="3886200" y="3635218"/>
            <a:ext cx="6934200" cy="1647825"/>
          </a:xfrm>
          <a:prstGeom prst="rect">
            <a:avLst/>
          </a:prstGeom>
          <a:effectLst>
            <a:glow rad="101600">
              <a:schemeClr val="accent2">
                <a:satMod val="175000"/>
                <a:alpha val="40000"/>
              </a:schemeClr>
            </a:glow>
          </a:effectLst>
        </p:spPr>
      </p:pic>
    </p:spTree>
    <p:extLst>
      <p:ext uri="{BB962C8B-B14F-4D97-AF65-F5344CB8AC3E}">
        <p14:creationId xmlns:p14="http://schemas.microsoft.com/office/powerpoint/2010/main" val="17947371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9275"/>
          </a:xfrm>
        </p:spPr>
        <p:txBody>
          <a:bodyPr/>
          <a:lstStyle/>
          <a:p>
            <a:endParaRPr lang="en-IN" dirty="0"/>
          </a:p>
        </p:txBody>
      </p:sp>
      <p:sp>
        <p:nvSpPr>
          <p:cNvPr id="3" name="Content Placeholder 2"/>
          <p:cNvSpPr>
            <a:spLocks noGrp="1"/>
          </p:cNvSpPr>
          <p:nvPr>
            <p:ph idx="1"/>
          </p:nvPr>
        </p:nvSpPr>
        <p:spPr>
          <a:xfrm>
            <a:off x="1143000" y="1295400"/>
            <a:ext cx="10515600" cy="4351338"/>
          </a:xfrm>
          <a:effectLst>
            <a:reflection blurRad="6350" stA="52000" endA="300" endPos="35000" dir="5400000" sy="-100000" algn="bl" rotWithShape="0"/>
          </a:effectLst>
        </p:spPr>
        <p:txBody>
          <a:bodyPr/>
          <a:lstStyle/>
          <a:p>
            <a:pPr marL="0" indent="0">
              <a:buNone/>
            </a:pPr>
            <a:r>
              <a:rPr lang="en-US" dirty="0" smtClean="0">
                <a:solidFill>
                  <a:srgbClr val="FF0000"/>
                </a:solidFill>
                <a:latin typeface="Times New Roman" panose="02020603050405020304" pitchFamily="18" charset="0"/>
                <a:cs typeface="Times New Roman" panose="02020603050405020304" pitchFamily="18" charset="0"/>
              </a:rPr>
              <a:t>Advantages:</a:t>
            </a:r>
            <a:endParaRPr lang="en-US" dirty="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dirty="0">
                <a:solidFill>
                  <a:srgbClr val="0070C0"/>
                </a:solidFill>
                <a:latin typeface="Times New Roman" panose="02020603050405020304" pitchFamily="18" charset="0"/>
                <a:cs typeface="Times New Roman" panose="02020603050405020304" pitchFamily="18" charset="0"/>
              </a:rPr>
              <a:t>Code Optimization</a:t>
            </a:r>
            <a:r>
              <a:rPr lang="en-US" sz="2000" dirty="0">
                <a:latin typeface="Times New Roman" panose="02020603050405020304" pitchFamily="18" charset="0"/>
                <a:cs typeface="Times New Roman" panose="02020603050405020304" pitchFamily="18" charset="0"/>
              </a:rPr>
              <a:t>: It makes the code optimized, we can retrieve or sort the data efficiently.</a:t>
            </a:r>
          </a:p>
          <a:p>
            <a:pPr>
              <a:buFont typeface="Wingdings" panose="05000000000000000000" pitchFamily="2" charset="2"/>
              <a:buChar char="Ø"/>
            </a:pPr>
            <a:r>
              <a:rPr lang="en-US" sz="2000" dirty="0">
                <a:solidFill>
                  <a:srgbClr val="0070C0"/>
                </a:solidFill>
                <a:latin typeface="Times New Roman" panose="02020603050405020304" pitchFamily="18" charset="0"/>
                <a:cs typeface="Times New Roman" panose="02020603050405020304" pitchFamily="18" charset="0"/>
              </a:rPr>
              <a:t>Random access</a:t>
            </a:r>
            <a:r>
              <a:rPr lang="en-US" sz="2000" dirty="0">
                <a:latin typeface="Times New Roman" panose="02020603050405020304" pitchFamily="18" charset="0"/>
                <a:cs typeface="Times New Roman" panose="02020603050405020304" pitchFamily="18" charset="0"/>
              </a:rPr>
              <a:t>: We can get any data located at an index position.</a:t>
            </a:r>
          </a:p>
          <a:p>
            <a:pPr marL="0" indent="0">
              <a:buNone/>
            </a:pPr>
            <a:endParaRPr lang="en-US" dirty="0" smtClean="0">
              <a:solidFill>
                <a:srgbClr val="FF0000"/>
              </a:solidFill>
              <a:latin typeface="Times New Roman" panose="02020603050405020304" pitchFamily="18" charset="0"/>
              <a:cs typeface="Times New Roman" panose="02020603050405020304" pitchFamily="18" charset="0"/>
            </a:endParaRPr>
          </a:p>
          <a:p>
            <a:pPr marL="0" indent="0">
              <a:buNone/>
            </a:pPr>
            <a:r>
              <a:rPr lang="en-US" dirty="0" smtClean="0">
                <a:solidFill>
                  <a:srgbClr val="FF0000"/>
                </a:solidFill>
                <a:latin typeface="Times New Roman" panose="02020603050405020304" pitchFamily="18" charset="0"/>
                <a:cs typeface="Times New Roman" panose="02020603050405020304" pitchFamily="18" charset="0"/>
              </a:rPr>
              <a:t>Disadvantages:</a:t>
            </a:r>
            <a:endParaRPr lang="en-US" dirty="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dirty="0">
                <a:solidFill>
                  <a:srgbClr val="0070C0"/>
                </a:solidFill>
                <a:latin typeface="Times New Roman" panose="02020603050405020304" pitchFamily="18" charset="0"/>
                <a:cs typeface="Times New Roman" panose="02020603050405020304" pitchFamily="18" charset="0"/>
              </a:rPr>
              <a:t>Size Limit</a:t>
            </a:r>
            <a:r>
              <a:rPr lang="en-US" sz="2000" dirty="0">
                <a:latin typeface="Times New Roman" panose="02020603050405020304" pitchFamily="18" charset="0"/>
                <a:cs typeface="Times New Roman" panose="02020603050405020304" pitchFamily="18" charset="0"/>
              </a:rPr>
              <a:t>: We can store only the fixed size of elements in the array. It doesn't grow its size at runtime. To solve this problem, collection framework is used in Java which grows automatically.</a:t>
            </a:r>
            <a:endParaRPr lang="en-IN" sz="20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5</a:t>
            </a:fld>
            <a:endParaRPr lang="en-US" altLang="en-US"/>
          </a:p>
        </p:txBody>
      </p:sp>
    </p:spTree>
    <p:extLst>
      <p:ext uri="{BB962C8B-B14F-4D97-AF65-F5344CB8AC3E}">
        <p14:creationId xmlns:p14="http://schemas.microsoft.com/office/powerpoint/2010/main" val="29664128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5EDAE260-203A-48BA-B1E0-2820BBC6B005}" type="slidenum">
              <a:rPr lang="en-US" altLang="en-US" smtClean="0"/>
              <a:pPr>
                <a:defRPr/>
              </a:pPr>
              <a:t>6</a:t>
            </a:fld>
            <a:endParaRPr lang="en-US" altLang="en-US"/>
          </a:p>
        </p:txBody>
      </p:sp>
      <p:sp>
        <p:nvSpPr>
          <p:cNvPr id="5" name="Rectangle 4"/>
          <p:cNvSpPr/>
          <p:nvPr/>
        </p:nvSpPr>
        <p:spPr>
          <a:xfrm>
            <a:off x="457200" y="1030317"/>
            <a:ext cx="11125200" cy="2246769"/>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To use an array in a program, you must declare a variable to reference the array, and you must specify the type of array the variable can reference. Here is the syntax for declaring an array variable −</a:t>
            </a:r>
          </a:p>
          <a:p>
            <a:endParaRPr lang="en-US" sz="2000" dirty="0">
              <a:latin typeface="Times New Roman" panose="02020603050405020304" pitchFamily="18" charset="0"/>
              <a:cs typeface="Times New Roman" panose="02020603050405020304" pitchFamily="18" charset="0"/>
            </a:endParaRPr>
          </a:p>
          <a:p>
            <a:r>
              <a:rPr lang="en-US" sz="2000" dirty="0" smtClean="0">
                <a:solidFill>
                  <a:srgbClr val="FF0000"/>
                </a:solidFill>
                <a:latin typeface="Times New Roman" panose="02020603050405020304" pitchFamily="18" charset="0"/>
                <a:cs typeface="Times New Roman" panose="02020603050405020304" pitchFamily="18" charset="0"/>
              </a:rPr>
              <a:t>Syntax:</a:t>
            </a:r>
          </a:p>
          <a:p>
            <a:r>
              <a:rPr lang="en-US" sz="2000" dirty="0" err="1" smtClean="0">
                <a:solidFill>
                  <a:srgbClr val="0070C0"/>
                </a:solidFill>
                <a:latin typeface="Times New Roman" panose="02020603050405020304" pitchFamily="18" charset="0"/>
                <a:cs typeface="Times New Roman" panose="02020603050405020304" pitchFamily="18" charset="0"/>
              </a:rPr>
              <a:t>dataType</a:t>
            </a:r>
            <a:r>
              <a:rPr lang="en-US" sz="2000" dirty="0">
                <a:solidFill>
                  <a:srgbClr val="0070C0"/>
                </a:solidFill>
                <a:latin typeface="Times New Roman" panose="02020603050405020304" pitchFamily="18" charset="0"/>
                <a:cs typeface="Times New Roman" panose="02020603050405020304" pitchFamily="18" charset="0"/>
              </a:rPr>
              <a:t>[]  </a:t>
            </a:r>
            <a:r>
              <a:rPr lang="en-US" sz="2000" dirty="0" err="1" smtClean="0">
                <a:solidFill>
                  <a:srgbClr val="0070C0"/>
                </a:solidFill>
                <a:latin typeface="Times New Roman" panose="02020603050405020304" pitchFamily="18" charset="0"/>
                <a:cs typeface="Times New Roman" panose="02020603050405020304" pitchFamily="18" charset="0"/>
              </a:rPr>
              <a:t>ArrayName</a:t>
            </a:r>
            <a:r>
              <a:rPr lang="en-US" sz="2000" dirty="0" smtClean="0">
                <a:solidFill>
                  <a:srgbClr val="0070C0"/>
                </a:solidFill>
                <a:latin typeface="Times New Roman" panose="02020603050405020304" pitchFamily="18" charset="0"/>
                <a:cs typeface="Times New Roman" panose="02020603050405020304" pitchFamily="18" charset="0"/>
              </a:rPr>
              <a:t>;   </a:t>
            </a:r>
            <a:r>
              <a:rPr lang="en-US" sz="2000" dirty="0">
                <a:solidFill>
                  <a:srgbClr val="0070C0"/>
                </a:solidFill>
                <a:latin typeface="Times New Roman" panose="02020603050405020304" pitchFamily="18" charset="0"/>
                <a:cs typeface="Times New Roman" panose="02020603050405020304" pitchFamily="18" charset="0"/>
              </a:rPr>
              <a:t>// preferred way.</a:t>
            </a:r>
          </a:p>
          <a:p>
            <a:r>
              <a:rPr lang="en-US" sz="2000" dirty="0">
                <a:solidFill>
                  <a:srgbClr val="0070C0"/>
                </a:solidFill>
                <a:latin typeface="Times New Roman" panose="02020603050405020304" pitchFamily="18" charset="0"/>
                <a:cs typeface="Times New Roman" panose="02020603050405020304" pitchFamily="18" charset="0"/>
              </a:rPr>
              <a:t>or</a:t>
            </a:r>
          </a:p>
          <a:p>
            <a:r>
              <a:rPr lang="en-US" sz="2000" dirty="0" err="1">
                <a:solidFill>
                  <a:srgbClr val="0070C0"/>
                </a:solidFill>
                <a:latin typeface="Times New Roman" panose="02020603050405020304" pitchFamily="18" charset="0"/>
                <a:cs typeface="Times New Roman" panose="02020603050405020304" pitchFamily="18" charset="0"/>
              </a:rPr>
              <a:t>dataType</a:t>
            </a:r>
            <a:r>
              <a:rPr lang="en-US" sz="2000" dirty="0">
                <a:solidFill>
                  <a:srgbClr val="0070C0"/>
                </a:solidFill>
                <a:latin typeface="Times New Roman" panose="02020603050405020304" pitchFamily="18" charset="0"/>
                <a:cs typeface="Times New Roman" panose="02020603050405020304" pitchFamily="18" charset="0"/>
              </a:rPr>
              <a:t> </a:t>
            </a:r>
            <a:r>
              <a:rPr lang="en-US" sz="2000" dirty="0" err="1" smtClean="0">
                <a:solidFill>
                  <a:srgbClr val="0070C0"/>
                </a:solidFill>
                <a:latin typeface="Times New Roman" panose="02020603050405020304" pitchFamily="18" charset="0"/>
                <a:cs typeface="Times New Roman" panose="02020603050405020304" pitchFamily="18" charset="0"/>
              </a:rPr>
              <a:t>ArrayName</a:t>
            </a:r>
            <a:r>
              <a:rPr lang="en-US" sz="2000" dirty="0" smtClean="0">
                <a:solidFill>
                  <a:srgbClr val="0070C0"/>
                </a:solidFill>
                <a:latin typeface="Times New Roman" panose="02020603050405020304" pitchFamily="18" charset="0"/>
                <a:cs typeface="Times New Roman" panose="02020603050405020304" pitchFamily="18" charset="0"/>
              </a:rPr>
              <a:t>[];  </a:t>
            </a:r>
            <a:r>
              <a:rPr lang="en-US" sz="2000" dirty="0">
                <a:solidFill>
                  <a:srgbClr val="0070C0"/>
                </a:solidFill>
                <a:latin typeface="Times New Roman" panose="02020603050405020304" pitchFamily="18" charset="0"/>
                <a:cs typeface="Times New Roman" panose="02020603050405020304" pitchFamily="18" charset="0"/>
              </a:rPr>
              <a:t>// works but not preferred way</a:t>
            </a:r>
            <a:endParaRPr lang="en-IN" sz="2000" dirty="0">
              <a:solidFill>
                <a:srgbClr val="0070C0"/>
              </a:solidFill>
              <a:latin typeface="Times New Roman" panose="02020603050405020304" pitchFamily="18" charset="0"/>
              <a:cs typeface="Times New Roman" panose="02020603050405020304" pitchFamily="18" charset="0"/>
            </a:endParaRPr>
          </a:p>
        </p:txBody>
      </p:sp>
      <p:sp>
        <p:nvSpPr>
          <p:cNvPr id="6" name="Rectangle 5"/>
          <p:cNvSpPr/>
          <p:nvPr/>
        </p:nvSpPr>
        <p:spPr>
          <a:xfrm>
            <a:off x="457200" y="3352800"/>
            <a:ext cx="9982200" cy="1938992"/>
          </a:xfrm>
          <a:prstGeom prst="rect">
            <a:avLst/>
          </a:prstGeom>
        </p:spPr>
        <p:txBody>
          <a:bodyPr wrap="square">
            <a:spAutoFit/>
          </a:bodyPr>
          <a:lstStyle/>
          <a:p>
            <a:r>
              <a:rPr lang="en-US" sz="2000" dirty="0" smtClean="0">
                <a:solidFill>
                  <a:srgbClr val="FF0000"/>
                </a:solidFill>
                <a:latin typeface="Times New Roman" panose="02020603050405020304" pitchFamily="18" charset="0"/>
                <a:cs typeface="Times New Roman" panose="02020603050405020304" pitchFamily="18" charset="0"/>
              </a:rPr>
              <a:t>Example:</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following code snippets are examples of this syntax −</a:t>
            </a:r>
          </a:p>
          <a:p>
            <a:endParaRPr lang="en-US" sz="2000" dirty="0">
              <a:latin typeface="Times New Roman" panose="02020603050405020304" pitchFamily="18" charset="0"/>
              <a:cs typeface="Times New Roman" panose="02020603050405020304" pitchFamily="18" charset="0"/>
            </a:endParaRPr>
          </a:p>
          <a:p>
            <a:r>
              <a:rPr lang="en-US" sz="2000" dirty="0">
                <a:solidFill>
                  <a:srgbClr val="0070C0"/>
                </a:solidFill>
                <a:latin typeface="Times New Roman" panose="02020603050405020304" pitchFamily="18" charset="0"/>
                <a:cs typeface="Times New Roman" panose="02020603050405020304" pitchFamily="18" charset="0"/>
              </a:rPr>
              <a:t>double[] </a:t>
            </a:r>
            <a:r>
              <a:rPr lang="en-US" sz="2000" dirty="0" err="1">
                <a:solidFill>
                  <a:srgbClr val="0070C0"/>
                </a:solidFill>
                <a:latin typeface="Times New Roman" panose="02020603050405020304" pitchFamily="18" charset="0"/>
                <a:cs typeface="Times New Roman" panose="02020603050405020304" pitchFamily="18" charset="0"/>
              </a:rPr>
              <a:t>myList</a:t>
            </a:r>
            <a:r>
              <a:rPr lang="en-US" sz="2000" dirty="0">
                <a:solidFill>
                  <a:srgbClr val="0070C0"/>
                </a:solidFill>
                <a:latin typeface="Times New Roman" panose="02020603050405020304" pitchFamily="18" charset="0"/>
                <a:cs typeface="Times New Roman" panose="02020603050405020304" pitchFamily="18" charset="0"/>
              </a:rPr>
              <a:t>;   // preferred way.</a:t>
            </a:r>
          </a:p>
          <a:p>
            <a:r>
              <a:rPr lang="en-US" sz="2000" dirty="0">
                <a:solidFill>
                  <a:srgbClr val="0070C0"/>
                </a:solidFill>
                <a:latin typeface="Times New Roman" panose="02020603050405020304" pitchFamily="18" charset="0"/>
                <a:cs typeface="Times New Roman" panose="02020603050405020304" pitchFamily="18" charset="0"/>
              </a:rPr>
              <a:t>or</a:t>
            </a:r>
          </a:p>
          <a:p>
            <a:r>
              <a:rPr lang="en-US" sz="2000" dirty="0">
                <a:solidFill>
                  <a:srgbClr val="0070C0"/>
                </a:solidFill>
                <a:latin typeface="Times New Roman" panose="02020603050405020304" pitchFamily="18" charset="0"/>
                <a:cs typeface="Times New Roman" panose="02020603050405020304" pitchFamily="18" charset="0"/>
              </a:rPr>
              <a:t>double </a:t>
            </a:r>
            <a:r>
              <a:rPr lang="en-US" sz="2000" dirty="0" err="1">
                <a:solidFill>
                  <a:srgbClr val="0070C0"/>
                </a:solidFill>
                <a:latin typeface="Times New Roman" panose="02020603050405020304" pitchFamily="18" charset="0"/>
                <a:cs typeface="Times New Roman" panose="02020603050405020304" pitchFamily="18" charset="0"/>
              </a:rPr>
              <a:t>myList</a:t>
            </a:r>
            <a:r>
              <a:rPr lang="en-US" sz="2000" dirty="0">
                <a:solidFill>
                  <a:srgbClr val="0070C0"/>
                </a:solidFill>
                <a:latin typeface="Times New Roman" panose="02020603050405020304" pitchFamily="18" charset="0"/>
                <a:cs typeface="Times New Roman" panose="02020603050405020304" pitchFamily="18" charset="0"/>
              </a:rPr>
              <a:t>[];   // works but not preferred way</a:t>
            </a:r>
            <a:endParaRPr lang="en-IN" sz="2000" dirty="0">
              <a:solidFill>
                <a:srgbClr val="0070C0"/>
              </a:solidFill>
              <a:latin typeface="Times New Roman" panose="02020603050405020304" pitchFamily="18" charset="0"/>
              <a:cs typeface="Times New Roman" panose="02020603050405020304" pitchFamily="18" charset="0"/>
            </a:endParaRPr>
          </a:p>
        </p:txBody>
      </p:sp>
      <p:sp>
        <p:nvSpPr>
          <p:cNvPr id="7" name="Title 1"/>
          <p:cNvSpPr txBox="1">
            <a:spLocks/>
          </p:cNvSpPr>
          <p:nvPr/>
        </p:nvSpPr>
        <p:spPr bwMode="auto">
          <a:xfrm>
            <a:off x="152400" y="270599"/>
            <a:ext cx="4560524" cy="454878"/>
          </a:xfrm>
          <a:prstGeom prst="rect">
            <a:avLst/>
          </a:prstGeom>
          <a:solidFill>
            <a:schemeClr val="bg1"/>
          </a:solidFill>
          <a:ln w="9525">
            <a:solidFill>
              <a:schemeClr val="accent1"/>
            </a:solidFill>
            <a:round/>
            <a:headEnd/>
            <a:tailEnd/>
          </a:ln>
          <a:effectLst>
            <a:glow rad="101600">
              <a:schemeClr val="accent2">
                <a:satMod val="175000"/>
                <a:alpha val="40000"/>
              </a:schemeClr>
            </a:glow>
            <a:outerShdw blurRad="50800" dist="38100" dir="2700000" algn="tl" rotWithShape="0">
              <a:prstClr val="black">
                <a:alpha val="40000"/>
              </a:prstClr>
            </a:outerShdw>
          </a:effectLst>
          <a:extLst/>
        </p:spPr>
        <p:txBody>
          <a:bodyPr vert="horz" wrap="square" lIns="90000" tIns="46800" rIns="90000" bIns="46800" numCol="1" anchor="ctr" anchorCtr="0" compatLnSpc="1">
            <a:prstTxWarp prst="textNoShape">
              <a:avLst/>
            </a:prstTxWarp>
          </a:bodyP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defTabSz="457200">
              <a:buClr>
                <a:srgbClr val="000000"/>
              </a:buClr>
              <a:buSzPct val="1000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3000" b="1" dirty="0" smtClean="0">
                <a:solidFill>
                  <a:srgbClr val="FF0000"/>
                </a:solidFill>
                <a:latin typeface="Times New Roman" panose="02020603050405020304" pitchFamily="18" charset="0"/>
                <a:cs typeface="Times New Roman" panose="02020603050405020304" pitchFamily="18" charset="0"/>
              </a:rPr>
              <a:t>Declaring an Array</a:t>
            </a:r>
            <a:endParaRPr lang="en-US" sz="3000" b="1" dirty="0">
              <a:solidFill>
                <a:srgbClr val="FF0000"/>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5832158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5EDAE260-203A-48BA-B1E0-2820BBC6B005}" type="slidenum">
              <a:rPr lang="en-US" altLang="en-US" smtClean="0"/>
              <a:pPr>
                <a:defRPr/>
              </a:pPr>
              <a:t>7</a:t>
            </a:fld>
            <a:endParaRPr lang="en-US" altLang="en-US"/>
          </a:p>
        </p:txBody>
      </p:sp>
      <p:sp>
        <p:nvSpPr>
          <p:cNvPr id="4" name="Rectangle 3"/>
          <p:cNvSpPr/>
          <p:nvPr/>
        </p:nvSpPr>
        <p:spPr>
          <a:xfrm>
            <a:off x="717430" y="304800"/>
            <a:ext cx="10591800" cy="1938992"/>
          </a:xfrm>
          <a:prstGeom prst="rect">
            <a:avLst/>
          </a:prstGeom>
        </p:spPr>
        <p:txBody>
          <a:bodyPr wrap="square">
            <a:spAutoFit/>
          </a:bodyPr>
          <a:lstStyle/>
          <a:p>
            <a:endParaRPr lang="en-US" sz="2000" dirty="0" smtClean="0">
              <a:solidFill>
                <a:srgbClr val="C00000"/>
              </a:solidFill>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You can create an array by using the new operator with the following syntax </a:t>
            </a:r>
            <a:r>
              <a:rPr lang="en-US" sz="2000" dirty="0" smtClean="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5" name="Rectangle 4"/>
          <p:cNvSpPr/>
          <p:nvPr/>
        </p:nvSpPr>
        <p:spPr>
          <a:xfrm>
            <a:off x="823822" y="1595927"/>
            <a:ext cx="11343736" cy="1323439"/>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Declaring an array variable, creating an array, and assigning the reference of the array to the variable can be combined in one statement, as shown below −</a:t>
            </a:r>
          </a:p>
          <a:p>
            <a:endParaRPr lang="en-US" sz="2000" dirty="0">
              <a:latin typeface="Times New Roman" panose="02020603050405020304" pitchFamily="18" charset="0"/>
              <a:cs typeface="Times New Roman" panose="02020603050405020304" pitchFamily="18" charset="0"/>
            </a:endParaRPr>
          </a:p>
          <a:p>
            <a:r>
              <a:rPr lang="en-US" sz="2000" dirty="0" err="1">
                <a:solidFill>
                  <a:srgbClr val="0070C0"/>
                </a:solidFill>
                <a:latin typeface="Times New Roman" panose="02020603050405020304" pitchFamily="18" charset="0"/>
                <a:cs typeface="Times New Roman" panose="02020603050405020304" pitchFamily="18" charset="0"/>
              </a:rPr>
              <a:t>dataType</a:t>
            </a:r>
            <a:r>
              <a:rPr lang="en-US" sz="2000" dirty="0">
                <a:solidFill>
                  <a:srgbClr val="0070C0"/>
                </a:solidFill>
                <a:latin typeface="Times New Roman" panose="02020603050405020304" pitchFamily="18" charset="0"/>
                <a:cs typeface="Times New Roman" panose="02020603050405020304" pitchFamily="18" charset="0"/>
              </a:rPr>
              <a:t>[] </a:t>
            </a:r>
            <a:r>
              <a:rPr lang="en-US" sz="2000" dirty="0" err="1" smtClean="0">
                <a:solidFill>
                  <a:srgbClr val="0070C0"/>
                </a:solidFill>
                <a:latin typeface="Times New Roman" panose="02020603050405020304" pitchFamily="18" charset="0"/>
                <a:cs typeface="Times New Roman" panose="02020603050405020304" pitchFamily="18" charset="0"/>
              </a:rPr>
              <a:t>Arrayname</a:t>
            </a:r>
            <a:r>
              <a:rPr lang="en-US" sz="2000" dirty="0" smtClean="0">
                <a:solidFill>
                  <a:srgbClr val="0070C0"/>
                </a:solidFill>
                <a:latin typeface="Times New Roman" panose="02020603050405020304" pitchFamily="18" charset="0"/>
                <a:cs typeface="Times New Roman" panose="02020603050405020304" pitchFamily="18" charset="0"/>
              </a:rPr>
              <a:t> </a:t>
            </a:r>
            <a:r>
              <a:rPr lang="en-US" sz="2000" dirty="0">
                <a:solidFill>
                  <a:srgbClr val="0070C0"/>
                </a:solidFill>
                <a:latin typeface="Times New Roman" panose="02020603050405020304" pitchFamily="18" charset="0"/>
                <a:cs typeface="Times New Roman" panose="02020603050405020304" pitchFamily="18" charset="0"/>
              </a:rPr>
              <a:t>= new </a:t>
            </a:r>
            <a:r>
              <a:rPr lang="en-US" sz="2000" dirty="0" err="1">
                <a:solidFill>
                  <a:srgbClr val="0070C0"/>
                </a:solidFill>
                <a:latin typeface="Times New Roman" panose="02020603050405020304" pitchFamily="18" charset="0"/>
                <a:cs typeface="Times New Roman" panose="02020603050405020304" pitchFamily="18" charset="0"/>
              </a:rPr>
              <a:t>dataType</a:t>
            </a:r>
            <a:r>
              <a:rPr lang="en-US" sz="2000" dirty="0">
                <a:solidFill>
                  <a:srgbClr val="0070C0"/>
                </a:solidFill>
                <a:latin typeface="Times New Roman" panose="02020603050405020304" pitchFamily="18" charset="0"/>
                <a:cs typeface="Times New Roman" panose="02020603050405020304" pitchFamily="18" charset="0"/>
              </a:rPr>
              <a:t>[</a:t>
            </a:r>
            <a:r>
              <a:rPr lang="en-US" sz="2000" dirty="0" err="1">
                <a:solidFill>
                  <a:srgbClr val="0070C0"/>
                </a:solidFill>
                <a:latin typeface="Times New Roman" panose="02020603050405020304" pitchFamily="18" charset="0"/>
                <a:cs typeface="Times New Roman" panose="02020603050405020304" pitchFamily="18" charset="0"/>
              </a:rPr>
              <a:t>arraySize</a:t>
            </a:r>
            <a:r>
              <a:rPr lang="en-US" sz="2000" dirty="0">
                <a:solidFill>
                  <a:srgbClr val="0070C0"/>
                </a:solidFill>
                <a:latin typeface="Times New Roman" panose="02020603050405020304" pitchFamily="18" charset="0"/>
                <a:cs typeface="Times New Roman" panose="02020603050405020304" pitchFamily="18" charset="0"/>
              </a:rPr>
              <a:t>];</a:t>
            </a:r>
            <a:endParaRPr lang="en-IN" sz="2000" dirty="0">
              <a:solidFill>
                <a:srgbClr val="0070C0"/>
              </a:solidFill>
              <a:latin typeface="Times New Roman" panose="02020603050405020304" pitchFamily="18" charset="0"/>
              <a:cs typeface="Times New Roman" panose="02020603050405020304" pitchFamily="18" charset="0"/>
            </a:endParaRPr>
          </a:p>
        </p:txBody>
      </p:sp>
      <p:sp>
        <p:nvSpPr>
          <p:cNvPr id="6" name="Rectangle 5"/>
          <p:cNvSpPr/>
          <p:nvPr/>
        </p:nvSpPr>
        <p:spPr>
          <a:xfrm>
            <a:off x="833886" y="3087108"/>
            <a:ext cx="11092132" cy="1631216"/>
          </a:xfrm>
          <a:prstGeom prst="rect">
            <a:avLst/>
          </a:prstGeom>
        </p:spPr>
        <p:txBody>
          <a:bodyPr wrap="square">
            <a:spAutoFit/>
          </a:bodyPr>
          <a:lstStyle/>
          <a:p>
            <a:r>
              <a:rPr lang="en-US" sz="2000" dirty="0">
                <a:solidFill>
                  <a:srgbClr val="FF0000"/>
                </a:solidFill>
                <a:latin typeface="Times New Roman" panose="02020603050405020304" pitchFamily="18" charset="0"/>
                <a:cs typeface="Times New Roman" panose="02020603050405020304" pitchFamily="18" charset="0"/>
              </a:rPr>
              <a:t>Example</a:t>
            </a:r>
          </a:p>
          <a:p>
            <a:r>
              <a:rPr lang="en-US" sz="2000" dirty="0">
                <a:latin typeface="Times New Roman" panose="02020603050405020304" pitchFamily="18" charset="0"/>
                <a:cs typeface="Times New Roman" panose="02020603050405020304" pitchFamily="18" charset="0"/>
              </a:rPr>
              <a:t>Following statement declares an array variable, </a:t>
            </a:r>
            <a:r>
              <a:rPr lang="en-US" sz="2000" dirty="0" err="1">
                <a:latin typeface="Times New Roman" panose="02020603050405020304" pitchFamily="18" charset="0"/>
                <a:cs typeface="Times New Roman" panose="02020603050405020304" pitchFamily="18" charset="0"/>
              </a:rPr>
              <a:t>myList</a:t>
            </a:r>
            <a:r>
              <a:rPr lang="en-US" sz="2000" dirty="0">
                <a:latin typeface="Times New Roman" panose="02020603050405020304" pitchFamily="18" charset="0"/>
                <a:cs typeface="Times New Roman" panose="02020603050405020304" pitchFamily="18" charset="0"/>
              </a:rPr>
              <a:t>, creates an array of 10 elements of double type and assigns its reference to </a:t>
            </a:r>
            <a:r>
              <a:rPr lang="en-US" sz="2000" dirty="0" err="1">
                <a:latin typeface="Times New Roman" panose="02020603050405020304" pitchFamily="18" charset="0"/>
                <a:cs typeface="Times New Roman" panose="02020603050405020304" pitchFamily="18" charset="0"/>
              </a:rPr>
              <a:t>myList</a:t>
            </a:r>
            <a:r>
              <a:rPr lang="en-US" sz="2000" dirty="0">
                <a:latin typeface="Times New Roman" panose="02020603050405020304" pitchFamily="18" charset="0"/>
                <a:cs typeface="Times New Roman" panose="02020603050405020304" pitchFamily="18" charset="0"/>
              </a:rPr>
              <a:t> −</a:t>
            </a:r>
          </a:p>
          <a:p>
            <a:endParaRPr lang="en-US" sz="2000" dirty="0">
              <a:latin typeface="Times New Roman" panose="02020603050405020304" pitchFamily="18" charset="0"/>
              <a:cs typeface="Times New Roman" panose="02020603050405020304" pitchFamily="18" charset="0"/>
            </a:endParaRPr>
          </a:p>
          <a:p>
            <a:r>
              <a:rPr lang="en-US" sz="2000" dirty="0">
                <a:solidFill>
                  <a:srgbClr val="0070C0"/>
                </a:solidFill>
                <a:latin typeface="Times New Roman" panose="02020603050405020304" pitchFamily="18" charset="0"/>
                <a:cs typeface="Times New Roman" panose="02020603050405020304" pitchFamily="18" charset="0"/>
              </a:rPr>
              <a:t>double[] </a:t>
            </a:r>
            <a:r>
              <a:rPr lang="en-US" sz="2000" dirty="0" err="1">
                <a:solidFill>
                  <a:srgbClr val="0070C0"/>
                </a:solidFill>
                <a:latin typeface="Times New Roman" panose="02020603050405020304" pitchFamily="18" charset="0"/>
                <a:cs typeface="Times New Roman" panose="02020603050405020304" pitchFamily="18" charset="0"/>
              </a:rPr>
              <a:t>myList</a:t>
            </a:r>
            <a:r>
              <a:rPr lang="en-US" sz="2000" dirty="0">
                <a:solidFill>
                  <a:srgbClr val="0070C0"/>
                </a:solidFill>
                <a:latin typeface="Times New Roman" panose="02020603050405020304" pitchFamily="18" charset="0"/>
                <a:cs typeface="Times New Roman" panose="02020603050405020304" pitchFamily="18" charset="0"/>
              </a:rPr>
              <a:t> = new double[10</a:t>
            </a:r>
            <a:r>
              <a:rPr lang="en-US" sz="2000" dirty="0" smtClean="0">
                <a:solidFill>
                  <a:srgbClr val="0070C0"/>
                </a:solidFill>
                <a:latin typeface="Times New Roman" panose="02020603050405020304" pitchFamily="18" charset="0"/>
                <a:cs typeface="Times New Roman" panose="02020603050405020304" pitchFamily="18" charset="0"/>
              </a:rPr>
              <a:t>];</a:t>
            </a:r>
            <a:endParaRPr lang="en-US" sz="2000" dirty="0">
              <a:solidFill>
                <a:srgbClr val="0070C0"/>
              </a:solidFill>
              <a:latin typeface="Times New Roman" panose="02020603050405020304" pitchFamily="18" charset="0"/>
              <a:cs typeface="Times New Roman" panose="02020603050405020304" pitchFamily="18" charset="0"/>
            </a:endParaRPr>
          </a:p>
        </p:txBody>
      </p:sp>
      <p:sp>
        <p:nvSpPr>
          <p:cNvPr id="7" name="Title 1"/>
          <p:cNvSpPr txBox="1">
            <a:spLocks/>
          </p:cNvSpPr>
          <p:nvPr/>
        </p:nvSpPr>
        <p:spPr bwMode="auto">
          <a:xfrm>
            <a:off x="152400" y="270599"/>
            <a:ext cx="4560524" cy="454878"/>
          </a:xfrm>
          <a:prstGeom prst="rect">
            <a:avLst/>
          </a:prstGeom>
          <a:solidFill>
            <a:schemeClr val="bg1"/>
          </a:solidFill>
          <a:ln w="9525">
            <a:solidFill>
              <a:schemeClr val="accent1"/>
            </a:solidFill>
            <a:round/>
            <a:headEnd/>
            <a:tailEnd/>
          </a:ln>
          <a:effectLst>
            <a:glow rad="101600">
              <a:schemeClr val="accent2">
                <a:satMod val="175000"/>
                <a:alpha val="40000"/>
              </a:schemeClr>
            </a:glow>
            <a:outerShdw blurRad="50800" dist="38100" dir="2700000" algn="tl" rotWithShape="0">
              <a:prstClr val="black">
                <a:alpha val="40000"/>
              </a:prstClr>
            </a:outerShdw>
          </a:effectLst>
          <a:extLst/>
        </p:spPr>
        <p:txBody>
          <a:bodyPr vert="horz" wrap="square" lIns="90000" tIns="46800" rIns="90000" bIns="46800" numCol="1" anchor="ctr" anchorCtr="0" compatLnSpc="1">
            <a:prstTxWarp prst="textNoShape">
              <a:avLst/>
            </a:prstTxWarp>
          </a:bodyP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defTabSz="457200">
              <a:buClr>
                <a:srgbClr val="000000"/>
              </a:buClr>
              <a:buSzPct val="1000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3000" b="1" dirty="0" smtClean="0">
                <a:solidFill>
                  <a:srgbClr val="FF0000"/>
                </a:solidFill>
                <a:latin typeface="Times New Roman" panose="02020603050405020304" pitchFamily="18" charset="0"/>
                <a:cs typeface="Times New Roman" panose="02020603050405020304" pitchFamily="18" charset="0"/>
              </a:rPr>
              <a:t>Creating  an Array</a:t>
            </a:r>
            <a:endParaRPr lang="en-US" sz="3000" b="1" dirty="0">
              <a:solidFill>
                <a:srgbClr val="FF0000"/>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7709885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5EDAE260-203A-48BA-B1E0-2820BBC6B005}" type="slidenum">
              <a:rPr lang="en-US" altLang="en-US" smtClean="0"/>
              <a:pPr>
                <a:defRPr/>
              </a:pPr>
              <a:t>8</a:t>
            </a:fld>
            <a:endParaRPr lang="en-US" altLang="en-US"/>
          </a:p>
        </p:txBody>
      </p:sp>
      <p:pic>
        <p:nvPicPr>
          <p:cNvPr id="4" name="Picture 3"/>
          <p:cNvPicPr>
            <a:picLocks noChangeAspect="1"/>
          </p:cNvPicPr>
          <p:nvPr/>
        </p:nvPicPr>
        <p:blipFill>
          <a:blip r:embed="rId2"/>
          <a:stretch>
            <a:fillRect/>
          </a:stretch>
        </p:blipFill>
        <p:spPr>
          <a:xfrm>
            <a:off x="1676400" y="685800"/>
            <a:ext cx="7696200" cy="2314575"/>
          </a:xfrm>
          <a:prstGeom prst="rect">
            <a:avLst/>
          </a:prstGeom>
          <a:effectLst>
            <a:glow rad="139700">
              <a:schemeClr val="accent2">
                <a:satMod val="175000"/>
                <a:alpha val="40000"/>
              </a:schemeClr>
            </a:glow>
          </a:effectLst>
        </p:spPr>
      </p:pic>
      <p:sp>
        <p:nvSpPr>
          <p:cNvPr id="5" name="Rectangle 4"/>
          <p:cNvSpPr/>
          <p:nvPr/>
        </p:nvSpPr>
        <p:spPr>
          <a:xfrm>
            <a:off x="723900" y="4191560"/>
            <a:ext cx="9601200" cy="923330"/>
          </a:xfrm>
          <a:prstGeom prst="rect">
            <a:avLst/>
          </a:prstGeom>
        </p:spPr>
        <p:txBody>
          <a:bodyPr wrap="square">
            <a:spAutoFit/>
          </a:bodyPr>
          <a:lstStyle/>
          <a:p>
            <a:r>
              <a:rPr lang="en-US" dirty="0"/>
              <a:t>Alternatively you can create arrays as follows −</a:t>
            </a:r>
          </a:p>
          <a:p>
            <a:endParaRPr lang="en-US" dirty="0"/>
          </a:p>
          <a:p>
            <a:r>
              <a:rPr lang="en-US" dirty="0" err="1">
                <a:solidFill>
                  <a:srgbClr val="0070C0"/>
                </a:solidFill>
              </a:rPr>
              <a:t>dataType</a:t>
            </a:r>
            <a:r>
              <a:rPr lang="en-US" dirty="0">
                <a:solidFill>
                  <a:srgbClr val="0070C0"/>
                </a:solidFill>
              </a:rPr>
              <a:t>[] </a:t>
            </a:r>
            <a:r>
              <a:rPr lang="en-US" dirty="0" err="1" smtClean="0">
                <a:solidFill>
                  <a:srgbClr val="0070C0"/>
                </a:solidFill>
              </a:rPr>
              <a:t>ArrayName</a:t>
            </a:r>
            <a:r>
              <a:rPr lang="en-US" dirty="0" smtClean="0">
                <a:solidFill>
                  <a:srgbClr val="0070C0"/>
                </a:solidFill>
              </a:rPr>
              <a:t> </a:t>
            </a:r>
            <a:r>
              <a:rPr lang="en-US" dirty="0">
                <a:solidFill>
                  <a:srgbClr val="0070C0"/>
                </a:solidFill>
              </a:rPr>
              <a:t>= {value0, value1, ..., </a:t>
            </a:r>
            <a:r>
              <a:rPr lang="en-US" dirty="0" err="1">
                <a:solidFill>
                  <a:srgbClr val="0070C0"/>
                </a:solidFill>
              </a:rPr>
              <a:t>valuek</a:t>
            </a:r>
            <a:r>
              <a:rPr lang="en-US" dirty="0">
                <a:solidFill>
                  <a:srgbClr val="0070C0"/>
                </a:solidFill>
              </a:rPr>
              <a:t>};</a:t>
            </a:r>
            <a:endParaRPr lang="en-IN" dirty="0">
              <a:solidFill>
                <a:srgbClr val="0070C0"/>
              </a:solidFill>
            </a:endParaRPr>
          </a:p>
        </p:txBody>
      </p:sp>
      <p:sp>
        <p:nvSpPr>
          <p:cNvPr id="6" name="Rectangle 5"/>
          <p:cNvSpPr/>
          <p:nvPr/>
        </p:nvSpPr>
        <p:spPr>
          <a:xfrm>
            <a:off x="685800" y="3165544"/>
            <a:ext cx="10820400" cy="707886"/>
          </a:xfrm>
          <a:prstGeom prst="rect">
            <a:avLst/>
          </a:prstGeom>
        </p:spPr>
        <p:txBody>
          <a:bodyPr wrap="square">
            <a:spAutoFit/>
          </a:bodyPr>
          <a:lstStyle/>
          <a:p>
            <a:pPr lvl="0"/>
            <a:r>
              <a:rPr lang="en-US" sz="2000" dirty="0">
                <a:solidFill>
                  <a:prstClr val="black"/>
                </a:solidFill>
                <a:latin typeface="Times New Roman" panose="02020603050405020304" pitchFamily="18" charset="0"/>
                <a:cs typeface="Times New Roman" panose="02020603050405020304" pitchFamily="18" charset="0"/>
              </a:rPr>
              <a:t>Following picture represents array </a:t>
            </a:r>
            <a:r>
              <a:rPr lang="en-US" sz="2000" dirty="0" err="1">
                <a:solidFill>
                  <a:prstClr val="black"/>
                </a:solidFill>
                <a:latin typeface="Times New Roman" panose="02020603050405020304" pitchFamily="18" charset="0"/>
                <a:cs typeface="Times New Roman" panose="02020603050405020304" pitchFamily="18" charset="0"/>
              </a:rPr>
              <a:t>myList</a:t>
            </a:r>
            <a:r>
              <a:rPr lang="en-US" sz="2000" dirty="0">
                <a:solidFill>
                  <a:prstClr val="black"/>
                </a:solidFill>
                <a:latin typeface="Times New Roman" panose="02020603050405020304" pitchFamily="18" charset="0"/>
                <a:cs typeface="Times New Roman" panose="02020603050405020304" pitchFamily="18" charset="0"/>
              </a:rPr>
              <a:t>. Here, </a:t>
            </a:r>
            <a:r>
              <a:rPr lang="en-US" sz="2000" dirty="0" err="1">
                <a:solidFill>
                  <a:prstClr val="black"/>
                </a:solidFill>
                <a:latin typeface="Times New Roman" panose="02020603050405020304" pitchFamily="18" charset="0"/>
                <a:cs typeface="Times New Roman" panose="02020603050405020304" pitchFamily="18" charset="0"/>
              </a:rPr>
              <a:t>myList</a:t>
            </a:r>
            <a:r>
              <a:rPr lang="en-US" sz="2000" dirty="0">
                <a:solidFill>
                  <a:prstClr val="black"/>
                </a:solidFill>
                <a:latin typeface="Times New Roman" panose="02020603050405020304" pitchFamily="18" charset="0"/>
                <a:cs typeface="Times New Roman" panose="02020603050405020304" pitchFamily="18" charset="0"/>
              </a:rPr>
              <a:t> holds ten double values and the indices are from 0 to 9</a:t>
            </a:r>
            <a:r>
              <a:rPr lang="en-US" dirty="0">
                <a:solidFill>
                  <a:prstClr val="black"/>
                </a:solidFill>
              </a:rPr>
              <a:t>.</a:t>
            </a:r>
            <a:endParaRPr lang="en-IN" dirty="0">
              <a:solidFill>
                <a:prstClr val="black"/>
              </a:solidFill>
            </a:endParaRPr>
          </a:p>
        </p:txBody>
      </p:sp>
    </p:spTree>
    <p:extLst>
      <p:ext uri="{BB962C8B-B14F-4D97-AF65-F5344CB8AC3E}">
        <p14:creationId xmlns:p14="http://schemas.microsoft.com/office/powerpoint/2010/main" val="105457837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5EDAE260-203A-48BA-B1E0-2820BBC6B005}" type="slidenum">
              <a:rPr lang="en-US" altLang="en-US" smtClean="0"/>
              <a:pPr>
                <a:defRPr/>
              </a:pPr>
              <a:t>9</a:t>
            </a:fld>
            <a:endParaRPr lang="en-US" altLang="en-US"/>
          </a:p>
        </p:txBody>
      </p:sp>
      <p:sp>
        <p:nvSpPr>
          <p:cNvPr id="4" name="Rectangle 3"/>
          <p:cNvSpPr/>
          <p:nvPr/>
        </p:nvSpPr>
        <p:spPr>
          <a:xfrm>
            <a:off x="533400" y="304800"/>
            <a:ext cx="11049000" cy="1015663"/>
          </a:xfrm>
          <a:prstGeom prst="rect">
            <a:avLst/>
          </a:prstGeom>
          <a:effectLst>
            <a:glow rad="63500">
              <a:schemeClr val="accent1">
                <a:satMod val="175000"/>
                <a:alpha val="40000"/>
              </a:schemeClr>
            </a:glow>
          </a:effectLst>
        </p:spPr>
        <p:txBody>
          <a:bodyPr wrap="square">
            <a:spAutoFit/>
          </a:bodyPr>
          <a:lstStyle/>
          <a:p>
            <a:r>
              <a:rPr lang="en-US" sz="2400" dirty="0">
                <a:solidFill>
                  <a:srgbClr val="FF0000"/>
                </a:solidFill>
                <a:latin typeface="Times New Roman" panose="02020603050405020304" pitchFamily="18" charset="0"/>
                <a:cs typeface="Times New Roman" panose="02020603050405020304" pitchFamily="18" charset="0"/>
              </a:rPr>
              <a:t>Example of Java </a:t>
            </a:r>
            <a:r>
              <a:rPr lang="en-US" sz="2400" dirty="0" smtClean="0">
                <a:solidFill>
                  <a:srgbClr val="FF0000"/>
                </a:solidFill>
                <a:latin typeface="Times New Roman" panose="02020603050405020304" pitchFamily="18" charset="0"/>
                <a:cs typeface="Times New Roman" panose="02020603050405020304" pitchFamily="18" charset="0"/>
              </a:rPr>
              <a:t>Array:</a:t>
            </a:r>
          </a:p>
          <a:p>
            <a:endParaRPr lang="en-US" dirty="0"/>
          </a:p>
          <a:p>
            <a:r>
              <a:rPr lang="en-US" dirty="0">
                <a:latin typeface="Times New Roman" panose="02020603050405020304" pitchFamily="18" charset="0"/>
                <a:cs typeface="Times New Roman" panose="02020603050405020304" pitchFamily="18" charset="0"/>
              </a:rPr>
              <a:t>Let's see the simple example of java array, where we are going to declare, instantiate, initialize and traverse an array.</a:t>
            </a:r>
            <a:endParaRPr lang="en-IN" dirty="0">
              <a:latin typeface="Times New Roman" panose="02020603050405020304" pitchFamily="18" charset="0"/>
              <a:cs typeface="Times New Roman" panose="02020603050405020304" pitchFamily="18" charset="0"/>
            </a:endParaRPr>
          </a:p>
        </p:txBody>
      </p:sp>
      <p:sp>
        <p:nvSpPr>
          <p:cNvPr id="6" name="Rectangle 5"/>
          <p:cNvSpPr/>
          <p:nvPr/>
        </p:nvSpPr>
        <p:spPr>
          <a:xfrm>
            <a:off x="4191000" y="1338337"/>
            <a:ext cx="6096000" cy="3539430"/>
          </a:xfrm>
          <a:prstGeom prst="rect">
            <a:avLst/>
          </a:prstGeom>
        </p:spPr>
        <p:txBody>
          <a:bodyPr>
            <a:spAutoFit/>
          </a:bodyPr>
          <a:lstStyle/>
          <a:p>
            <a:r>
              <a:rPr lang="en-US" sz="1600" dirty="0">
                <a:latin typeface="Times New Roman" panose="02020603050405020304" pitchFamily="18" charset="0"/>
                <a:cs typeface="Times New Roman" panose="02020603050405020304" pitchFamily="18" charset="0"/>
              </a:rPr>
              <a:t>class </a:t>
            </a:r>
            <a:r>
              <a:rPr lang="en-US" sz="1600" dirty="0" err="1" smtClean="0">
                <a:latin typeface="Times New Roman" panose="02020603050405020304" pitchFamily="18" charset="0"/>
                <a:cs typeface="Times New Roman" panose="02020603050405020304" pitchFamily="18" charset="0"/>
              </a:rPr>
              <a:t>Testarray</a:t>
            </a:r>
            <a:endParaRPr lang="en-US" sz="1600" dirty="0" smtClean="0">
              <a:latin typeface="Times New Roman" panose="02020603050405020304" pitchFamily="18" charset="0"/>
              <a:cs typeface="Times New Roman" panose="02020603050405020304" pitchFamily="18" charset="0"/>
            </a:endParaRPr>
          </a:p>
          <a:p>
            <a:r>
              <a:rPr lang="en-US" sz="1600" dirty="0" smtClean="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public static void main(String </a:t>
            </a:r>
            <a:r>
              <a:rPr lang="en-US" sz="1600" dirty="0" err="1">
                <a:latin typeface="Times New Roman" panose="02020603050405020304" pitchFamily="18" charset="0"/>
                <a:cs typeface="Times New Roman" panose="02020603050405020304" pitchFamily="18" charset="0"/>
              </a:rPr>
              <a:t>args</a:t>
            </a:r>
            <a:r>
              <a:rPr lang="en-US" sz="1600" dirty="0">
                <a:latin typeface="Times New Roman" panose="02020603050405020304" pitchFamily="18" charset="0"/>
                <a:cs typeface="Times New Roman" panose="02020603050405020304" pitchFamily="18" charset="0"/>
              </a:rPr>
              <a:t>[]){</a:t>
            </a:r>
          </a:p>
          <a:p>
            <a:endParaRPr lang="en-US" sz="1600" dirty="0">
              <a:latin typeface="Times New Roman" panose="02020603050405020304" pitchFamily="18" charset="0"/>
              <a:cs typeface="Times New Roman" panose="02020603050405020304" pitchFamily="18" charset="0"/>
            </a:endParaRPr>
          </a:p>
          <a:p>
            <a:r>
              <a:rPr lang="en-US" sz="1600" dirty="0" err="1">
                <a:latin typeface="Times New Roman" panose="02020603050405020304" pitchFamily="18" charset="0"/>
                <a:cs typeface="Times New Roman" panose="02020603050405020304" pitchFamily="18" charset="0"/>
              </a:rPr>
              <a:t>int</a:t>
            </a:r>
            <a:r>
              <a:rPr lang="en-US" sz="1600" dirty="0">
                <a:latin typeface="Times New Roman" panose="02020603050405020304" pitchFamily="18" charset="0"/>
                <a:cs typeface="Times New Roman" panose="02020603050405020304" pitchFamily="18" charset="0"/>
              </a:rPr>
              <a:t> a[]=new </a:t>
            </a:r>
            <a:r>
              <a:rPr lang="en-US" sz="1600" dirty="0" err="1">
                <a:latin typeface="Times New Roman" panose="02020603050405020304" pitchFamily="18" charset="0"/>
                <a:cs typeface="Times New Roman" panose="02020603050405020304" pitchFamily="18" charset="0"/>
              </a:rPr>
              <a:t>int</a:t>
            </a:r>
            <a:r>
              <a:rPr lang="en-US" sz="1600" dirty="0">
                <a:latin typeface="Times New Roman" panose="02020603050405020304" pitchFamily="18" charset="0"/>
                <a:cs typeface="Times New Roman" panose="02020603050405020304" pitchFamily="18" charset="0"/>
              </a:rPr>
              <a:t>[5</a:t>
            </a:r>
            <a:r>
              <a:rPr lang="en-US" sz="1600" dirty="0" smtClean="0">
                <a:latin typeface="Times New Roman" panose="02020603050405020304" pitchFamily="18" charset="0"/>
                <a:cs typeface="Times New Roman" panose="02020603050405020304" pitchFamily="18" charset="0"/>
              </a:rPr>
              <a:t>];    </a:t>
            </a:r>
            <a:r>
              <a:rPr lang="en-US" sz="1600" dirty="0" smtClean="0">
                <a:solidFill>
                  <a:srgbClr val="FF0000"/>
                </a:solidFill>
                <a:latin typeface="Times New Roman" panose="02020603050405020304" pitchFamily="18" charset="0"/>
                <a:cs typeface="Times New Roman" panose="02020603050405020304" pitchFamily="18" charset="0"/>
              </a:rPr>
              <a:t>//</a:t>
            </a:r>
            <a:r>
              <a:rPr lang="en-US" sz="1600" dirty="0">
                <a:solidFill>
                  <a:srgbClr val="FF0000"/>
                </a:solidFill>
                <a:latin typeface="Times New Roman" panose="02020603050405020304" pitchFamily="18" charset="0"/>
                <a:cs typeface="Times New Roman" panose="02020603050405020304" pitchFamily="18" charset="0"/>
              </a:rPr>
              <a:t>declaration and instantiation</a:t>
            </a:r>
          </a:p>
          <a:p>
            <a:r>
              <a:rPr lang="en-US" sz="1600" dirty="0">
                <a:latin typeface="Times New Roman" panose="02020603050405020304" pitchFamily="18" charset="0"/>
                <a:cs typeface="Times New Roman" panose="02020603050405020304" pitchFamily="18" charset="0"/>
              </a:rPr>
              <a:t>a[0]=10</a:t>
            </a:r>
            <a:r>
              <a:rPr lang="en-US" sz="1600" dirty="0" smtClean="0">
                <a:latin typeface="Times New Roman" panose="02020603050405020304" pitchFamily="18" charset="0"/>
                <a:cs typeface="Times New Roman" panose="02020603050405020304" pitchFamily="18" charset="0"/>
              </a:rPr>
              <a:t>;                   </a:t>
            </a:r>
            <a:r>
              <a:rPr lang="en-US" sz="1600" dirty="0" smtClean="0">
                <a:solidFill>
                  <a:srgbClr val="FF0000"/>
                </a:solidFill>
                <a:latin typeface="Times New Roman" panose="02020603050405020304" pitchFamily="18" charset="0"/>
                <a:cs typeface="Times New Roman" panose="02020603050405020304" pitchFamily="18" charset="0"/>
              </a:rPr>
              <a:t>//</a:t>
            </a:r>
            <a:r>
              <a:rPr lang="en-US" sz="1600" dirty="0">
                <a:solidFill>
                  <a:srgbClr val="FF0000"/>
                </a:solidFill>
                <a:latin typeface="Times New Roman" panose="02020603050405020304" pitchFamily="18" charset="0"/>
                <a:cs typeface="Times New Roman" panose="02020603050405020304" pitchFamily="18" charset="0"/>
              </a:rPr>
              <a:t>initialization</a:t>
            </a:r>
          </a:p>
          <a:p>
            <a:r>
              <a:rPr lang="en-US" sz="1600" dirty="0">
                <a:latin typeface="Times New Roman" panose="02020603050405020304" pitchFamily="18" charset="0"/>
                <a:cs typeface="Times New Roman" panose="02020603050405020304" pitchFamily="18" charset="0"/>
              </a:rPr>
              <a:t>a[1]=20;</a:t>
            </a:r>
          </a:p>
          <a:p>
            <a:r>
              <a:rPr lang="en-US" sz="1600" dirty="0">
                <a:latin typeface="Times New Roman" panose="02020603050405020304" pitchFamily="18" charset="0"/>
                <a:cs typeface="Times New Roman" panose="02020603050405020304" pitchFamily="18" charset="0"/>
              </a:rPr>
              <a:t>a[2]=70;</a:t>
            </a:r>
          </a:p>
          <a:p>
            <a:r>
              <a:rPr lang="en-US" sz="1600" dirty="0">
                <a:latin typeface="Times New Roman" panose="02020603050405020304" pitchFamily="18" charset="0"/>
                <a:cs typeface="Times New Roman" panose="02020603050405020304" pitchFamily="18" charset="0"/>
              </a:rPr>
              <a:t>a[3]=40;</a:t>
            </a:r>
          </a:p>
          <a:p>
            <a:r>
              <a:rPr lang="en-US" sz="1600" dirty="0">
                <a:latin typeface="Times New Roman" panose="02020603050405020304" pitchFamily="18" charset="0"/>
                <a:cs typeface="Times New Roman" panose="02020603050405020304" pitchFamily="18" charset="0"/>
              </a:rPr>
              <a:t>a[4]=50;</a:t>
            </a:r>
          </a:p>
          <a:p>
            <a:endParaRPr lang="en-US" sz="1600" dirty="0">
              <a:latin typeface="Times New Roman" panose="02020603050405020304" pitchFamily="18" charset="0"/>
              <a:cs typeface="Times New Roman" panose="02020603050405020304" pitchFamily="18" charset="0"/>
            </a:endParaRPr>
          </a:p>
          <a:p>
            <a:r>
              <a:rPr lang="en-US" sz="1600" dirty="0" smtClean="0">
                <a:latin typeface="Times New Roman" panose="02020603050405020304" pitchFamily="18" charset="0"/>
                <a:cs typeface="Times New Roman" panose="02020603050405020304" pitchFamily="18" charset="0"/>
              </a:rPr>
              <a:t>for(</a:t>
            </a:r>
            <a:r>
              <a:rPr lang="en-US" sz="1600" dirty="0" err="1" smtClean="0">
                <a:latin typeface="Times New Roman" panose="02020603050405020304" pitchFamily="18" charset="0"/>
                <a:cs typeface="Times New Roman" panose="02020603050405020304" pitchFamily="18" charset="0"/>
              </a:rPr>
              <a:t>int</a:t>
            </a:r>
            <a:r>
              <a:rPr lang="en-US" sz="1600" dirty="0" smtClean="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i</a:t>
            </a:r>
            <a:r>
              <a:rPr lang="en-US" sz="1600" dirty="0">
                <a:latin typeface="Times New Roman" panose="02020603050405020304" pitchFamily="18" charset="0"/>
                <a:cs typeface="Times New Roman" panose="02020603050405020304" pitchFamily="18" charset="0"/>
              </a:rPr>
              <a:t>=0;i&lt;5;i</a:t>
            </a:r>
            <a:r>
              <a:rPr lang="en-US" sz="1600" dirty="0" smtClean="0">
                <a:latin typeface="Times New Roman" panose="02020603050405020304" pitchFamily="18" charset="0"/>
                <a:cs typeface="Times New Roman" panose="02020603050405020304" pitchFamily="18" charset="0"/>
              </a:rPr>
              <a:t>++)              </a:t>
            </a:r>
            <a:r>
              <a:rPr lang="en-US" sz="1600" dirty="0" smtClean="0">
                <a:solidFill>
                  <a:srgbClr val="FF0000"/>
                </a:solidFill>
                <a:latin typeface="Times New Roman" panose="02020603050405020304" pitchFamily="18" charset="0"/>
                <a:cs typeface="Times New Roman" panose="02020603050405020304" pitchFamily="18" charset="0"/>
              </a:rPr>
              <a:t>//</a:t>
            </a:r>
            <a:r>
              <a:rPr lang="en-US" sz="1600" dirty="0">
                <a:solidFill>
                  <a:srgbClr val="FF0000"/>
                </a:solidFill>
                <a:latin typeface="Times New Roman" panose="02020603050405020304" pitchFamily="18" charset="0"/>
                <a:cs typeface="Times New Roman" panose="02020603050405020304" pitchFamily="18" charset="0"/>
              </a:rPr>
              <a:t>printing array</a:t>
            </a:r>
            <a:endParaRPr lang="en-US" sz="1600" dirty="0" smtClean="0">
              <a:latin typeface="Times New Roman" panose="02020603050405020304" pitchFamily="18" charset="0"/>
              <a:cs typeface="Times New Roman" panose="02020603050405020304" pitchFamily="18" charset="0"/>
            </a:endParaRPr>
          </a:p>
          <a:p>
            <a:r>
              <a:rPr lang="en-US" sz="1600" dirty="0" err="1" smtClean="0">
                <a:latin typeface="Times New Roman" panose="02020603050405020304" pitchFamily="18" charset="0"/>
                <a:cs typeface="Times New Roman" panose="02020603050405020304" pitchFamily="18" charset="0"/>
              </a:rPr>
              <a:t>System.out.println</a:t>
            </a:r>
            <a:r>
              <a:rPr lang="en-US" sz="1600" dirty="0" smtClean="0">
                <a:latin typeface="Times New Roman" panose="02020603050405020304" pitchFamily="18" charset="0"/>
                <a:cs typeface="Times New Roman" panose="02020603050405020304" pitchFamily="18" charset="0"/>
              </a:rPr>
              <a:t>(a[</a:t>
            </a:r>
            <a:r>
              <a:rPr lang="en-US" sz="1600" dirty="0" err="1" smtClean="0">
                <a:latin typeface="Times New Roman" panose="02020603050405020304" pitchFamily="18" charset="0"/>
                <a:cs typeface="Times New Roman" panose="02020603050405020304" pitchFamily="18" charset="0"/>
              </a:rPr>
              <a:t>i</a:t>
            </a:r>
            <a:r>
              <a:rPr lang="en-US" sz="1600" dirty="0">
                <a:latin typeface="Times New Roman" panose="02020603050405020304" pitchFamily="18" charset="0"/>
                <a:cs typeface="Times New Roman" panose="02020603050405020304" pitchFamily="18" charset="0"/>
              </a:rPr>
              <a:t>]);</a:t>
            </a:r>
          </a:p>
          <a:p>
            <a:r>
              <a:rPr lang="en-US" sz="1600" dirty="0" smtClean="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71395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5EDAE260-203A-48BA-B1E0-2820BBC6B005}" type="slidenum">
              <a:rPr lang="en-US" altLang="en-US" smtClean="0"/>
              <a:pPr>
                <a:defRPr/>
              </a:pPr>
              <a:t>10</a:t>
            </a:fld>
            <a:endParaRPr lang="en-US" altLang="en-US"/>
          </a:p>
        </p:txBody>
      </p:sp>
      <p:pic>
        <p:nvPicPr>
          <p:cNvPr id="4" name="Picture 3"/>
          <p:cNvPicPr>
            <a:picLocks noChangeAspect="1"/>
          </p:cNvPicPr>
          <p:nvPr/>
        </p:nvPicPr>
        <p:blipFill>
          <a:blip r:embed="rId2"/>
          <a:stretch>
            <a:fillRect/>
          </a:stretch>
        </p:blipFill>
        <p:spPr>
          <a:xfrm>
            <a:off x="871537" y="990600"/>
            <a:ext cx="10448925" cy="2600325"/>
          </a:xfrm>
          <a:prstGeom prst="rect">
            <a:avLst/>
          </a:prstGeom>
          <a:effectLst>
            <a:glow rad="101600">
              <a:schemeClr val="accent2">
                <a:satMod val="175000"/>
                <a:alpha val="40000"/>
              </a:schemeClr>
            </a:glow>
          </a:effectLst>
        </p:spPr>
      </p:pic>
    </p:spTree>
    <p:extLst>
      <p:ext uri="{BB962C8B-B14F-4D97-AF65-F5344CB8AC3E}">
        <p14:creationId xmlns:p14="http://schemas.microsoft.com/office/powerpoint/2010/main" val="94292773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5EDAE260-203A-48BA-B1E0-2820BBC6B005}" type="slidenum">
              <a:rPr lang="en-US" altLang="en-US" smtClean="0"/>
              <a:pPr>
                <a:defRPr/>
              </a:pPr>
              <a:t>11</a:t>
            </a:fld>
            <a:endParaRPr lang="en-US" altLang="en-US"/>
          </a:p>
        </p:txBody>
      </p:sp>
      <p:pic>
        <p:nvPicPr>
          <p:cNvPr id="5" name="Picture 4"/>
          <p:cNvPicPr>
            <a:picLocks noChangeAspect="1"/>
          </p:cNvPicPr>
          <p:nvPr/>
        </p:nvPicPr>
        <p:blipFill>
          <a:blip r:embed="rId2"/>
          <a:stretch>
            <a:fillRect/>
          </a:stretch>
        </p:blipFill>
        <p:spPr>
          <a:xfrm>
            <a:off x="4876800" y="4170333"/>
            <a:ext cx="6705600" cy="1404924"/>
          </a:xfrm>
          <a:prstGeom prst="rect">
            <a:avLst/>
          </a:prstGeom>
          <a:effectLst>
            <a:glow rad="101600">
              <a:schemeClr val="accent2">
                <a:satMod val="175000"/>
                <a:alpha val="40000"/>
              </a:schemeClr>
            </a:glow>
          </a:effectLst>
        </p:spPr>
      </p:pic>
      <p:sp>
        <p:nvSpPr>
          <p:cNvPr id="6" name="Rectangle 5"/>
          <p:cNvSpPr/>
          <p:nvPr/>
        </p:nvSpPr>
        <p:spPr>
          <a:xfrm>
            <a:off x="609600" y="1524000"/>
            <a:ext cx="8839200" cy="3477875"/>
          </a:xfrm>
          <a:prstGeom prst="rect">
            <a:avLst/>
          </a:prstGeom>
        </p:spPr>
        <p:txBody>
          <a:bodyPr wrap="square">
            <a:spAutoFit/>
          </a:bodyPr>
          <a:lstStyle/>
          <a:p>
            <a:r>
              <a:rPr lang="en-IN" sz="2000" dirty="0">
                <a:latin typeface="Times New Roman" panose="02020603050405020304" pitchFamily="18" charset="0"/>
                <a:cs typeface="Times New Roman" panose="02020603050405020304" pitchFamily="18" charset="0"/>
              </a:rPr>
              <a:t>class Testarray1{</a:t>
            </a:r>
          </a:p>
          <a:p>
            <a:r>
              <a:rPr lang="en-IN" sz="2000" dirty="0">
                <a:latin typeface="Times New Roman" panose="02020603050405020304" pitchFamily="18" charset="0"/>
                <a:cs typeface="Times New Roman" panose="02020603050405020304" pitchFamily="18" charset="0"/>
              </a:rPr>
              <a:t>public static void main(String </a:t>
            </a:r>
            <a:r>
              <a:rPr lang="en-IN" sz="2000" dirty="0" err="1">
                <a:latin typeface="Times New Roman" panose="02020603050405020304" pitchFamily="18" charset="0"/>
                <a:cs typeface="Times New Roman" panose="02020603050405020304" pitchFamily="18" charset="0"/>
              </a:rPr>
              <a:t>args</a:t>
            </a:r>
            <a:r>
              <a:rPr lang="en-IN" sz="2000" dirty="0" smtClean="0">
                <a:latin typeface="Times New Roman" panose="02020603050405020304" pitchFamily="18" charset="0"/>
                <a:cs typeface="Times New Roman" panose="02020603050405020304" pitchFamily="18" charset="0"/>
              </a:rPr>
              <a:t>[])</a:t>
            </a:r>
          </a:p>
          <a:p>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r>
              <a:rPr lang="en-IN" sz="2000" dirty="0" err="1">
                <a:latin typeface="Times New Roman" panose="02020603050405020304" pitchFamily="18" charset="0"/>
                <a:cs typeface="Times New Roman" panose="02020603050405020304" pitchFamily="18" charset="0"/>
              </a:rPr>
              <a:t>int</a:t>
            </a:r>
            <a:r>
              <a:rPr lang="en-IN" sz="2000" dirty="0">
                <a:latin typeface="Times New Roman" panose="02020603050405020304" pitchFamily="18" charset="0"/>
                <a:cs typeface="Times New Roman" panose="02020603050405020304" pitchFamily="18" charset="0"/>
              </a:rPr>
              <a:t> a[]={33,3,4,5};//declaration, instantiation and initialization</a:t>
            </a:r>
          </a:p>
          <a:p>
            <a:endParaRPr lang="en-IN" sz="2000" dirty="0">
              <a:latin typeface="Times New Roman" panose="02020603050405020304" pitchFamily="18" charset="0"/>
              <a:cs typeface="Times New Roman" panose="02020603050405020304" pitchFamily="18" charset="0"/>
            </a:endParaRPr>
          </a:p>
          <a:p>
            <a:r>
              <a:rPr lang="en-IN" sz="2000" dirty="0">
                <a:solidFill>
                  <a:srgbClr val="FF0000"/>
                </a:solidFill>
                <a:latin typeface="Times New Roman" panose="02020603050405020304" pitchFamily="18" charset="0"/>
                <a:cs typeface="Times New Roman" panose="02020603050405020304" pitchFamily="18" charset="0"/>
              </a:rPr>
              <a:t>//printing array</a:t>
            </a:r>
          </a:p>
          <a:p>
            <a:r>
              <a:rPr lang="en-IN" sz="2000" dirty="0">
                <a:latin typeface="Times New Roman" panose="02020603050405020304" pitchFamily="18" charset="0"/>
                <a:cs typeface="Times New Roman" panose="02020603050405020304" pitchFamily="18" charset="0"/>
              </a:rPr>
              <a:t>for(</a:t>
            </a:r>
            <a:r>
              <a:rPr lang="en-IN" sz="2000" dirty="0" err="1">
                <a:latin typeface="Times New Roman" panose="02020603050405020304" pitchFamily="18" charset="0"/>
                <a:cs typeface="Times New Roman" panose="02020603050405020304" pitchFamily="18" charset="0"/>
              </a:rPr>
              <a:t>int</a:t>
            </a:r>
            <a:r>
              <a:rPr lang="en-IN" sz="2000" dirty="0">
                <a:latin typeface="Times New Roman" panose="02020603050405020304" pitchFamily="18" charset="0"/>
                <a:cs typeface="Times New Roman" panose="02020603050405020304" pitchFamily="18" charset="0"/>
              </a:rPr>
              <a:t> </a:t>
            </a:r>
            <a:r>
              <a:rPr lang="en-IN" sz="2000" dirty="0" err="1" smtClean="0">
                <a:latin typeface="Times New Roman" panose="02020603050405020304" pitchFamily="18" charset="0"/>
                <a:cs typeface="Times New Roman" panose="02020603050405020304" pitchFamily="18" charset="0"/>
              </a:rPr>
              <a:t>i</a:t>
            </a:r>
            <a:r>
              <a:rPr lang="en-IN" sz="2000" dirty="0" smtClean="0">
                <a:latin typeface="Times New Roman" panose="02020603050405020304" pitchFamily="18" charset="0"/>
                <a:cs typeface="Times New Roman" panose="02020603050405020304" pitchFamily="18" charset="0"/>
              </a:rPr>
              <a:t>=0;i&lt;4;i++)</a:t>
            </a:r>
          </a:p>
          <a:p>
            <a:r>
              <a:rPr lang="en-IN" sz="2000" dirty="0" err="1" smtClean="0">
                <a:latin typeface="Times New Roman" panose="02020603050405020304" pitchFamily="18" charset="0"/>
                <a:cs typeface="Times New Roman" panose="02020603050405020304" pitchFamily="18" charset="0"/>
              </a:rPr>
              <a:t>System.out.println</a:t>
            </a:r>
            <a:r>
              <a:rPr lang="en-IN" sz="2000" dirty="0" smtClean="0">
                <a:latin typeface="Times New Roman" panose="02020603050405020304" pitchFamily="18" charset="0"/>
                <a:cs typeface="Times New Roman" panose="02020603050405020304" pitchFamily="18" charset="0"/>
              </a:rPr>
              <a:t>(a[</a:t>
            </a:r>
            <a:r>
              <a:rPr lang="en-IN" sz="2000" dirty="0" err="1" smtClean="0">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a:t>
            </a:r>
          </a:p>
        </p:txBody>
      </p:sp>
      <p:sp>
        <p:nvSpPr>
          <p:cNvPr id="7" name="Rectangle 6"/>
          <p:cNvSpPr/>
          <p:nvPr/>
        </p:nvSpPr>
        <p:spPr>
          <a:xfrm>
            <a:off x="457200" y="200561"/>
            <a:ext cx="11582400" cy="1323439"/>
          </a:xfrm>
          <a:prstGeom prst="rect">
            <a:avLst/>
          </a:prstGeom>
        </p:spPr>
        <p:txBody>
          <a:bodyPr wrap="square">
            <a:spAutoFit/>
          </a:bodyPr>
          <a:lstStyle/>
          <a:p>
            <a:r>
              <a:rPr lang="en-US" sz="2000" dirty="0">
                <a:solidFill>
                  <a:srgbClr val="FF0000"/>
                </a:solidFill>
                <a:latin typeface="Times New Roman" panose="02020603050405020304" pitchFamily="18" charset="0"/>
                <a:cs typeface="Times New Roman" panose="02020603050405020304" pitchFamily="18" charset="0"/>
              </a:rPr>
              <a:t>Let's see the simple example to print this array.</a:t>
            </a:r>
          </a:p>
          <a:p>
            <a:endParaRPr lang="en-US" sz="2000" dirty="0">
              <a:solidFill>
                <a:srgbClr val="FF0000"/>
              </a:solidFill>
              <a:latin typeface="Times New Roman" panose="02020603050405020304" pitchFamily="18" charset="0"/>
              <a:cs typeface="Times New Roman" panose="02020603050405020304" pitchFamily="18" charset="0"/>
            </a:endParaRPr>
          </a:p>
          <a:p>
            <a:r>
              <a:rPr lang="en-US" sz="2000" dirty="0">
                <a:solidFill>
                  <a:srgbClr val="FF0000"/>
                </a:solidFill>
                <a:latin typeface="Times New Roman" panose="02020603050405020304" pitchFamily="18" charset="0"/>
                <a:cs typeface="Times New Roman" panose="02020603050405020304" pitchFamily="18" charset="0"/>
              </a:rPr>
              <a:t>//Java Program to illustrate the use of declaration, instantiation   </a:t>
            </a:r>
          </a:p>
          <a:p>
            <a:r>
              <a:rPr lang="en-US" sz="2000" dirty="0">
                <a:solidFill>
                  <a:srgbClr val="FF0000"/>
                </a:solidFill>
                <a:latin typeface="Times New Roman" panose="02020603050405020304" pitchFamily="18" charset="0"/>
                <a:cs typeface="Times New Roman" panose="02020603050405020304" pitchFamily="18" charset="0"/>
              </a:rPr>
              <a:t>//and initialization of Java array in a single line</a:t>
            </a:r>
            <a:endParaRPr lang="en-IN" sz="20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639127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9275"/>
          </a:xfrm>
          <a:effectLst>
            <a:glow rad="63500">
              <a:schemeClr val="accent2">
                <a:satMod val="175000"/>
                <a:alpha val="40000"/>
              </a:schemeClr>
            </a:glow>
          </a:effectLst>
        </p:spPr>
        <p:txBody>
          <a:bodyPr/>
          <a:lstStyle/>
          <a:p>
            <a:r>
              <a:rPr lang="en-US" sz="2800" b="1" dirty="0" smtClean="0">
                <a:solidFill>
                  <a:srgbClr val="FF0000"/>
                </a:solidFill>
                <a:latin typeface="Times New Roman" panose="02020603050405020304" pitchFamily="18" charset="0"/>
                <a:cs typeface="Times New Roman" panose="02020603050405020304" pitchFamily="18" charset="0"/>
              </a:rPr>
              <a:t>Exercise Programs:</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800" y="1066800"/>
            <a:ext cx="10515600" cy="4351338"/>
          </a:xfrm>
        </p:spPr>
        <p:txBody>
          <a:bodyPr/>
          <a:lstStyle/>
          <a:p>
            <a:r>
              <a:rPr lang="en-US" sz="2000" dirty="0" smtClean="0">
                <a:solidFill>
                  <a:srgbClr val="0070C0"/>
                </a:solidFill>
                <a:latin typeface="Times New Roman" panose="02020603050405020304" pitchFamily="18" charset="0"/>
                <a:cs typeface="Times New Roman" panose="02020603050405020304" pitchFamily="18" charset="0"/>
              </a:rPr>
              <a:t>Write a Java Program to print </a:t>
            </a:r>
            <a:r>
              <a:rPr lang="en-US" sz="2000" dirty="0">
                <a:solidFill>
                  <a:srgbClr val="0070C0"/>
                </a:solidFill>
                <a:latin typeface="Times New Roman" panose="02020603050405020304" pitchFamily="18" charset="0"/>
                <a:cs typeface="Times New Roman" panose="02020603050405020304" pitchFamily="18" charset="0"/>
              </a:rPr>
              <a:t>the elements of Java array using the for-each loop</a:t>
            </a:r>
            <a:r>
              <a:rPr lang="en-US" sz="2000" dirty="0" smtClean="0">
                <a:solidFill>
                  <a:srgbClr val="0070C0"/>
                </a:solidFill>
                <a:latin typeface="Times New Roman" panose="02020603050405020304" pitchFamily="18" charset="0"/>
                <a:cs typeface="Times New Roman" panose="02020603050405020304" pitchFamily="18" charset="0"/>
              </a:rPr>
              <a:t>.</a:t>
            </a:r>
          </a:p>
          <a:p>
            <a:endParaRPr lang="en-US" sz="2000" dirty="0" smtClean="0"/>
          </a:p>
          <a:p>
            <a:endParaRPr lang="en-US" sz="2000" dirty="0" smtClean="0"/>
          </a:p>
          <a:p>
            <a:endParaRPr lang="en-US" sz="2000" dirty="0" smtClean="0">
              <a:solidFill>
                <a:srgbClr val="C00000"/>
              </a:solidFill>
            </a:endParaRPr>
          </a:p>
          <a:p>
            <a:r>
              <a:rPr lang="en-US" sz="2000" dirty="0" smtClean="0">
                <a:solidFill>
                  <a:srgbClr val="0070C0"/>
                </a:solidFill>
              </a:rPr>
              <a:t>Write </a:t>
            </a:r>
            <a:r>
              <a:rPr lang="en-US" sz="2000" dirty="0">
                <a:solidFill>
                  <a:srgbClr val="0070C0"/>
                </a:solidFill>
              </a:rPr>
              <a:t>a Java Program to print </a:t>
            </a:r>
            <a:r>
              <a:rPr lang="en-US" sz="2000" dirty="0" smtClean="0">
                <a:solidFill>
                  <a:srgbClr val="0070C0"/>
                </a:solidFill>
              </a:rPr>
              <a:t>the largest number in an Array</a:t>
            </a:r>
            <a:r>
              <a:rPr lang="en-US" sz="2000" dirty="0" smtClean="0">
                <a:solidFill>
                  <a:srgbClr val="C00000"/>
                </a:solidFill>
              </a:rPr>
              <a:t>.</a:t>
            </a:r>
          </a:p>
          <a:p>
            <a:endParaRPr lang="en-US" sz="2000" dirty="0" smtClean="0"/>
          </a:p>
          <a:p>
            <a:endParaRPr lang="en-US" sz="2000" dirty="0" smtClean="0"/>
          </a:p>
          <a:p>
            <a:endParaRPr lang="en-US" sz="2000" dirty="0" smtClean="0"/>
          </a:p>
          <a:p>
            <a:endParaRPr lang="en-US" sz="2000" dirty="0" smtClean="0"/>
          </a:p>
          <a:p>
            <a:endParaRPr lang="en-US" sz="2000" dirty="0" smtClean="0"/>
          </a:p>
          <a:p>
            <a:endParaRPr lang="en-US" sz="2000" dirty="0" smtClean="0"/>
          </a:p>
          <a:p>
            <a:endParaRPr lang="en-US" sz="2000" dirty="0"/>
          </a:p>
          <a:p>
            <a:endParaRPr lang="en-IN" sz="2000" dirty="0"/>
          </a:p>
          <a:p>
            <a:endParaRPr lang="en-IN" sz="2000" dirty="0"/>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12</a:t>
            </a:fld>
            <a:endParaRPr lang="en-US" altLang="en-US"/>
          </a:p>
        </p:txBody>
      </p:sp>
      <p:graphicFrame>
        <p:nvGraphicFramePr>
          <p:cNvPr id="6" name="Table 5"/>
          <p:cNvGraphicFramePr>
            <a:graphicFrameLocks noGrp="1"/>
          </p:cNvGraphicFramePr>
          <p:nvPr>
            <p:extLst>
              <p:ext uri="{D42A27DB-BD31-4B8C-83A1-F6EECF244321}">
                <p14:modId xmlns:p14="http://schemas.microsoft.com/office/powerpoint/2010/main" val="4293974601"/>
              </p:ext>
            </p:extLst>
          </p:nvPr>
        </p:nvGraphicFramePr>
        <p:xfrm>
          <a:off x="990600" y="3048000"/>
          <a:ext cx="7391400" cy="738188"/>
        </p:xfrm>
        <a:graphic>
          <a:graphicData uri="http://schemas.openxmlformats.org/drawingml/2006/table">
            <a:tbl>
              <a:tblPr firstRow="1" bandRow="1">
                <a:effectLst>
                  <a:innerShdw blurRad="63500" dist="50800" dir="13500000">
                    <a:prstClr val="black">
                      <a:alpha val="50000"/>
                    </a:prstClr>
                  </a:innerShdw>
                </a:effectLst>
                <a:tableStyleId>{5C22544A-7EE6-4342-B048-85BDC9FD1C3A}</a:tableStyleId>
              </a:tblPr>
              <a:tblGrid>
                <a:gridCol w="3695700"/>
                <a:gridCol w="3695700"/>
              </a:tblGrid>
              <a:tr h="369094">
                <a:tc>
                  <a:txBody>
                    <a:bodyPr/>
                    <a:lstStyle/>
                    <a:p>
                      <a:r>
                        <a:rPr lang="en-US" dirty="0" smtClean="0"/>
                        <a:t>Input </a:t>
                      </a:r>
                      <a:endParaRPr lang="en-IN" dirty="0"/>
                    </a:p>
                  </a:txBody>
                  <a:tcPr/>
                </a:tc>
                <a:tc>
                  <a:txBody>
                    <a:bodyPr/>
                    <a:lstStyle/>
                    <a:p>
                      <a:r>
                        <a:rPr lang="en-US" dirty="0" smtClean="0"/>
                        <a:t>Output</a:t>
                      </a:r>
                      <a:endParaRPr lang="en-IN" dirty="0"/>
                    </a:p>
                  </a:txBody>
                  <a:tcPr/>
                </a:tc>
              </a:tr>
              <a:tr h="369094">
                <a:tc>
                  <a:txBody>
                    <a:bodyPr/>
                    <a:lstStyle/>
                    <a:p>
                      <a:r>
                        <a:rPr lang="en-US" dirty="0" smtClean="0"/>
                        <a:t>200 23 45 56 </a:t>
                      </a:r>
                      <a:endParaRPr lang="en-IN" dirty="0"/>
                    </a:p>
                  </a:txBody>
                  <a:tcPr/>
                </a:tc>
                <a:tc>
                  <a:txBody>
                    <a:bodyPr/>
                    <a:lstStyle/>
                    <a:p>
                      <a:r>
                        <a:rPr lang="en-US" dirty="0" smtClean="0"/>
                        <a:t>Largest Number=200</a:t>
                      </a:r>
                      <a:endParaRPr lang="en-IN" dirty="0"/>
                    </a:p>
                  </a:txBody>
                  <a:tcPr/>
                </a:tc>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1939592499"/>
              </p:ext>
            </p:extLst>
          </p:nvPr>
        </p:nvGraphicFramePr>
        <p:xfrm>
          <a:off x="1066800" y="1524000"/>
          <a:ext cx="8128000" cy="736600"/>
        </p:xfrm>
        <a:graphic>
          <a:graphicData uri="http://schemas.openxmlformats.org/drawingml/2006/table">
            <a:tbl>
              <a:tblPr firstRow="1" bandRow="1">
                <a:effectLst>
                  <a:innerShdw blurRad="63500" dist="50800" dir="13500000">
                    <a:prstClr val="black">
                      <a:alpha val="50000"/>
                    </a:prstClr>
                  </a:innerShdw>
                </a:effectLst>
                <a:tableStyleId>{5C22544A-7EE6-4342-B048-85BDC9FD1C3A}</a:tableStyleId>
              </a:tblPr>
              <a:tblGrid>
                <a:gridCol w="8128000"/>
              </a:tblGrid>
              <a:tr h="137160">
                <a:tc>
                  <a:txBody>
                    <a:bodyPr/>
                    <a:lstStyle/>
                    <a:p>
                      <a:r>
                        <a:rPr lang="en-US" dirty="0" smtClean="0"/>
                        <a:t>Output</a:t>
                      </a:r>
                      <a:endParaRPr lang="en-IN" dirty="0"/>
                    </a:p>
                  </a:txBody>
                  <a:tcPr/>
                </a:tc>
              </a:tr>
              <a:tr h="370840">
                <a:tc>
                  <a:txBody>
                    <a:bodyPr/>
                    <a:lstStyle/>
                    <a:p>
                      <a:r>
                        <a:rPr lang="en-US" dirty="0" smtClean="0"/>
                        <a:t>Array Elements are:200</a:t>
                      </a:r>
                      <a:r>
                        <a:rPr lang="en-US" baseline="0" dirty="0" smtClean="0"/>
                        <a:t> 23 45 56</a:t>
                      </a:r>
                      <a:endParaRPr lang="en-IN" dirty="0"/>
                    </a:p>
                  </a:txBody>
                  <a:tcPr/>
                </a:tc>
              </a:tr>
            </a:tbl>
          </a:graphicData>
        </a:graphic>
      </p:graphicFrame>
    </p:spTree>
    <p:extLst>
      <p:ext uri="{BB962C8B-B14F-4D97-AF65-F5344CB8AC3E}">
        <p14:creationId xmlns:p14="http://schemas.microsoft.com/office/powerpoint/2010/main" val="48161218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5EDAE260-203A-48BA-B1E0-2820BBC6B005}" type="slidenum">
              <a:rPr lang="en-US" altLang="en-US" smtClean="0"/>
              <a:pPr>
                <a:defRPr/>
              </a:pPr>
              <a:t>13</a:t>
            </a:fld>
            <a:endParaRPr lang="en-US" altLang="en-US"/>
          </a:p>
        </p:txBody>
      </p:sp>
      <p:pic>
        <p:nvPicPr>
          <p:cNvPr id="4" name="Picture 3"/>
          <p:cNvPicPr>
            <a:picLocks noChangeAspect="1"/>
          </p:cNvPicPr>
          <p:nvPr/>
        </p:nvPicPr>
        <p:blipFill>
          <a:blip r:embed="rId2"/>
          <a:stretch>
            <a:fillRect/>
          </a:stretch>
        </p:blipFill>
        <p:spPr>
          <a:xfrm>
            <a:off x="1066800" y="1574645"/>
            <a:ext cx="7431668" cy="883997"/>
          </a:xfrm>
          <a:prstGeom prst="rect">
            <a:avLst/>
          </a:prstGeom>
          <a:effectLst>
            <a:innerShdw blurRad="63500" dist="50800" dir="13500000">
              <a:prstClr val="black">
                <a:alpha val="50000"/>
              </a:prstClr>
            </a:innerShdw>
          </a:effectLst>
        </p:spPr>
      </p:pic>
      <p:sp>
        <p:nvSpPr>
          <p:cNvPr id="5" name="Rectangle 4"/>
          <p:cNvSpPr/>
          <p:nvPr/>
        </p:nvSpPr>
        <p:spPr>
          <a:xfrm>
            <a:off x="990600" y="990600"/>
            <a:ext cx="8382000" cy="400110"/>
          </a:xfrm>
          <a:prstGeom prst="rect">
            <a:avLst/>
          </a:prstGeom>
        </p:spPr>
        <p:txBody>
          <a:bodyPr wrap="square">
            <a:spAutoFit/>
          </a:bodyPr>
          <a:lstStyle/>
          <a:p>
            <a:r>
              <a:rPr lang="en-US" sz="2000" dirty="0">
                <a:solidFill>
                  <a:srgbClr val="FF0000"/>
                </a:solidFill>
                <a:latin typeface="Times New Roman" panose="02020603050405020304" pitchFamily="18" charset="0"/>
                <a:cs typeface="Times New Roman" panose="02020603050405020304" pitchFamily="18" charset="0"/>
              </a:rPr>
              <a:t>Write a Java Program to find the sum of all the elements in an Array</a:t>
            </a:r>
            <a:r>
              <a:rPr lang="en-US" dirty="0">
                <a:solidFill>
                  <a:srgbClr val="C00000"/>
                </a:solidFill>
              </a:rPr>
              <a:t>.</a:t>
            </a:r>
          </a:p>
        </p:txBody>
      </p:sp>
      <p:pic>
        <p:nvPicPr>
          <p:cNvPr id="6" name="Picture 5"/>
          <p:cNvPicPr>
            <a:picLocks noChangeAspect="1"/>
          </p:cNvPicPr>
          <p:nvPr/>
        </p:nvPicPr>
        <p:blipFill>
          <a:blip r:embed="rId3"/>
          <a:stretch>
            <a:fillRect/>
          </a:stretch>
        </p:blipFill>
        <p:spPr>
          <a:xfrm>
            <a:off x="1143006" y="3133121"/>
            <a:ext cx="7279255" cy="1054699"/>
          </a:xfrm>
          <a:prstGeom prst="rect">
            <a:avLst/>
          </a:prstGeom>
          <a:effectLst>
            <a:innerShdw blurRad="63500" dist="50800" dir="13500000">
              <a:prstClr val="black">
                <a:alpha val="50000"/>
              </a:prstClr>
            </a:innerShdw>
          </a:effectLst>
        </p:spPr>
      </p:pic>
      <p:sp>
        <p:nvSpPr>
          <p:cNvPr id="7" name="Rectangle 6"/>
          <p:cNvSpPr/>
          <p:nvPr/>
        </p:nvSpPr>
        <p:spPr>
          <a:xfrm>
            <a:off x="1066800" y="2589210"/>
            <a:ext cx="8001000" cy="400110"/>
          </a:xfrm>
          <a:prstGeom prst="rect">
            <a:avLst/>
          </a:prstGeom>
        </p:spPr>
        <p:txBody>
          <a:bodyPr wrap="square">
            <a:spAutoFit/>
          </a:bodyPr>
          <a:lstStyle/>
          <a:p>
            <a:r>
              <a:rPr lang="en-US" sz="2000" dirty="0">
                <a:solidFill>
                  <a:srgbClr val="FF0000"/>
                </a:solidFill>
                <a:latin typeface="Times New Roman" panose="02020603050405020304" pitchFamily="18" charset="0"/>
                <a:cs typeface="Times New Roman" panose="02020603050405020304" pitchFamily="18" charset="0"/>
              </a:rPr>
              <a:t>Write a Java Program to print the smallest number in an Array.</a:t>
            </a:r>
          </a:p>
        </p:txBody>
      </p:sp>
    </p:spTree>
    <p:extLst>
      <p:ext uri="{BB962C8B-B14F-4D97-AF65-F5344CB8AC3E}">
        <p14:creationId xmlns:p14="http://schemas.microsoft.com/office/powerpoint/2010/main" val="388246950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20675"/>
            <a:ext cx="10515600" cy="1325563"/>
          </a:xfrm>
        </p:spPr>
        <p:txBody>
          <a:bodyPr/>
          <a:lstStyle/>
          <a:p>
            <a:r>
              <a:rPr lang="en-US" sz="2400" b="1" dirty="0">
                <a:solidFill>
                  <a:srgbClr val="FF0000"/>
                </a:solidFill>
              </a:rPr>
              <a:t/>
            </a:r>
            <a:br>
              <a:rPr lang="en-US" sz="2400" b="1" dirty="0">
                <a:solidFill>
                  <a:srgbClr val="FF0000"/>
                </a:solidFill>
              </a:rPr>
            </a:br>
            <a:r>
              <a:rPr lang="en-US" sz="2000" dirty="0">
                <a:latin typeface="Times New Roman" panose="02020603050405020304" pitchFamily="18" charset="0"/>
                <a:cs typeface="Times New Roman" panose="02020603050405020304" pitchFamily="18" charset="0"/>
              </a:rPr>
              <a:t>To change the value of a specific element, refer to the index number:</a:t>
            </a:r>
            <a:endParaRPr lang="en-IN" sz="2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IN" sz="2000" dirty="0" smtClean="0">
                <a:latin typeface="Times New Roman" panose="02020603050405020304" pitchFamily="18" charset="0"/>
                <a:cs typeface="Times New Roman" panose="02020603050405020304" pitchFamily="18" charset="0"/>
              </a:rPr>
              <a:t>class Vehicle </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public static void main(String[] </a:t>
            </a:r>
            <a:r>
              <a:rPr lang="en-IN" sz="2000" dirty="0" err="1">
                <a:latin typeface="Times New Roman" panose="02020603050405020304" pitchFamily="18" charset="0"/>
                <a:cs typeface="Times New Roman" panose="02020603050405020304" pitchFamily="18" charset="0"/>
              </a:rPr>
              <a:t>args</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String[] cars = {"Volvo", "BMW", "Ford", "Mazda"};</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System.out.println</a:t>
            </a:r>
            <a:r>
              <a:rPr lang="en-IN" sz="2000" dirty="0">
                <a:latin typeface="Times New Roman" panose="02020603050405020304" pitchFamily="18" charset="0"/>
                <a:cs typeface="Times New Roman" panose="02020603050405020304" pitchFamily="18" charset="0"/>
              </a:rPr>
              <a:t>(cars[0]);</a:t>
            </a:r>
          </a:p>
          <a:p>
            <a:pPr marL="0" indent="0">
              <a:buNone/>
            </a:pPr>
            <a:r>
              <a:rPr lang="en-IN" sz="2000" dirty="0">
                <a:latin typeface="Times New Roman" panose="02020603050405020304" pitchFamily="18" charset="0"/>
                <a:cs typeface="Times New Roman" panose="02020603050405020304" pitchFamily="18" charset="0"/>
              </a:rPr>
              <a:t>    cars[0] = "Opel";</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System.out.println</a:t>
            </a:r>
            <a:r>
              <a:rPr lang="en-IN" sz="2000" dirty="0">
                <a:latin typeface="Times New Roman" panose="02020603050405020304" pitchFamily="18" charset="0"/>
                <a:cs typeface="Times New Roman" panose="02020603050405020304" pitchFamily="18" charset="0"/>
              </a:rPr>
              <a:t>(cars[0]);</a:t>
            </a:r>
          </a:p>
          <a:p>
            <a:pPr marL="0" indent="0">
              <a:buNone/>
            </a:pP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a:t>
            </a:r>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14</a:t>
            </a:fld>
            <a:endParaRPr lang="en-US" altLang="en-US"/>
          </a:p>
        </p:txBody>
      </p:sp>
      <p:pic>
        <p:nvPicPr>
          <p:cNvPr id="6" name="Picture 5"/>
          <p:cNvPicPr>
            <a:picLocks noChangeAspect="1"/>
          </p:cNvPicPr>
          <p:nvPr/>
        </p:nvPicPr>
        <p:blipFill>
          <a:blip r:embed="rId2"/>
          <a:stretch>
            <a:fillRect/>
          </a:stretch>
        </p:blipFill>
        <p:spPr>
          <a:xfrm>
            <a:off x="7334250" y="1981200"/>
            <a:ext cx="4019550" cy="1914525"/>
          </a:xfrm>
          <a:prstGeom prst="rect">
            <a:avLst/>
          </a:prstGeom>
        </p:spPr>
      </p:pic>
      <p:sp>
        <p:nvSpPr>
          <p:cNvPr id="8" name="Title 1"/>
          <p:cNvSpPr txBox="1">
            <a:spLocks/>
          </p:cNvSpPr>
          <p:nvPr/>
        </p:nvSpPr>
        <p:spPr bwMode="auto">
          <a:xfrm>
            <a:off x="152400" y="270599"/>
            <a:ext cx="6019800" cy="454878"/>
          </a:xfrm>
          <a:prstGeom prst="rect">
            <a:avLst/>
          </a:prstGeom>
          <a:solidFill>
            <a:schemeClr val="bg1"/>
          </a:solidFill>
          <a:ln w="9525">
            <a:solidFill>
              <a:schemeClr val="accent1"/>
            </a:solidFill>
            <a:round/>
            <a:headEnd/>
            <a:tailEnd/>
          </a:ln>
          <a:effectLst>
            <a:glow rad="101600">
              <a:schemeClr val="accent2">
                <a:satMod val="175000"/>
                <a:alpha val="40000"/>
              </a:schemeClr>
            </a:glow>
            <a:outerShdw blurRad="50800" dist="38100" dir="2700000" algn="tl" rotWithShape="0">
              <a:prstClr val="black">
                <a:alpha val="40000"/>
              </a:prstClr>
            </a:outerShdw>
          </a:effectLst>
          <a:extLst/>
        </p:spPr>
        <p:txBody>
          <a:bodyPr vert="horz" wrap="square" lIns="90000" tIns="46800" rIns="90000" bIns="46800" numCol="1" anchor="ctr" anchorCtr="0" compatLnSpc="1">
            <a:prstTxWarp prst="textNoShape">
              <a:avLst/>
            </a:prstTxWarp>
          </a:bodyP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defTabSz="457200">
              <a:buClr>
                <a:srgbClr val="000000"/>
              </a:buClr>
              <a:buSzPct val="1000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3000" b="1" dirty="0" smtClean="0">
                <a:solidFill>
                  <a:srgbClr val="FF0000"/>
                </a:solidFill>
                <a:latin typeface="Times New Roman" panose="02020603050405020304" pitchFamily="18" charset="0"/>
                <a:cs typeface="Times New Roman" panose="02020603050405020304" pitchFamily="18" charset="0"/>
              </a:rPr>
              <a:t>Changing an Array Element</a:t>
            </a:r>
            <a:endParaRPr lang="en-US" sz="3000" b="1" dirty="0">
              <a:solidFill>
                <a:srgbClr val="FF0000"/>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43310246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5EDAE260-203A-48BA-B1E0-2820BBC6B005}" type="slidenum">
              <a:rPr lang="en-US" altLang="en-US" smtClean="0"/>
              <a:pPr>
                <a:defRPr/>
              </a:pPr>
              <a:t>15</a:t>
            </a:fld>
            <a:endParaRPr lang="en-US" altLang="en-US"/>
          </a:p>
        </p:txBody>
      </p:sp>
      <p:sp>
        <p:nvSpPr>
          <p:cNvPr id="4" name="Rectangle 3"/>
          <p:cNvSpPr/>
          <p:nvPr/>
        </p:nvSpPr>
        <p:spPr>
          <a:xfrm>
            <a:off x="674600" y="381000"/>
            <a:ext cx="5450531" cy="369332"/>
          </a:xfrm>
          <a:prstGeom prst="rect">
            <a:avLst/>
          </a:prstGeom>
        </p:spPr>
        <p:txBody>
          <a:bodyPr wrap="none">
            <a:spAutoFit/>
          </a:bodyPr>
          <a:lstStyle/>
          <a:p>
            <a:r>
              <a:rPr lang="en-US" b="1" dirty="0">
                <a:solidFill>
                  <a:srgbClr val="FF0000"/>
                </a:solidFill>
                <a:latin typeface="Verdana" panose="020B0604030504040204" pitchFamily="34" charset="0"/>
              </a:rPr>
              <a:t>Passing Array as Parameters to Methods</a:t>
            </a:r>
            <a:endParaRPr lang="en-US" b="1" i="0" dirty="0">
              <a:solidFill>
                <a:srgbClr val="FF0000"/>
              </a:solidFill>
              <a:effectLst/>
              <a:latin typeface="Verdana" panose="020B0604030504040204" pitchFamily="34" charset="0"/>
            </a:endParaRPr>
          </a:p>
        </p:txBody>
      </p:sp>
      <p:sp>
        <p:nvSpPr>
          <p:cNvPr id="5" name="Rectangle 4"/>
          <p:cNvSpPr/>
          <p:nvPr/>
        </p:nvSpPr>
        <p:spPr>
          <a:xfrm>
            <a:off x="667864" y="750332"/>
            <a:ext cx="10914535" cy="646331"/>
          </a:xfrm>
          <a:prstGeom prst="rect">
            <a:avLst/>
          </a:prstGeom>
        </p:spPr>
        <p:txBody>
          <a:bodyPr wrap="square">
            <a:spAutoFit/>
          </a:bodyPr>
          <a:lstStyle/>
          <a:p>
            <a:r>
              <a:rPr lang="en-US" dirty="0">
                <a:solidFill>
                  <a:srgbClr val="000000"/>
                </a:solidFill>
                <a:latin typeface="Times New Roman" panose="02020603050405020304" pitchFamily="18" charset="0"/>
                <a:cs typeface="Times New Roman" panose="02020603050405020304" pitchFamily="18" charset="0"/>
              </a:rPr>
              <a:t>Just like other objects, arrays can be passed as parameters to methods. The following method takes a </a:t>
            </a:r>
            <a:r>
              <a:rPr lang="en-US" dirty="0" err="1">
                <a:solidFill>
                  <a:srgbClr val="000000"/>
                </a:solidFill>
                <a:latin typeface="Times New Roman" panose="02020603050405020304" pitchFamily="18" charset="0"/>
                <a:cs typeface="Times New Roman" panose="02020603050405020304" pitchFamily="18" charset="0"/>
              </a:rPr>
              <a:t>int</a:t>
            </a:r>
            <a:r>
              <a:rPr lang="en-US" dirty="0">
                <a:solidFill>
                  <a:srgbClr val="000000"/>
                </a:solidFill>
                <a:latin typeface="Times New Roman" panose="02020603050405020304" pitchFamily="18" charset="0"/>
                <a:cs typeface="Times New Roman" panose="02020603050405020304" pitchFamily="18" charset="0"/>
              </a:rPr>
              <a:t> array as an argument and prints the data stored in each element of array:</a:t>
            </a:r>
            <a:endParaRPr lang="en-IN" dirty="0">
              <a:latin typeface="Times New Roman" panose="02020603050405020304" pitchFamily="18" charset="0"/>
              <a:cs typeface="Times New Roman" panose="02020603050405020304" pitchFamily="18" charset="0"/>
            </a:endParaRPr>
          </a:p>
        </p:txBody>
      </p:sp>
      <p:sp>
        <p:nvSpPr>
          <p:cNvPr id="7" name="Rectangle 6"/>
          <p:cNvSpPr/>
          <p:nvPr/>
        </p:nvSpPr>
        <p:spPr>
          <a:xfrm>
            <a:off x="990600" y="1398101"/>
            <a:ext cx="6096000" cy="3416320"/>
          </a:xfrm>
          <a:prstGeom prst="rect">
            <a:avLst/>
          </a:prstGeom>
        </p:spPr>
        <p:txBody>
          <a:bodyPr>
            <a:spAutoFit/>
          </a:bodyPr>
          <a:lstStyle/>
          <a:p>
            <a:pPr algn="just"/>
            <a:r>
              <a:rPr lang="en-IN" dirty="0" smtClean="0">
                <a:latin typeface="Times New Roman" panose="02020603050405020304" pitchFamily="18" charset="0"/>
                <a:cs typeface="Times New Roman" panose="02020603050405020304" pitchFamily="18" charset="0"/>
              </a:rPr>
              <a:t>import</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java.util.Scanner</a:t>
            </a:r>
            <a:r>
              <a:rPr lang="en-IN" dirty="0">
                <a:latin typeface="Times New Roman" panose="02020603050405020304" pitchFamily="18" charset="0"/>
                <a:cs typeface="Times New Roman" panose="02020603050405020304" pitchFamily="18" charset="0"/>
              </a:rPr>
              <a:t>;  </a:t>
            </a:r>
          </a:p>
          <a:p>
            <a:pPr algn="just"/>
            <a:r>
              <a:rPr lang="en-IN" dirty="0">
                <a:latin typeface="Times New Roman" panose="02020603050405020304" pitchFamily="18" charset="0"/>
                <a:cs typeface="Times New Roman" panose="02020603050405020304" pitchFamily="18" charset="0"/>
              </a:rPr>
              <a:t>public class array {  </a:t>
            </a:r>
          </a:p>
          <a:p>
            <a:pPr algn="just"/>
            <a:r>
              <a:rPr lang="en-IN" dirty="0">
                <a:latin typeface="Times New Roman" panose="02020603050405020304" pitchFamily="18" charset="0"/>
                <a:cs typeface="Times New Roman" panose="02020603050405020304" pitchFamily="18" charset="0"/>
              </a:rPr>
              <a:t>   public </a:t>
            </a:r>
            <a:r>
              <a:rPr lang="en-IN" dirty="0" err="1">
                <a:latin typeface="Times New Roman" panose="02020603050405020304" pitchFamily="18" charset="0"/>
                <a:cs typeface="Times New Roman" panose="02020603050405020304" pitchFamily="18" charset="0"/>
              </a:rPr>
              <a:t>int</a:t>
            </a:r>
            <a:r>
              <a:rPr lang="en-IN" dirty="0">
                <a:latin typeface="Times New Roman" panose="02020603050405020304" pitchFamily="18" charset="0"/>
                <a:cs typeface="Times New Roman" panose="02020603050405020304" pitchFamily="18" charset="0"/>
              </a:rPr>
              <a:t> max(</a:t>
            </a:r>
            <a:r>
              <a:rPr lang="en-IN" dirty="0" err="1">
                <a:latin typeface="Times New Roman" panose="02020603050405020304" pitchFamily="18" charset="0"/>
                <a:cs typeface="Times New Roman" panose="02020603050405020304" pitchFamily="18" charset="0"/>
              </a:rPr>
              <a:t>int</a:t>
            </a:r>
            <a:r>
              <a:rPr lang="en-IN" dirty="0">
                <a:latin typeface="Times New Roman" panose="02020603050405020304" pitchFamily="18" charset="0"/>
                <a:cs typeface="Times New Roman" panose="02020603050405020304" pitchFamily="18" charset="0"/>
              </a:rPr>
              <a:t> [] array) {  </a:t>
            </a:r>
          </a:p>
          <a:p>
            <a:pPr algn="just"/>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int</a:t>
            </a:r>
            <a:r>
              <a:rPr lang="en-IN" dirty="0">
                <a:latin typeface="Times New Roman" panose="02020603050405020304" pitchFamily="18" charset="0"/>
                <a:cs typeface="Times New Roman" panose="02020603050405020304" pitchFamily="18" charset="0"/>
              </a:rPr>
              <a:t> max = 0;  </a:t>
            </a:r>
          </a:p>
          <a:p>
            <a:pPr algn="just"/>
            <a:r>
              <a:rPr lang="en-IN" dirty="0">
                <a:latin typeface="Times New Roman" panose="02020603050405020304" pitchFamily="18" charset="0"/>
                <a:cs typeface="Times New Roman" panose="02020603050405020304" pitchFamily="18" charset="0"/>
              </a:rPr>
              <a:t>  </a:t>
            </a:r>
          </a:p>
          <a:p>
            <a:pPr algn="just"/>
            <a:r>
              <a:rPr lang="en-IN" dirty="0">
                <a:latin typeface="Times New Roman" panose="02020603050405020304" pitchFamily="18" charset="0"/>
                <a:cs typeface="Times New Roman" panose="02020603050405020304" pitchFamily="18" charset="0"/>
              </a:rPr>
              <a:t>      for(</a:t>
            </a:r>
            <a:r>
              <a:rPr lang="en-IN" dirty="0" err="1">
                <a:latin typeface="Times New Roman" panose="02020603050405020304" pitchFamily="18" charset="0"/>
                <a:cs typeface="Times New Roman" panose="02020603050405020304" pitchFamily="18" charset="0"/>
              </a:rPr>
              <a:t>int</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=0;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&lt;</a:t>
            </a:r>
            <a:r>
              <a:rPr lang="en-IN" dirty="0" err="1">
                <a:latin typeface="Times New Roman" panose="02020603050405020304" pitchFamily="18" charset="0"/>
                <a:cs typeface="Times New Roman" panose="02020603050405020304" pitchFamily="18" charset="0"/>
              </a:rPr>
              <a:t>array.length</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 {  </a:t>
            </a:r>
          </a:p>
          <a:p>
            <a:pPr algn="just"/>
            <a:r>
              <a:rPr lang="en-IN" dirty="0">
                <a:latin typeface="Times New Roman" panose="02020603050405020304" pitchFamily="18" charset="0"/>
                <a:cs typeface="Times New Roman" panose="02020603050405020304" pitchFamily="18" charset="0"/>
              </a:rPr>
              <a:t>         if(array[</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]&gt;max) {  </a:t>
            </a:r>
          </a:p>
          <a:p>
            <a:pPr algn="just"/>
            <a:r>
              <a:rPr lang="en-IN" dirty="0">
                <a:latin typeface="Times New Roman" panose="02020603050405020304" pitchFamily="18" charset="0"/>
                <a:cs typeface="Times New Roman" panose="02020603050405020304" pitchFamily="18" charset="0"/>
              </a:rPr>
              <a:t>            max = array[</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a:t>
            </a:r>
          </a:p>
          <a:p>
            <a:pPr algn="just"/>
            <a:r>
              <a:rPr lang="en-IN" dirty="0">
                <a:latin typeface="Times New Roman" panose="02020603050405020304" pitchFamily="18" charset="0"/>
                <a:cs typeface="Times New Roman" panose="02020603050405020304" pitchFamily="18" charset="0"/>
              </a:rPr>
              <a:t>         }  </a:t>
            </a:r>
          </a:p>
          <a:p>
            <a:pPr algn="just"/>
            <a:r>
              <a:rPr lang="en-IN" dirty="0">
                <a:latin typeface="Times New Roman" panose="02020603050405020304" pitchFamily="18" charset="0"/>
                <a:cs typeface="Times New Roman" panose="02020603050405020304" pitchFamily="18" charset="0"/>
              </a:rPr>
              <a:t>      }  </a:t>
            </a:r>
          </a:p>
          <a:p>
            <a:pPr algn="just"/>
            <a:r>
              <a:rPr lang="en-IN" dirty="0">
                <a:latin typeface="Times New Roman" panose="02020603050405020304" pitchFamily="18" charset="0"/>
                <a:cs typeface="Times New Roman" panose="02020603050405020304" pitchFamily="18" charset="0"/>
              </a:rPr>
              <a:t>      return max;  </a:t>
            </a:r>
          </a:p>
          <a:p>
            <a:pPr algn="just"/>
            <a:r>
              <a:rPr lang="en-IN" dirty="0">
                <a:latin typeface="Times New Roman" panose="02020603050405020304" pitchFamily="18" charset="0"/>
                <a:cs typeface="Times New Roman" panose="02020603050405020304" pitchFamily="18" charset="0"/>
              </a:rPr>
              <a:t>   }  </a:t>
            </a:r>
            <a:endParaRPr lang="en-IN"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775894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365125"/>
            <a:ext cx="5181600" cy="4351338"/>
          </a:xfrm>
        </p:spPr>
        <p:txBody>
          <a:bodyPr/>
          <a:lstStyle/>
          <a:p>
            <a:pPr marL="0" indent="0">
              <a:buNone/>
            </a:pPr>
            <a:r>
              <a:rPr lang="en-IN" sz="1200" b="1" dirty="0"/>
              <a:t>public</a:t>
            </a:r>
            <a:r>
              <a:rPr lang="en-IN" sz="1200" dirty="0"/>
              <a:t> </a:t>
            </a:r>
            <a:r>
              <a:rPr lang="en-IN" sz="1200" b="1" dirty="0" err="1"/>
              <a:t>int</a:t>
            </a:r>
            <a:r>
              <a:rPr lang="en-IN" sz="1200" dirty="0"/>
              <a:t> min(</a:t>
            </a:r>
            <a:r>
              <a:rPr lang="en-IN" sz="1200" b="1" dirty="0" err="1"/>
              <a:t>int</a:t>
            </a:r>
            <a:r>
              <a:rPr lang="en-IN" sz="1200" dirty="0"/>
              <a:t> [] array) {  </a:t>
            </a:r>
          </a:p>
          <a:p>
            <a:pPr marL="0" indent="0">
              <a:buNone/>
            </a:pPr>
            <a:r>
              <a:rPr lang="en-IN" sz="1200" dirty="0"/>
              <a:t>      </a:t>
            </a:r>
            <a:r>
              <a:rPr lang="en-IN" sz="1200" b="1" dirty="0" err="1"/>
              <a:t>int</a:t>
            </a:r>
            <a:r>
              <a:rPr lang="en-IN" sz="1200" dirty="0"/>
              <a:t> min = array[0];  </a:t>
            </a:r>
            <a:endParaRPr lang="en-IN" sz="1200" dirty="0" smtClean="0"/>
          </a:p>
          <a:p>
            <a:pPr marL="0" indent="0">
              <a:buNone/>
            </a:pPr>
            <a:r>
              <a:rPr lang="en-IN" sz="1200" dirty="0"/>
              <a:t>      </a:t>
            </a:r>
            <a:r>
              <a:rPr lang="en-IN" sz="1200" b="1" dirty="0"/>
              <a:t>for</a:t>
            </a:r>
            <a:r>
              <a:rPr lang="en-IN" sz="1200" dirty="0"/>
              <a:t>(</a:t>
            </a:r>
            <a:r>
              <a:rPr lang="en-IN" sz="1200" b="1" dirty="0" err="1"/>
              <a:t>int</a:t>
            </a:r>
            <a:r>
              <a:rPr lang="en-IN" sz="1200" dirty="0"/>
              <a:t> </a:t>
            </a:r>
            <a:r>
              <a:rPr lang="en-IN" sz="1200" dirty="0" err="1"/>
              <a:t>i</a:t>
            </a:r>
            <a:r>
              <a:rPr lang="en-IN" sz="1200" dirty="0"/>
              <a:t> = 0; </a:t>
            </a:r>
            <a:r>
              <a:rPr lang="en-IN" sz="1200" dirty="0" err="1"/>
              <a:t>i</a:t>
            </a:r>
            <a:r>
              <a:rPr lang="en-IN" sz="1200" dirty="0"/>
              <a:t>&lt;</a:t>
            </a:r>
            <a:r>
              <a:rPr lang="en-IN" sz="1200" dirty="0" err="1"/>
              <a:t>array.length</a:t>
            </a:r>
            <a:r>
              <a:rPr lang="en-IN" sz="1200" dirty="0"/>
              <a:t>; </a:t>
            </a:r>
            <a:r>
              <a:rPr lang="en-IN" sz="1200" dirty="0" err="1"/>
              <a:t>i</a:t>
            </a:r>
            <a:r>
              <a:rPr lang="en-IN" sz="1200" dirty="0"/>
              <a:t>++ </a:t>
            </a:r>
            <a:r>
              <a:rPr lang="en-IN" sz="1200" dirty="0" smtClean="0"/>
              <a:t>)</a:t>
            </a:r>
          </a:p>
          <a:p>
            <a:pPr marL="0" indent="0">
              <a:buNone/>
            </a:pPr>
            <a:r>
              <a:rPr lang="en-IN" sz="1200" dirty="0"/>
              <a:t> {  </a:t>
            </a:r>
          </a:p>
          <a:p>
            <a:pPr marL="0" indent="0">
              <a:buNone/>
            </a:pPr>
            <a:r>
              <a:rPr lang="en-IN" sz="1200" dirty="0"/>
              <a:t>         </a:t>
            </a:r>
            <a:r>
              <a:rPr lang="en-IN" sz="1200" b="1" dirty="0"/>
              <a:t>if</a:t>
            </a:r>
            <a:r>
              <a:rPr lang="en-IN" sz="1200" dirty="0"/>
              <a:t>(array[</a:t>
            </a:r>
            <a:r>
              <a:rPr lang="en-IN" sz="1200" dirty="0" err="1"/>
              <a:t>i</a:t>
            </a:r>
            <a:r>
              <a:rPr lang="en-IN" sz="1200" dirty="0"/>
              <a:t>]&lt;min) {  </a:t>
            </a:r>
          </a:p>
          <a:p>
            <a:pPr marL="0" indent="0">
              <a:buNone/>
            </a:pPr>
            <a:r>
              <a:rPr lang="en-IN" sz="1200" dirty="0"/>
              <a:t>            min = array[</a:t>
            </a:r>
            <a:r>
              <a:rPr lang="en-IN" sz="1200" dirty="0" err="1"/>
              <a:t>i</a:t>
            </a:r>
            <a:r>
              <a:rPr lang="en-IN" sz="1200" dirty="0"/>
              <a:t>];  </a:t>
            </a:r>
          </a:p>
          <a:p>
            <a:pPr marL="0" indent="0">
              <a:buNone/>
            </a:pPr>
            <a:r>
              <a:rPr lang="en-IN" sz="1200" dirty="0"/>
              <a:t>         }  </a:t>
            </a:r>
          </a:p>
          <a:p>
            <a:pPr marL="0" indent="0">
              <a:buNone/>
            </a:pPr>
            <a:r>
              <a:rPr lang="en-IN" sz="1200" dirty="0"/>
              <a:t>      }  </a:t>
            </a:r>
          </a:p>
          <a:p>
            <a:pPr marL="0" indent="0">
              <a:buNone/>
            </a:pPr>
            <a:r>
              <a:rPr lang="en-IN" sz="1200" dirty="0"/>
              <a:t>      </a:t>
            </a:r>
            <a:r>
              <a:rPr lang="en-IN" sz="1200" b="1" dirty="0"/>
              <a:t>return</a:t>
            </a:r>
            <a:r>
              <a:rPr lang="en-IN" sz="1200" dirty="0"/>
              <a:t> min;  </a:t>
            </a:r>
          </a:p>
          <a:p>
            <a:pPr marL="0" indent="0">
              <a:buNone/>
            </a:pPr>
            <a:r>
              <a:rPr lang="en-IN" sz="1200" dirty="0"/>
              <a:t>   }  </a:t>
            </a:r>
          </a:p>
          <a:p>
            <a:endParaRPr lang="en-IN" dirty="0"/>
          </a:p>
        </p:txBody>
      </p:sp>
      <p:sp>
        <p:nvSpPr>
          <p:cNvPr id="4" name="Content Placeholder 3"/>
          <p:cNvSpPr>
            <a:spLocks noGrp="1"/>
          </p:cNvSpPr>
          <p:nvPr>
            <p:ph sz="half" idx="2"/>
          </p:nvPr>
        </p:nvSpPr>
        <p:spPr>
          <a:xfrm>
            <a:off x="5791200" y="533400"/>
            <a:ext cx="5562600" cy="5643563"/>
          </a:xfrm>
        </p:spPr>
        <p:txBody>
          <a:bodyPr/>
          <a:lstStyle/>
          <a:p>
            <a:pPr marL="0" indent="0">
              <a:buNone/>
            </a:pPr>
            <a:r>
              <a:rPr lang="en-IN" sz="1200" b="1" dirty="0"/>
              <a:t>public</a:t>
            </a:r>
            <a:r>
              <a:rPr lang="en-IN" sz="1200" dirty="0"/>
              <a:t> </a:t>
            </a:r>
            <a:r>
              <a:rPr lang="en-IN" sz="1200" b="1" dirty="0"/>
              <a:t>static</a:t>
            </a:r>
            <a:r>
              <a:rPr lang="en-IN" sz="1200" dirty="0"/>
              <a:t> </a:t>
            </a:r>
            <a:r>
              <a:rPr lang="en-IN" sz="1200" b="1" dirty="0"/>
              <a:t>void</a:t>
            </a:r>
            <a:r>
              <a:rPr lang="en-IN" sz="1200" dirty="0"/>
              <a:t> main(String </a:t>
            </a:r>
            <a:r>
              <a:rPr lang="en-IN" sz="1200" dirty="0" err="1"/>
              <a:t>args</a:t>
            </a:r>
            <a:r>
              <a:rPr lang="en-IN" sz="1200" dirty="0"/>
              <a:t>[]) {  </a:t>
            </a:r>
          </a:p>
          <a:p>
            <a:pPr marL="0" indent="0">
              <a:buNone/>
            </a:pPr>
            <a:r>
              <a:rPr lang="en-IN" sz="1200" dirty="0"/>
              <a:t>      Scanner </a:t>
            </a:r>
            <a:r>
              <a:rPr lang="en-IN" sz="1200" dirty="0" err="1"/>
              <a:t>sc</a:t>
            </a:r>
            <a:r>
              <a:rPr lang="en-IN" sz="1200" dirty="0"/>
              <a:t> = </a:t>
            </a:r>
            <a:r>
              <a:rPr lang="en-IN" sz="1200" b="1" dirty="0"/>
              <a:t>new</a:t>
            </a:r>
            <a:r>
              <a:rPr lang="en-IN" sz="1200" dirty="0"/>
              <a:t> Scanner(System.in);  </a:t>
            </a:r>
          </a:p>
          <a:p>
            <a:pPr marL="0" indent="0">
              <a:buNone/>
            </a:pPr>
            <a:r>
              <a:rPr lang="en-IN" sz="1200" dirty="0"/>
              <a:t>      </a:t>
            </a:r>
            <a:r>
              <a:rPr lang="en-IN" sz="1200" dirty="0" err="1"/>
              <a:t>System.out.println</a:t>
            </a:r>
            <a:r>
              <a:rPr lang="en-IN" sz="1200" dirty="0"/>
              <a:t>("Enter the array range");  </a:t>
            </a:r>
          </a:p>
          <a:p>
            <a:pPr marL="0" indent="0">
              <a:buNone/>
            </a:pPr>
            <a:r>
              <a:rPr lang="en-IN" sz="1200" dirty="0"/>
              <a:t>      </a:t>
            </a:r>
            <a:r>
              <a:rPr lang="en-IN" sz="1200" b="1" dirty="0" err="1"/>
              <a:t>int</a:t>
            </a:r>
            <a:r>
              <a:rPr lang="en-IN" sz="1200" dirty="0"/>
              <a:t> size = </a:t>
            </a:r>
            <a:r>
              <a:rPr lang="en-IN" sz="1200" dirty="0" err="1"/>
              <a:t>sc.nextInt</a:t>
            </a:r>
            <a:r>
              <a:rPr lang="en-IN" sz="1200" dirty="0"/>
              <a:t>();  </a:t>
            </a:r>
          </a:p>
          <a:p>
            <a:pPr marL="0" indent="0">
              <a:buNone/>
            </a:pPr>
            <a:r>
              <a:rPr lang="en-IN" sz="1200" dirty="0"/>
              <a:t>      </a:t>
            </a:r>
            <a:r>
              <a:rPr lang="en-IN" sz="1200" b="1" dirty="0" err="1"/>
              <a:t>int</a:t>
            </a:r>
            <a:r>
              <a:rPr lang="en-IN" sz="1200" dirty="0"/>
              <a:t>[] </a:t>
            </a:r>
            <a:r>
              <a:rPr lang="en-IN" sz="1200" dirty="0" err="1"/>
              <a:t>arr</a:t>
            </a:r>
            <a:r>
              <a:rPr lang="en-IN" sz="1200" dirty="0"/>
              <a:t> = </a:t>
            </a:r>
            <a:r>
              <a:rPr lang="en-IN" sz="1200" b="1" dirty="0"/>
              <a:t>new</a:t>
            </a:r>
            <a:r>
              <a:rPr lang="en-IN" sz="1200" dirty="0"/>
              <a:t> </a:t>
            </a:r>
            <a:r>
              <a:rPr lang="en-IN" sz="1200" b="1" dirty="0" err="1"/>
              <a:t>int</a:t>
            </a:r>
            <a:r>
              <a:rPr lang="en-IN" sz="1200" dirty="0"/>
              <a:t>[size];  </a:t>
            </a:r>
          </a:p>
          <a:p>
            <a:pPr marL="0" indent="0">
              <a:buNone/>
            </a:pPr>
            <a:r>
              <a:rPr lang="en-IN" sz="1200" dirty="0"/>
              <a:t>      </a:t>
            </a:r>
            <a:r>
              <a:rPr lang="en-IN" sz="1200" dirty="0" err="1"/>
              <a:t>System.out.println</a:t>
            </a:r>
            <a:r>
              <a:rPr lang="en-IN" sz="1200" dirty="0"/>
              <a:t>("Enter the elements of the array ::");  </a:t>
            </a:r>
          </a:p>
          <a:p>
            <a:pPr marL="0" indent="0">
              <a:buNone/>
            </a:pPr>
            <a:r>
              <a:rPr lang="en-IN" sz="1200" dirty="0"/>
              <a:t>  </a:t>
            </a:r>
          </a:p>
          <a:p>
            <a:pPr marL="0" indent="0">
              <a:buNone/>
            </a:pPr>
            <a:r>
              <a:rPr lang="en-IN" sz="1200" dirty="0"/>
              <a:t>      </a:t>
            </a:r>
            <a:r>
              <a:rPr lang="en-IN" sz="1200" b="1" dirty="0"/>
              <a:t>for</a:t>
            </a:r>
            <a:r>
              <a:rPr lang="en-IN" sz="1200" dirty="0"/>
              <a:t>(</a:t>
            </a:r>
            <a:r>
              <a:rPr lang="en-IN" sz="1200" b="1" dirty="0" err="1"/>
              <a:t>int</a:t>
            </a:r>
            <a:r>
              <a:rPr lang="en-IN" sz="1200" dirty="0"/>
              <a:t> </a:t>
            </a:r>
            <a:r>
              <a:rPr lang="en-IN" sz="1200" dirty="0" err="1"/>
              <a:t>i</a:t>
            </a:r>
            <a:r>
              <a:rPr lang="en-IN" sz="1200" dirty="0"/>
              <a:t>=0; </a:t>
            </a:r>
            <a:r>
              <a:rPr lang="en-IN" sz="1200" dirty="0" err="1"/>
              <a:t>i</a:t>
            </a:r>
            <a:r>
              <a:rPr lang="en-IN" sz="1200" dirty="0"/>
              <a:t>&lt;size; </a:t>
            </a:r>
            <a:r>
              <a:rPr lang="en-IN" sz="1200" dirty="0" err="1"/>
              <a:t>i</a:t>
            </a:r>
            <a:r>
              <a:rPr lang="en-IN" sz="1200" dirty="0"/>
              <a:t>++) {  </a:t>
            </a:r>
          </a:p>
          <a:p>
            <a:pPr marL="0" indent="0">
              <a:buNone/>
            </a:pPr>
            <a:r>
              <a:rPr lang="en-IN" sz="1200" dirty="0"/>
              <a:t>         </a:t>
            </a:r>
            <a:r>
              <a:rPr lang="en-IN" sz="1200" dirty="0" err="1"/>
              <a:t>arr</a:t>
            </a:r>
            <a:r>
              <a:rPr lang="en-IN" sz="1200" dirty="0"/>
              <a:t>[</a:t>
            </a:r>
            <a:r>
              <a:rPr lang="en-IN" sz="1200" dirty="0" err="1"/>
              <a:t>i</a:t>
            </a:r>
            <a:r>
              <a:rPr lang="en-IN" sz="1200" dirty="0"/>
              <a:t>] = </a:t>
            </a:r>
            <a:r>
              <a:rPr lang="en-IN" sz="1200" dirty="0" err="1"/>
              <a:t>sc.nextInt</a:t>
            </a:r>
            <a:r>
              <a:rPr lang="en-IN" sz="1200" dirty="0"/>
              <a:t>();  </a:t>
            </a:r>
          </a:p>
          <a:p>
            <a:pPr marL="0" indent="0">
              <a:buNone/>
            </a:pPr>
            <a:r>
              <a:rPr lang="en-IN" sz="1200" dirty="0"/>
              <a:t>      }  </a:t>
            </a:r>
          </a:p>
          <a:p>
            <a:pPr marL="0" indent="0">
              <a:buNone/>
            </a:pPr>
            <a:r>
              <a:rPr lang="en-IN" sz="1200" dirty="0"/>
              <a:t>      array m = </a:t>
            </a:r>
            <a:r>
              <a:rPr lang="en-IN" sz="1200" b="1" dirty="0"/>
              <a:t>new</a:t>
            </a:r>
            <a:r>
              <a:rPr lang="en-IN" sz="1200" dirty="0"/>
              <a:t> array();  </a:t>
            </a:r>
          </a:p>
          <a:p>
            <a:pPr marL="0" indent="0">
              <a:buNone/>
            </a:pPr>
            <a:r>
              <a:rPr lang="en-IN" sz="1200" dirty="0"/>
              <a:t>      </a:t>
            </a:r>
            <a:r>
              <a:rPr lang="en-IN" sz="1200" dirty="0" err="1"/>
              <a:t>System.out.println</a:t>
            </a:r>
            <a:r>
              <a:rPr lang="en-IN" sz="1200" dirty="0"/>
              <a:t>("Maximum value in the array is::"+</a:t>
            </a:r>
            <a:r>
              <a:rPr lang="en-IN" sz="1200" dirty="0" err="1"/>
              <a:t>m.max</a:t>
            </a:r>
            <a:r>
              <a:rPr lang="en-IN" sz="1200" dirty="0"/>
              <a:t>(</a:t>
            </a:r>
            <a:r>
              <a:rPr lang="en-IN" sz="1200" dirty="0" err="1"/>
              <a:t>arr</a:t>
            </a:r>
            <a:r>
              <a:rPr lang="en-IN" sz="1200" dirty="0"/>
              <a:t>));  </a:t>
            </a:r>
          </a:p>
          <a:p>
            <a:pPr marL="0" indent="0">
              <a:buNone/>
            </a:pPr>
            <a:r>
              <a:rPr lang="en-IN" sz="1200" dirty="0"/>
              <a:t>      </a:t>
            </a:r>
            <a:r>
              <a:rPr lang="en-IN" sz="1200" dirty="0" err="1"/>
              <a:t>System.out.println</a:t>
            </a:r>
            <a:r>
              <a:rPr lang="en-IN" sz="1200" dirty="0"/>
              <a:t>("Minimum value in the array is::"+</a:t>
            </a:r>
            <a:r>
              <a:rPr lang="en-IN" sz="1200" dirty="0" err="1"/>
              <a:t>m.min</a:t>
            </a:r>
            <a:r>
              <a:rPr lang="en-IN" sz="1200" dirty="0"/>
              <a:t>(</a:t>
            </a:r>
            <a:r>
              <a:rPr lang="en-IN" sz="1200" dirty="0" err="1"/>
              <a:t>arr</a:t>
            </a:r>
            <a:r>
              <a:rPr lang="en-IN" sz="1200" dirty="0"/>
              <a:t>));  </a:t>
            </a:r>
          </a:p>
          <a:p>
            <a:pPr marL="0" indent="0">
              <a:buNone/>
            </a:pPr>
            <a:r>
              <a:rPr lang="en-IN" sz="1200" dirty="0"/>
              <a:t>   }  </a:t>
            </a:r>
          </a:p>
          <a:p>
            <a:pPr marL="0" indent="0">
              <a:buNone/>
            </a:pPr>
            <a:r>
              <a:rPr lang="en-IN" sz="1200" dirty="0"/>
              <a:t>} </a:t>
            </a:r>
          </a:p>
          <a:p>
            <a:pPr marL="0" indent="0">
              <a:buNone/>
            </a:pPr>
            <a:endParaRPr lang="en-IN" sz="1200" dirty="0"/>
          </a:p>
        </p:txBody>
      </p:sp>
      <p:sp>
        <p:nvSpPr>
          <p:cNvPr id="6" name="Slide Number Placeholder 5"/>
          <p:cNvSpPr>
            <a:spLocks noGrp="1"/>
          </p:cNvSpPr>
          <p:nvPr>
            <p:ph type="sldNum" sz="quarter" idx="12"/>
          </p:nvPr>
        </p:nvSpPr>
        <p:spPr/>
        <p:txBody>
          <a:bodyPr/>
          <a:lstStyle/>
          <a:p>
            <a:pPr>
              <a:defRPr/>
            </a:pPr>
            <a:fld id="{7061B66A-860D-4F77-A12A-57453AAB16AB}" type="slidenum">
              <a:rPr lang="en-US" altLang="en-US" smtClean="0"/>
              <a:pPr>
                <a:defRPr/>
              </a:pPr>
              <a:t>16</a:t>
            </a:fld>
            <a:endParaRPr lang="en-US" altLang="en-US"/>
          </a:p>
        </p:txBody>
      </p:sp>
    </p:spTree>
    <p:extLst>
      <p:ext uri="{BB962C8B-B14F-4D97-AF65-F5344CB8AC3E}">
        <p14:creationId xmlns:p14="http://schemas.microsoft.com/office/powerpoint/2010/main" val="81212178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Wingdings" panose="05000000000000000000" pitchFamily="2" charset="2"/>
              <a:buChar char="Ø"/>
            </a:pPr>
            <a:r>
              <a:rPr lang="en-US" sz="2000" dirty="0">
                <a:solidFill>
                  <a:srgbClr val="000000"/>
                </a:solidFill>
                <a:latin typeface="Times New Roman" panose="02020603050405020304" pitchFamily="18" charset="0"/>
                <a:cs typeface="Times New Roman" panose="02020603050405020304" pitchFamily="18" charset="0"/>
              </a:rPr>
              <a:t>A multidimensional array is an array of arrays.</a:t>
            </a:r>
          </a:p>
          <a:p>
            <a:pPr>
              <a:buFont typeface="Wingdings" panose="05000000000000000000" pitchFamily="2" charset="2"/>
              <a:buChar char="Ø"/>
            </a:pPr>
            <a:r>
              <a:rPr lang="en-US" sz="2000" dirty="0">
                <a:solidFill>
                  <a:srgbClr val="000000"/>
                </a:solidFill>
                <a:latin typeface="Times New Roman" panose="02020603050405020304" pitchFamily="18" charset="0"/>
                <a:cs typeface="Times New Roman" panose="02020603050405020304" pitchFamily="18" charset="0"/>
              </a:rPr>
              <a:t>To create a two-dimensional array, add each array within its own set of </a:t>
            </a:r>
            <a:r>
              <a:rPr lang="en-US" sz="2000" b="1" dirty="0">
                <a:solidFill>
                  <a:srgbClr val="000000"/>
                </a:solidFill>
                <a:latin typeface="Times New Roman" panose="02020603050405020304" pitchFamily="18" charset="0"/>
                <a:cs typeface="Times New Roman" panose="02020603050405020304" pitchFamily="18" charset="0"/>
              </a:rPr>
              <a:t>curly braces</a:t>
            </a:r>
            <a:r>
              <a:rPr lang="en-US" sz="2000" dirty="0">
                <a:solidFill>
                  <a:srgbClr val="000000"/>
                </a:solidFill>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Syntax to </a:t>
            </a:r>
            <a:r>
              <a:rPr lang="en-IN" sz="2000" dirty="0" smtClean="0">
                <a:latin typeface="Times New Roman" panose="02020603050405020304" pitchFamily="18" charset="0"/>
                <a:cs typeface="Times New Roman" panose="02020603050405020304" pitchFamily="18" charset="0"/>
              </a:rPr>
              <a:t>declare 2dimensional Array(2D) </a:t>
            </a:r>
            <a:r>
              <a:rPr lang="en-IN" sz="2000" dirty="0">
                <a:latin typeface="Times New Roman" panose="02020603050405020304" pitchFamily="18" charset="0"/>
                <a:cs typeface="Times New Roman" panose="02020603050405020304" pitchFamily="18" charset="0"/>
              </a:rPr>
              <a:t>in </a:t>
            </a:r>
            <a:r>
              <a:rPr lang="en-IN" sz="2000" dirty="0" smtClean="0">
                <a:latin typeface="Times New Roman" panose="02020603050405020304" pitchFamily="18" charset="0"/>
                <a:cs typeface="Times New Roman" panose="02020603050405020304" pitchFamily="18" charset="0"/>
              </a:rPr>
              <a:t>Java:</a:t>
            </a:r>
            <a:endParaRPr lang="en-IN"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2000" dirty="0" err="1" smtClean="0">
                <a:solidFill>
                  <a:srgbClr val="FF0000"/>
                </a:solidFill>
                <a:latin typeface="Times New Roman" panose="02020603050405020304" pitchFamily="18" charset="0"/>
                <a:cs typeface="Times New Roman" panose="02020603050405020304" pitchFamily="18" charset="0"/>
              </a:rPr>
              <a:t>dataType</a:t>
            </a:r>
            <a:r>
              <a:rPr lang="en-IN" sz="2000" dirty="0">
                <a:solidFill>
                  <a:srgbClr val="FF0000"/>
                </a:solidFill>
                <a:latin typeface="Times New Roman" panose="02020603050405020304" pitchFamily="18" charset="0"/>
                <a:cs typeface="Times New Roman" panose="02020603050405020304" pitchFamily="18" charset="0"/>
              </a:rPr>
              <a:t>[][] </a:t>
            </a:r>
            <a:r>
              <a:rPr lang="en-IN" sz="2000" dirty="0" err="1" smtClean="0">
                <a:solidFill>
                  <a:srgbClr val="FF0000"/>
                </a:solidFill>
                <a:latin typeface="Times New Roman" panose="02020603050405020304" pitchFamily="18" charset="0"/>
                <a:cs typeface="Times New Roman" panose="02020603050405020304" pitchFamily="18" charset="0"/>
              </a:rPr>
              <a:t>arrayName</a:t>
            </a:r>
            <a:r>
              <a:rPr lang="en-IN" sz="2000" dirty="0" smtClean="0">
                <a:solidFill>
                  <a:srgbClr val="FF0000"/>
                </a:solidFill>
                <a:latin typeface="Times New Roman" panose="02020603050405020304" pitchFamily="18" charset="0"/>
                <a:cs typeface="Times New Roman" panose="02020603050405020304" pitchFamily="18" charset="0"/>
              </a:rPr>
              <a:t>; </a:t>
            </a:r>
            <a:r>
              <a:rPr lang="en-IN" sz="2000" dirty="0">
                <a:solidFill>
                  <a:srgbClr val="FF0000"/>
                </a:solidFill>
                <a:latin typeface="Times New Roman" panose="02020603050405020304" pitchFamily="18" charset="0"/>
                <a:cs typeface="Times New Roman" panose="02020603050405020304" pitchFamily="18" charset="0"/>
              </a:rPr>
              <a:t>(or)  </a:t>
            </a:r>
          </a:p>
          <a:p>
            <a:pPr>
              <a:buFont typeface="Wingdings" panose="05000000000000000000" pitchFamily="2" charset="2"/>
              <a:buChar char="Ø"/>
            </a:pPr>
            <a:r>
              <a:rPr lang="en-IN" sz="2000" dirty="0" err="1">
                <a:solidFill>
                  <a:srgbClr val="FF0000"/>
                </a:solidFill>
                <a:latin typeface="Times New Roman" panose="02020603050405020304" pitchFamily="18" charset="0"/>
                <a:cs typeface="Times New Roman" panose="02020603050405020304" pitchFamily="18" charset="0"/>
              </a:rPr>
              <a:t>dataType</a:t>
            </a:r>
            <a:r>
              <a:rPr lang="en-IN" sz="2000" dirty="0">
                <a:solidFill>
                  <a:srgbClr val="FF0000"/>
                </a:solidFill>
                <a:latin typeface="Times New Roman" panose="02020603050405020304" pitchFamily="18" charset="0"/>
                <a:cs typeface="Times New Roman" panose="02020603050405020304" pitchFamily="18" charset="0"/>
              </a:rPr>
              <a:t> </a:t>
            </a:r>
            <a:r>
              <a:rPr lang="en-IN" sz="2000" dirty="0" smtClean="0">
                <a:solidFill>
                  <a:srgbClr val="FF0000"/>
                </a:solidFill>
                <a:latin typeface="Times New Roman" panose="02020603050405020304" pitchFamily="18" charset="0"/>
                <a:cs typeface="Times New Roman" panose="02020603050405020304" pitchFamily="18" charset="0"/>
              </a:rPr>
              <a:t>[][]</a:t>
            </a:r>
            <a:r>
              <a:rPr lang="en-IN" sz="2000" dirty="0">
                <a:solidFill>
                  <a:srgbClr val="FF0000"/>
                </a:solidFill>
                <a:latin typeface="Times New Roman" panose="02020603050405020304" pitchFamily="18" charset="0"/>
                <a:cs typeface="Times New Roman" panose="02020603050405020304" pitchFamily="18" charset="0"/>
              </a:rPr>
              <a:t> </a:t>
            </a:r>
            <a:r>
              <a:rPr lang="en-IN" sz="2000" dirty="0" err="1">
                <a:solidFill>
                  <a:srgbClr val="FF0000"/>
                </a:solidFill>
                <a:latin typeface="Times New Roman" panose="02020603050405020304" pitchFamily="18" charset="0"/>
                <a:cs typeface="Times New Roman" panose="02020603050405020304" pitchFamily="18" charset="0"/>
              </a:rPr>
              <a:t>arrayName</a:t>
            </a:r>
            <a:r>
              <a:rPr lang="en-IN" sz="2000" dirty="0" smtClean="0">
                <a:solidFill>
                  <a:srgbClr val="FF0000"/>
                </a:solidFill>
                <a:latin typeface="Times New Roman" panose="02020603050405020304" pitchFamily="18" charset="0"/>
                <a:cs typeface="Times New Roman" panose="02020603050405020304" pitchFamily="18" charset="0"/>
              </a:rPr>
              <a:t>; </a:t>
            </a:r>
            <a:r>
              <a:rPr lang="en-IN" sz="2000" dirty="0">
                <a:solidFill>
                  <a:srgbClr val="FF0000"/>
                </a:solidFill>
                <a:latin typeface="Times New Roman" panose="02020603050405020304" pitchFamily="18" charset="0"/>
                <a:cs typeface="Times New Roman" panose="02020603050405020304" pitchFamily="18" charset="0"/>
              </a:rPr>
              <a:t>(or)  </a:t>
            </a:r>
          </a:p>
          <a:p>
            <a:pPr>
              <a:buFont typeface="Wingdings" panose="05000000000000000000" pitchFamily="2" charset="2"/>
              <a:buChar char="Ø"/>
            </a:pPr>
            <a:r>
              <a:rPr lang="en-IN" sz="2000" dirty="0" err="1">
                <a:solidFill>
                  <a:srgbClr val="FF0000"/>
                </a:solidFill>
                <a:latin typeface="Times New Roman" panose="02020603050405020304" pitchFamily="18" charset="0"/>
                <a:cs typeface="Times New Roman" panose="02020603050405020304" pitchFamily="18" charset="0"/>
              </a:rPr>
              <a:t>dataType</a:t>
            </a:r>
            <a:r>
              <a:rPr lang="en-IN" sz="2000" dirty="0">
                <a:solidFill>
                  <a:srgbClr val="FF0000"/>
                </a:solidFill>
                <a:latin typeface="Times New Roman" panose="02020603050405020304" pitchFamily="18" charset="0"/>
                <a:cs typeface="Times New Roman" panose="02020603050405020304" pitchFamily="18" charset="0"/>
              </a:rPr>
              <a:t> </a:t>
            </a:r>
            <a:r>
              <a:rPr lang="en-IN" sz="2000" dirty="0" err="1">
                <a:solidFill>
                  <a:srgbClr val="FF0000"/>
                </a:solidFill>
                <a:latin typeface="Times New Roman" panose="02020603050405020304" pitchFamily="18" charset="0"/>
                <a:cs typeface="Times New Roman" panose="02020603050405020304" pitchFamily="18" charset="0"/>
              </a:rPr>
              <a:t>arrayName</a:t>
            </a:r>
            <a:r>
              <a:rPr lang="en-IN" sz="2000" dirty="0" smtClean="0">
                <a:solidFill>
                  <a:srgbClr val="FF0000"/>
                </a:solidFill>
                <a:latin typeface="Times New Roman" panose="02020603050405020304" pitchFamily="18" charset="0"/>
                <a:cs typeface="Times New Roman" panose="02020603050405020304" pitchFamily="18" charset="0"/>
              </a:rPr>
              <a:t>[][]; </a:t>
            </a:r>
            <a:r>
              <a:rPr lang="en-IN" sz="2000" dirty="0">
                <a:solidFill>
                  <a:srgbClr val="FF0000"/>
                </a:solidFill>
                <a:latin typeface="Times New Roman" panose="02020603050405020304" pitchFamily="18" charset="0"/>
                <a:cs typeface="Times New Roman" panose="02020603050405020304" pitchFamily="18" charset="0"/>
              </a:rPr>
              <a:t>(or) </a:t>
            </a:r>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17</a:t>
            </a:fld>
            <a:endParaRPr lang="en-US" altLang="en-US"/>
          </a:p>
        </p:txBody>
      </p:sp>
      <p:sp>
        <p:nvSpPr>
          <p:cNvPr id="6" name="Title 1"/>
          <p:cNvSpPr txBox="1">
            <a:spLocks noGrp="1"/>
          </p:cNvSpPr>
          <p:nvPr>
            <p:ph type="title"/>
          </p:nvPr>
        </p:nvSpPr>
        <p:spPr bwMode="auto">
          <a:xfrm>
            <a:off x="838200" y="365125"/>
            <a:ext cx="5638800" cy="1325563"/>
          </a:xfrm>
          <a:prstGeom prst="rect">
            <a:avLst/>
          </a:prstGeom>
          <a:solidFill>
            <a:schemeClr val="bg1"/>
          </a:solidFill>
          <a:ln w="9525">
            <a:solidFill>
              <a:schemeClr val="accent1"/>
            </a:solidFill>
            <a:round/>
            <a:headEnd/>
            <a:tailEnd/>
          </a:ln>
          <a:effectLst>
            <a:glow rad="101600">
              <a:schemeClr val="accent2">
                <a:satMod val="175000"/>
                <a:alpha val="40000"/>
              </a:schemeClr>
            </a:glow>
            <a:outerShdw blurRad="50800" dist="38100" dir="2700000" algn="tl" rotWithShape="0">
              <a:prstClr val="black">
                <a:alpha val="40000"/>
              </a:prstClr>
            </a:outerShdw>
          </a:effectLst>
          <a:extLst/>
        </p:spPr>
        <p:txBody>
          <a:bodyPr vert="horz" wrap="square" lIns="90000" tIns="46800" rIns="90000" bIns="46800" numCol="1" anchor="ctr" anchorCtr="0" compatLnSpc="1">
            <a:prstTxWarp prst="textNoShape">
              <a:avLst/>
            </a:prstTxWarp>
          </a:bodyP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defTabSz="457200">
              <a:buClr>
                <a:srgbClr val="000000"/>
              </a:buClr>
              <a:buSzPct val="1000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800" b="1" dirty="0" err="1" smtClean="0">
                <a:solidFill>
                  <a:srgbClr val="FF0000"/>
                </a:solidFill>
                <a:latin typeface="Times New Roman" panose="02020603050405020304" pitchFamily="18" charset="0"/>
                <a:cs typeface="Times New Roman" panose="02020603050405020304" pitchFamily="18" charset="0"/>
              </a:rPr>
              <a:t>MultiDimensional</a:t>
            </a:r>
            <a:r>
              <a:rPr lang="en-US" altLang="en-US" sz="2800" b="1" dirty="0" smtClean="0">
                <a:solidFill>
                  <a:srgbClr val="FF0000"/>
                </a:solidFill>
                <a:latin typeface="Times New Roman" panose="02020603050405020304" pitchFamily="18" charset="0"/>
                <a:cs typeface="Times New Roman" panose="02020603050405020304" pitchFamily="18" charset="0"/>
              </a:rPr>
              <a:t> Array</a:t>
            </a:r>
            <a:endParaRPr lang="en-US" sz="2800" b="1" dirty="0">
              <a:solidFill>
                <a:srgbClr val="FF0000"/>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45522034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5EDAE260-203A-48BA-B1E0-2820BBC6B005}" type="slidenum">
              <a:rPr lang="en-US" altLang="en-US" smtClean="0"/>
              <a:pPr>
                <a:defRPr/>
              </a:pPr>
              <a:t>18</a:t>
            </a:fld>
            <a:endParaRPr lang="en-US" altLang="en-US"/>
          </a:p>
        </p:txBody>
      </p:sp>
      <p:pic>
        <p:nvPicPr>
          <p:cNvPr id="4" name="Picture 3"/>
          <p:cNvPicPr>
            <a:picLocks noChangeAspect="1"/>
          </p:cNvPicPr>
          <p:nvPr/>
        </p:nvPicPr>
        <p:blipFill>
          <a:blip r:embed="rId2"/>
          <a:stretch>
            <a:fillRect/>
          </a:stretch>
        </p:blipFill>
        <p:spPr>
          <a:xfrm>
            <a:off x="685800" y="1447800"/>
            <a:ext cx="7048500" cy="2686050"/>
          </a:xfrm>
          <a:prstGeom prst="rect">
            <a:avLst/>
          </a:prstGeom>
          <a:effectLst>
            <a:glow rad="101600">
              <a:schemeClr val="accent2">
                <a:satMod val="175000"/>
                <a:alpha val="40000"/>
              </a:schemeClr>
            </a:glow>
          </a:effectLst>
        </p:spPr>
      </p:pic>
      <p:sp>
        <p:nvSpPr>
          <p:cNvPr id="5" name="Rectangle 4"/>
          <p:cNvSpPr/>
          <p:nvPr/>
        </p:nvSpPr>
        <p:spPr>
          <a:xfrm>
            <a:off x="457200" y="304800"/>
            <a:ext cx="11887200" cy="923330"/>
          </a:xfrm>
          <a:prstGeom prst="rect">
            <a:avLst/>
          </a:prstGeom>
        </p:spPr>
        <p:txBody>
          <a:bodyPr wrap="square">
            <a:spAutoFit/>
          </a:bodyPr>
          <a:lstStyle/>
          <a:p>
            <a:r>
              <a:rPr lang="en-US" dirty="0" smtClean="0">
                <a:solidFill>
                  <a:srgbClr val="FF0000"/>
                </a:solidFill>
              </a:rPr>
              <a:t>Example1:    2D Array</a:t>
            </a:r>
            <a:endParaRPr lang="en-US" dirty="0">
              <a:solidFill>
                <a:srgbClr val="FF0000"/>
              </a:solidFill>
            </a:endParaRPr>
          </a:p>
          <a:p>
            <a:endParaRPr lang="en-US" dirty="0"/>
          </a:p>
          <a:p>
            <a:r>
              <a:rPr lang="en-US" dirty="0" err="1" smtClean="0">
                <a:solidFill>
                  <a:srgbClr val="0070C0"/>
                </a:solidFill>
              </a:rPr>
              <a:t>int</a:t>
            </a:r>
            <a:r>
              <a:rPr lang="en-US" dirty="0" smtClean="0">
                <a:solidFill>
                  <a:srgbClr val="0070C0"/>
                </a:solidFill>
              </a:rPr>
              <a:t> X[][]=</a:t>
            </a:r>
            <a:r>
              <a:rPr lang="en-US" dirty="0">
                <a:solidFill>
                  <a:srgbClr val="0070C0"/>
                </a:solidFill>
              </a:rPr>
              <a:t>new </a:t>
            </a:r>
            <a:r>
              <a:rPr lang="en-US" dirty="0" err="1">
                <a:solidFill>
                  <a:srgbClr val="0070C0"/>
                </a:solidFill>
              </a:rPr>
              <a:t>int</a:t>
            </a:r>
            <a:r>
              <a:rPr lang="en-US" dirty="0">
                <a:solidFill>
                  <a:srgbClr val="0070C0"/>
                </a:solidFill>
              </a:rPr>
              <a:t>[3][3</a:t>
            </a:r>
            <a:r>
              <a:rPr lang="en-US" dirty="0" smtClean="0">
                <a:solidFill>
                  <a:srgbClr val="0070C0"/>
                </a:solidFill>
              </a:rPr>
              <a:t>];            </a:t>
            </a:r>
            <a:r>
              <a:rPr lang="en-US" dirty="0" smtClean="0">
                <a:solidFill>
                  <a:srgbClr val="FF0000"/>
                </a:solidFill>
              </a:rPr>
              <a:t>//</a:t>
            </a:r>
            <a:r>
              <a:rPr lang="en-US" dirty="0">
                <a:solidFill>
                  <a:srgbClr val="FF0000"/>
                </a:solidFill>
              </a:rPr>
              <a:t>3 row and 3 column </a:t>
            </a:r>
            <a:endParaRPr lang="en-IN" dirty="0">
              <a:solidFill>
                <a:srgbClr val="FF0000"/>
              </a:solidFill>
            </a:endParaRPr>
          </a:p>
        </p:txBody>
      </p:sp>
      <p:sp>
        <p:nvSpPr>
          <p:cNvPr id="6" name="Rectangle 5"/>
          <p:cNvSpPr/>
          <p:nvPr/>
        </p:nvSpPr>
        <p:spPr>
          <a:xfrm>
            <a:off x="9067800" y="1752600"/>
            <a:ext cx="1600200" cy="2585323"/>
          </a:xfrm>
          <a:prstGeom prst="rect">
            <a:avLst/>
          </a:prstGeom>
        </p:spPr>
        <p:txBody>
          <a:bodyPr wrap="square">
            <a:spAutoFit/>
          </a:bodyPr>
          <a:lstStyle/>
          <a:p>
            <a:r>
              <a:rPr lang="sv-SE" dirty="0"/>
              <a:t>x</a:t>
            </a:r>
            <a:r>
              <a:rPr lang="sv-SE" dirty="0" smtClean="0"/>
              <a:t>[0</a:t>
            </a:r>
            <a:r>
              <a:rPr lang="sv-SE" dirty="0"/>
              <a:t>][0]=</a:t>
            </a:r>
            <a:r>
              <a:rPr lang="sv-SE" dirty="0" smtClean="0"/>
              <a:t>10;  </a:t>
            </a:r>
            <a:endParaRPr lang="sv-SE" dirty="0"/>
          </a:p>
          <a:p>
            <a:r>
              <a:rPr lang="sv-SE" dirty="0"/>
              <a:t>x</a:t>
            </a:r>
            <a:r>
              <a:rPr lang="sv-SE" dirty="0" smtClean="0"/>
              <a:t>[0</a:t>
            </a:r>
            <a:r>
              <a:rPr lang="sv-SE" dirty="0"/>
              <a:t>][1]=</a:t>
            </a:r>
            <a:r>
              <a:rPr lang="sv-SE" dirty="0" smtClean="0"/>
              <a:t>20;  </a:t>
            </a:r>
            <a:endParaRPr lang="sv-SE" dirty="0"/>
          </a:p>
          <a:p>
            <a:r>
              <a:rPr lang="sv-SE" dirty="0"/>
              <a:t>x</a:t>
            </a:r>
            <a:r>
              <a:rPr lang="sv-SE" dirty="0" smtClean="0"/>
              <a:t>[0</a:t>
            </a:r>
            <a:r>
              <a:rPr lang="sv-SE" dirty="0"/>
              <a:t>][2]=</a:t>
            </a:r>
            <a:r>
              <a:rPr lang="sv-SE" dirty="0" smtClean="0"/>
              <a:t>36;  </a:t>
            </a:r>
            <a:endParaRPr lang="sv-SE" dirty="0"/>
          </a:p>
          <a:p>
            <a:r>
              <a:rPr lang="sv-SE" dirty="0"/>
              <a:t>x</a:t>
            </a:r>
            <a:r>
              <a:rPr lang="sv-SE" dirty="0" smtClean="0"/>
              <a:t>[1</a:t>
            </a:r>
            <a:r>
              <a:rPr lang="sv-SE" dirty="0"/>
              <a:t>][0]=</a:t>
            </a:r>
            <a:r>
              <a:rPr lang="sv-SE" dirty="0" smtClean="0"/>
              <a:t>47;  </a:t>
            </a:r>
            <a:endParaRPr lang="sv-SE" dirty="0"/>
          </a:p>
          <a:p>
            <a:r>
              <a:rPr lang="sv-SE" dirty="0"/>
              <a:t>x</a:t>
            </a:r>
            <a:r>
              <a:rPr lang="sv-SE" dirty="0" smtClean="0"/>
              <a:t>[1</a:t>
            </a:r>
            <a:r>
              <a:rPr lang="sv-SE" dirty="0"/>
              <a:t>][1]=</a:t>
            </a:r>
            <a:r>
              <a:rPr lang="sv-SE" dirty="0" smtClean="0"/>
              <a:t>58;  </a:t>
            </a:r>
            <a:endParaRPr lang="sv-SE" dirty="0"/>
          </a:p>
          <a:p>
            <a:r>
              <a:rPr lang="sv-SE" dirty="0"/>
              <a:t>x</a:t>
            </a:r>
            <a:r>
              <a:rPr lang="sv-SE" dirty="0" smtClean="0"/>
              <a:t>[1</a:t>
            </a:r>
            <a:r>
              <a:rPr lang="sv-SE" dirty="0"/>
              <a:t>][2]=</a:t>
            </a:r>
            <a:r>
              <a:rPr lang="sv-SE" dirty="0" smtClean="0"/>
              <a:t>69;  </a:t>
            </a:r>
            <a:endParaRPr lang="sv-SE" dirty="0"/>
          </a:p>
          <a:p>
            <a:r>
              <a:rPr lang="sv-SE" dirty="0"/>
              <a:t>x</a:t>
            </a:r>
            <a:r>
              <a:rPr lang="sv-SE" dirty="0" smtClean="0"/>
              <a:t>[2</a:t>
            </a:r>
            <a:r>
              <a:rPr lang="sv-SE" dirty="0"/>
              <a:t>][0]=</a:t>
            </a:r>
            <a:r>
              <a:rPr lang="sv-SE" dirty="0" smtClean="0"/>
              <a:t>70;  </a:t>
            </a:r>
            <a:endParaRPr lang="sv-SE" dirty="0"/>
          </a:p>
          <a:p>
            <a:r>
              <a:rPr lang="sv-SE" dirty="0"/>
              <a:t>x</a:t>
            </a:r>
            <a:r>
              <a:rPr lang="sv-SE" dirty="0" smtClean="0"/>
              <a:t>[2</a:t>
            </a:r>
            <a:r>
              <a:rPr lang="sv-SE" dirty="0"/>
              <a:t>][1]=8;  </a:t>
            </a:r>
          </a:p>
          <a:p>
            <a:r>
              <a:rPr lang="sv-SE" dirty="0"/>
              <a:t>x</a:t>
            </a:r>
            <a:r>
              <a:rPr lang="sv-SE" dirty="0" smtClean="0"/>
              <a:t>[2</a:t>
            </a:r>
            <a:r>
              <a:rPr lang="sv-SE" dirty="0"/>
              <a:t>][2]=9;</a:t>
            </a:r>
            <a:endParaRPr lang="en-IN" dirty="0"/>
          </a:p>
        </p:txBody>
      </p:sp>
      <p:pic>
        <p:nvPicPr>
          <p:cNvPr id="13" name="Picture 12"/>
          <p:cNvPicPr>
            <a:picLocks noChangeAspect="1"/>
          </p:cNvPicPr>
          <p:nvPr/>
        </p:nvPicPr>
        <p:blipFill>
          <a:blip r:embed="rId3"/>
          <a:stretch>
            <a:fillRect/>
          </a:stretch>
        </p:blipFill>
        <p:spPr>
          <a:xfrm>
            <a:off x="7454786" y="4471422"/>
            <a:ext cx="3853006" cy="1231499"/>
          </a:xfrm>
          <a:prstGeom prst="rect">
            <a:avLst/>
          </a:prstGeom>
          <a:effectLst>
            <a:glow rad="139700">
              <a:schemeClr val="accent2">
                <a:satMod val="175000"/>
                <a:alpha val="40000"/>
              </a:schemeClr>
            </a:glow>
          </a:effectLst>
        </p:spPr>
      </p:pic>
    </p:spTree>
    <p:extLst>
      <p:ext uri="{BB962C8B-B14F-4D97-AF65-F5344CB8AC3E}">
        <p14:creationId xmlns:p14="http://schemas.microsoft.com/office/powerpoint/2010/main" val="333858469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5EDAE260-203A-48BA-B1E0-2820BBC6B005}" type="slidenum">
              <a:rPr lang="en-US" altLang="en-US" smtClean="0"/>
              <a:pPr>
                <a:defRPr/>
              </a:pPr>
              <a:t>19</a:t>
            </a:fld>
            <a:endParaRPr lang="en-US" altLang="en-US"/>
          </a:p>
        </p:txBody>
      </p:sp>
      <p:sp>
        <p:nvSpPr>
          <p:cNvPr id="5" name="Rectangle 4"/>
          <p:cNvSpPr/>
          <p:nvPr/>
        </p:nvSpPr>
        <p:spPr>
          <a:xfrm>
            <a:off x="428445" y="490443"/>
            <a:ext cx="6096000" cy="677108"/>
          </a:xfrm>
          <a:prstGeom prst="rect">
            <a:avLst/>
          </a:prstGeom>
        </p:spPr>
        <p:txBody>
          <a:bodyPr>
            <a:spAutoFit/>
          </a:bodyPr>
          <a:lstStyle/>
          <a:p>
            <a:r>
              <a:rPr lang="en-US" sz="2000" dirty="0" smtClean="0">
                <a:solidFill>
                  <a:srgbClr val="FF0000"/>
                </a:solidFill>
                <a:latin typeface="Times New Roman" panose="02020603050405020304" pitchFamily="18" charset="0"/>
                <a:cs typeface="Times New Roman" panose="02020603050405020304" pitchFamily="18" charset="0"/>
              </a:rPr>
              <a:t>Example:</a:t>
            </a:r>
            <a:endParaRPr lang="en-US" sz="2000" dirty="0">
              <a:solidFill>
                <a:srgbClr val="FF0000"/>
              </a:solidFill>
              <a:latin typeface="Times New Roman" panose="02020603050405020304" pitchFamily="18" charset="0"/>
              <a:cs typeface="Times New Roman" panose="02020603050405020304" pitchFamily="18" charset="0"/>
            </a:endParaRPr>
          </a:p>
          <a:p>
            <a:r>
              <a:rPr lang="en-US" dirty="0" err="1">
                <a:solidFill>
                  <a:srgbClr val="0070C0"/>
                </a:solidFill>
              </a:rPr>
              <a:t>int</a:t>
            </a:r>
            <a:r>
              <a:rPr lang="en-US" dirty="0">
                <a:solidFill>
                  <a:srgbClr val="0070C0"/>
                </a:solidFill>
              </a:rPr>
              <a:t>[][] </a:t>
            </a:r>
            <a:r>
              <a:rPr lang="en-US" dirty="0" err="1">
                <a:solidFill>
                  <a:srgbClr val="0070C0"/>
                </a:solidFill>
              </a:rPr>
              <a:t>myNumbers</a:t>
            </a:r>
            <a:r>
              <a:rPr lang="en-US" dirty="0">
                <a:solidFill>
                  <a:srgbClr val="0070C0"/>
                </a:solidFill>
              </a:rPr>
              <a:t> = { {1, 2, 3, 4}, {5, 6, </a:t>
            </a:r>
            <a:r>
              <a:rPr lang="en-US" dirty="0" smtClean="0">
                <a:solidFill>
                  <a:srgbClr val="0070C0"/>
                </a:solidFill>
              </a:rPr>
              <a:t>7,9} </a:t>
            </a:r>
            <a:r>
              <a:rPr lang="en-US" dirty="0">
                <a:solidFill>
                  <a:srgbClr val="0070C0"/>
                </a:solidFill>
              </a:rPr>
              <a:t>};</a:t>
            </a:r>
            <a:endParaRPr lang="en-IN" dirty="0">
              <a:solidFill>
                <a:srgbClr val="0070C0"/>
              </a:solidFill>
            </a:endParaRPr>
          </a:p>
        </p:txBody>
      </p:sp>
      <p:sp>
        <p:nvSpPr>
          <p:cNvPr id="6" name="Rectangle 5"/>
          <p:cNvSpPr/>
          <p:nvPr/>
        </p:nvSpPr>
        <p:spPr>
          <a:xfrm>
            <a:off x="304800" y="1334099"/>
            <a:ext cx="11506200" cy="923330"/>
          </a:xfrm>
          <a:prstGeom prst="rect">
            <a:avLst/>
          </a:prstGeom>
        </p:spPr>
        <p:txBody>
          <a:bodyPr wrap="square">
            <a:spAutoFit/>
          </a:bodyPr>
          <a:lstStyle/>
          <a:p>
            <a:pPr marL="285750" indent="-285750">
              <a:buFont typeface="Wingdings" panose="05000000000000000000" pitchFamily="2" charset="2"/>
              <a:buChar char="Ø"/>
            </a:pPr>
            <a:r>
              <a:rPr lang="en-US" dirty="0" err="1"/>
              <a:t>myNumbers</a:t>
            </a:r>
            <a:r>
              <a:rPr lang="en-US" dirty="0"/>
              <a:t> is </a:t>
            </a:r>
            <a:r>
              <a:rPr lang="en-US" dirty="0" smtClean="0"/>
              <a:t>an 2D array.</a:t>
            </a:r>
            <a:endParaRPr lang="en-US" dirty="0"/>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To access the elements of the </a:t>
            </a:r>
            <a:r>
              <a:rPr lang="en-US" dirty="0" err="1"/>
              <a:t>myNumbers</a:t>
            </a:r>
            <a:r>
              <a:rPr lang="en-US" dirty="0"/>
              <a:t> array, specify two </a:t>
            </a:r>
            <a:r>
              <a:rPr lang="en-US" dirty="0" smtClean="0"/>
              <a:t>indexes(row and column value)</a:t>
            </a:r>
            <a:endParaRPr lang="en-IN" dirty="0"/>
          </a:p>
        </p:txBody>
      </p:sp>
      <p:sp>
        <p:nvSpPr>
          <p:cNvPr id="7" name="Rectangle 6"/>
          <p:cNvSpPr/>
          <p:nvPr/>
        </p:nvSpPr>
        <p:spPr>
          <a:xfrm>
            <a:off x="381000" y="2514600"/>
            <a:ext cx="6096000" cy="2585323"/>
          </a:xfrm>
          <a:prstGeom prst="rect">
            <a:avLst/>
          </a:prstGeom>
        </p:spPr>
        <p:txBody>
          <a:bodyPr>
            <a:spAutoFit/>
          </a:bodyPr>
          <a:lstStyle/>
          <a:p>
            <a:r>
              <a:rPr lang="en-IN" dirty="0" smtClean="0">
                <a:latin typeface="Times New Roman" panose="02020603050405020304" pitchFamily="18" charset="0"/>
                <a:cs typeface="Times New Roman" panose="02020603050405020304" pitchFamily="18" charset="0"/>
              </a:rPr>
              <a:t>class </a:t>
            </a:r>
            <a:r>
              <a:rPr lang="en-IN" dirty="0">
                <a:latin typeface="Times New Roman" panose="02020603050405020304" pitchFamily="18" charset="0"/>
                <a:cs typeface="Times New Roman" panose="02020603050405020304" pitchFamily="18" charset="0"/>
              </a:rPr>
              <a:t>Main </a:t>
            </a:r>
            <a:endParaRPr lang="en-IN" dirty="0" smtClean="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public static void main(String[] </a:t>
            </a:r>
            <a:r>
              <a:rPr lang="en-IN" dirty="0" err="1">
                <a:latin typeface="Times New Roman" panose="02020603050405020304" pitchFamily="18" charset="0"/>
                <a:cs typeface="Times New Roman" panose="02020603050405020304" pitchFamily="18" charset="0"/>
              </a:rPr>
              <a:t>args</a:t>
            </a:r>
            <a:r>
              <a:rPr lang="en-IN" dirty="0" smtClean="0">
                <a:latin typeface="Times New Roman" panose="02020603050405020304" pitchFamily="18" charset="0"/>
                <a:cs typeface="Times New Roman" panose="02020603050405020304" pitchFamily="18" charset="0"/>
              </a:rPr>
              <a:t>)</a:t>
            </a:r>
          </a:p>
          <a:p>
            <a:r>
              <a:rPr lang="en-IN" dirty="0" smtClean="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int</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myNumbers</a:t>
            </a:r>
            <a:r>
              <a:rPr lang="en-IN" dirty="0">
                <a:latin typeface="Times New Roman" panose="02020603050405020304" pitchFamily="18" charset="0"/>
                <a:cs typeface="Times New Roman" panose="02020603050405020304" pitchFamily="18" charset="0"/>
              </a:rPr>
              <a:t> = { {1, 2, 3, 4}, {5, 6, </a:t>
            </a:r>
            <a:r>
              <a:rPr lang="en-IN" dirty="0" smtClean="0">
                <a:latin typeface="Times New Roman" panose="02020603050405020304" pitchFamily="18" charset="0"/>
                <a:cs typeface="Times New Roman" panose="02020603050405020304" pitchFamily="18" charset="0"/>
              </a:rPr>
              <a:t>7,9} </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int</a:t>
            </a:r>
            <a:r>
              <a:rPr lang="en-IN" dirty="0">
                <a:latin typeface="Times New Roman" panose="02020603050405020304" pitchFamily="18" charset="0"/>
                <a:cs typeface="Times New Roman" panose="02020603050405020304" pitchFamily="18" charset="0"/>
              </a:rPr>
              <a:t> x = </a:t>
            </a:r>
            <a:r>
              <a:rPr lang="en-IN" dirty="0" err="1">
                <a:latin typeface="Times New Roman" panose="02020603050405020304" pitchFamily="18" charset="0"/>
                <a:cs typeface="Times New Roman" panose="02020603050405020304" pitchFamily="18" charset="0"/>
              </a:rPr>
              <a:t>myNumbers</a:t>
            </a:r>
            <a:r>
              <a:rPr lang="en-IN" dirty="0">
                <a:latin typeface="Times New Roman" panose="02020603050405020304" pitchFamily="18" charset="0"/>
                <a:cs typeface="Times New Roman" panose="02020603050405020304" pitchFamily="18" charset="0"/>
              </a:rPr>
              <a:t>[1][2];</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System.out.println</a:t>
            </a:r>
            <a:r>
              <a:rPr lang="en-IN" dirty="0">
                <a:latin typeface="Times New Roman" panose="02020603050405020304" pitchFamily="18" charset="0"/>
                <a:cs typeface="Times New Roman" panose="02020603050405020304" pitchFamily="18" charset="0"/>
              </a:rPr>
              <a:t>(x);  </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a:t>
            </a:r>
          </a:p>
        </p:txBody>
      </p:sp>
      <p:pic>
        <p:nvPicPr>
          <p:cNvPr id="8" name="Picture 7"/>
          <p:cNvPicPr>
            <a:picLocks noChangeAspect="1"/>
          </p:cNvPicPr>
          <p:nvPr/>
        </p:nvPicPr>
        <p:blipFill>
          <a:blip r:embed="rId2"/>
          <a:stretch>
            <a:fillRect/>
          </a:stretch>
        </p:blipFill>
        <p:spPr>
          <a:xfrm>
            <a:off x="7277100" y="2693417"/>
            <a:ext cx="2667000" cy="1800225"/>
          </a:xfrm>
          <a:prstGeom prst="rect">
            <a:avLst/>
          </a:prstGeom>
        </p:spPr>
      </p:pic>
    </p:spTree>
    <p:extLst>
      <p:ext uri="{BB962C8B-B14F-4D97-AF65-F5344CB8AC3E}">
        <p14:creationId xmlns:p14="http://schemas.microsoft.com/office/powerpoint/2010/main" val="199105909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5EDAE260-203A-48BA-B1E0-2820BBC6B005}" type="slidenum">
              <a:rPr lang="en-US" altLang="en-US" smtClean="0"/>
              <a:pPr>
                <a:defRPr/>
              </a:pPr>
              <a:t>20</a:t>
            </a:fld>
            <a:endParaRPr lang="en-US" altLang="en-US"/>
          </a:p>
        </p:txBody>
      </p:sp>
      <p:sp>
        <p:nvSpPr>
          <p:cNvPr id="4" name="Rectangle 3"/>
          <p:cNvSpPr/>
          <p:nvPr/>
        </p:nvSpPr>
        <p:spPr>
          <a:xfrm>
            <a:off x="304800" y="304800"/>
            <a:ext cx="11734800" cy="5078313"/>
          </a:xfrm>
          <a:prstGeom prst="rect">
            <a:avLst/>
          </a:prstGeom>
        </p:spPr>
        <p:txBody>
          <a:bodyPr wrap="square">
            <a:spAutoFit/>
          </a:bodyPr>
          <a:lstStyle/>
          <a:p>
            <a:r>
              <a:rPr lang="en-IN" dirty="0"/>
              <a:t>We can also use a for loop inside another for loop to get the elements of a two-dimensional array (we still have to point to the two indexes):</a:t>
            </a:r>
          </a:p>
          <a:p>
            <a:endParaRPr lang="en-IN" dirty="0"/>
          </a:p>
          <a:p>
            <a:r>
              <a:rPr lang="en-IN" dirty="0" smtClean="0">
                <a:solidFill>
                  <a:srgbClr val="FF0000"/>
                </a:solidFill>
              </a:rPr>
              <a:t>Example1:</a:t>
            </a:r>
          </a:p>
          <a:p>
            <a:r>
              <a:rPr lang="en-IN" dirty="0" smtClean="0"/>
              <a:t>class Example2 </a:t>
            </a:r>
          </a:p>
          <a:p>
            <a:r>
              <a:rPr lang="en-IN" dirty="0" smtClean="0"/>
              <a:t>{</a:t>
            </a:r>
            <a:endParaRPr lang="en-IN" dirty="0"/>
          </a:p>
          <a:p>
            <a:r>
              <a:rPr lang="en-IN" dirty="0"/>
              <a:t>  public static void main(String[] </a:t>
            </a:r>
            <a:r>
              <a:rPr lang="en-IN" dirty="0" err="1"/>
              <a:t>args</a:t>
            </a:r>
            <a:r>
              <a:rPr lang="en-IN" dirty="0" smtClean="0"/>
              <a:t>)</a:t>
            </a:r>
          </a:p>
          <a:p>
            <a:r>
              <a:rPr lang="en-IN" dirty="0" smtClean="0"/>
              <a:t> </a:t>
            </a:r>
            <a:r>
              <a:rPr lang="en-IN" dirty="0"/>
              <a:t>{</a:t>
            </a:r>
          </a:p>
          <a:p>
            <a:r>
              <a:rPr lang="en-IN" dirty="0"/>
              <a:t>    </a:t>
            </a:r>
            <a:r>
              <a:rPr lang="en-IN" dirty="0" err="1"/>
              <a:t>int</a:t>
            </a:r>
            <a:r>
              <a:rPr lang="en-IN" dirty="0"/>
              <a:t>[][] </a:t>
            </a:r>
            <a:r>
              <a:rPr lang="en-IN" dirty="0" err="1"/>
              <a:t>myNumbers</a:t>
            </a:r>
            <a:r>
              <a:rPr lang="en-IN" dirty="0"/>
              <a:t> = { {1, 2, 3, 4}, {5</a:t>
            </a:r>
            <a:r>
              <a:rPr lang="en-IN" dirty="0" smtClean="0"/>
              <a:t>, 6, 7,8} </a:t>
            </a:r>
            <a:r>
              <a:rPr lang="en-IN" dirty="0"/>
              <a:t>};</a:t>
            </a:r>
          </a:p>
          <a:p>
            <a:r>
              <a:rPr lang="en-IN" dirty="0"/>
              <a:t>    for (</a:t>
            </a:r>
            <a:r>
              <a:rPr lang="en-IN" dirty="0" err="1"/>
              <a:t>int</a:t>
            </a:r>
            <a:r>
              <a:rPr lang="en-IN" dirty="0"/>
              <a:t> </a:t>
            </a:r>
            <a:r>
              <a:rPr lang="en-IN" dirty="0" err="1"/>
              <a:t>i</a:t>
            </a:r>
            <a:r>
              <a:rPr lang="en-IN" dirty="0"/>
              <a:t> = 0; </a:t>
            </a:r>
            <a:r>
              <a:rPr lang="en-IN" dirty="0" err="1"/>
              <a:t>i</a:t>
            </a:r>
            <a:r>
              <a:rPr lang="en-IN" dirty="0"/>
              <a:t> </a:t>
            </a:r>
            <a:r>
              <a:rPr lang="en-IN" dirty="0" smtClean="0"/>
              <a:t>&lt;2; </a:t>
            </a:r>
            <a:r>
              <a:rPr lang="en-IN" dirty="0"/>
              <a:t>++</a:t>
            </a:r>
            <a:r>
              <a:rPr lang="en-IN" dirty="0" err="1"/>
              <a:t>i</a:t>
            </a:r>
            <a:r>
              <a:rPr lang="en-IN" dirty="0"/>
              <a:t>) </a:t>
            </a:r>
            <a:endParaRPr lang="en-IN" dirty="0" smtClean="0"/>
          </a:p>
          <a:p>
            <a:r>
              <a:rPr lang="en-IN" dirty="0" smtClean="0"/>
              <a:t>{</a:t>
            </a:r>
            <a:endParaRPr lang="en-IN" dirty="0"/>
          </a:p>
          <a:p>
            <a:r>
              <a:rPr lang="en-IN" dirty="0"/>
              <a:t>      for(</a:t>
            </a:r>
            <a:r>
              <a:rPr lang="en-IN" dirty="0" err="1"/>
              <a:t>int</a:t>
            </a:r>
            <a:r>
              <a:rPr lang="en-IN" dirty="0"/>
              <a:t> j = 0; j </a:t>
            </a:r>
            <a:r>
              <a:rPr lang="en-IN" dirty="0" smtClean="0"/>
              <a:t>&lt;4 ; </a:t>
            </a:r>
            <a:r>
              <a:rPr lang="en-IN" dirty="0"/>
              <a:t>++j) </a:t>
            </a:r>
            <a:endParaRPr lang="en-IN" dirty="0" smtClean="0"/>
          </a:p>
          <a:p>
            <a:r>
              <a:rPr lang="en-IN" dirty="0" smtClean="0"/>
              <a:t>{</a:t>
            </a:r>
            <a:endParaRPr lang="en-IN" dirty="0"/>
          </a:p>
          <a:p>
            <a:r>
              <a:rPr lang="en-IN" dirty="0"/>
              <a:t>        </a:t>
            </a:r>
            <a:r>
              <a:rPr lang="en-IN" dirty="0" err="1"/>
              <a:t>System.out.println</a:t>
            </a:r>
            <a:r>
              <a:rPr lang="en-IN" dirty="0"/>
              <a:t>(</a:t>
            </a:r>
            <a:r>
              <a:rPr lang="en-IN" dirty="0" err="1"/>
              <a:t>myNumbers</a:t>
            </a:r>
            <a:r>
              <a:rPr lang="en-IN" dirty="0"/>
              <a:t>[</a:t>
            </a:r>
            <a:r>
              <a:rPr lang="en-IN" dirty="0" err="1"/>
              <a:t>i</a:t>
            </a:r>
            <a:r>
              <a:rPr lang="en-IN" dirty="0"/>
              <a:t>][j</a:t>
            </a:r>
            <a:r>
              <a:rPr lang="en-IN" dirty="0" smtClean="0"/>
              <a:t>]);</a:t>
            </a:r>
          </a:p>
          <a:p>
            <a:r>
              <a:rPr lang="en-IN" dirty="0" smtClean="0"/>
              <a:t>  </a:t>
            </a:r>
            <a:r>
              <a:rPr lang="en-IN" dirty="0"/>
              <a:t>}</a:t>
            </a:r>
          </a:p>
          <a:p>
            <a:r>
              <a:rPr lang="en-IN" dirty="0"/>
              <a:t>    }</a:t>
            </a:r>
          </a:p>
          <a:p>
            <a:r>
              <a:rPr lang="en-IN" dirty="0"/>
              <a:t>  }</a:t>
            </a:r>
          </a:p>
          <a:p>
            <a:r>
              <a:rPr lang="en-IN" dirty="0"/>
              <a:t>}</a:t>
            </a:r>
          </a:p>
        </p:txBody>
      </p:sp>
      <p:pic>
        <p:nvPicPr>
          <p:cNvPr id="6" name="Picture 5"/>
          <p:cNvPicPr>
            <a:picLocks noChangeAspect="1"/>
          </p:cNvPicPr>
          <p:nvPr/>
        </p:nvPicPr>
        <p:blipFill>
          <a:blip r:embed="rId2"/>
          <a:stretch>
            <a:fillRect/>
          </a:stretch>
        </p:blipFill>
        <p:spPr>
          <a:xfrm>
            <a:off x="8458200" y="2438400"/>
            <a:ext cx="838200" cy="2181225"/>
          </a:xfrm>
          <a:prstGeom prst="rect">
            <a:avLst/>
          </a:prstGeom>
        </p:spPr>
      </p:pic>
      <p:graphicFrame>
        <p:nvGraphicFramePr>
          <p:cNvPr id="7" name="Table 6"/>
          <p:cNvGraphicFramePr>
            <a:graphicFrameLocks noGrp="1"/>
          </p:cNvGraphicFramePr>
          <p:nvPr>
            <p:extLst>
              <p:ext uri="{D42A27DB-BD31-4B8C-83A1-F6EECF244321}">
                <p14:modId xmlns:p14="http://schemas.microsoft.com/office/powerpoint/2010/main" val="2814715672"/>
              </p:ext>
            </p:extLst>
          </p:nvPr>
        </p:nvGraphicFramePr>
        <p:xfrm>
          <a:off x="8305800" y="2067560"/>
          <a:ext cx="1473200" cy="370840"/>
        </p:xfrm>
        <a:graphic>
          <a:graphicData uri="http://schemas.openxmlformats.org/drawingml/2006/table">
            <a:tbl>
              <a:tblPr firstRow="1" bandRow="1">
                <a:tableStyleId>{5C22544A-7EE6-4342-B048-85BDC9FD1C3A}</a:tableStyleId>
              </a:tblPr>
              <a:tblGrid>
                <a:gridCol w="1473200"/>
              </a:tblGrid>
              <a:tr h="370840">
                <a:tc>
                  <a:txBody>
                    <a:bodyPr/>
                    <a:lstStyle/>
                    <a:p>
                      <a:r>
                        <a:rPr lang="en-US" dirty="0" smtClean="0"/>
                        <a:t>OUTPUT</a:t>
                      </a:r>
                      <a:endParaRPr lang="en-IN" dirty="0"/>
                    </a:p>
                  </a:txBody>
                  <a:tcPr/>
                </a:tc>
              </a:tr>
            </a:tbl>
          </a:graphicData>
        </a:graphic>
      </p:graphicFrame>
    </p:spTree>
    <p:extLst>
      <p:ext uri="{BB962C8B-B14F-4D97-AF65-F5344CB8AC3E}">
        <p14:creationId xmlns:p14="http://schemas.microsoft.com/office/powerpoint/2010/main" val="124290672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696243"/>
            <a:ext cx="10515600" cy="4351338"/>
          </a:xfrm>
        </p:spPr>
        <p:txBody>
          <a:bodyPr/>
          <a:lstStyle/>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Java is an object-oriented programming language. Most of the work done with the help of objects. We know that an array is a collection of the same data type that dynamically creates objects and can have elements of primitive types. Java allows us to store objects in an array. </a:t>
            </a:r>
            <a:endParaRPr lang="en-US" sz="2000" dirty="0" smtClean="0">
              <a:latin typeface="Times New Roman" panose="02020603050405020304" pitchFamily="18" charset="0"/>
              <a:cs typeface="Times New Roman" panose="02020603050405020304" pitchFamily="18" charset="0"/>
            </a:endParaRPr>
          </a:p>
          <a:p>
            <a:pPr marL="0" indent="0">
              <a:buNone/>
            </a:pPr>
            <a:endParaRPr lang="en-US" sz="20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In Java, </a:t>
            </a:r>
            <a:r>
              <a:rPr lang="en-US" sz="2000" dirty="0">
                <a:latin typeface="Times New Roman" panose="02020603050405020304" pitchFamily="18" charset="0"/>
                <a:cs typeface="Times New Roman" panose="02020603050405020304" pitchFamily="18" charset="0"/>
              </a:rPr>
              <a:t>the class is also a user-defined data type. An array that </a:t>
            </a:r>
            <a:r>
              <a:rPr lang="en-US" sz="2000" dirty="0" smtClean="0">
                <a:latin typeface="Times New Roman" panose="02020603050405020304" pitchFamily="18" charset="0"/>
                <a:cs typeface="Times New Roman" panose="02020603050405020304" pitchFamily="18" charset="0"/>
              </a:rPr>
              <a:t>contains </a:t>
            </a:r>
            <a:r>
              <a:rPr lang="en-US" sz="2000" dirty="0">
                <a:latin typeface="Times New Roman" panose="02020603050405020304" pitchFamily="18" charset="0"/>
                <a:cs typeface="Times New Roman" panose="02020603050405020304" pitchFamily="18" charset="0"/>
              </a:rPr>
              <a:t>class type elements are known as an array of objects. It stores the reference variable of the object.</a:t>
            </a:r>
            <a:endParaRPr lang="en-IN" sz="20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21</a:t>
            </a:fld>
            <a:endParaRPr lang="en-US" altLang="en-US"/>
          </a:p>
        </p:txBody>
      </p:sp>
      <p:sp>
        <p:nvSpPr>
          <p:cNvPr id="6" name="Title 1"/>
          <p:cNvSpPr txBox="1">
            <a:spLocks noGrp="1"/>
          </p:cNvSpPr>
          <p:nvPr>
            <p:ph type="title"/>
          </p:nvPr>
        </p:nvSpPr>
        <p:spPr bwMode="auto">
          <a:xfrm>
            <a:off x="609600" y="304800"/>
            <a:ext cx="2971800" cy="1082675"/>
          </a:xfrm>
          <a:prstGeom prst="rect">
            <a:avLst/>
          </a:prstGeom>
          <a:solidFill>
            <a:schemeClr val="bg1"/>
          </a:solidFill>
          <a:ln w="9525">
            <a:solidFill>
              <a:schemeClr val="accent1"/>
            </a:solidFill>
            <a:round/>
            <a:headEnd/>
            <a:tailEnd/>
          </a:ln>
          <a:effectLst>
            <a:glow rad="101600">
              <a:schemeClr val="accent2">
                <a:satMod val="175000"/>
                <a:alpha val="40000"/>
              </a:schemeClr>
            </a:glow>
            <a:outerShdw blurRad="50800" dist="38100" dir="2700000" algn="tl" rotWithShape="0">
              <a:prstClr val="black">
                <a:alpha val="40000"/>
              </a:prstClr>
            </a:outerShdw>
          </a:effectLst>
          <a:extLst/>
        </p:spPr>
        <p:txBody>
          <a:bodyPr vert="horz" wrap="square" lIns="90000" tIns="46800" rIns="90000" bIns="46800" numCol="1" anchor="ctr" anchorCtr="0" compatLnSpc="1">
            <a:prstTxWarp prst="textNoShape">
              <a:avLst/>
            </a:prstTxWarp>
          </a:bodyP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defTabSz="457200">
              <a:buClr>
                <a:srgbClr val="000000"/>
              </a:buClr>
              <a:buSzPct val="1000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800" b="1" dirty="0" smtClean="0">
                <a:solidFill>
                  <a:srgbClr val="FF0000"/>
                </a:solidFill>
                <a:latin typeface="Times New Roman" panose="02020603050405020304" pitchFamily="18" charset="0"/>
                <a:cs typeface="Times New Roman" panose="02020603050405020304" pitchFamily="18" charset="0"/>
              </a:rPr>
              <a:t>Array Of Objects</a:t>
            </a:r>
            <a:endParaRPr lang="en-US" sz="2800" b="1" dirty="0">
              <a:solidFill>
                <a:srgbClr val="FF0000"/>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50639072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5EDAE260-203A-48BA-B1E0-2820BBC6B005}" type="slidenum">
              <a:rPr lang="en-US" altLang="en-US" smtClean="0"/>
              <a:pPr>
                <a:defRPr/>
              </a:pPr>
              <a:t>22</a:t>
            </a:fld>
            <a:endParaRPr lang="en-US" altLang="en-US"/>
          </a:p>
        </p:txBody>
      </p:sp>
      <p:pic>
        <p:nvPicPr>
          <p:cNvPr id="4" name="Picture 3"/>
          <p:cNvPicPr>
            <a:picLocks noChangeAspect="1"/>
          </p:cNvPicPr>
          <p:nvPr/>
        </p:nvPicPr>
        <p:blipFill>
          <a:blip r:embed="rId2"/>
          <a:stretch>
            <a:fillRect/>
          </a:stretch>
        </p:blipFill>
        <p:spPr>
          <a:xfrm>
            <a:off x="152400" y="179046"/>
            <a:ext cx="4286250" cy="3438525"/>
          </a:xfrm>
          <a:prstGeom prst="rect">
            <a:avLst/>
          </a:prstGeom>
        </p:spPr>
      </p:pic>
      <p:sp>
        <p:nvSpPr>
          <p:cNvPr id="5" name="Rectangle 4"/>
          <p:cNvSpPr/>
          <p:nvPr/>
        </p:nvSpPr>
        <p:spPr>
          <a:xfrm>
            <a:off x="4800600" y="838200"/>
            <a:ext cx="7086600" cy="1477328"/>
          </a:xfrm>
          <a:prstGeom prst="rect">
            <a:avLst/>
          </a:prstGeom>
        </p:spPr>
        <p:txBody>
          <a:bodyPr wrap="square">
            <a:spAutoFit/>
          </a:bodyPr>
          <a:lstStyle/>
          <a:p>
            <a:r>
              <a:rPr lang="en-US" dirty="0">
                <a:solidFill>
                  <a:srgbClr val="FF0000"/>
                </a:solidFill>
              </a:rPr>
              <a:t>Creating an Array of </a:t>
            </a:r>
            <a:r>
              <a:rPr lang="en-US" dirty="0" smtClean="0">
                <a:solidFill>
                  <a:srgbClr val="FF0000"/>
                </a:solidFill>
              </a:rPr>
              <a:t>Objects:</a:t>
            </a:r>
            <a:endParaRPr lang="en-US" dirty="0">
              <a:solidFill>
                <a:srgbClr val="FF0000"/>
              </a:solidFill>
            </a:endParaRPr>
          </a:p>
          <a:p>
            <a:r>
              <a:rPr lang="en-US" dirty="0"/>
              <a:t>Before creating an array of objects, we must create an instance of the class by using the new keyword. We can use any of the following statements to create an array of objects.</a:t>
            </a:r>
          </a:p>
          <a:p>
            <a:endParaRPr lang="en-US" dirty="0"/>
          </a:p>
        </p:txBody>
      </p:sp>
      <p:sp>
        <p:nvSpPr>
          <p:cNvPr id="6" name="Rectangle 5"/>
          <p:cNvSpPr/>
          <p:nvPr/>
        </p:nvSpPr>
        <p:spPr>
          <a:xfrm>
            <a:off x="457200" y="4114800"/>
            <a:ext cx="10287000" cy="369332"/>
          </a:xfrm>
          <a:prstGeom prst="rect">
            <a:avLst/>
          </a:prstGeom>
        </p:spPr>
        <p:txBody>
          <a:bodyPr wrap="square">
            <a:spAutoFit/>
          </a:bodyPr>
          <a:lstStyle/>
          <a:p>
            <a:r>
              <a:rPr lang="en-US" dirty="0" err="1"/>
              <a:t>ClassName</a:t>
            </a:r>
            <a:r>
              <a:rPr lang="en-US" dirty="0"/>
              <a:t> </a:t>
            </a:r>
            <a:r>
              <a:rPr lang="en-US" dirty="0" err="1"/>
              <a:t>obj</a:t>
            </a:r>
            <a:r>
              <a:rPr lang="en-US" dirty="0"/>
              <a:t>[]=new </a:t>
            </a:r>
            <a:r>
              <a:rPr lang="en-US" dirty="0" err="1"/>
              <a:t>ClassName</a:t>
            </a:r>
            <a:r>
              <a:rPr lang="en-US" dirty="0"/>
              <a:t>[</a:t>
            </a:r>
            <a:r>
              <a:rPr lang="en-US" dirty="0" err="1"/>
              <a:t>array_length</a:t>
            </a:r>
            <a:r>
              <a:rPr lang="en-US" dirty="0"/>
              <a:t>]; </a:t>
            </a:r>
            <a:r>
              <a:rPr lang="en-US" dirty="0">
                <a:solidFill>
                  <a:srgbClr val="FF0000"/>
                </a:solidFill>
              </a:rPr>
              <a:t>//declare and instantiate an array of objects </a:t>
            </a:r>
            <a:endParaRPr lang="en-IN" dirty="0">
              <a:solidFill>
                <a:srgbClr val="FF0000"/>
              </a:solidFill>
            </a:endParaRPr>
          </a:p>
        </p:txBody>
      </p:sp>
      <p:sp>
        <p:nvSpPr>
          <p:cNvPr id="7" name="Rectangle 6"/>
          <p:cNvSpPr/>
          <p:nvPr/>
        </p:nvSpPr>
        <p:spPr>
          <a:xfrm>
            <a:off x="533400" y="3752452"/>
            <a:ext cx="954107" cy="369332"/>
          </a:xfrm>
          <a:prstGeom prst="rect">
            <a:avLst/>
          </a:prstGeom>
        </p:spPr>
        <p:txBody>
          <a:bodyPr wrap="none">
            <a:spAutoFit/>
          </a:bodyPr>
          <a:lstStyle/>
          <a:p>
            <a:r>
              <a:rPr lang="en-US" dirty="0">
                <a:solidFill>
                  <a:srgbClr val="FF0000"/>
                </a:solidFill>
              </a:rPr>
              <a:t>Syntax:</a:t>
            </a:r>
            <a:endParaRPr lang="en-IN" dirty="0">
              <a:solidFill>
                <a:srgbClr val="FF0000"/>
              </a:solidFill>
            </a:endParaRPr>
          </a:p>
        </p:txBody>
      </p:sp>
    </p:spTree>
    <p:extLst>
      <p:ext uri="{BB962C8B-B14F-4D97-AF65-F5344CB8AC3E}">
        <p14:creationId xmlns:p14="http://schemas.microsoft.com/office/powerpoint/2010/main" val="210578416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half" idx="1"/>
          </p:nvPr>
        </p:nvSpPr>
        <p:spPr>
          <a:xfrm>
            <a:off x="457200" y="344697"/>
            <a:ext cx="5181600" cy="4351338"/>
          </a:xfrm>
        </p:spPr>
        <p:txBody>
          <a:bodyPr/>
          <a:lstStyle/>
          <a:p>
            <a:pPr marL="0" indent="0">
              <a:buNone/>
            </a:pPr>
            <a:r>
              <a:rPr lang="en-US" sz="1600" dirty="0"/>
              <a:t>public class </a:t>
            </a:r>
            <a:r>
              <a:rPr lang="en-US" sz="1600" dirty="0" err="1"/>
              <a:t>ArrayOfObjects</a:t>
            </a:r>
            <a:r>
              <a:rPr lang="en-US" sz="1600" dirty="0"/>
              <a:t>  </a:t>
            </a:r>
          </a:p>
          <a:p>
            <a:pPr marL="0" indent="0">
              <a:buNone/>
            </a:pPr>
            <a:r>
              <a:rPr lang="en-US" sz="1600" dirty="0"/>
              <a:t>{  </a:t>
            </a:r>
          </a:p>
          <a:p>
            <a:pPr marL="0" indent="0">
              <a:buNone/>
            </a:pPr>
            <a:r>
              <a:rPr lang="en-US" sz="1600" dirty="0"/>
              <a:t>public static void main(String </a:t>
            </a:r>
            <a:r>
              <a:rPr lang="en-US" sz="1600" dirty="0" err="1"/>
              <a:t>args</a:t>
            </a:r>
            <a:r>
              <a:rPr lang="en-US" sz="1600" dirty="0"/>
              <a:t>[])  </a:t>
            </a:r>
          </a:p>
          <a:p>
            <a:pPr marL="0" indent="0">
              <a:buNone/>
            </a:pPr>
            <a:r>
              <a:rPr lang="en-US" sz="1600" dirty="0"/>
              <a:t>{  </a:t>
            </a:r>
          </a:p>
          <a:p>
            <a:pPr marL="0" indent="0">
              <a:buNone/>
            </a:pPr>
            <a:r>
              <a:rPr lang="en-US" sz="1600" dirty="0">
                <a:solidFill>
                  <a:srgbClr val="FF0000"/>
                </a:solidFill>
              </a:rPr>
              <a:t>//create an array of product object</a:t>
            </a:r>
            <a:r>
              <a:rPr lang="en-US" sz="1600" dirty="0"/>
              <a:t>   </a:t>
            </a:r>
          </a:p>
          <a:p>
            <a:pPr marL="0" indent="0">
              <a:buNone/>
            </a:pPr>
            <a:r>
              <a:rPr lang="en-US" sz="1600" dirty="0"/>
              <a:t>Product[] </a:t>
            </a:r>
            <a:r>
              <a:rPr lang="en-US" sz="1600" dirty="0" err="1"/>
              <a:t>obj</a:t>
            </a:r>
            <a:r>
              <a:rPr lang="en-US" sz="1600" dirty="0"/>
              <a:t> = new Product[5] ;  </a:t>
            </a:r>
          </a:p>
          <a:p>
            <a:pPr marL="0" indent="0">
              <a:buNone/>
            </a:pPr>
            <a:r>
              <a:rPr lang="en-US" sz="1600" dirty="0">
                <a:solidFill>
                  <a:srgbClr val="FF0000"/>
                </a:solidFill>
              </a:rPr>
              <a:t>//create &amp; initialize actual product objects using constructor</a:t>
            </a:r>
            <a:r>
              <a:rPr lang="en-US" sz="1600" dirty="0"/>
              <a:t>  </a:t>
            </a:r>
          </a:p>
          <a:p>
            <a:pPr marL="0" indent="0">
              <a:buNone/>
            </a:pPr>
            <a:r>
              <a:rPr lang="en-US" sz="1600" dirty="0" err="1"/>
              <a:t>obj</a:t>
            </a:r>
            <a:r>
              <a:rPr lang="en-US" sz="1600" dirty="0"/>
              <a:t>[0] = new Product(23907,"Dell Laptop");  </a:t>
            </a:r>
          </a:p>
          <a:p>
            <a:pPr marL="0" indent="0">
              <a:buNone/>
            </a:pPr>
            <a:r>
              <a:rPr lang="en-US" sz="1600" dirty="0" err="1"/>
              <a:t>obj</a:t>
            </a:r>
            <a:r>
              <a:rPr lang="en-US" sz="1600" dirty="0"/>
              <a:t>[1] = new Product(91240,"HP 630");  </a:t>
            </a:r>
          </a:p>
          <a:p>
            <a:pPr marL="0" indent="0">
              <a:buNone/>
            </a:pPr>
            <a:r>
              <a:rPr lang="en-US" sz="1600" dirty="0" err="1"/>
              <a:t>obj</a:t>
            </a:r>
            <a:r>
              <a:rPr lang="en-US" sz="1600" dirty="0"/>
              <a:t>[2] = new Product(29823,"LG OLED TV");  </a:t>
            </a:r>
          </a:p>
          <a:p>
            <a:pPr marL="0" indent="0">
              <a:buNone/>
            </a:pPr>
            <a:r>
              <a:rPr lang="en-US" sz="1600" dirty="0" err="1"/>
              <a:t>obj</a:t>
            </a:r>
            <a:r>
              <a:rPr lang="en-US" sz="1600" dirty="0"/>
              <a:t>[3] = new Product(11908,"MI Note Pro Max 9");  </a:t>
            </a:r>
          </a:p>
          <a:p>
            <a:pPr marL="0" indent="0">
              <a:buNone/>
            </a:pPr>
            <a:r>
              <a:rPr lang="en-US" sz="1600" dirty="0" err="1"/>
              <a:t>obj</a:t>
            </a:r>
            <a:r>
              <a:rPr lang="en-US" sz="1600" dirty="0"/>
              <a:t>[4] = new Product(43590,"Kingston USB"); </a:t>
            </a:r>
            <a:endParaRPr lang="en-IN" sz="1600" dirty="0"/>
          </a:p>
        </p:txBody>
      </p:sp>
      <p:sp>
        <p:nvSpPr>
          <p:cNvPr id="4" name="Content Placeholder 3"/>
          <p:cNvSpPr>
            <a:spLocks noGrp="1"/>
          </p:cNvSpPr>
          <p:nvPr>
            <p:ph sz="half" idx="2"/>
          </p:nvPr>
        </p:nvSpPr>
        <p:spPr>
          <a:xfrm>
            <a:off x="6098875" y="344697"/>
            <a:ext cx="5181600" cy="4351338"/>
          </a:xfrm>
        </p:spPr>
        <p:txBody>
          <a:bodyPr/>
          <a:lstStyle/>
          <a:p>
            <a:pPr marL="0" indent="0">
              <a:buNone/>
            </a:pPr>
            <a:r>
              <a:rPr lang="en-IN" sz="1600" dirty="0">
                <a:solidFill>
                  <a:srgbClr val="FF0000"/>
                </a:solidFill>
              </a:rPr>
              <a:t>//display the product object data  </a:t>
            </a:r>
          </a:p>
          <a:p>
            <a:pPr marL="0" indent="0">
              <a:buNone/>
            </a:pPr>
            <a:r>
              <a:rPr lang="en-IN" sz="2000" dirty="0" err="1"/>
              <a:t>System.out.println</a:t>
            </a:r>
            <a:r>
              <a:rPr lang="en-IN" sz="2000" dirty="0"/>
              <a:t>("Product Object 1:");  </a:t>
            </a:r>
          </a:p>
          <a:p>
            <a:pPr marL="0" indent="0">
              <a:buNone/>
            </a:pPr>
            <a:r>
              <a:rPr lang="en-IN" sz="2000" dirty="0" err="1"/>
              <a:t>obj</a:t>
            </a:r>
            <a:r>
              <a:rPr lang="en-IN" sz="2000" dirty="0"/>
              <a:t>[0].display();  </a:t>
            </a:r>
          </a:p>
          <a:p>
            <a:pPr marL="0" indent="0">
              <a:buNone/>
            </a:pPr>
            <a:r>
              <a:rPr lang="en-IN" sz="2000" dirty="0" err="1"/>
              <a:t>System.out.println</a:t>
            </a:r>
            <a:r>
              <a:rPr lang="en-IN" sz="2000" dirty="0"/>
              <a:t>("Product Object 2:");  </a:t>
            </a:r>
          </a:p>
          <a:p>
            <a:pPr marL="0" indent="0">
              <a:buNone/>
            </a:pPr>
            <a:r>
              <a:rPr lang="en-IN" sz="2000" dirty="0" err="1"/>
              <a:t>obj</a:t>
            </a:r>
            <a:r>
              <a:rPr lang="en-IN" sz="2000" dirty="0"/>
              <a:t>[1].display();  </a:t>
            </a:r>
          </a:p>
          <a:p>
            <a:pPr marL="0" indent="0">
              <a:buNone/>
            </a:pPr>
            <a:r>
              <a:rPr lang="en-IN" sz="2000" dirty="0" err="1"/>
              <a:t>System.out.println</a:t>
            </a:r>
            <a:r>
              <a:rPr lang="en-IN" sz="2000" dirty="0"/>
              <a:t>("Product Object 3:");  </a:t>
            </a:r>
          </a:p>
          <a:p>
            <a:pPr marL="0" indent="0">
              <a:buNone/>
            </a:pPr>
            <a:r>
              <a:rPr lang="en-IN" sz="2000" dirty="0" err="1"/>
              <a:t>obj</a:t>
            </a:r>
            <a:r>
              <a:rPr lang="en-IN" sz="2000" dirty="0"/>
              <a:t>[2].display();  </a:t>
            </a:r>
          </a:p>
          <a:p>
            <a:pPr marL="0" indent="0">
              <a:buNone/>
            </a:pPr>
            <a:r>
              <a:rPr lang="en-IN" sz="2000" dirty="0" err="1"/>
              <a:t>System.out.println</a:t>
            </a:r>
            <a:r>
              <a:rPr lang="en-IN" sz="2000" dirty="0"/>
              <a:t>("Product Object 4:");  </a:t>
            </a:r>
          </a:p>
          <a:p>
            <a:pPr marL="0" indent="0">
              <a:buNone/>
            </a:pPr>
            <a:r>
              <a:rPr lang="en-IN" sz="2000" dirty="0" err="1"/>
              <a:t>obj</a:t>
            </a:r>
            <a:r>
              <a:rPr lang="en-IN" sz="2000" dirty="0"/>
              <a:t>[3].display();  </a:t>
            </a:r>
          </a:p>
          <a:p>
            <a:pPr marL="0" indent="0">
              <a:buNone/>
            </a:pPr>
            <a:r>
              <a:rPr lang="en-IN" sz="2000" dirty="0" err="1"/>
              <a:t>System.out.println</a:t>
            </a:r>
            <a:r>
              <a:rPr lang="en-IN" sz="2000" dirty="0"/>
              <a:t>("Product Object 5:");  </a:t>
            </a:r>
          </a:p>
          <a:p>
            <a:pPr marL="0" indent="0">
              <a:buNone/>
            </a:pPr>
            <a:r>
              <a:rPr lang="en-IN" sz="2000" dirty="0" err="1"/>
              <a:t>obj</a:t>
            </a:r>
            <a:r>
              <a:rPr lang="en-IN" sz="2000" dirty="0"/>
              <a:t>[4].display();  </a:t>
            </a:r>
          </a:p>
          <a:p>
            <a:pPr marL="0" indent="0">
              <a:buNone/>
            </a:pPr>
            <a:r>
              <a:rPr lang="en-IN" sz="2000" dirty="0"/>
              <a:t>}  </a:t>
            </a:r>
          </a:p>
          <a:p>
            <a:pPr marL="0" indent="0">
              <a:buNone/>
            </a:pPr>
            <a:r>
              <a:rPr lang="en-IN" sz="2000" dirty="0"/>
              <a:t>}</a:t>
            </a:r>
            <a:r>
              <a:rPr lang="en-IN" dirty="0"/>
              <a:t> </a:t>
            </a:r>
          </a:p>
        </p:txBody>
      </p:sp>
      <p:sp>
        <p:nvSpPr>
          <p:cNvPr id="6" name="Slide Number Placeholder 5"/>
          <p:cNvSpPr>
            <a:spLocks noGrp="1"/>
          </p:cNvSpPr>
          <p:nvPr>
            <p:ph type="sldNum" sz="quarter" idx="12"/>
          </p:nvPr>
        </p:nvSpPr>
        <p:spPr/>
        <p:txBody>
          <a:bodyPr/>
          <a:lstStyle/>
          <a:p>
            <a:pPr>
              <a:defRPr/>
            </a:pPr>
            <a:fld id="{7061B66A-860D-4F77-A12A-57453AAB16AB}" type="slidenum">
              <a:rPr lang="en-US" altLang="en-US" smtClean="0"/>
              <a:pPr>
                <a:defRPr/>
              </a:pPr>
              <a:t>23</a:t>
            </a:fld>
            <a:endParaRPr lang="en-US" altLang="en-US"/>
          </a:p>
        </p:txBody>
      </p:sp>
    </p:spTree>
    <p:extLst>
      <p:ext uri="{BB962C8B-B14F-4D97-AF65-F5344CB8AC3E}">
        <p14:creationId xmlns:p14="http://schemas.microsoft.com/office/powerpoint/2010/main" val="46293421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1447800"/>
            <a:ext cx="10515600" cy="4351338"/>
          </a:xfrm>
        </p:spPr>
        <p:txBody>
          <a:bodyPr/>
          <a:lstStyle/>
          <a:p>
            <a:pPr>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In </a:t>
            </a:r>
            <a:r>
              <a:rPr lang="en-US" sz="2000" dirty="0">
                <a:latin typeface="Times New Roman" panose="02020603050405020304" pitchFamily="18" charset="0"/>
                <a:cs typeface="Times New Roman" panose="02020603050405020304" pitchFamily="18" charset="0"/>
              </a:rPr>
              <a:t>Java, a string is a sequence of characters. For example, "hello" is a string containing a sequence of characters 'h', 'e', 'l', 'l', and 'o'.</a:t>
            </a:r>
          </a:p>
          <a:p>
            <a:pPr>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We </a:t>
            </a:r>
            <a:r>
              <a:rPr lang="en-US" sz="2000" dirty="0">
                <a:latin typeface="Times New Roman" panose="02020603050405020304" pitchFamily="18" charset="0"/>
                <a:cs typeface="Times New Roman" panose="02020603050405020304" pitchFamily="18" charset="0"/>
              </a:rPr>
              <a:t>use double quotes to represent a string in Java. For example,</a:t>
            </a:r>
          </a:p>
          <a:p>
            <a:pPr>
              <a:buFont typeface="Wingdings" panose="05000000000000000000" pitchFamily="2" charset="2"/>
              <a:buChar char="Ø"/>
            </a:pPr>
            <a:r>
              <a:rPr lang="en-US" sz="2000" dirty="0" smtClean="0">
                <a:solidFill>
                  <a:srgbClr val="FF0000"/>
                </a:solidFill>
                <a:latin typeface="Times New Roman" panose="02020603050405020304" pitchFamily="18" charset="0"/>
                <a:cs typeface="Times New Roman" panose="02020603050405020304" pitchFamily="18" charset="0"/>
              </a:rPr>
              <a:t>// </a:t>
            </a:r>
            <a:r>
              <a:rPr lang="en-US" sz="2000" dirty="0">
                <a:solidFill>
                  <a:srgbClr val="FF0000"/>
                </a:solidFill>
                <a:latin typeface="Times New Roman" panose="02020603050405020304" pitchFamily="18" charset="0"/>
                <a:cs typeface="Times New Roman" panose="02020603050405020304" pitchFamily="18" charset="0"/>
              </a:rPr>
              <a:t>create a string</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String type = "Java programming";</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Here, we have created a string variable named type. The variable is initialized with the string Java Programming.</a:t>
            </a:r>
            <a:endParaRPr lang="en-IN" sz="20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24</a:t>
            </a:fld>
            <a:endParaRPr lang="en-US" altLang="en-US"/>
          </a:p>
        </p:txBody>
      </p:sp>
      <p:sp>
        <p:nvSpPr>
          <p:cNvPr id="6" name="Title 1"/>
          <p:cNvSpPr txBox="1">
            <a:spLocks noGrp="1"/>
          </p:cNvSpPr>
          <p:nvPr>
            <p:ph type="title"/>
          </p:nvPr>
        </p:nvSpPr>
        <p:spPr bwMode="auto">
          <a:xfrm>
            <a:off x="685800" y="162719"/>
            <a:ext cx="2971800" cy="1006475"/>
          </a:xfrm>
          <a:prstGeom prst="rect">
            <a:avLst/>
          </a:prstGeom>
          <a:solidFill>
            <a:schemeClr val="bg1"/>
          </a:solidFill>
          <a:ln w="9525">
            <a:solidFill>
              <a:schemeClr val="accent1"/>
            </a:solidFill>
            <a:round/>
            <a:headEnd/>
            <a:tailEnd/>
          </a:ln>
          <a:effectLst>
            <a:glow rad="101600">
              <a:schemeClr val="accent2">
                <a:satMod val="175000"/>
                <a:alpha val="40000"/>
              </a:schemeClr>
            </a:glow>
            <a:outerShdw blurRad="50800" dist="38100" dir="2700000" algn="tl" rotWithShape="0">
              <a:prstClr val="black">
                <a:alpha val="40000"/>
              </a:prstClr>
            </a:outerShdw>
          </a:effectLst>
          <a:extLst/>
        </p:spPr>
        <p:txBody>
          <a:bodyPr vert="horz" wrap="square" lIns="90000" tIns="46800" rIns="90000" bIns="46800" numCol="1" anchor="ctr" anchorCtr="0" compatLnSpc="1">
            <a:prstTxWarp prst="textNoShape">
              <a:avLst/>
            </a:prstTxWarp>
          </a:bodyP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defTabSz="457200">
              <a:buClr>
                <a:srgbClr val="000000"/>
              </a:buClr>
              <a:buSzPct val="1000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800" b="1" dirty="0" smtClean="0">
                <a:solidFill>
                  <a:srgbClr val="FF0000"/>
                </a:solidFill>
                <a:latin typeface="Times New Roman" panose="02020603050405020304" pitchFamily="18" charset="0"/>
                <a:cs typeface="Times New Roman" panose="02020603050405020304" pitchFamily="18" charset="0"/>
              </a:rPr>
              <a:t>Java Strings</a:t>
            </a:r>
            <a:endParaRPr lang="en-US" sz="2800" b="1" dirty="0">
              <a:solidFill>
                <a:srgbClr val="FF0000"/>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428713746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5EDAE260-203A-48BA-B1E0-2820BBC6B005}" type="slidenum">
              <a:rPr lang="en-US" altLang="en-US" smtClean="0"/>
              <a:pPr>
                <a:defRPr/>
              </a:pPr>
              <a:t>25</a:t>
            </a:fld>
            <a:endParaRPr lang="en-US" altLang="en-US"/>
          </a:p>
        </p:txBody>
      </p:sp>
      <p:sp>
        <p:nvSpPr>
          <p:cNvPr id="4" name="Rectangle 3"/>
          <p:cNvSpPr/>
          <p:nvPr/>
        </p:nvSpPr>
        <p:spPr>
          <a:xfrm>
            <a:off x="476903" y="304800"/>
            <a:ext cx="3557384" cy="369332"/>
          </a:xfrm>
          <a:prstGeom prst="rect">
            <a:avLst/>
          </a:prstGeom>
        </p:spPr>
        <p:txBody>
          <a:bodyPr wrap="none">
            <a:spAutoFit/>
          </a:bodyPr>
          <a:lstStyle/>
          <a:p>
            <a:r>
              <a:rPr lang="en-US" dirty="0">
                <a:solidFill>
                  <a:srgbClr val="FF0000"/>
                </a:solidFill>
              </a:rPr>
              <a:t>Example: Create a String in Java</a:t>
            </a:r>
            <a:endParaRPr lang="en-IN" dirty="0">
              <a:solidFill>
                <a:srgbClr val="FF0000"/>
              </a:solidFill>
            </a:endParaRPr>
          </a:p>
        </p:txBody>
      </p:sp>
      <p:pic>
        <p:nvPicPr>
          <p:cNvPr id="5" name="Picture 4"/>
          <p:cNvPicPr>
            <a:picLocks noChangeAspect="1"/>
          </p:cNvPicPr>
          <p:nvPr/>
        </p:nvPicPr>
        <p:blipFill>
          <a:blip r:embed="rId2"/>
          <a:stretch>
            <a:fillRect/>
          </a:stretch>
        </p:blipFill>
        <p:spPr>
          <a:xfrm>
            <a:off x="152400" y="863897"/>
            <a:ext cx="8267700" cy="4010025"/>
          </a:xfrm>
          <a:prstGeom prst="rect">
            <a:avLst/>
          </a:prstGeom>
        </p:spPr>
      </p:pic>
    </p:spTree>
    <p:extLst>
      <p:ext uri="{BB962C8B-B14F-4D97-AF65-F5344CB8AC3E}">
        <p14:creationId xmlns:p14="http://schemas.microsoft.com/office/powerpoint/2010/main" val="257528759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10515600" cy="4351338"/>
          </a:xfrm>
        </p:spPr>
        <p:txBody>
          <a:bodyPr/>
          <a:lstStyle/>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Java String provides various methods to perform different operations on strings. We will look into some of the commonly used string operations.</a:t>
            </a:r>
          </a:p>
          <a:p>
            <a:pPr>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To </a:t>
            </a:r>
            <a:r>
              <a:rPr lang="en-US" sz="2000" dirty="0">
                <a:latin typeface="Times New Roman" panose="02020603050405020304" pitchFamily="18" charset="0"/>
                <a:cs typeface="Times New Roman" panose="02020603050405020304" pitchFamily="18" charset="0"/>
              </a:rPr>
              <a:t>find the length of a string, we use the </a:t>
            </a:r>
            <a:r>
              <a:rPr lang="en-US" sz="2000" dirty="0">
                <a:solidFill>
                  <a:srgbClr val="FF0000"/>
                </a:solidFill>
                <a:latin typeface="Times New Roman" panose="02020603050405020304" pitchFamily="18" charset="0"/>
                <a:cs typeface="Times New Roman" panose="02020603050405020304" pitchFamily="18" charset="0"/>
              </a:rPr>
              <a:t>length() method </a:t>
            </a:r>
            <a:r>
              <a:rPr lang="en-US" sz="2000" dirty="0">
                <a:latin typeface="Times New Roman" panose="02020603050405020304" pitchFamily="18" charset="0"/>
                <a:cs typeface="Times New Roman" panose="02020603050405020304" pitchFamily="18" charset="0"/>
              </a:rPr>
              <a:t>of the </a:t>
            </a:r>
            <a:r>
              <a:rPr lang="en-US" sz="2000" dirty="0" smtClean="0">
                <a:latin typeface="Times New Roman" panose="02020603050405020304" pitchFamily="18" charset="0"/>
                <a:cs typeface="Times New Roman" panose="02020603050405020304" pitchFamily="18" charset="0"/>
              </a:rPr>
              <a:t>String.</a:t>
            </a:r>
          </a:p>
          <a:p>
            <a:pPr marL="0" indent="0">
              <a:buNone/>
            </a:pPr>
            <a:endParaRPr lang="en-IN" sz="2000" dirty="0"/>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26</a:t>
            </a:fld>
            <a:endParaRPr lang="en-US" altLang="en-US"/>
          </a:p>
        </p:txBody>
      </p:sp>
      <p:pic>
        <p:nvPicPr>
          <p:cNvPr id="7" name="Picture 6"/>
          <p:cNvPicPr>
            <a:picLocks noChangeAspect="1"/>
          </p:cNvPicPr>
          <p:nvPr/>
        </p:nvPicPr>
        <p:blipFill>
          <a:blip r:embed="rId2"/>
          <a:stretch>
            <a:fillRect/>
          </a:stretch>
        </p:blipFill>
        <p:spPr>
          <a:xfrm>
            <a:off x="685800" y="2667000"/>
            <a:ext cx="5172075" cy="2362200"/>
          </a:xfrm>
          <a:prstGeom prst="rect">
            <a:avLst/>
          </a:prstGeom>
        </p:spPr>
      </p:pic>
      <p:pic>
        <p:nvPicPr>
          <p:cNvPr id="8" name="Picture 7"/>
          <p:cNvPicPr>
            <a:picLocks noChangeAspect="1"/>
          </p:cNvPicPr>
          <p:nvPr/>
        </p:nvPicPr>
        <p:blipFill>
          <a:blip r:embed="rId3"/>
          <a:stretch>
            <a:fillRect/>
          </a:stretch>
        </p:blipFill>
        <p:spPr>
          <a:xfrm>
            <a:off x="7170348" y="3171825"/>
            <a:ext cx="2800350" cy="1352550"/>
          </a:xfrm>
          <a:prstGeom prst="rect">
            <a:avLst/>
          </a:prstGeom>
        </p:spPr>
      </p:pic>
      <p:sp>
        <p:nvSpPr>
          <p:cNvPr id="9" name="Title 1"/>
          <p:cNvSpPr txBox="1">
            <a:spLocks noGrp="1"/>
          </p:cNvSpPr>
          <p:nvPr>
            <p:ph type="title"/>
          </p:nvPr>
        </p:nvSpPr>
        <p:spPr bwMode="auto">
          <a:xfrm>
            <a:off x="381000" y="129336"/>
            <a:ext cx="10515600" cy="1006475"/>
          </a:xfrm>
          <a:prstGeom prst="rect">
            <a:avLst/>
          </a:prstGeom>
          <a:solidFill>
            <a:schemeClr val="bg1"/>
          </a:solidFill>
          <a:ln w="9525">
            <a:solidFill>
              <a:schemeClr val="accent1"/>
            </a:solidFill>
            <a:round/>
            <a:headEnd/>
            <a:tailEnd/>
          </a:ln>
          <a:effectLst>
            <a:glow rad="101600">
              <a:schemeClr val="accent2">
                <a:satMod val="175000"/>
                <a:alpha val="40000"/>
              </a:schemeClr>
            </a:glow>
            <a:outerShdw blurRad="50800" dist="38100" dir="2700000" algn="tl" rotWithShape="0">
              <a:prstClr val="black">
                <a:alpha val="40000"/>
              </a:prstClr>
            </a:outerShdw>
          </a:effectLst>
          <a:extLst/>
        </p:spPr>
        <p:txBody>
          <a:bodyPr vert="horz" wrap="square" lIns="90000" tIns="46800" rIns="90000" bIns="46800" numCol="1" anchor="ctr" anchorCtr="0" compatLnSpc="1">
            <a:prstTxWarp prst="textNoShape">
              <a:avLst/>
            </a:prstTxWarp>
          </a:bodyP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defTabSz="457200">
              <a:buClr>
                <a:srgbClr val="000000"/>
              </a:buClr>
              <a:buSzPct val="1000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800" b="1" dirty="0" smtClean="0">
                <a:solidFill>
                  <a:srgbClr val="FF0000"/>
                </a:solidFill>
                <a:latin typeface="Times New Roman" panose="02020603050405020304" pitchFamily="18" charset="0"/>
                <a:cs typeface="Times New Roman" panose="02020603050405020304" pitchFamily="18" charset="0"/>
              </a:rPr>
              <a:t>String Operations</a:t>
            </a:r>
            <a:endParaRPr lang="en-US" sz="2800" b="1" dirty="0">
              <a:solidFill>
                <a:srgbClr val="FF0000"/>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54024853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dirty="0" smtClean="0"/>
              <a:t>We </a:t>
            </a:r>
            <a:r>
              <a:rPr lang="en-US" sz="2000" dirty="0"/>
              <a:t>can join two strings in Java using the </a:t>
            </a:r>
            <a:r>
              <a:rPr lang="en-US" sz="2000" dirty="0" err="1"/>
              <a:t>concat</a:t>
            </a:r>
            <a:r>
              <a:rPr lang="en-US" sz="2000" dirty="0" smtClean="0"/>
              <a:t>()</a:t>
            </a:r>
            <a:endParaRPr lang="en-IN" sz="2000" dirty="0"/>
          </a:p>
        </p:txBody>
      </p:sp>
      <p:pic>
        <p:nvPicPr>
          <p:cNvPr id="6" name="Content Placeholder 5"/>
          <p:cNvPicPr>
            <a:picLocks noGrp="1" noChangeAspect="1"/>
          </p:cNvPicPr>
          <p:nvPr>
            <p:ph idx="1"/>
          </p:nvPr>
        </p:nvPicPr>
        <p:blipFill>
          <a:blip r:embed="rId2"/>
          <a:stretch>
            <a:fillRect/>
          </a:stretch>
        </p:blipFill>
        <p:spPr>
          <a:xfrm>
            <a:off x="990016" y="1524000"/>
            <a:ext cx="6097168" cy="3911391"/>
          </a:xfrm>
          <a:prstGeom prst="rect">
            <a:avLst/>
          </a:prstGeom>
        </p:spPr>
      </p:pic>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27</a:t>
            </a:fld>
            <a:endParaRPr lang="en-US" altLang="en-US"/>
          </a:p>
        </p:txBody>
      </p:sp>
      <p:pic>
        <p:nvPicPr>
          <p:cNvPr id="7" name="Picture 6"/>
          <p:cNvPicPr>
            <a:picLocks noChangeAspect="1"/>
          </p:cNvPicPr>
          <p:nvPr/>
        </p:nvPicPr>
        <p:blipFill>
          <a:blip r:embed="rId3"/>
          <a:stretch>
            <a:fillRect/>
          </a:stretch>
        </p:blipFill>
        <p:spPr>
          <a:xfrm>
            <a:off x="7467600" y="2729242"/>
            <a:ext cx="4029075" cy="1628775"/>
          </a:xfrm>
          <a:prstGeom prst="rect">
            <a:avLst/>
          </a:prstGeom>
        </p:spPr>
      </p:pic>
      <p:sp>
        <p:nvSpPr>
          <p:cNvPr id="8" name="Title 1"/>
          <p:cNvSpPr txBox="1">
            <a:spLocks/>
          </p:cNvSpPr>
          <p:nvPr/>
        </p:nvSpPr>
        <p:spPr bwMode="auto">
          <a:xfrm>
            <a:off x="609600" y="304800"/>
            <a:ext cx="5562600" cy="1082675"/>
          </a:xfrm>
          <a:prstGeom prst="rect">
            <a:avLst/>
          </a:prstGeom>
          <a:solidFill>
            <a:schemeClr val="bg1"/>
          </a:solidFill>
          <a:ln w="9525">
            <a:solidFill>
              <a:schemeClr val="accent1"/>
            </a:solidFill>
            <a:round/>
            <a:headEnd/>
            <a:tailEnd/>
          </a:ln>
          <a:effectLst>
            <a:glow rad="101600">
              <a:schemeClr val="accent2">
                <a:satMod val="175000"/>
                <a:alpha val="40000"/>
              </a:schemeClr>
            </a:glow>
            <a:outerShdw blurRad="50800" dist="38100" dir="2700000" algn="tl" rotWithShape="0">
              <a:prstClr val="black">
                <a:alpha val="40000"/>
              </a:prstClr>
            </a:outerShdw>
          </a:effectLst>
          <a:extLst/>
        </p:spPr>
        <p:txBody>
          <a:bodyPr vert="horz" wrap="square" lIns="90000" tIns="46800" rIns="90000" bIns="46800" numCol="1" anchor="ctr" anchorCtr="0" compatLnSpc="1">
            <a:prstTxWarp prst="textNoShape">
              <a:avLst/>
            </a:prstTxWarp>
          </a:bodyP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defTabSz="457200" eaLnBrk="1" hangingPunct="1">
              <a:buClr>
                <a:srgbClr val="000000"/>
              </a:buClr>
              <a:buSzPct val="1000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800" b="1" dirty="0" err="1" smtClean="0">
                <a:solidFill>
                  <a:srgbClr val="FF0000"/>
                </a:solidFill>
                <a:latin typeface="Times New Roman" panose="02020603050405020304" pitchFamily="18" charset="0"/>
                <a:cs typeface="Times New Roman" panose="02020603050405020304" pitchFamily="18" charset="0"/>
              </a:rPr>
              <a:t>concat</a:t>
            </a:r>
            <a:r>
              <a:rPr lang="en-US" altLang="en-US" sz="2800" b="1" dirty="0" smtClean="0">
                <a:solidFill>
                  <a:srgbClr val="FF0000"/>
                </a:solidFill>
                <a:latin typeface="Times New Roman" panose="02020603050405020304" pitchFamily="18" charset="0"/>
                <a:cs typeface="Times New Roman" panose="02020603050405020304" pitchFamily="18" charset="0"/>
              </a:rPr>
              <a:t>()</a:t>
            </a:r>
            <a:endParaRPr lang="en-US" sz="2800" b="1" dirty="0">
              <a:solidFill>
                <a:srgbClr val="FF0000"/>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57351267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5EDAE260-203A-48BA-B1E0-2820BBC6B005}" type="slidenum">
              <a:rPr lang="en-US" altLang="en-US" smtClean="0"/>
              <a:pPr>
                <a:defRPr/>
              </a:pPr>
              <a:t>28</a:t>
            </a:fld>
            <a:endParaRPr lang="en-US" altLang="en-US"/>
          </a:p>
        </p:txBody>
      </p:sp>
      <p:sp>
        <p:nvSpPr>
          <p:cNvPr id="4" name="Rectangle 3"/>
          <p:cNvSpPr/>
          <p:nvPr/>
        </p:nvSpPr>
        <p:spPr>
          <a:xfrm>
            <a:off x="304800" y="304800"/>
            <a:ext cx="6096000" cy="369332"/>
          </a:xfrm>
          <a:prstGeom prst="rect">
            <a:avLst/>
          </a:prstGeom>
        </p:spPr>
        <p:txBody>
          <a:bodyPr wrap="square">
            <a:spAutoFit/>
          </a:bodyPr>
          <a:lstStyle/>
          <a:p>
            <a:r>
              <a:rPr lang="en-IN" dirty="0"/>
              <a:t>Methods of Java </a:t>
            </a:r>
            <a:r>
              <a:rPr lang="en-IN" dirty="0" smtClean="0"/>
              <a:t>String:</a:t>
            </a:r>
            <a:endParaRPr lang="en-IN" dirty="0"/>
          </a:p>
        </p:txBody>
      </p:sp>
      <p:graphicFrame>
        <p:nvGraphicFramePr>
          <p:cNvPr id="6" name="Table 5"/>
          <p:cNvGraphicFramePr>
            <a:graphicFrameLocks noGrp="1"/>
          </p:cNvGraphicFramePr>
          <p:nvPr>
            <p:extLst>
              <p:ext uri="{D42A27DB-BD31-4B8C-83A1-F6EECF244321}">
                <p14:modId xmlns:p14="http://schemas.microsoft.com/office/powerpoint/2010/main" val="3484603612"/>
              </p:ext>
            </p:extLst>
          </p:nvPr>
        </p:nvGraphicFramePr>
        <p:xfrm>
          <a:off x="3048000" y="0"/>
          <a:ext cx="8686800" cy="5968350"/>
        </p:xfrm>
        <a:graphic>
          <a:graphicData uri="http://schemas.openxmlformats.org/drawingml/2006/table">
            <a:tbl>
              <a:tblPr/>
              <a:tblGrid>
                <a:gridCol w="4343400"/>
                <a:gridCol w="4343400"/>
              </a:tblGrid>
              <a:tr h="221050">
                <a:tc>
                  <a:txBody>
                    <a:bodyPr/>
                    <a:lstStyle/>
                    <a:p>
                      <a:pPr algn="l"/>
                      <a:r>
                        <a:rPr lang="en-IN" sz="1200" b="0">
                          <a:effectLst/>
                        </a:rPr>
                        <a:t>Methods</a:t>
                      </a:r>
                    </a:p>
                  </a:txBody>
                  <a:tcPr marL="38170" marR="38170" marT="19085" marB="19085" anchor="ctr">
                    <a:lnL>
                      <a:noFill/>
                    </a:lnL>
                    <a:lnR>
                      <a:noFill/>
                    </a:lnR>
                    <a:lnT>
                      <a:noFill/>
                    </a:lnT>
                    <a:lnB>
                      <a:noFill/>
                    </a:lnB>
                    <a:solidFill>
                      <a:srgbClr val="F8FAFF"/>
                    </a:solidFill>
                  </a:tcPr>
                </a:tc>
                <a:tc>
                  <a:txBody>
                    <a:bodyPr/>
                    <a:lstStyle/>
                    <a:p>
                      <a:pPr algn="l"/>
                      <a:r>
                        <a:rPr lang="en-IN" sz="1200" b="0">
                          <a:effectLst/>
                        </a:rPr>
                        <a:t>Description</a:t>
                      </a:r>
                    </a:p>
                  </a:txBody>
                  <a:tcPr marL="38170" marR="38170" marT="19085" marB="19085" anchor="ctr">
                    <a:lnL>
                      <a:noFill/>
                    </a:lnL>
                    <a:lnR>
                      <a:noFill/>
                    </a:lnR>
                    <a:lnT>
                      <a:noFill/>
                    </a:lnT>
                    <a:lnB>
                      <a:noFill/>
                    </a:lnB>
                    <a:solidFill>
                      <a:srgbClr val="F8FAFF"/>
                    </a:solidFill>
                  </a:tcPr>
                </a:tc>
              </a:tr>
              <a:tr h="152679">
                <a:tc>
                  <a:txBody>
                    <a:bodyPr/>
                    <a:lstStyle/>
                    <a:p>
                      <a:r>
                        <a:rPr lang="en-IN" sz="1200" u="none" strike="noStrike" dirty="0">
                          <a:solidFill>
                            <a:srgbClr val="0556F3"/>
                          </a:solidFill>
                          <a:effectLst/>
                          <a:hlinkClick r:id="rId2"/>
                        </a:rPr>
                        <a:t>contains()</a:t>
                      </a:r>
                      <a:endParaRPr lang="en-IN" sz="1200" dirty="0">
                        <a:effectLst/>
                      </a:endParaRPr>
                    </a:p>
                  </a:txBody>
                  <a:tcPr marL="38170" marR="38170" marT="19085" marB="19085" anchor="ctr">
                    <a:lnL>
                      <a:noFill/>
                    </a:lnL>
                    <a:lnR>
                      <a:noFill/>
                    </a:lnR>
                    <a:lnT>
                      <a:noFill/>
                    </a:lnT>
                    <a:lnB>
                      <a:noFill/>
                    </a:lnB>
                    <a:solidFill>
                      <a:srgbClr val="F8FAFF"/>
                    </a:solidFill>
                  </a:tcPr>
                </a:tc>
                <a:tc>
                  <a:txBody>
                    <a:bodyPr/>
                    <a:lstStyle/>
                    <a:p>
                      <a:r>
                        <a:rPr lang="en-US" sz="1200">
                          <a:effectLst/>
                        </a:rPr>
                        <a:t>checks whether the string contains a substring</a:t>
                      </a:r>
                    </a:p>
                  </a:txBody>
                  <a:tcPr marL="38170" marR="38170" marT="19085" marB="19085" anchor="ctr">
                    <a:lnL>
                      <a:noFill/>
                    </a:lnL>
                    <a:lnR>
                      <a:noFill/>
                    </a:lnR>
                    <a:lnT>
                      <a:noFill/>
                    </a:lnT>
                    <a:lnB>
                      <a:noFill/>
                    </a:lnB>
                    <a:solidFill>
                      <a:srgbClr val="F8FAFF"/>
                    </a:solidFill>
                  </a:tcPr>
                </a:tc>
              </a:tr>
              <a:tr h="152679">
                <a:tc>
                  <a:txBody>
                    <a:bodyPr/>
                    <a:lstStyle/>
                    <a:p>
                      <a:r>
                        <a:rPr lang="en-IN" sz="1200" u="none" strike="noStrike">
                          <a:solidFill>
                            <a:srgbClr val="0556F3"/>
                          </a:solidFill>
                          <a:effectLst/>
                          <a:hlinkClick r:id="rId3"/>
                        </a:rPr>
                        <a:t>substring()</a:t>
                      </a:r>
                      <a:endParaRPr lang="en-IN" sz="1200">
                        <a:effectLst/>
                      </a:endParaRPr>
                    </a:p>
                  </a:txBody>
                  <a:tcPr marL="38170" marR="38170" marT="19085" marB="19085" anchor="ctr">
                    <a:lnL>
                      <a:noFill/>
                    </a:lnL>
                    <a:lnR>
                      <a:noFill/>
                    </a:lnR>
                    <a:lnT>
                      <a:noFill/>
                    </a:lnT>
                    <a:lnB>
                      <a:noFill/>
                    </a:lnB>
                    <a:solidFill>
                      <a:srgbClr val="F8FAFF"/>
                    </a:solidFill>
                  </a:tcPr>
                </a:tc>
                <a:tc>
                  <a:txBody>
                    <a:bodyPr/>
                    <a:lstStyle/>
                    <a:p>
                      <a:r>
                        <a:rPr lang="en-US" sz="1200">
                          <a:effectLst/>
                        </a:rPr>
                        <a:t>returns the substring of the string</a:t>
                      </a:r>
                    </a:p>
                  </a:txBody>
                  <a:tcPr marL="38170" marR="38170" marT="19085" marB="19085" anchor="ctr">
                    <a:lnL>
                      <a:noFill/>
                    </a:lnL>
                    <a:lnR>
                      <a:noFill/>
                    </a:lnR>
                    <a:lnT>
                      <a:noFill/>
                    </a:lnT>
                    <a:lnB>
                      <a:noFill/>
                    </a:lnB>
                    <a:solidFill>
                      <a:srgbClr val="F8FAFF"/>
                    </a:solidFill>
                  </a:tcPr>
                </a:tc>
              </a:tr>
              <a:tr h="152679">
                <a:tc>
                  <a:txBody>
                    <a:bodyPr/>
                    <a:lstStyle/>
                    <a:p>
                      <a:r>
                        <a:rPr lang="en-IN" sz="1200" u="none" strike="noStrike" dirty="0">
                          <a:solidFill>
                            <a:srgbClr val="0556F3"/>
                          </a:solidFill>
                          <a:effectLst/>
                          <a:hlinkClick r:id="rId4"/>
                        </a:rPr>
                        <a:t>join()</a:t>
                      </a:r>
                      <a:endParaRPr lang="en-IN" sz="1200" dirty="0">
                        <a:effectLst/>
                      </a:endParaRPr>
                    </a:p>
                  </a:txBody>
                  <a:tcPr marL="38170" marR="38170" marT="19085" marB="19085" anchor="ctr">
                    <a:lnL>
                      <a:noFill/>
                    </a:lnL>
                    <a:lnR>
                      <a:noFill/>
                    </a:lnR>
                    <a:lnT>
                      <a:noFill/>
                    </a:lnT>
                    <a:lnB>
                      <a:noFill/>
                    </a:lnB>
                    <a:solidFill>
                      <a:srgbClr val="F8FAFF"/>
                    </a:solidFill>
                  </a:tcPr>
                </a:tc>
                <a:tc>
                  <a:txBody>
                    <a:bodyPr/>
                    <a:lstStyle/>
                    <a:p>
                      <a:r>
                        <a:rPr lang="en-US" sz="1200">
                          <a:effectLst/>
                        </a:rPr>
                        <a:t>join the given strings using the delimiter</a:t>
                      </a:r>
                    </a:p>
                  </a:txBody>
                  <a:tcPr marL="38170" marR="38170" marT="19085" marB="19085" anchor="ctr">
                    <a:lnL>
                      <a:noFill/>
                    </a:lnL>
                    <a:lnR>
                      <a:noFill/>
                    </a:lnR>
                    <a:lnT>
                      <a:noFill/>
                    </a:lnT>
                    <a:lnB>
                      <a:noFill/>
                    </a:lnB>
                    <a:solidFill>
                      <a:srgbClr val="F8FAFF"/>
                    </a:solidFill>
                  </a:tcPr>
                </a:tc>
              </a:tr>
              <a:tr h="209933">
                <a:tc>
                  <a:txBody>
                    <a:bodyPr/>
                    <a:lstStyle/>
                    <a:p>
                      <a:r>
                        <a:rPr lang="en-IN" sz="1200" u="none" strike="noStrike">
                          <a:solidFill>
                            <a:srgbClr val="0556F3"/>
                          </a:solidFill>
                          <a:effectLst/>
                          <a:hlinkClick r:id="rId5"/>
                        </a:rPr>
                        <a:t>replace()</a:t>
                      </a:r>
                      <a:endParaRPr lang="en-IN" sz="1200">
                        <a:effectLst/>
                      </a:endParaRPr>
                    </a:p>
                  </a:txBody>
                  <a:tcPr marL="38170" marR="38170" marT="19085" marB="19085" anchor="ctr">
                    <a:lnL>
                      <a:noFill/>
                    </a:lnL>
                    <a:lnR>
                      <a:noFill/>
                    </a:lnR>
                    <a:lnT>
                      <a:noFill/>
                    </a:lnT>
                    <a:lnB>
                      <a:noFill/>
                    </a:lnB>
                    <a:solidFill>
                      <a:srgbClr val="F8FAFF"/>
                    </a:solidFill>
                  </a:tcPr>
                </a:tc>
                <a:tc>
                  <a:txBody>
                    <a:bodyPr/>
                    <a:lstStyle/>
                    <a:p>
                      <a:r>
                        <a:rPr lang="en-US" sz="1200">
                          <a:effectLst/>
                        </a:rPr>
                        <a:t>replaces the specified old character with the specified new character</a:t>
                      </a:r>
                    </a:p>
                  </a:txBody>
                  <a:tcPr marL="38170" marR="38170" marT="19085" marB="19085" anchor="ctr">
                    <a:lnL>
                      <a:noFill/>
                    </a:lnL>
                    <a:lnR>
                      <a:noFill/>
                    </a:lnR>
                    <a:lnT>
                      <a:noFill/>
                    </a:lnT>
                    <a:lnB>
                      <a:noFill/>
                    </a:lnB>
                    <a:solidFill>
                      <a:srgbClr val="F8FAFF"/>
                    </a:solidFill>
                  </a:tcPr>
                </a:tc>
              </a:tr>
              <a:tr h="209933">
                <a:tc>
                  <a:txBody>
                    <a:bodyPr/>
                    <a:lstStyle/>
                    <a:p>
                      <a:r>
                        <a:rPr lang="en-IN" sz="1200" u="none" strike="noStrike">
                          <a:solidFill>
                            <a:srgbClr val="0556F3"/>
                          </a:solidFill>
                          <a:effectLst/>
                          <a:hlinkClick r:id="rId6"/>
                        </a:rPr>
                        <a:t>replaceAll()</a:t>
                      </a:r>
                      <a:endParaRPr lang="en-IN" sz="1200">
                        <a:effectLst/>
                      </a:endParaRPr>
                    </a:p>
                  </a:txBody>
                  <a:tcPr marL="38170" marR="38170" marT="19085" marB="19085" anchor="ctr">
                    <a:lnL>
                      <a:noFill/>
                    </a:lnL>
                    <a:lnR>
                      <a:noFill/>
                    </a:lnR>
                    <a:lnT>
                      <a:noFill/>
                    </a:lnT>
                    <a:lnB>
                      <a:noFill/>
                    </a:lnB>
                    <a:solidFill>
                      <a:srgbClr val="F8FAFF"/>
                    </a:solidFill>
                  </a:tcPr>
                </a:tc>
                <a:tc>
                  <a:txBody>
                    <a:bodyPr/>
                    <a:lstStyle/>
                    <a:p>
                      <a:r>
                        <a:rPr lang="en-US" sz="1200">
                          <a:effectLst/>
                        </a:rPr>
                        <a:t>replaces all substrings matching the regex pattern</a:t>
                      </a:r>
                    </a:p>
                  </a:txBody>
                  <a:tcPr marL="38170" marR="38170" marT="19085" marB="19085" anchor="ctr">
                    <a:lnL>
                      <a:noFill/>
                    </a:lnL>
                    <a:lnR>
                      <a:noFill/>
                    </a:lnR>
                    <a:lnT>
                      <a:noFill/>
                    </a:lnT>
                    <a:lnB>
                      <a:noFill/>
                    </a:lnB>
                    <a:solidFill>
                      <a:srgbClr val="F8FAFF"/>
                    </a:solidFill>
                  </a:tcPr>
                </a:tc>
              </a:tr>
              <a:tr h="152679">
                <a:tc>
                  <a:txBody>
                    <a:bodyPr/>
                    <a:lstStyle/>
                    <a:p>
                      <a:r>
                        <a:rPr lang="en-IN" sz="1200" u="none" strike="noStrike">
                          <a:solidFill>
                            <a:srgbClr val="0556F3"/>
                          </a:solidFill>
                          <a:effectLst/>
                          <a:hlinkClick r:id="rId7"/>
                        </a:rPr>
                        <a:t>replaceFirst()</a:t>
                      </a:r>
                      <a:endParaRPr lang="en-IN" sz="1200">
                        <a:effectLst/>
                      </a:endParaRPr>
                    </a:p>
                  </a:txBody>
                  <a:tcPr marL="38170" marR="38170" marT="19085" marB="19085" anchor="ctr">
                    <a:lnL>
                      <a:noFill/>
                    </a:lnL>
                    <a:lnR>
                      <a:noFill/>
                    </a:lnR>
                    <a:lnT>
                      <a:noFill/>
                    </a:lnT>
                    <a:lnB>
                      <a:noFill/>
                    </a:lnB>
                    <a:solidFill>
                      <a:srgbClr val="F8FAFF"/>
                    </a:solidFill>
                  </a:tcPr>
                </a:tc>
                <a:tc>
                  <a:txBody>
                    <a:bodyPr/>
                    <a:lstStyle/>
                    <a:p>
                      <a:r>
                        <a:rPr lang="en-US" sz="1200">
                          <a:effectLst/>
                        </a:rPr>
                        <a:t>replace the first matching substring</a:t>
                      </a:r>
                    </a:p>
                  </a:txBody>
                  <a:tcPr marL="38170" marR="38170" marT="19085" marB="19085" anchor="ctr">
                    <a:lnL>
                      <a:noFill/>
                    </a:lnL>
                    <a:lnR>
                      <a:noFill/>
                    </a:lnR>
                    <a:lnT>
                      <a:noFill/>
                    </a:lnT>
                    <a:lnB>
                      <a:noFill/>
                    </a:lnB>
                    <a:solidFill>
                      <a:srgbClr val="F8FAFF"/>
                    </a:solidFill>
                  </a:tcPr>
                </a:tc>
              </a:tr>
              <a:tr h="209933">
                <a:tc>
                  <a:txBody>
                    <a:bodyPr/>
                    <a:lstStyle/>
                    <a:p>
                      <a:r>
                        <a:rPr lang="en-IN" sz="1200" u="none" strike="noStrike">
                          <a:solidFill>
                            <a:srgbClr val="0556F3"/>
                          </a:solidFill>
                          <a:effectLst/>
                          <a:hlinkClick r:id="rId8"/>
                        </a:rPr>
                        <a:t>charAt()</a:t>
                      </a:r>
                      <a:endParaRPr lang="en-IN" sz="1200">
                        <a:effectLst/>
                      </a:endParaRPr>
                    </a:p>
                  </a:txBody>
                  <a:tcPr marL="38170" marR="38170" marT="19085" marB="19085" anchor="ctr">
                    <a:lnL>
                      <a:noFill/>
                    </a:lnL>
                    <a:lnR>
                      <a:noFill/>
                    </a:lnR>
                    <a:lnT>
                      <a:noFill/>
                    </a:lnT>
                    <a:lnB>
                      <a:noFill/>
                    </a:lnB>
                    <a:solidFill>
                      <a:srgbClr val="F8FAFF"/>
                    </a:solidFill>
                  </a:tcPr>
                </a:tc>
                <a:tc>
                  <a:txBody>
                    <a:bodyPr/>
                    <a:lstStyle/>
                    <a:p>
                      <a:r>
                        <a:rPr lang="en-US" sz="1200">
                          <a:effectLst/>
                        </a:rPr>
                        <a:t>returns the character present in the specified location</a:t>
                      </a:r>
                    </a:p>
                  </a:txBody>
                  <a:tcPr marL="38170" marR="38170" marT="19085" marB="19085" anchor="ctr">
                    <a:lnL>
                      <a:noFill/>
                    </a:lnL>
                    <a:lnR>
                      <a:noFill/>
                    </a:lnR>
                    <a:lnT>
                      <a:noFill/>
                    </a:lnT>
                    <a:lnB>
                      <a:noFill/>
                    </a:lnB>
                    <a:solidFill>
                      <a:srgbClr val="F8FAFF"/>
                    </a:solidFill>
                  </a:tcPr>
                </a:tc>
              </a:tr>
              <a:tr h="152679">
                <a:tc>
                  <a:txBody>
                    <a:bodyPr/>
                    <a:lstStyle/>
                    <a:p>
                      <a:r>
                        <a:rPr lang="en-IN" sz="1200" u="none" strike="noStrike">
                          <a:solidFill>
                            <a:srgbClr val="0556F3"/>
                          </a:solidFill>
                          <a:effectLst/>
                          <a:hlinkClick r:id="rId9"/>
                        </a:rPr>
                        <a:t>getBytes()</a:t>
                      </a:r>
                      <a:endParaRPr lang="en-IN" sz="1200">
                        <a:effectLst/>
                      </a:endParaRPr>
                    </a:p>
                  </a:txBody>
                  <a:tcPr marL="38170" marR="38170" marT="19085" marB="19085" anchor="ctr">
                    <a:lnL>
                      <a:noFill/>
                    </a:lnL>
                    <a:lnR>
                      <a:noFill/>
                    </a:lnR>
                    <a:lnT>
                      <a:noFill/>
                    </a:lnT>
                    <a:lnB>
                      <a:noFill/>
                    </a:lnB>
                    <a:solidFill>
                      <a:srgbClr val="F8FAFF"/>
                    </a:solidFill>
                  </a:tcPr>
                </a:tc>
                <a:tc>
                  <a:txBody>
                    <a:bodyPr/>
                    <a:lstStyle/>
                    <a:p>
                      <a:r>
                        <a:rPr lang="en-US" sz="1200">
                          <a:effectLst/>
                        </a:rPr>
                        <a:t>converts the string to an array of bytes</a:t>
                      </a:r>
                    </a:p>
                  </a:txBody>
                  <a:tcPr marL="38170" marR="38170" marT="19085" marB="19085" anchor="ctr">
                    <a:lnL>
                      <a:noFill/>
                    </a:lnL>
                    <a:lnR>
                      <a:noFill/>
                    </a:lnR>
                    <a:lnT>
                      <a:noFill/>
                    </a:lnT>
                    <a:lnB>
                      <a:noFill/>
                    </a:lnB>
                    <a:solidFill>
                      <a:srgbClr val="F8FAFF"/>
                    </a:solidFill>
                  </a:tcPr>
                </a:tc>
              </a:tr>
              <a:tr h="209933">
                <a:tc>
                  <a:txBody>
                    <a:bodyPr/>
                    <a:lstStyle/>
                    <a:p>
                      <a:r>
                        <a:rPr lang="en-IN" sz="1200" u="none" strike="noStrike">
                          <a:solidFill>
                            <a:srgbClr val="0556F3"/>
                          </a:solidFill>
                          <a:effectLst/>
                          <a:hlinkClick r:id="rId10"/>
                        </a:rPr>
                        <a:t>indexOf()</a:t>
                      </a:r>
                      <a:endParaRPr lang="en-IN" sz="1200">
                        <a:effectLst/>
                      </a:endParaRPr>
                    </a:p>
                  </a:txBody>
                  <a:tcPr marL="38170" marR="38170" marT="19085" marB="19085" anchor="ctr">
                    <a:lnL>
                      <a:noFill/>
                    </a:lnL>
                    <a:lnR>
                      <a:noFill/>
                    </a:lnR>
                    <a:lnT>
                      <a:noFill/>
                    </a:lnT>
                    <a:lnB>
                      <a:noFill/>
                    </a:lnB>
                    <a:solidFill>
                      <a:srgbClr val="F8FAFF"/>
                    </a:solidFill>
                  </a:tcPr>
                </a:tc>
                <a:tc>
                  <a:txBody>
                    <a:bodyPr/>
                    <a:lstStyle/>
                    <a:p>
                      <a:r>
                        <a:rPr lang="en-US" sz="1200">
                          <a:effectLst/>
                        </a:rPr>
                        <a:t>returns the position of the specified character in the string</a:t>
                      </a:r>
                    </a:p>
                  </a:txBody>
                  <a:tcPr marL="38170" marR="38170" marT="19085" marB="19085" anchor="ctr">
                    <a:lnL>
                      <a:noFill/>
                    </a:lnL>
                    <a:lnR>
                      <a:noFill/>
                    </a:lnR>
                    <a:lnT>
                      <a:noFill/>
                    </a:lnT>
                    <a:lnB>
                      <a:noFill/>
                    </a:lnB>
                    <a:solidFill>
                      <a:srgbClr val="F8FAFF"/>
                    </a:solidFill>
                  </a:tcPr>
                </a:tc>
              </a:tr>
              <a:tr h="152679">
                <a:tc>
                  <a:txBody>
                    <a:bodyPr/>
                    <a:lstStyle/>
                    <a:p>
                      <a:r>
                        <a:rPr lang="en-IN" sz="1200" u="none" strike="noStrike">
                          <a:solidFill>
                            <a:srgbClr val="0556F3"/>
                          </a:solidFill>
                          <a:effectLst/>
                          <a:hlinkClick r:id="rId11"/>
                        </a:rPr>
                        <a:t>compareTo()</a:t>
                      </a:r>
                      <a:endParaRPr lang="en-IN" sz="1200">
                        <a:effectLst/>
                      </a:endParaRPr>
                    </a:p>
                  </a:txBody>
                  <a:tcPr marL="38170" marR="38170" marT="19085" marB="19085" anchor="ctr">
                    <a:lnL>
                      <a:noFill/>
                    </a:lnL>
                    <a:lnR>
                      <a:noFill/>
                    </a:lnR>
                    <a:lnT>
                      <a:noFill/>
                    </a:lnT>
                    <a:lnB>
                      <a:noFill/>
                    </a:lnB>
                    <a:solidFill>
                      <a:srgbClr val="F8FAFF"/>
                    </a:solidFill>
                  </a:tcPr>
                </a:tc>
                <a:tc>
                  <a:txBody>
                    <a:bodyPr/>
                    <a:lstStyle/>
                    <a:p>
                      <a:r>
                        <a:rPr lang="en-US" sz="1200">
                          <a:effectLst/>
                        </a:rPr>
                        <a:t>compares two strings in the dictionary order</a:t>
                      </a:r>
                    </a:p>
                  </a:txBody>
                  <a:tcPr marL="38170" marR="38170" marT="19085" marB="19085" anchor="ctr">
                    <a:lnL>
                      <a:noFill/>
                    </a:lnL>
                    <a:lnR>
                      <a:noFill/>
                    </a:lnR>
                    <a:lnT>
                      <a:noFill/>
                    </a:lnT>
                    <a:lnB>
                      <a:noFill/>
                    </a:lnB>
                    <a:solidFill>
                      <a:srgbClr val="F8FAFF"/>
                    </a:solidFill>
                  </a:tcPr>
                </a:tc>
              </a:tr>
              <a:tr h="152679">
                <a:tc>
                  <a:txBody>
                    <a:bodyPr/>
                    <a:lstStyle/>
                    <a:p>
                      <a:r>
                        <a:rPr lang="en-IN" sz="1200" u="none" strike="noStrike">
                          <a:solidFill>
                            <a:srgbClr val="0556F3"/>
                          </a:solidFill>
                          <a:effectLst/>
                          <a:hlinkClick r:id="rId12"/>
                        </a:rPr>
                        <a:t>compareToIgnoreCase()</a:t>
                      </a:r>
                      <a:endParaRPr lang="en-IN" sz="1200">
                        <a:effectLst/>
                      </a:endParaRPr>
                    </a:p>
                  </a:txBody>
                  <a:tcPr marL="38170" marR="38170" marT="19085" marB="19085" anchor="ctr">
                    <a:lnL>
                      <a:noFill/>
                    </a:lnL>
                    <a:lnR>
                      <a:noFill/>
                    </a:lnR>
                    <a:lnT>
                      <a:noFill/>
                    </a:lnT>
                    <a:lnB>
                      <a:noFill/>
                    </a:lnB>
                    <a:solidFill>
                      <a:srgbClr val="F8FAFF"/>
                    </a:solidFill>
                  </a:tcPr>
                </a:tc>
                <a:tc>
                  <a:txBody>
                    <a:bodyPr/>
                    <a:lstStyle/>
                    <a:p>
                      <a:r>
                        <a:rPr lang="en-US" sz="1200">
                          <a:effectLst/>
                        </a:rPr>
                        <a:t>compares two strings ignoring case differences</a:t>
                      </a:r>
                    </a:p>
                  </a:txBody>
                  <a:tcPr marL="38170" marR="38170" marT="19085" marB="19085" anchor="ctr">
                    <a:lnL>
                      <a:noFill/>
                    </a:lnL>
                    <a:lnR>
                      <a:noFill/>
                    </a:lnR>
                    <a:lnT>
                      <a:noFill/>
                    </a:lnT>
                    <a:lnB>
                      <a:noFill/>
                    </a:lnB>
                    <a:solidFill>
                      <a:srgbClr val="F8FAFF"/>
                    </a:solidFill>
                  </a:tcPr>
                </a:tc>
              </a:tr>
              <a:tr h="152679">
                <a:tc>
                  <a:txBody>
                    <a:bodyPr/>
                    <a:lstStyle/>
                    <a:p>
                      <a:r>
                        <a:rPr lang="en-IN" sz="1200" u="none" strike="noStrike">
                          <a:solidFill>
                            <a:srgbClr val="0556F3"/>
                          </a:solidFill>
                          <a:effectLst/>
                          <a:hlinkClick r:id="rId13"/>
                        </a:rPr>
                        <a:t>trim()</a:t>
                      </a:r>
                      <a:endParaRPr lang="en-IN" sz="1200">
                        <a:effectLst/>
                      </a:endParaRPr>
                    </a:p>
                  </a:txBody>
                  <a:tcPr marL="38170" marR="38170" marT="19085" marB="19085" anchor="ctr">
                    <a:lnL>
                      <a:noFill/>
                    </a:lnL>
                    <a:lnR>
                      <a:noFill/>
                    </a:lnR>
                    <a:lnT>
                      <a:noFill/>
                    </a:lnT>
                    <a:lnB>
                      <a:noFill/>
                    </a:lnB>
                    <a:solidFill>
                      <a:srgbClr val="F8FAFF"/>
                    </a:solidFill>
                  </a:tcPr>
                </a:tc>
                <a:tc>
                  <a:txBody>
                    <a:bodyPr/>
                    <a:lstStyle/>
                    <a:p>
                      <a:r>
                        <a:rPr lang="en-US" sz="1200">
                          <a:effectLst/>
                        </a:rPr>
                        <a:t>removes any leading and trailing whitespaces</a:t>
                      </a:r>
                    </a:p>
                  </a:txBody>
                  <a:tcPr marL="38170" marR="38170" marT="19085" marB="19085" anchor="ctr">
                    <a:lnL>
                      <a:noFill/>
                    </a:lnL>
                    <a:lnR>
                      <a:noFill/>
                    </a:lnR>
                    <a:lnT>
                      <a:noFill/>
                    </a:lnT>
                    <a:lnB>
                      <a:noFill/>
                    </a:lnB>
                    <a:solidFill>
                      <a:srgbClr val="F8FAFF"/>
                    </a:solidFill>
                  </a:tcPr>
                </a:tc>
              </a:tr>
              <a:tr h="95424">
                <a:tc>
                  <a:txBody>
                    <a:bodyPr/>
                    <a:lstStyle/>
                    <a:p>
                      <a:r>
                        <a:rPr lang="en-IN" sz="1200" u="none" strike="noStrike">
                          <a:solidFill>
                            <a:srgbClr val="0556F3"/>
                          </a:solidFill>
                          <a:effectLst/>
                          <a:hlinkClick r:id="rId14"/>
                        </a:rPr>
                        <a:t>format()</a:t>
                      </a:r>
                      <a:endParaRPr lang="en-IN" sz="1200">
                        <a:effectLst/>
                      </a:endParaRPr>
                    </a:p>
                  </a:txBody>
                  <a:tcPr marL="38170" marR="38170" marT="19085" marB="19085" anchor="ctr">
                    <a:lnL>
                      <a:noFill/>
                    </a:lnL>
                    <a:lnR>
                      <a:noFill/>
                    </a:lnR>
                    <a:lnT>
                      <a:noFill/>
                    </a:lnT>
                    <a:lnB>
                      <a:noFill/>
                    </a:lnB>
                    <a:solidFill>
                      <a:srgbClr val="F8FAFF"/>
                    </a:solidFill>
                  </a:tcPr>
                </a:tc>
                <a:tc>
                  <a:txBody>
                    <a:bodyPr/>
                    <a:lstStyle/>
                    <a:p>
                      <a:r>
                        <a:rPr lang="en-IN" sz="1200">
                          <a:effectLst/>
                        </a:rPr>
                        <a:t>returns a formatted string</a:t>
                      </a:r>
                    </a:p>
                  </a:txBody>
                  <a:tcPr marL="38170" marR="38170" marT="19085" marB="19085" anchor="ctr">
                    <a:lnL>
                      <a:noFill/>
                    </a:lnL>
                    <a:lnR>
                      <a:noFill/>
                    </a:lnR>
                    <a:lnT>
                      <a:noFill/>
                    </a:lnT>
                    <a:lnB>
                      <a:noFill/>
                    </a:lnB>
                    <a:solidFill>
                      <a:srgbClr val="F8FAFF"/>
                    </a:solidFill>
                  </a:tcPr>
                </a:tc>
              </a:tr>
              <a:tr h="152679">
                <a:tc>
                  <a:txBody>
                    <a:bodyPr/>
                    <a:lstStyle/>
                    <a:p>
                      <a:r>
                        <a:rPr lang="en-IN" sz="1200" u="none" strike="noStrike">
                          <a:solidFill>
                            <a:srgbClr val="0556F3"/>
                          </a:solidFill>
                          <a:effectLst/>
                          <a:hlinkClick r:id="rId15"/>
                        </a:rPr>
                        <a:t>split()</a:t>
                      </a:r>
                      <a:endParaRPr lang="en-IN" sz="1200">
                        <a:effectLst/>
                      </a:endParaRPr>
                    </a:p>
                  </a:txBody>
                  <a:tcPr marL="38170" marR="38170" marT="19085" marB="19085" anchor="ctr">
                    <a:lnL>
                      <a:noFill/>
                    </a:lnL>
                    <a:lnR>
                      <a:noFill/>
                    </a:lnR>
                    <a:lnT>
                      <a:noFill/>
                    </a:lnT>
                    <a:lnB>
                      <a:noFill/>
                    </a:lnB>
                    <a:solidFill>
                      <a:srgbClr val="F8FAFF"/>
                    </a:solidFill>
                  </a:tcPr>
                </a:tc>
                <a:tc>
                  <a:txBody>
                    <a:bodyPr/>
                    <a:lstStyle/>
                    <a:p>
                      <a:r>
                        <a:rPr lang="en-US" sz="1200">
                          <a:effectLst/>
                        </a:rPr>
                        <a:t>breaks the string into an array of strings</a:t>
                      </a:r>
                    </a:p>
                  </a:txBody>
                  <a:tcPr marL="38170" marR="38170" marT="19085" marB="19085" anchor="ctr">
                    <a:lnL>
                      <a:noFill/>
                    </a:lnL>
                    <a:lnR>
                      <a:noFill/>
                    </a:lnR>
                    <a:lnT>
                      <a:noFill/>
                    </a:lnT>
                    <a:lnB>
                      <a:noFill/>
                    </a:lnB>
                    <a:solidFill>
                      <a:srgbClr val="F8FAFF"/>
                    </a:solidFill>
                  </a:tcPr>
                </a:tc>
              </a:tr>
              <a:tr h="152679">
                <a:tc>
                  <a:txBody>
                    <a:bodyPr/>
                    <a:lstStyle/>
                    <a:p>
                      <a:r>
                        <a:rPr lang="en-IN" sz="1200" u="none" strike="noStrike">
                          <a:solidFill>
                            <a:srgbClr val="0556F3"/>
                          </a:solidFill>
                          <a:effectLst/>
                          <a:hlinkClick r:id="rId16"/>
                        </a:rPr>
                        <a:t>toLowerCase()</a:t>
                      </a:r>
                      <a:endParaRPr lang="en-IN" sz="1200">
                        <a:effectLst/>
                      </a:endParaRPr>
                    </a:p>
                  </a:txBody>
                  <a:tcPr marL="38170" marR="38170" marT="19085" marB="19085" anchor="ctr">
                    <a:lnL>
                      <a:noFill/>
                    </a:lnL>
                    <a:lnR>
                      <a:noFill/>
                    </a:lnR>
                    <a:lnT>
                      <a:noFill/>
                    </a:lnT>
                    <a:lnB>
                      <a:noFill/>
                    </a:lnB>
                    <a:solidFill>
                      <a:srgbClr val="F8FAFF"/>
                    </a:solidFill>
                  </a:tcPr>
                </a:tc>
                <a:tc>
                  <a:txBody>
                    <a:bodyPr/>
                    <a:lstStyle/>
                    <a:p>
                      <a:r>
                        <a:rPr lang="en-US" sz="1200">
                          <a:effectLst/>
                        </a:rPr>
                        <a:t>converts the string to lowercase</a:t>
                      </a:r>
                    </a:p>
                  </a:txBody>
                  <a:tcPr marL="38170" marR="38170" marT="19085" marB="19085" anchor="ctr">
                    <a:lnL>
                      <a:noFill/>
                    </a:lnL>
                    <a:lnR>
                      <a:noFill/>
                    </a:lnR>
                    <a:lnT>
                      <a:noFill/>
                    </a:lnT>
                    <a:lnB>
                      <a:noFill/>
                    </a:lnB>
                    <a:solidFill>
                      <a:srgbClr val="F8FAFF"/>
                    </a:solidFill>
                  </a:tcPr>
                </a:tc>
              </a:tr>
              <a:tr h="152679">
                <a:tc>
                  <a:txBody>
                    <a:bodyPr/>
                    <a:lstStyle/>
                    <a:p>
                      <a:r>
                        <a:rPr lang="en-IN" sz="1200" u="none" strike="noStrike">
                          <a:solidFill>
                            <a:srgbClr val="0556F3"/>
                          </a:solidFill>
                          <a:effectLst/>
                          <a:hlinkClick r:id="rId17"/>
                        </a:rPr>
                        <a:t>toUpperCase()</a:t>
                      </a:r>
                      <a:endParaRPr lang="en-IN" sz="1200">
                        <a:effectLst/>
                      </a:endParaRPr>
                    </a:p>
                  </a:txBody>
                  <a:tcPr marL="38170" marR="38170" marT="19085" marB="19085" anchor="ctr">
                    <a:lnL>
                      <a:noFill/>
                    </a:lnL>
                    <a:lnR>
                      <a:noFill/>
                    </a:lnR>
                    <a:lnT>
                      <a:noFill/>
                    </a:lnT>
                    <a:lnB>
                      <a:noFill/>
                    </a:lnB>
                    <a:solidFill>
                      <a:srgbClr val="F8FAFF"/>
                    </a:solidFill>
                  </a:tcPr>
                </a:tc>
                <a:tc>
                  <a:txBody>
                    <a:bodyPr/>
                    <a:lstStyle/>
                    <a:p>
                      <a:r>
                        <a:rPr lang="en-US" sz="1200">
                          <a:effectLst/>
                        </a:rPr>
                        <a:t>converts the string to uppercase</a:t>
                      </a:r>
                    </a:p>
                  </a:txBody>
                  <a:tcPr marL="38170" marR="38170" marT="19085" marB="19085" anchor="ctr">
                    <a:lnL>
                      <a:noFill/>
                    </a:lnL>
                    <a:lnR>
                      <a:noFill/>
                    </a:lnR>
                    <a:lnT>
                      <a:noFill/>
                    </a:lnT>
                    <a:lnB>
                      <a:noFill/>
                    </a:lnB>
                    <a:solidFill>
                      <a:srgbClr val="F8FAFF"/>
                    </a:solidFill>
                  </a:tcPr>
                </a:tc>
              </a:tr>
              <a:tr h="209933">
                <a:tc>
                  <a:txBody>
                    <a:bodyPr/>
                    <a:lstStyle/>
                    <a:p>
                      <a:r>
                        <a:rPr lang="en-IN" sz="1200" u="none" strike="noStrike">
                          <a:solidFill>
                            <a:srgbClr val="0556F3"/>
                          </a:solidFill>
                          <a:effectLst/>
                          <a:hlinkClick r:id="rId18"/>
                        </a:rPr>
                        <a:t>valueOf()</a:t>
                      </a:r>
                      <a:endParaRPr lang="en-IN" sz="1200">
                        <a:effectLst/>
                      </a:endParaRPr>
                    </a:p>
                  </a:txBody>
                  <a:tcPr marL="38170" marR="38170" marT="19085" marB="19085" anchor="ctr">
                    <a:lnL>
                      <a:noFill/>
                    </a:lnL>
                    <a:lnR>
                      <a:noFill/>
                    </a:lnR>
                    <a:lnT>
                      <a:noFill/>
                    </a:lnT>
                    <a:lnB>
                      <a:noFill/>
                    </a:lnB>
                    <a:solidFill>
                      <a:srgbClr val="F8FAFF"/>
                    </a:solidFill>
                  </a:tcPr>
                </a:tc>
                <a:tc>
                  <a:txBody>
                    <a:bodyPr/>
                    <a:lstStyle/>
                    <a:p>
                      <a:r>
                        <a:rPr lang="en-US" sz="1200">
                          <a:effectLst/>
                        </a:rPr>
                        <a:t>returns the string representation of the specified argument</a:t>
                      </a:r>
                    </a:p>
                  </a:txBody>
                  <a:tcPr marL="38170" marR="38170" marT="19085" marB="19085" anchor="ctr">
                    <a:lnL>
                      <a:noFill/>
                    </a:lnL>
                    <a:lnR>
                      <a:noFill/>
                    </a:lnR>
                    <a:lnT>
                      <a:noFill/>
                    </a:lnT>
                    <a:lnB>
                      <a:noFill/>
                    </a:lnB>
                    <a:solidFill>
                      <a:srgbClr val="F8FAFF"/>
                    </a:solidFill>
                  </a:tcPr>
                </a:tc>
              </a:tr>
              <a:tr h="152679">
                <a:tc>
                  <a:txBody>
                    <a:bodyPr/>
                    <a:lstStyle/>
                    <a:p>
                      <a:r>
                        <a:rPr lang="en-IN" sz="1200" u="none" strike="noStrike">
                          <a:solidFill>
                            <a:srgbClr val="0556F3"/>
                          </a:solidFill>
                          <a:effectLst/>
                          <a:hlinkClick r:id="rId19"/>
                        </a:rPr>
                        <a:t>toCharArray()</a:t>
                      </a:r>
                      <a:endParaRPr lang="en-IN" sz="1200">
                        <a:effectLst/>
                      </a:endParaRPr>
                    </a:p>
                  </a:txBody>
                  <a:tcPr marL="38170" marR="38170" marT="19085" marB="19085" anchor="ctr">
                    <a:lnL>
                      <a:noFill/>
                    </a:lnL>
                    <a:lnR>
                      <a:noFill/>
                    </a:lnR>
                    <a:lnT>
                      <a:noFill/>
                    </a:lnT>
                    <a:lnB>
                      <a:noFill/>
                    </a:lnB>
                    <a:solidFill>
                      <a:srgbClr val="F8FAFF"/>
                    </a:solidFill>
                  </a:tcPr>
                </a:tc>
                <a:tc>
                  <a:txBody>
                    <a:bodyPr/>
                    <a:lstStyle/>
                    <a:p>
                      <a:r>
                        <a:rPr lang="en-US" sz="1200">
                          <a:effectLst/>
                        </a:rPr>
                        <a:t>converts the string to a char array</a:t>
                      </a:r>
                    </a:p>
                  </a:txBody>
                  <a:tcPr marL="38170" marR="38170" marT="19085" marB="19085" anchor="ctr">
                    <a:lnL>
                      <a:noFill/>
                    </a:lnL>
                    <a:lnR>
                      <a:noFill/>
                    </a:lnR>
                    <a:lnT>
                      <a:noFill/>
                    </a:lnT>
                    <a:lnB>
                      <a:noFill/>
                    </a:lnB>
                    <a:solidFill>
                      <a:srgbClr val="F8FAFF"/>
                    </a:solidFill>
                  </a:tcPr>
                </a:tc>
              </a:tr>
              <a:tr h="152679">
                <a:tc>
                  <a:txBody>
                    <a:bodyPr/>
                    <a:lstStyle/>
                    <a:p>
                      <a:r>
                        <a:rPr lang="en-IN" sz="1200" u="none" strike="noStrike">
                          <a:solidFill>
                            <a:srgbClr val="0556F3"/>
                          </a:solidFill>
                          <a:effectLst/>
                          <a:hlinkClick r:id="rId20"/>
                        </a:rPr>
                        <a:t>matches()</a:t>
                      </a:r>
                      <a:endParaRPr lang="en-IN" sz="1200">
                        <a:effectLst/>
                      </a:endParaRPr>
                    </a:p>
                  </a:txBody>
                  <a:tcPr marL="38170" marR="38170" marT="19085" marB="19085" anchor="ctr">
                    <a:lnL>
                      <a:noFill/>
                    </a:lnL>
                    <a:lnR>
                      <a:noFill/>
                    </a:lnR>
                    <a:lnT>
                      <a:noFill/>
                    </a:lnT>
                    <a:lnB>
                      <a:noFill/>
                    </a:lnB>
                    <a:solidFill>
                      <a:srgbClr val="F8FAFF"/>
                    </a:solidFill>
                  </a:tcPr>
                </a:tc>
                <a:tc>
                  <a:txBody>
                    <a:bodyPr/>
                    <a:lstStyle/>
                    <a:p>
                      <a:r>
                        <a:rPr lang="en-US" sz="1200">
                          <a:effectLst/>
                        </a:rPr>
                        <a:t>checks whether the string matches the given regex</a:t>
                      </a:r>
                    </a:p>
                  </a:txBody>
                  <a:tcPr marL="38170" marR="38170" marT="19085" marB="19085" anchor="ctr">
                    <a:lnL>
                      <a:noFill/>
                    </a:lnL>
                    <a:lnR>
                      <a:noFill/>
                    </a:lnR>
                    <a:lnT>
                      <a:noFill/>
                    </a:lnT>
                    <a:lnB>
                      <a:noFill/>
                    </a:lnB>
                    <a:solidFill>
                      <a:srgbClr val="F8FAFF"/>
                    </a:solidFill>
                  </a:tcPr>
                </a:tc>
              </a:tr>
              <a:tr h="152679">
                <a:tc>
                  <a:txBody>
                    <a:bodyPr/>
                    <a:lstStyle/>
                    <a:p>
                      <a:r>
                        <a:rPr lang="en-IN" sz="1200" u="none" strike="noStrike">
                          <a:solidFill>
                            <a:srgbClr val="0556F3"/>
                          </a:solidFill>
                          <a:effectLst/>
                          <a:hlinkClick r:id="rId21"/>
                        </a:rPr>
                        <a:t>startsWith()</a:t>
                      </a:r>
                      <a:endParaRPr lang="en-IN" sz="1200">
                        <a:effectLst/>
                      </a:endParaRPr>
                    </a:p>
                  </a:txBody>
                  <a:tcPr marL="38170" marR="38170" marT="19085" marB="19085" anchor="ctr">
                    <a:lnL>
                      <a:noFill/>
                    </a:lnL>
                    <a:lnR>
                      <a:noFill/>
                    </a:lnR>
                    <a:lnT>
                      <a:noFill/>
                    </a:lnT>
                    <a:lnB>
                      <a:noFill/>
                    </a:lnB>
                    <a:solidFill>
                      <a:srgbClr val="F8FAFF"/>
                    </a:solidFill>
                  </a:tcPr>
                </a:tc>
                <a:tc>
                  <a:txBody>
                    <a:bodyPr/>
                    <a:lstStyle/>
                    <a:p>
                      <a:r>
                        <a:rPr lang="en-US" sz="1200">
                          <a:effectLst/>
                        </a:rPr>
                        <a:t>checks if the string begins with the given string</a:t>
                      </a:r>
                    </a:p>
                  </a:txBody>
                  <a:tcPr marL="38170" marR="38170" marT="19085" marB="19085" anchor="ctr">
                    <a:lnL>
                      <a:noFill/>
                    </a:lnL>
                    <a:lnR>
                      <a:noFill/>
                    </a:lnR>
                    <a:lnT>
                      <a:noFill/>
                    </a:lnT>
                    <a:lnB>
                      <a:noFill/>
                    </a:lnB>
                    <a:solidFill>
                      <a:srgbClr val="F8FAFF"/>
                    </a:solidFill>
                  </a:tcPr>
                </a:tc>
              </a:tr>
              <a:tr h="152679">
                <a:tc>
                  <a:txBody>
                    <a:bodyPr/>
                    <a:lstStyle/>
                    <a:p>
                      <a:r>
                        <a:rPr lang="en-IN" sz="1200" u="none" strike="noStrike">
                          <a:solidFill>
                            <a:srgbClr val="0556F3"/>
                          </a:solidFill>
                          <a:effectLst/>
                          <a:hlinkClick r:id="rId22"/>
                        </a:rPr>
                        <a:t>endsWith()</a:t>
                      </a:r>
                      <a:endParaRPr lang="en-IN" sz="1200">
                        <a:effectLst/>
                      </a:endParaRPr>
                    </a:p>
                  </a:txBody>
                  <a:tcPr marL="38170" marR="38170" marT="19085" marB="19085" anchor="ctr">
                    <a:lnL>
                      <a:noFill/>
                    </a:lnL>
                    <a:lnR>
                      <a:noFill/>
                    </a:lnR>
                    <a:lnT>
                      <a:noFill/>
                    </a:lnT>
                    <a:lnB>
                      <a:noFill/>
                    </a:lnB>
                    <a:solidFill>
                      <a:srgbClr val="F8FAFF"/>
                    </a:solidFill>
                  </a:tcPr>
                </a:tc>
                <a:tc>
                  <a:txBody>
                    <a:bodyPr/>
                    <a:lstStyle/>
                    <a:p>
                      <a:r>
                        <a:rPr lang="en-US" sz="1200">
                          <a:effectLst/>
                        </a:rPr>
                        <a:t>checks if the string ends with the given string</a:t>
                      </a:r>
                    </a:p>
                  </a:txBody>
                  <a:tcPr marL="38170" marR="38170" marT="19085" marB="19085" anchor="ctr">
                    <a:lnL>
                      <a:noFill/>
                    </a:lnL>
                    <a:lnR>
                      <a:noFill/>
                    </a:lnR>
                    <a:lnT>
                      <a:noFill/>
                    </a:lnT>
                    <a:lnB>
                      <a:noFill/>
                    </a:lnB>
                    <a:solidFill>
                      <a:srgbClr val="F8FAFF"/>
                    </a:solidFill>
                  </a:tcPr>
                </a:tc>
              </a:tr>
              <a:tr h="152679">
                <a:tc>
                  <a:txBody>
                    <a:bodyPr/>
                    <a:lstStyle/>
                    <a:p>
                      <a:r>
                        <a:rPr lang="en-IN" sz="1200" u="none" strike="noStrike">
                          <a:solidFill>
                            <a:srgbClr val="0556F3"/>
                          </a:solidFill>
                          <a:effectLst/>
                          <a:hlinkClick r:id="rId23"/>
                        </a:rPr>
                        <a:t>isEmpty()</a:t>
                      </a:r>
                      <a:endParaRPr lang="en-IN" sz="1200">
                        <a:effectLst/>
                      </a:endParaRPr>
                    </a:p>
                  </a:txBody>
                  <a:tcPr marL="38170" marR="38170" marT="19085" marB="19085" anchor="ctr">
                    <a:lnL>
                      <a:noFill/>
                    </a:lnL>
                    <a:lnR>
                      <a:noFill/>
                    </a:lnR>
                    <a:lnT>
                      <a:noFill/>
                    </a:lnT>
                    <a:lnB>
                      <a:noFill/>
                    </a:lnB>
                    <a:solidFill>
                      <a:srgbClr val="F8FAFF"/>
                    </a:solidFill>
                  </a:tcPr>
                </a:tc>
                <a:tc>
                  <a:txBody>
                    <a:bodyPr/>
                    <a:lstStyle/>
                    <a:p>
                      <a:r>
                        <a:rPr lang="en-US" sz="1200">
                          <a:effectLst/>
                        </a:rPr>
                        <a:t>checks whether a string is empty of not</a:t>
                      </a:r>
                    </a:p>
                  </a:txBody>
                  <a:tcPr marL="38170" marR="38170" marT="19085" marB="19085" anchor="ctr">
                    <a:lnL>
                      <a:noFill/>
                    </a:lnL>
                    <a:lnR>
                      <a:noFill/>
                    </a:lnR>
                    <a:lnT>
                      <a:noFill/>
                    </a:lnT>
                    <a:lnB>
                      <a:noFill/>
                    </a:lnB>
                    <a:solidFill>
                      <a:srgbClr val="F8FAFF"/>
                    </a:solidFill>
                  </a:tcPr>
                </a:tc>
              </a:tr>
              <a:tr h="209933">
                <a:tc>
                  <a:txBody>
                    <a:bodyPr/>
                    <a:lstStyle/>
                    <a:p>
                      <a:r>
                        <a:rPr lang="en-IN" sz="1200" u="none" strike="noStrike">
                          <a:solidFill>
                            <a:srgbClr val="0556F3"/>
                          </a:solidFill>
                          <a:effectLst/>
                          <a:hlinkClick r:id="rId24"/>
                        </a:rPr>
                        <a:t>intern()</a:t>
                      </a:r>
                      <a:r>
                        <a:rPr lang="en-IN" sz="1200">
                          <a:effectLst/>
                        </a:rPr>
                        <a:t> </a:t>
                      </a:r>
                    </a:p>
                  </a:txBody>
                  <a:tcPr marL="38170" marR="38170" marT="19085" marB="19085" anchor="ctr">
                    <a:lnL>
                      <a:noFill/>
                    </a:lnL>
                    <a:lnR>
                      <a:noFill/>
                    </a:lnR>
                    <a:lnT>
                      <a:noFill/>
                    </a:lnT>
                    <a:lnB>
                      <a:noFill/>
                    </a:lnB>
                    <a:solidFill>
                      <a:srgbClr val="F8FAFF"/>
                    </a:solidFill>
                  </a:tcPr>
                </a:tc>
                <a:tc>
                  <a:txBody>
                    <a:bodyPr/>
                    <a:lstStyle/>
                    <a:p>
                      <a:r>
                        <a:rPr lang="en-US" sz="1200">
                          <a:effectLst/>
                        </a:rPr>
                        <a:t>returns the canonical representation of the string</a:t>
                      </a:r>
                    </a:p>
                  </a:txBody>
                  <a:tcPr marL="38170" marR="38170" marT="19085" marB="19085" anchor="ctr">
                    <a:lnL>
                      <a:noFill/>
                    </a:lnL>
                    <a:lnR>
                      <a:noFill/>
                    </a:lnR>
                    <a:lnT>
                      <a:noFill/>
                    </a:lnT>
                    <a:lnB>
                      <a:noFill/>
                    </a:lnB>
                    <a:solidFill>
                      <a:srgbClr val="F8FAFF"/>
                    </a:solidFill>
                  </a:tcPr>
                </a:tc>
              </a:tr>
              <a:tr h="152679">
                <a:tc>
                  <a:txBody>
                    <a:bodyPr/>
                    <a:lstStyle/>
                    <a:p>
                      <a:r>
                        <a:rPr lang="en-IN" sz="1200" u="none" strike="noStrike">
                          <a:solidFill>
                            <a:srgbClr val="0556F3"/>
                          </a:solidFill>
                          <a:effectLst/>
                          <a:hlinkClick r:id="rId25"/>
                        </a:rPr>
                        <a:t>contentEquals()</a:t>
                      </a:r>
                      <a:endParaRPr lang="en-IN" sz="1200">
                        <a:effectLst/>
                      </a:endParaRPr>
                    </a:p>
                  </a:txBody>
                  <a:tcPr marL="38170" marR="38170" marT="19085" marB="19085" anchor="ctr">
                    <a:lnL>
                      <a:noFill/>
                    </a:lnL>
                    <a:lnR>
                      <a:noFill/>
                    </a:lnR>
                    <a:lnT>
                      <a:noFill/>
                    </a:lnT>
                    <a:lnB>
                      <a:noFill/>
                    </a:lnB>
                    <a:solidFill>
                      <a:srgbClr val="F8FAFF"/>
                    </a:solidFill>
                  </a:tcPr>
                </a:tc>
                <a:tc>
                  <a:txBody>
                    <a:bodyPr/>
                    <a:lstStyle/>
                    <a:p>
                      <a:r>
                        <a:rPr lang="en-US" sz="1200">
                          <a:effectLst/>
                        </a:rPr>
                        <a:t>checks whether the string is equal to charSequence</a:t>
                      </a:r>
                    </a:p>
                  </a:txBody>
                  <a:tcPr marL="38170" marR="38170" marT="19085" marB="19085" anchor="ctr">
                    <a:lnL>
                      <a:noFill/>
                    </a:lnL>
                    <a:lnR>
                      <a:noFill/>
                    </a:lnR>
                    <a:lnT>
                      <a:noFill/>
                    </a:lnT>
                    <a:lnB>
                      <a:noFill/>
                    </a:lnB>
                    <a:solidFill>
                      <a:srgbClr val="F8FAFF"/>
                    </a:solidFill>
                  </a:tcPr>
                </a:tc>
              </a:tr>
              <a:tr h="152679">
                <a:tc>
                  <a:txBody>
                    <a:bodyPr/>
                    <a:lstStyle/>
                    <a:p>
                      <a:r>
                        <a:rPr lang="en-IN" sz="1200" u="none" strike="noStrike">
                          <a:solidFill>
                            <a:srgbClr val="0556F3"/>
                          </a:solidFill>
                          <a:effectLst/>
                          <a:hlinkClick r:id="rId26"/>
                        </a:rPr>
                        <a:t>hashCode()</a:t>
                      </a:r>
                      <a:endParaRPr lang="en-IN" sz="1200">
                        <a:effectLst/>
                      </a:endParaRPr>
                    </a:p>
                  </a:txBody>
                  <a:tcPr marL="38170" marR="38170" marT="19085" marB="19085" anchor="ctr">
                    <a:lnL>
                      <a:noFill/>
                    </a:lnL>
                    <a:lnR>
                      <a:noFill/>
                    </a:lnR>
                    <a:lnT>
                      <a:noFill/>
                    </a:lnT>
                    <a:lnB>
                      <a:noFill/>
                    </a:lnB>
                    <a:solidFill>
                      <a:srgbClr val="F8FAFF"/>
                    </a:solidFill>
                  </a:tcPr>
                </a:tc>
                <a:tc>
                  <a:txBody>
                    <a:bodyPr/>
                    <a:lstStyle/>
                    <a:p>
                      <a:r>
                        <a:rPr lang="en-US" sz="1200">
                          <a:effectLst/>
                        </a:rPr>
                        <a:t>returns a hash code for the string</a:t>
                      </a:r>
                    </a:p>
                  </a:txBody>
                  <a:tcPr marL="38170" marR="38170" marT="19085" marB="19085" anchor="ctr">
                    <a:lnL>
                      <a:noFill/>
                    </a:lnL>
                    <a:lnR>
                      <a:noFill/>
                    </a:lnR>
                    <a:lnT>
                      <a:noFill/>
                    </a:lnT>
                    <a:lnB>
                      <a:noFill/>
                    </a:lnB>
                    <a:solidFill>
                      <a:srgbClr val="F8FAFF"/>
                    </a:solidFill>
                  </a:tcPr>
                </a:tc>
              </a:tr>
              <a:tr h="83369">
                <a:tc>
                  <a:txBody>
                    <a:bodyPr/>
                    <a:lstStyle/>
                    <a:p>
                      <a:r>
                        <a:rPr lang="en-IN" sz="1200" u="none" strike="noStrike">
                          <a:solidFill>
                            <a:srgbClr val="0556F3"/>
                          </a:solidFill>
                          <a:effectLst/>
                          <a:hlinkClick r:id="rId27"/>
                        </a:rPr>
                        <a:t>subSequence()</a:t>
                      </a:r>
                      <a:endParaRPr lang="en-IN" sz="1200">
                        <a:effectLst/>
                      </a:endParaRPr>
                    </a:p>
                  </a:txBody>
                  <a:tcPr marL="38170" marR="38170" marT="19085" marB="19085" anchor="ctr">
                    <a:lnL>
                      <a:noFill/>
                    </a:lnL>
                    <a:lnR>
                      <a:noFill/>
                    </a:lnR>
                    <a:lnT>
                      <a:noFill/>
                    </a:lnT>
                    <a:lnB>
                      <a:noFill/>
                    </a:lnB>
                    <a:solidFill>
                      <a:srgbClr val="F8FAFF"/>
                    </a:solidFill>
                  </a:tcPr>
                </a:tc>
                <a:tc>
                  <a:txBody>
                    <a:bodyPr/>
                    <a:lstStyle/>
                    <a:p>
                      <a:r>
                        <a:rPr lang="en-US" sz="1200" dirty="0">
                          <a:effectLst/>
                        </a:rPr>
                        <a:t>returns a subsequence from the string</a:t>
                      </a:r>
                    </a:p>
                  </a:txBody>
                  <a:tcPr marL="38170" marR="38170" marT="19085" marB="19085" anchor="ctr">
                    <a:lnL>
                      <a:noFill/>
                    </a:lnL>
                    <a:lnR>
                      <a:noFill/>
                    </a:lnR>
                    <a:lnT>
                      <a:noFill/>
                    </a:lnT>
                    <a:lnB>
                      <a:noFill/>
                    </a:lnB>
                    <a:solidFill>
                      <a:srgbClr val="F8FAFF"/>
                    </a:solidFill>
                  </a:tcPr>
                </a:tc>
              </a:tr>
            </a:tbl>
          </a:graphicData>
        </a:graphic>
      </p:graphicFrame>
    </p:spTree>
    <p:extLst>
      <p:ext uri="{BB962C8B-B14F-4D97-AF65-F5344CB8AC3E}">
        <p14:creationId xmlns:p14="http://schemas.microsoft.com/office/powerpoint/2010/main" val="250443662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5EDAE260-203A-48BA-B1E0-2820BBC6B005}" type="slidenum">
              <a:rPr lang="en-US" altLang="en-US" smtClean="0"/>
              <a:pPr>
                <a:defRPr/>
              </a:pPr>
              <a:t>29</a:t>
            </a:fld>
            <a:endParaRPr lang="en-US" altLang="en-US"/>
          </a:p>
        </p:txBody>
      </p:sp>
      <p:sp>
        <p:nvSpPr>
          <p:cNvPr id="4" name="Rectangle 3"/>
          <p:cNvSpPr/>
          <p:nvPr/>
        </p:nvSpPr>
        <p:spPr>
          <a:xfrm>
            <a:off x="304800" y="76200"/>
            <a:ext cx="11506200" cy="2862322"/>
          </a:xfrm>
          <a:prstGeom prst="rect">
            <a:avLst/>
          </a:prstGeom>
        </p:spPr>
        <p:txBody>
          <a:bodyPr wrap="square">
            <a:spAutoFit/>
          </a:bodyPr>
          <a:lstStyle/>
          <a:p>
            <a:r>
              <a:rPr lang="en-US" dirty="0">
                <a:solidFill>
                  <a:srgbClr val="FF0000"/>
                </a:solidFill>
              </a:rPr>
              <a:t>Creating strings using the new </a:t>
            </a:r>
            <a:r>
              <a:rPr lang="en-US" dirty="0" smtClean="0">
                <a:solidFill>
                  <a:srgbClr val="FF0000"/>
                </a:solidFill>
              </a:rPr>
              <a:t>keyword:</a:t>
            </a:r>
          </a:p>
          <a:p>
            <a:endParaRPr lang="en-US" dirty="0">
              <a:solidFill>
                <a:srgbClr val="FF0000"/>
              </a:solidFill>
            </a:endParaRPr>
          </a:p>
          <a:p>
            <a:r>
              <a:rPr lang="en-US" dirty="0">
                <a:latin typeface="Times New Roman" panose="02020603050405020304" pitchFamily="18" charset="0"/>
                <a:cs typeface="Times New Roman" panose="02020603050405020304" pitchFamily="18" charset="0"/>
              </a:rPr>
              <a:t>So far we have created strings like primitive types in Java.</a:t>
            </a:r>
          </a:p>
          <a:p>
            <a:r>
              <a:rPr lang="en-US" dirty="0" smtClean="0">
                <a:latin typeface="Times New Roman" panose="02020603050405020304" pitchFamily="18" charset="0"/>
                <a:cs typeface="Times New Roman" panose="02020603050405020304" pitchFamily="18" charset="0"/>
              </a:rPr>
              <a:t>Since </a:t>
            </a:r>
            <a:r>
              <a:rPr lang="en-US" dirty="0">
                <a:latin typeface="Times New Roman" panose="02020603050405020304" pitchFamily="18" charset="0"/>
                <a:cs typeface="Times New Roman" panose="02020603050405020304" pitchFamily="18" charset="0"/>
              </a:rPr>
              <a:t>strings in Java are objects, we can create strings using the new keyword as well. For example,</a:t>
            </a:r>
          </a:p>
          <a:p>
            <a:endParaRPr lang="en-US" dirty="0">
              <a:latin typeface="Times New Roman" panose="02020603050405020304" pitchFamily="18" charset="0"/>
              <a:cs typeface="Times New Roman" panose="02020603050405020304" pitchFamily="18" charset="0"/>
            </a:endParaRPr>
          </a:p>
          <a:p>
            <a:r>
              <a:rPr lang="en-US" dirty="0">
                <a:solidFill>
                  <a:srgbClr val="FF0000"/>
                </a:solidFill>
                <a:latin typeface="Times New Roman" panose="02020603050405020304" pitchFamily="18" charset="0"/>
                <a:cs typeface="Times New Roman" panose="02020603050405020304" pitchFamily="18" charset="0"/>
              </a:rPr>
              <a:t>// create a string using the new keyword</a:t>
            </a:r>
          </a:p>
          <a:p>
            <a:r>
              <a:rPr lang="en-US" dirty="0">
                <a:latin typeface="Times New Roman" panose="02020603050405020304" pitchFamily="18" charset="0"/>
                <a:cs typeface="Times New Roman" panose="02020603050405020304" pitchFamily="18" charset="0"/>
              </a:rPr>
              <a:t>String name = new String("Java String");</a:t>
            </a:r>
          </a:p>
          <a:p>
            <a:r>
              <a:rPr lang="en-US" dirty="0">
                <a:latin typeface="Times New Roman" panose="02020603050405020304" pitchFamily="18" charset="0"/>
                <a:cs typeface="Times New Roman" panose="02020603050405020304" pitchFamily="18" charset="0"/>
              </a:rPr>
              <a:t>In the above example, we have created a string name using the new keyword.</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Here, when we create a string object, the String() constructor is invoked.</a:t>
            </a:r>
            <a:endParaRPr lang="en-IN"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4662487" y="2861034"/>
            <a:ext cx="6981825" cy="3476625"/>
          </a:xfrm>
          <a:prstGeom prst="rect">
            <a:avLst/>
          </a:prstGeom>
        </p:spPr>
      </p:pic>
    </p:spTree>
    <p:extLst>
      <p:ext uri="{BB962C8B-B14F-4D97-AF65-F5344CB8AC3E}">
        <p14:creationId xmlns:p14="http://schemas.microsoft.com/office/powerpoint/2010/main" val="74943078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Wingdings" panose="05000000000000000000" pitchFamily="2" charset="2"/>
              <a:buChar char="Ø"/>
            </a:pPr>
            <a:r>
              <a:rPr lang="en-US" sz="2000" dirty="0" err="1">
                <a:latin typeface="Times New Roman" panose="02020603050405020304" pitchFamily="18" charset="0"/>
                <a:cs typeface="Times New Roman" panose="02020603050405020304" pitchFamily="18" charset="0"/>
              </a:rPr>
              <a:t>StringBuffer</a:t>
            </a:r>
            <a:r>
              <a:rPr lang="en-US" sz="2000" dirty="0">
                <a:latin typeface="Times New Roman" panose="02020603050405020304" pitchFamily="18" charset="0"/>
                <a:cs typeface="Times New Roman" panose="02020603050405020304" pitchFamily="18" charset="0"/>
              </a:rPr>
              <a:t> in java is used to create modifiable String objects. This means that we can use </a:t>
            </a:r>
            <a:r>
              <a:rPr lang="en-US" sz="2000" dirty="0" err="1">
                <a:latin typeface="Times New Roman" panose="02020603050405020304" pitchFamily="18" charset="0"/>
                <a:cs typeface="Times New Roman" panose="02020603050405020304" pitchFamily="18" charset="0"/>
              </a:rPr>
              <a:t>StringBuffer</a:t>
            </a:r>
            <a:r>
              <a:rPr lang="en-US" sz="2000" dirty="0">
                <a:latin typeface="Times New Roman" panose="02020603050405020304" pitchFamily="18" charset="0"/>
                <a:cs typeface="Times New Roman" panose="02020603050405020304" pitchFamily="18" charset="0"/>
              </a:rPr>
              <a:t> to append, reverse, replace, concatenate and manipulate Strings or sequence of characters. Corresponding methods under </a:t>
            </a:r>
            <a:r>
              <a:rPr lang="en-US" sz="2000" dirty="0" err="1">
                <a:latin typeface="Times New Roman" panose="02020603050405020304" pitchFamily="18" charset="0"/>
                <a:cs typeface="Times New Roman" panose="02020603050405020304" pitchFamily="18" charset="0"/>
              </a:rPr>
              <a:t>StringBuffer</a:t>
            </a:r>
            <a:r>
              <a:rPr lang="en-US" sz="2000" dirty="0">
                <a:latin typeface="Times New Roman" panose="02020603050405020304" pitchFamily="18" charset="0"/>
                <a:cs typeface="Times New Roman" panose="02020603050405020304" pitchFamily="18" charset="0"/>
              </a:rPr>
              <a:t> class are respectively created to adhere to these functions.</a:t>
            </a:r>
          </a:p>
          <a:p>
            <a:pP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 Java, Strings are known to be immutable or un-editable, unless overwritten upon. This is where </a:t>
            </a:r>
            <a:r>
              <a:rPr lang="en-US" sz="2000" dirty="0" err="1">
                <a:latin typeface="Times New Roman" panose="02020603050405020304" pitchFamily="18" charset="0"/>
                <a:cs typeface="Times New Roman" panose="02020603050405020304" pitchFamily="18" charset="0"/>
              </a:rPr>
              <a:t>StringBuffer</a:t>
            </a:r>
            <a:r>
              <a:rPr lang="en-US" sz="2000" dirty="0">
                <a:latin typeface="Times New Roman" panose="02020603050405020304" pitchFamily="18" charset="0"/>
                <a:cs typeface="Times New Roman" panose="02020603050405020304" pitchFamily="18" charset="0"/>
              </a:rPr>
              <a:t> class comes into picture, where it can accommodate character sequences and still enable a mutable feature</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30</a:t>
            </a:fld>
            <a:endParaRPr lang="en-US" altLang="en-US"/>
          </a:p>
        </p:txBody>
      </p:sp>
      <p:sp>
        <p:nvSpPr>
          <p:cNvPr id="6" name="Title 1"/>
          <p:cNvSpPr txBox="1">
            <a:spLocks noGrp="1"/>
          </p:cNvSpPr>
          <p:nvPr>
            <p:ph type="title"/>
          </p:nvPr>
        </p:nvSpPr>
        <p:spPr bwMode="auto">
          <a:prstGeom prst="rect">
            <a:avLst/>
          </a:prstGeom>
          <a:solidFill>
            <a:schemeClr val="bg1"/>
          </a:solidFill>
          <a:ln w="9525">
            <a:solidFill>
              <a:schemeClr val="accent1"/>
            </a:solidFill>
            <a:round/>
            <a:headEnd/>
            <a:tailEnd/>
          </a:ln>
          <a:effectLst>
            <a:glow rad="101600">
              <a:schemeClr val="accent2">
                <a:satMod val="175000"/>
                <a:alpha val="40000"/>
              </a:schemeClr>
            </a:glow>
            <a:outerShdw blurRad="50800" dist="38100" dir="2700000" algn="tl" rotWithShape="0">
              <a:prstClr val="black">
                <a:alpha val="40000"/>
              </a:prstClr>
            </a:outerShdw>
          </a:effectLst>
          <a:extLst/>
        </p:spPr>
        <p:txBody>
          <a:bodyPr vert="horz" wrap="square" lIns="90000" tIns="46800" rIns="90000" bIns="46800" numCol="1" anchor="ctr" anchorCtr="0" compatLnSpc="1">
            <a:prstTxWarp prst="textNoShape">
              <a:avLst/>
            </a:prstTxWarp>
          </a:bodyP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defTabSz="457200">
              <a:buClr>
                <a:srgbClr val="000000"/>
              </a:buClr>
              <a:buSzPct val="1000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800" b="1" dirty="0" smtClean="0">
                <a:solidFill>
                  <a:srgbClr val="FF0000"/>
                </a:solidFill>
                <a:latin typeface="Times New Roman" panose="02020603050405020304" pitchFamily="18" charset="0"/>
                <a:cs typeface="Times New Roman" panose="02020603050405020304" pitchFamily="18" charset="0"/>
              </a:rPr>
              <a:t>String Buffer </a:t>
            </a:r>
            <a:endParaRPr lang="en-US" sz="2800" b="1" dirty="0">
              <a:solidFill>
                <a:srgbClr val="FF0000"/>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76757477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1"/>
            <a:ext cx="10515600" cy="914400"/>
          </a:xfrm>
        </p:spPr>
        <p:txBody>
          <a:bodyPr/>
          <a:lstStyle/>
          <a:p>
            <a:endParaRPr lang="en-IN" sz="2000" dirty="0"/>
          </a:p>
        </p:txBody>
      </p:sp>
      <p:sp>
        <p:nvSpPr>
          <p:cNvPr id="3" name="Content Placeholder 2"/>
          <p:cNvSpPr>
            <a:spLocks noGrp="1"/>
          </p:cNvSpPr>
          <p:nvPr>
            <p:ph idx="1"/>
          </p:nvPr>
        </p:nvSpPr>
        <p:spPr>
          <a:xfrm>
            <a:off x="491706" y="1252899"/>
            <a:ext cx="10515600" cy="4351338"/>
          </a:xfrm>
        </p:spPr>
        <p:txBody>
          <a:bodyPr/>
          <a:lstStyle/>
          <a:p>
            <a:pPr marL="0" indent="0">
              <a:buNone/>
            </a:pPr>
            <a:r>
              <a:rPr lang="en-IN" dirty="0">
                <a:solidFill>
                  <a:srgbClr val="FF0000"/>
                </a:solidFill>
              </a:rPr>
              <a:t>append() Method</a:t>
            </a:r>
          </a:p>
          <a:p>
            <a:pPr>
              <a:buFont typeface="Wingdings" panose="05000000000000000000" pitchFamily="2" charset="2"/>
              <a:buChar char="Ø"/>
            </a:pPr>
            <a:r>
              <a:rPr lang="en-US" sz="2000" dirty="0"/>
              <a:t>The append() method concatenates the given argument with this String. </a:t>
            </a:r>
            <a:endParaRPr lang="en-US" sz="2000" dirty="0" smtClean="0"/>
          </a:p>
          <a:p>
            <a:pPr marL="0" indent="0">
              <a:buNone/>
            </a:pPr>
            <a:r>
              <a:rPr lang="en-US" sz="1800" dirty="0" smtClean="0"/>
              <a:t>class </a:t>
            </a:r>
            <a:r>
              <a:rPr lang="en-US" sz="1800" dirty="0" err="1" smtClean="0"/>
              <a:t>StringBufferExample</a:t>
            </a:r>
            <a:endParaRPr lang="en-US" sz="1800" dirty="0" smtClean="0"/>
          </a:p>
          <a:p>
            <a:pPr marL="0" indent="0">
              <a:buNone/>
            </a:pPr>
            <a:r>
              <a:rPr lang="en-US" sz="1800" dirty="0" smtClean="0"/>
              <a:t>{  </a:t>
            </a:r>
            <a:endParaRPr lang="en-US" sz="1800" dirty="0"/>
          </a:p>
          <a:p>
            <a:pPr marL="0" indent="0">
              <a:buNone/>
            </a:pPr>
            <a:r>
              <a:rPr lang="en-US" sz="1800" dirty="0"/>
              <a:t>public static void main(String </a:t>
            </a:r>
            <a:r>
              <a:rPr lang="en-US" sz="1800" dirty="0" err="1"/>
              <a:t>args</a:t>
            </a:r>
            <a:r>
              <a:rPr lang="en-US" sz="1800" dirty="0" smtClean="0"/>
              <a:t>[])</a:t>
            </a:r>
          </a:p>
          <a:p>
            <a:pPr marL="0" indent="0">
              <a:buNone/>
            </a:pPr>
            <a:r>
              <a:rPr lang="en-US" sz="1800" dirty="0" smtClean="0"/>
              <a:t>{  </a:t>
            </a:r>
            <a:endParaRPr lang="en-US" sz="1800" dirty="0"/>
          </a:p>
          <a:p>
            <a:pPr marL="0" indent="0">
              <a:buNone/>
            </a:pPr>
            <a:r>
              <a:rPr lang="en-US" sz="1800" dirty="0" err="1"/>
              <a:t>StringBuffer</a:t>
            </a:r>
            <a:r>
              <a:rPr lang="en-US" sz="1800" dirty="0"/>
              <a:t> </a:t>
            </a:r>
            <a:r>
              <a:rPr lang="en-US" sz="1800" dirty="0" err="1"/>
              <a:t>sb</a:t>
            </a:r>
            <a:r>
              <a:rPr lang="en-US" sz="1800" dirty="0"/>
              <a:t>=new </a:t>
            </a:r>
            <a:r>
              <a:rPr lang="en-US" sz="1800" dirty="0" err="1"/>
              <a:t>StringBuffer</a:t>
            </a:r>
            <a:r>
              <a:rPr lang="en-US" sz="1800" dirty="0"/>
              <a:t>("Hello ");  </a:t>
            </a:r>
          </a:p>
          <a:p>
            <a:pPr marL="0" indent="0">
              <a:buNone/>
            </a:pPr>
            <a:r>
              <a:rPr lang="en-US" sz="1800" dirty="0" err="1"/>
              <a:t>sb.append</a:t>
            </a:r>
            <a:r>
              <a:rPr lang="en-US" sz="1800" dirty="0"/>
              <a:t>("Java</a:t>
            </a:r>
            <a:r>
              <a:rPr lang="en-US" sz="1800" dirty="0" smtClean="0"/>
              <a:t>");                              </a:t>
            </a:r>
            <a:r>
              <a:rPr lang="en-US" sz="1800" dirty="0" smtClean="0">
                <a:solidFill>
                  <a:srgbClr val="FF0000"/>
                </a:solidFill>
              </a:rPr>
              <a:t>//</a:t>
            </a:r>
            <a:r>
              <a:rPr lang="en-US" sz="1800" dirty="0">
                <a:solidFill>
                  <a:srgbClr val="FF0000"/>
                </a:solidFill>
              </a:rPr>
              <a:t>now original string is changed  </a:t>
            </a:r>
          </a:p>
          <a:p>
            <a:pPr marL="0" indent="0">
              <a:buNone/>
            </a:pPr>
            <a:r>
              <a:rPr lang="en-US" sz="1800" dirty="0" err="1"/>
              <a:t>System.out.println</a:t>
            </a:r>
            <a:r>
              <a:rPr lang="en-US" sz="1800" dirty="0"/>
              <a:t>(</a:t>
            </a:r>
            <a:r>
              <a:rPr lang="en-US" sz="1800" dirty="0" err="1"/>
              <a:t>sb</a:t>
            </a:r>
            <a:r>
              <a:rPr lang="en-US" sz="1800" dirty="0" smtClean="0"/>
              <a:t>);                        </a:t>
            </a:r>
            <a:r>
              <a:rPr lang="en-US" sz="1800" dirty="0" smtClean="0">
                <a:solidFill>
                  <a:srgbClr val="FF0000"/>
                </a:solidFill>
              </a:rPr>
              <a:t>//</a:t>
            </a:r>
            <a:r>
              <a:rPr lang="en-US" sz="1800" dirty="0">
                <a:solidFill>
                  <a:srgbClr val="FF0000"/>
                </a:solidFill>
              </a:rPr>
              <a:t>prints Hello Java  </a:t>
            </a:r>
          </a:p>
          <a:p>
            <a:pPr marL="0" indent="0">
              <a:buNone/>
            </a:pPr>
            <a:r>
              <a:rPr lang="en-US" sz="1800" dirty="0"/>
              <a:t>}  </a:t>
            </a:r>
          </a:p>
          <a:p>
            <a:pPr marL="0" indent="0">
              <a:buNone/>
            </a:pPr>
            <a:r>
              <a:rPr lang="en-US" sz="1800" dirty="0"/>
              <a:t>}</a:t>
            </a:r>
            <a:r>
              <a:rPr lang="en-US" sz="2000" dirty="0"/>
              <a:t> </a:t>
            </a:r>
            <a:endParaRPr lang="en-IN" sz="2000" dirty="0"/>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31</a:t>
            </a:fld>
            <a:endParaRPr lang="en-US" altLang="en-US"/>
          </a:p>
        </p:txBody>
      </p:sp>
      <p:sp>
        <p:nvSpPr>
          <p:cNvPr id="6" name="Title 1"/>
          <p:cNvSpPr txBox="1">
            <a:spLocks/>
          </p:cNvSpPr>
          <p:nvPr/>
        </p:nvSpPr>
        <p:spPr bwMode="auto">
          <a:xfrm>
            <a:off x="491706" y="228601"/>
            <a:ext cx="8229600" cy="804323"/>
          </a:xfrm>
          <a:prstGeom prst="rect">
            <a:avLst/>
          </a:prstGeom>
          <a:solidFill>
            <a:schemeClr val="bg1"/>
          </a:solidFill>
          <a:ln w="9525">
            <a:solidFill>
              <a:schemeClr val="accent1"/>
            </a:solidFill>
            <a:round/>
            <a:headEnd/>
            <a:tailEnd/>
          </a:ln>
          <a:effectLst>
            <a:glow rad="101600">
              <a:schemeClr val="accent2">
                <a:satMod val="175000"/>
                <a:alpha val="40000"/>
              </a:schemeClr>
            </a:glow>
            <a:outerShdw blurRad="50800" dist="38100" dir="2700000" algn="tl" rotWithShape="0">
              <a:prstClr val="black">
                <a:alpha val="40000"/>
              </a:prstClr>
            </a:outerShdw>
          </a:effectLst>
          <a:extLst/>
        </p:spPr>
        <p:txBody>
          <a:bodyPr vert="horz" wrap="square" lIns="90000" tIns="46800" rIns="90000" bIns="46800" numCol="1" anchor="ctr" anchorCtr="0" compatLnSpc="1">
            <a:prstTxWarp prst="textNoShape">
              <a:avLst/>
            </a:prstTxWarp>
          </a:bodyP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defTabSz="457200" eaLnBrk="1" hangingPunct="1">
              <a:buClr>
                <a:srgbClr val="000000"/>
              </a:buClr>
              <a:buSzPct val="1000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800" b="1" dirty="0" smtClean="0">
                <a:solidFill>
                  <a:srgbClr val="FF0000"/>
                </a:solidFill>
                <a:latin typeface="Times New Roman" panose="02020603050405020304" pitchFamily="18" charset="0"/>
                <a:cs typeface="Times New Roman" panose="02020603050405020304" pitchFamily="18" charset="0"/>
              </a:rPr>
              <a:t>String Buffer Methods </a:t>
            </a:r>
            <a:endParaRPr lang="en-US" sz="2800" b="1" dirty="0">
              <a:solidFill>
                <a:srgbClr val="FF0000"/>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94435655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5EDAE260-203A-48BA-B1E0-2820BBC6B005}" type="slidenum">
              <a:rPr lang="en-US" altLang="en-US" smtClean="0"/>
              <a:pPr>
                <a:defRPr/>
              </a:pPr>
              <a:t>32</a:t>
            </a:fld>
            <a:endParaRPr lang="en-US" altLang="en-US"/>
          </a:p>
        </p:txBody>
      </p:sp>
      <p:sp>
        <p:nvSpPr>
          <p:cNvPr id="4" name="Rectangle 3"/>
          <p:cNvSpPr/>
          <p:nvPr/>
        </p:nvSpPr>
        <p:spPr>
          <a:xfrm>
            <a:off x="304800" y="304800"/>
            <a:ext cx="10439400" cy="923330"/>
          </a:xfrm>
          <a:prstGeom prst="rect">
            <a:avLst/>
          </a:prstGeom>
        </p:spPr>
        <p:txBody>
          <a:bodyPr wrap="square">
            <a:spAutoFit/>
          </a:bodyPr>
          <a:lstStyle/>
          <a:p>
            <a:r>
              <a:rPr lang="en-US" dirty="0">
                <a:solidFill>
                  <a:srgbClr val="FF0000"/>
                </a:solidFill>
              </a:rPr>
              <a:t>insert() </a:t>
            </a:r>
            <a:r>
              <a:rPr lang="en-US" dirty="0" smtClean="0">
                <a:solidFill>
                  <a:srgbClr val="FF0000"/>
                </a:solidFill>
              </a:rPr>
              <a:t>Method:</a:t>
            </a:r>
          </a:p>
          <a:p>
            <a:endParaRPr lang="en-US" dirty="0">
              <a:solidFill>
                <a:srgbClr val="FF0000"/>
              </a:solidFill>
            </a:endParaRPr>
          </a:p>
          <a:p>
            <a:r>
              <a:rPr lang="en-US" dirty="0"/>
              <a:t>The insert() method inserts the given String with this string at the given position.</a:t>
            </a:r>
            <a:endParaRPr lang="en-IN" dirty="0"/>
          </a:p>
        </p:txBody>
      </p:sp>
      <p:sp>
        <p:nvSpPr>
          <p:cNvPr id="5" name="Rectangle 4"/>
          <p:cNvSpPr/>
          <p:nvPr/>
        </p:nvSpPr>
        <p:spPr>
          <a:xfrm>
            <a:off x="685800" y="1600200"/>
            <a:ext cx="6096000" cy="2585323"/>
          </a:xfrm>
          <a:prstGeom prst="rect">
            <a:avLst/>
          </a:prstGeom>
        </p:spPr>
        <p:txBody>
          <a:bodyPr>
            <a:spAutoFit/>
          </a:bodyPr>
          <a:lstStyle/>
          <a:p>
            <a:r>
              <a:rPr lang="en-IN" dirty="0"/>
              <a:t>class </a:t>
            </a:r>
            <a:r>
              <a:rPr lang="en-IN" dirty="0" smtClean="0"/>
              <a:t>StringBufferExample2</a:t>
            </a:r>
          </a:p>
          <a:p>
            <a:r>
              <a:rPr lang="en-IN" dirty="0" smtClean="0"/>
              <a:t>{  </a:t>
            </a:r>
            <a:endParaRPr lang="en-IN" dirty="0"/>
          </a:p>
          <a:p>
            <a:r>
              <a:rPr lang="en-IN" dirty="0"/>
              <a:t>public static void main(String </a:t>
            </a:r>
            <a:r>
              <a:rPr lang="en-IN" dirty="0" err="1"/>
              <a:t>args</a:t>
            </a:r>
            <a:r>
              <a:rPr lang="en-IN" dirty="0" smtClean="0"/>
              <a:t>[])</a:t>
            </a:r>
          </a:p>
          <a:p>
            <a:r>
              <a:rPr lang="en-IN" dirty="0" smtClean="0"/>
              <a:t>{  </a:t>
            </a:r>
            <a:endParaRPr lang="en-IN" dirty="0"/>
          </a:p>
          <a:p>
            <a:r>
              <a:rPr lang="en-IN" dirty="0" err="1"/>
              <a:t>StringBuffer</a:t>
            </a:r>
            <a:r>
              <a:rPr lang="en-IN" dirty="0"/>
              <a:t> </a:t>
            </a:r>
            <a:r>
              <a:rPr lang="en-IN" dirty="0" err="1"/>
              <a:t>sb</a:t>
            </a:r>
            <a:r>
              <a:rPr lang="en-IN" dirty="0"/>
              <a:t>=new </a:t>
            </a:r>
            <a:r>
              <a:rPr lang="en-IN" dirty="0" err="1"/>
              <a:t>StringBuffer</a:t>
            </a:r>
            <a:r>
              <a:rPr lang="en-IN" dirty="0"/>
              <a:t>("Hello ");  </a:t>
            </a:r>
          </a:p>
          <a:p>
            <a:r>
              <a:rPr lang="en-IN" dirty="0" err="1"/>
              <a:t>sb.insert</a:t>
            </a:r>
            <a:r>
              <a:rPr lang="en-IN" dirty="0"/>
              <a:t>(1,"Java</a:t>
            </a:r>
            <a:r>
              <a:rPr lang="en-IN" dirty="0" smtClean="0"/>
              <a:t>");             </a:t>
            </a:r>
            <a:r>
              <a:rPr lang="en-IN" dirty="0" smtClean="0">
                <a:solidFill>
                  <a:srgbClr val="FF0000"/>
                </a:solidFill>
              </a:rPr>
              <a:t>//</a:t>
            </a:r>
            <a:r>
              <a:rPr lang="en-IN" dirty="0">
                <a:solidFill>
                  <a:srgbClr val="FF0000"/>
                </a:solidFill>
              </a:rPr>
              <a:t>now original string is changed  </a:t>
            </a:r>
          </a:p>
          <a:p>
            <a:r>
              <a:rPr lang="en-IN" dirty="0" err="1"/>
              <a:t>System.out.println</a:t>
            </a:r>
            <a:r>
              <a:rPr lang="en-IN" dirty="0"/>
              <a:t>(</a:t>
            </a:r>
            <a:r>
              <a:rPr lang="en-IN" dirty="0" err="1"/>
              <a:t>sb</a:t>
            </a:r>
            <a:r>
              <a:rPr lang="en-IN" dirty="0" smtClean="0"/>
              <a:t>);       </a:t>
            </a:r>
            <a:r>
              <a:rPr lang="en-IN" dirty="0" smtClean="0">
                <a:solidFill>
                  <a:srgbClr val="FF0000"/>
                </a:solidFill>
              </a:rPr>
              <a:t>//</a:t>
            </a:r>
            <a:r>
              <a:rPr lang="en-IN" dirty="0">
                <a:solidFill>
                  <a:srgbClr val="FF0000"/>
                </a:solidFill>
              </a:rPr>
              <a:t>prints </a:t>
            </a:r>
            <a:r>
              <a:rPr lang="en-IN" dirty="0" err="1" smtClean="0">
                <a:solidFill>
                  <a:srgbClr val="FF0000"/>
                </a:solidFill>
              </a:rPr>
              <a:t>HJavaello</a:t>
            </a:r>
            <a:r>
              <a:rPr lang="en-IN" dirty="0" smtClean="0">
                <a:solidFill>
                  <a:srgbClr val="FF0000"/>
                </a:solidFill>
              </a:rPr>
              <a:t>  </a:t>
            </a:r>
            <a:endParaRPr lang="en-IN" dirty="0">
              <a:solidFill>
                <a:srgbClr val="FF0000"/>
              </a:solidFill>
            </a:endParaRPr>
          </a:p>
          <a:p>
            <a:r>
              <a:rPr lang="en-IN" dirty="0"/>
              <a:t>}  </a:t>
            </a:r>
          </a:p>
          <a:p>
            <a:r>
              <a:rPr lang="en-IN" dirty="0"/>
              <a:t>} </a:t>
            </a:r>
          </a:p>
        </p:txBody>
      </p:sp>
    </p:spTree>
    <p:extLst>
      <p:ext uri="{BB962C8B-B14F-4D97-AF65-F5344CB8AC3E}">
        <p14:creationId xmlns:p14="http://schemas.microsoft.com/office/powerpoint/2010/main" val="199045554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5EDAE260-203A-48BA-B1E0-2820BBC6B005}" type="slidenum">
              <a:rPr lang="en-US" altLang="en-US" smtClean="0"/>
              <a:pPr>
                <a:defRPr/>
              </a:pPr>
              <a:t>33</a:t>
            </a:fld>
            <a:endParaRPr lang="en-US" altLang="en-US"/>
          </a:p>
        </p:txBody>
      </p:sp>
      <p:sp>
        <p:nvSpPr>
          <p:cNvPr id="4" name="Rectangle 3"/>
          <p:cNvSpPr/>
          <p:nvPr/>
        </p:nvSpPr>
        <p:spPr>
          <a:xfrm>
            <a:off x="152400" y="304800"/>
            <a:ext cx="11658600" cy="923330"/>
          </a:xfrm>
          <a:prstGeom prst="rect">
            <a:avLst/>
          </a:prstGeom>
        </p:spPr>
        <p:txBody>
          <a:bodyPr wrap="square">
            <a:spAutoFit/>
          </a:bodyPr>
          <a:lstStyle/>
          <a:p>
            <a:r>
              <a:rPr lang="en-US" dirty="0"/>
              <a:t> </a:t>
            </a:r>
            <a:r>
              <a:rPr lang="en-US" dirty="0">
                <a:solidFill>
                  <a:srgbClr val="FF0000"/>
                </a:solidFill>
              </a:rPr>
              <a:t>replace() </a:t>
            </a:r>
            <a:r>
              <a:rPr lang="en-US" dirty="0" smtClean="0">
                <a:solidFill>
                  <a:srgbClr val="FF0000"/>
                </a:solidFill>
              </a:rPr>
              <a:t>Method:</a:t>
            </a:r>
          </a:p>
          <a:p>
            <a:endParaRPr lang="en-US" dirty="0"/>
          </a:p>
          <a:p>
            <a:r>
              <a:rPr lang="en-US" dirty="0"/>
              <a:t>The replace() method replaces the given String from the specified </a:t>
            </a:r>
            <a:r>
              <a:rPr lang="en-US" dirty="0" err="1"/>
              <a:t>beginIndex</a:t>
            </a:r>
            <a:r>
              <a:rPr lang="en-US" dirty="0"/>
              <a:t> and </a:t>
            </a:r>
            <a:r>
              <a:rPr lang="en-US" dirty="0" err="1"/>
              <a:t>endIndex</a:t>
            </a:r>
            <a:r>
              <a:rPr lang="en-US" dirty="0"/>
              <a:t>.</a:t>
            </a:r>
            <a:endParaRPr lang="en-IN" dirty="0"/>
          </a:p>
        </p:txBody>
      </p:sp>
      <p:sp>
        <p:nvSpPr>
          <p:cNvPr id="5" name="Rectangle 4"/>
          <p:cNvSpPr/>
          <p:nvPr/>
        </p:nvSpPr>
        <p:spPr>
          <a:xfrm>
            <a:off x="304800" y="1295400"/>
            <a:ext cx="9296400" cy="2585323"/>
          </a:xfrm>
          <a:prstGeom prst="rect">
            <a:avLst/>
          </a:prstGeom>
        </p:spPr>
        <p:txBody>
          <a:bodyPr wrap="square">
            <a:spAutoFit/>
          </a:bodyPr>
          <a:lstStyle/>
          <a:p>
            <a:r>
              <a:rPr lang="en-IN" dirty="0"/>
              <a:t>class </a:t>
            </a:r>
            <a:r>
              <a:rPr lang="en-IN" dirty="0" smtClean="0"/>
              <a:t>StringBufferExample3</a:t>
            </a:r>
          </a:p>
          <a:p>
            <a:r>
              <a:rPr lang="en-IN" dirty="0" smtClean="0"/>
              <a:t>{  </a:t>
            </a:r>
            <a:endParaRPr lang="en-IN" dirty="0"/>
          </a:p>
          <a:p>
            <a:r>
              <a:rPr lang="en-IN" dirty="0"/>
              <a:t>public static void main(String </a:t>
            </a:r>
            <a:r>
              <a:rPr lang="en-IN" dirty="0" err="1"/>
              <a:t>args</a:t>
            </a:r>
            <a:r>
              <a:rPr lang="en-IN" dirty="0" smtClean="0"/>
              <a:t>[])</a:t>
            </a:r>
          </a:p>
          <a:p>
            <a:r>
              <a:rPr lang="en-IN" dirty="0" smtClean="0"/>
              <a:t>{  </a:t>
            </a:r>
            <a:endParaRPr lang="en-IN" dirty="0"/>
          </a:p>
          <a:p>
            <a:r>
              <a:rPr lang="en-IN" dirty="0" err="1"/>
              <a:t>StringBuffer</a:t>
            </a:r>
            <a:r>
              <a:rPr lang="en-IN" dirty="0"/>
              <a:t> </a:t>
            </a:r>
            <a:r>
              <a:rPr lang="en-IN" dirty="0" err="1"/>
              <a:t>sb</a:t>
            </a:r>
            <a:r>
              <a:rPr lang="en-IN" dirty="0"/>
              <a:t>=new </a:t>
            </a:r>
            <a:r>
              <a:rPr lang="en-IN" dirty="0" err="1"/>
              <a:t>StringBuffer</a:t>
            </a:r>
            <a:r>
              <a:rPr lang="en-IN" dirty="0"/>
              <a:t>("Hello");  </a:t>
            </a:r>
          </a:p>
          <a:p>
            <a:r>
              <a:rPr lang="en-IN" dirty="0" err="1"/>
              <a:t>sb.replace</a:t>
            </a:r>
            <a:r>
              <a:rPr lang="en-IN" dirty="0"/>
              <a:t>(1,3,"Java");  </a:t>
            </a:r>
          </a:p>
          <a:p>
            <a:r>
              <a:rPr lang="en-IN" dirty="0" err="1"/>
              <a:t>System.out.println</a:t>
            </a:r>
            <a:r>
              <a:rPr lang="en-IN" dirty="0"/>
              <a:t>(</a:t>
            </a:r>
            <a:r>
              <a:rPr lang="en-IN" dirty="0" err="1"/>
              <a:t>sb</a:t>
            </a:r>
            <a:r>
              <a:rPr lang="en-IN" dirty="0" smtClean="0"/>
              <a:t>);          //</a:t>
            </a:r>
            <a:r>
              <a:rPr lang="en-IN" dirty="0"/>
              <a:t>prints </a:t>
            </a:r>
            <a:r>
              <a:rPr lang="en-IN" dirty="0" err="1"/>
              <a:t>HJavalo</a:t>
            </a:r>
            <a:r>
              <a:rPr lang="en-IN" dirty="0"/>
              <a:t>  </a:t>
            </a:r>
          </a:p>
          <a:p>
            <a:r>
              <a:rPr lang="en-IN" dirty="0"/>
              <a:t>}  </a:t>
            </a:r>
          </a:p>
          <a:p>
            <a:r>
              <a:rPr lang="en-IN" dirty="0"/>
              <a:t>} </a:t>
            </a:r>
          </a:p>
        </p:txBody>
      </p:sp>
    </p:spTree>
    <p:extLst>
      <p:ext uri="{BB962C8B-B14F-4D97-AF65-F5344CB8AC3E}">
        <p14:creationId xmlns:p14="http://schemas.microsoft.com/office/powerpoint/2010/main" val="9160282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5EDAE260-203A-48BA-B1E0-2820BBC6B005}" type="slidenum">
              <a:rPr lang="en-US" altLang="en-US" smtClean="0"/>
              <a:pPr>
                <a:defRPr/>
              </a:pPr>
              <a:t>34</a:t>
            </a:fld>
            <a:endParaRPr lang="en-US" altLang="en-US"/>
          </a:p>
        </p:txBody>
      </p:sp>
      <p:sp>
        <p:nvSpPr>
          <p:cNvPr id="4" name="Rectangle 3"/>
          <p:cNvSpPr/>
          <p:nvPr/>
        </p:nvSpPr>
        <p:spPr>
          <a:xfrm>
            <a:off x="685800" y="381000"/>
            <a:ext cx="3531736" cy="369332"/>
          </a:xfrm>
          <a:prstGeom prst="rect">
            <a:avLst/>
          </a:prstGeom>
        </p:spPr>
        <p:txBody>
          <a:bodyPr wrap="none">
            <a:spAutoFit/>
          </a:bodyPr>
          <a:lstStyle/>
          <a:p>
            <a:r>
              <a:rPr lang="en-IN" b="1" dirty="0">
                <a:solidFill>
                  <a:srgbClr val="FF0000"/>
                </a:solidFill>
                <a:latin typeface="urw-din"/>
              </a:rPr>
              <a:t>Methods of </a:t>
            </a:r>
            <a:r>
              <a:rPr lang="en-IN" b="1" dirty="0" err="1">
                <a:solidFill>
                  <a:srgbClr val="FF0000"/>
                </a:solidFill>
                <a:latin typeface="urw-din"/>
              </a:rPr>
              <a:t>StringBuffer</a:t>
            </a:r>
            <a:r>
              <a:rPr lang="en-IN" b="1" dirty="0">
                <a:solidFill>
                  <a:srgbClr val="FF0000"/>
                </a:solidFill>
                <a:latin typeface="urw-din"/>
              </a:rPr>
              <a:t> class </a:t>
            </a:r>
            <a:endParaRPr lang="en-IN" dirty="0">
              <a:solidFill>
                <a:srgbClr val="FF0000"/>
              </a:solidFill>
            </a:endParaRPr>
          </a:p>
        </p:txBody>
      </p:sp>
      <p:pic>
        <p:nvPicPr>
          <p:cNvPr id="1026" name="Picture 2" descr="StringBuffer Methods in Jav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990600"/>
            <a:ext cx="3197225" cy="3713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556981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5EDAE260-203A-48BA-B1E0-2820BBC6B005}" type="slidenum">
              <a:rPr lang="en-US" altLang="en-US" smtClean="0"/>
              <a:pPr>
                <a:defRPr/>
              </a:pPr>
              <a:t>35</a:t>
            </a:fld>
            <a:endParaRPr lang="en-US" altLang="en-US"/>
          </a:p>
        </p:txBody>
      </p:sp>
      <p:graphicFrame>
        <p:nvGraphicFramePr>
          <p:cNvPr id="4" name="Table 3"/>
          <p:cNvGraphicFramePr>
            <a:graphicFrameLocks noGrp="1"/>
          </p:cNvGraphicFramePr>
          <p:nvPr>
            <p:extLst>
              <p:ext uri="{D42A27DB-BD31-4B8C-83A1-F6EECF244321}">
                <p14:modId xmlns:p14="http://schemas.microsoft.com/office/powerpoint/2010/main" val="4228509906"/>
              </p:ext>
            </p:extLst>
          </p:nvPr>
        </p:nvGraphicFramePr>
        <p:xfrm>
          <a:off x="1838385" y="838200"/>
          <a:ext cx="8128000" cy="3759200"/>
        </p:xfrm>
        <a:graphic>
          <a:graphicData uri="http://schemas.openxmlformats.org/drawingml/2006/table">
            <a:tbl>
              <a:tblPr firstRow="1" bandRow="1">
                <a:tableStyleId>{5C22544A-7EE6-4342-B048-85BDC9FD1C3A}</a:tableStyleId>
              </a:tblPr>
              <a:tblGrid>
                <a:gridCol w="533400"/>
                <a:gridCol w="7594600"/>
              </a:tblGrid>
              <a:tr h="370840">
                <a:tc>
                  <a:txBody>
                    <a:bodyPr/>
                    <a:lstStyle/>
                    <a:p>
                      <a:r>
                        <a:rPr lang="en-US" dirty="0" smtClean="0"/>
                        <a:t>1</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smtClean="0">
                          <a:solidFill>
                            <a:schemeClr val="lt1"/>
                          </a:solidFill>
                          <a:effectLst/>
                          <a:latin typeface="+mn-lt"/>
                          <a:ea typeface="+mn-ea"/>
                          <a:cs typeface="+mn-cs"/>
                        </a:rPr>
                        <a:t>Java Program to Count Repeated Elements in an Array</a:t>
                      </a:r>
                    </a:p>
                    <a:p>
                      <a:endParaRPr lang="en-IN" dirty="0"/>
                    </a:p>
                  </a:txBody>
                  <a:tcPr/>
                </a:tc>
              </a:tr>
              <a:tr h="370840">
                <a:tc>
                  <a:txBody>
                    <a:bodyPr/>
                    <a:lstStyle/>
                    <a:p>
                      <a:r>
                        <a:rPr lang="en-US" dirty="0" smtClean="0"/>
                        <a:t>2</a:t>
                      </a:r>
                      <a:endParaRPr lang="en-IN" dirty="0"/>
                    </a:p>
                  </a:txBody>
                  <a:tcPr/>
                </a:tc>
                <a:tc>
                  <a:txBody>
                    <a:bodyPr/>
                    <a:lstStyle/>
                    <a:p>
                      <a:r>
                        <a:rPr lang="en-US" dirty="0" smtClean="0"/>
                        <a:t>Java Program to Find Sum of Two Arrays in Java</a:t>
                      </a:r>
                      <a:endParaRPr lang="en-IN" dirty="0"/>
                    </a:p>
                  </a:txBody>
                  <a:tcPr/>
                </a:tc>
              </a:tr>
              <a:tr h="370840">
                <a:tc>
                  <a:txBody>
                    <a:bodyPr/>
                    <a:lstStyle/>
                    <a:p>
                      <a:r>
                        <a:rPr lang="en-US" dirty="0" smtClean="0"/>
                        <a:t>3</a:t>
                      </a:r>
                      <a:endParaRPr lang="en-IN" dirty="0"/>
                    </a:p>
                  </a:txBody>
                  <a:tcPr/>
                </a:tc>
                <a:tc>
                  <a:txBody>
                    <a:bodyPr/>
                    <a:lstStyle/>
                    <a:p>
                      <a:r>
                        <a:rPr lang="en-US" dirty="0" smtClean="0"/>
                        <a:t>Write a Java program to calculate the average of numbers or find the average of elements of the given array.</a:t>
                      </a:r>
                      <a:endParaRPr lang="en-IN" dirty="0"/>
                    </a:p>
                  </a:txBody>
                  <a:tcPr/>
                </a:tc>
              </a:tr>
              <a:tr h="370840">
                <a:tc>
                  <a:txBody>
                    <a:bodyPr/>
                    <a:lstStyle/>
                    <a:p>
                      <a:r>
                        <a:rPr lang="en-US" dirty="0" smtClean="0"/>
                        <a:t>4</a:t>
                      </a:r>
                      <a:endParaRPr lang="en-IN" dirty="0"/>
                    </a:p>
                  </a:txBody>
                  <a:tcPr/>
                </a:tc>
                <a:tc>
                  <a:txBody>
                    <a:bodyPr/>
                    <a:lstStyle/>
                    <a:p>
                      <a:r>
                        <a:rPr lang="en-US" dirty="0" smtClean="0"/>
                        <a:t>Write a Java program to print the following grid</a:t>
                      </a:r>
                      <a:r>
                        <a:rPr lang="en-US" smtClean="0"/>
                        <a:t>. </a:t>
                      </a:r>
                      <a:endParaRPr lang="en-US" dirty="0" smtClean="0"/>
                    </a:p>
                    <a:p>
                      <a:r>
                        <a:rPr lang="en-US" dirty="0" smtClean="0"/>
                        <a:t>Expected Output :</a:t>
                      </a:r>
                    </a:p>
                    <a:p>
                      <a:r>
                        <a:rPr lang="en-US" dirty="0" smtClean="0"/>
                        <a:t>- - - - - - - - - -                                                                                           </a:t>
                      </a:r>
                    </a:p>
                    <a:p>
                      <a:r>
                        <a:rPr lang="en-US" dirty="0" smtClean="0"/>
                        <a:t>- - - - - - - - - -                                                                                           </a:t>
                      </a:r>
                    </a:p>
                    <a:p>
                      <a:r>
                        <a:rPr lang="en-US" dirty="0" smtClean="0"/>
                        <a:t>- - - - - - - - - -                                                                                           </a:t>
                      </a:r>
                    </a:p>
                    <a:p>
                      <a:r>
                        <a:rPr lang="en-US" dirty="0" smtClean="0"/>
                        <a:t>- - - - - - - - - -                                                                                           </a:t>
                      </a:r>
                    </a:p>
                  </a:txBody>
                  <a:tcPr/>
                </a:tc>
              </a:tr>
              <a:tr h="370840">
                <a:tc>
                  <a:txBody>
                    <a:bodyPr/>
                    <a:lstStyle/>
                    <a:p>
                      <a:r>
                        <a:rPr lang="en-US" dirty="0" smtClean="0"/>
                        <a:t>5</a:t>
                      </a:r>
                      <a:endParaRPr lang="en-IN" dirty="0"/>
                    </a:p>
                  </a:txBody>
                  <a:tcPr/>
                </a:tc>
                <a:tc>
                  <a:txBody>
                    <a:bodyPr/>
                    <a:lstStyle/>
                    <a:p>
                      <a:r>
                        <a:rPr lang="en-US" dirty="0" smtClean="0"/>
                        <a:t>Write a Java program to find the index of an array element.</a:t>
                      </a:r>
                      <a:endParaRPr lang="en-IN" dirty="0"/>
                    </a:p>
                  </a:txBody>
                  <a:tcPr/>
                </a:tc>
              </a:tr>
            </a:tbl>
          </a:graphicData>
        </a:graphic>
      </p:graphicFrame>
      <p:sp>
        <p:nvSpPr>
          <p:cNvPr id="5" name="TextBox 4"/>
          <p:cNvSpPr txBox="1"/>
          <p:nvPr/>
        </p:nvSpPr>
        <p:spPr>
          <a:xfrm>
            <a:off x="3124200" y="1438"/>
            <a:ext cx="4114800" cy="369332"/>
          </a:xfrm>
          <a:prstGeom prst="rect">
            <a:avLst/>
          </a:prstGeom>
          <a:noFill/>
        </p:spPr>
        <p:txBody>
          <a:bodyPr wrap="square" rtlCol="0">
            <a:spAutoFit/>
          </a:bodyPr>
          <a:lstStyle/>
          <a:p>
            <a:pPr algn="ctr"/>
            <a:r>
              <a:rPr lang="en-US" dirty="0" smtClean="0">
                <a:solidFill>
                  <a:srgbClr val="FF0000"/>
                </a:solidFill>
              </a:rPr>
              <a:t>Test Your Coding Skills</a:t>
            </a:r>
            <a:endParaRPr lang="en-IN" dirty="0">
              <a:solidFill>
                <a:srgbClr val="FF0000"/>
              </a:solidFill>
            </a:endParaRPr>
          </a:p>
        </p:txBody>
      </p:sp>
    </p:spTree>
    <p:extLst>
      <p:ext uri="{BB962C8B-B14F-4D97-AF65-F5344CB8AC3E}">
        <p14:creationId xmlns:p14="http://schemas.microsoft.com/office/powerpoint/2010/main" val="310292983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4.6|6.2|5.1|2.3|2|2.6|1.5|2.7|1.7|2.4|1.5|2.2|1.3|2.7|1.7"/>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5459</TotalTime>
  <Words>2270</Words>
  <Application>Microsoft Office PowerPoint</Application>
  <PresentationFormat>Custom</PresentationFormat>
  <Paragraphs>414</Paragraphs>
  <Slides>35</Slides>
  <Notes>2</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Office Theme</vt:lpstr>
      <vt:lpstr>PowerPoint Presentation</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Exercise Programs:</vt:lpstr>
      <vt:lpstr>PowerPoint Presentation</vt:lpstr>
      <vt:lpstr> To change the value of a specific element, refer to the index number:</vt:lpstr>
      <vt:lpstr>PowerPoint Presentation</vt:lpstr>
      <vt:lpstr>PowerPoint Presentation</vt:lpstr>
      <vt:lpstr>MultiDimensional Array</vt:lpstr>
      <vt:lpstr>PowerPoint Presentation</vt:lpstr>
      <vt:lpstr>PowerPoint Presentation</vt:lpstr>
      <vt:lpstr>PowerPoint Presentation</vt:lpstr>
      <vt:lpstr>Array Of Objects</vt:lpstr>
      <vt:lpstr>PowerPoint Presentation</vt:lpstr>
      <vt:lpstr>PowerPoint Presentation</vt:lpstr>
      <vt:lpstr>Java Strings</vt:lpstr>
      <vt:lpstr>PowerPoint Presentation</vt:lpstr>
      <vt:lpstr>String Operations</vt:lpstr>
      <vt:lpstr>We can join two strings in Java using the concat()</vt:lpstr>
      <vt:lpstr>PowerPoint Presentation</vt:lpstr>
      <vt:lpstr>PowerPoint Presentation</vt:lpstr>
      <vt:lpstr>String Buffer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Solving Techniques</dc:title>
  <dc:creator>admin</dc:creator>
  <cp:lastModifiedBy>OM</cp:lastModifiedBy>
  <cp:revision>527</cp:revision>
  <dcterms:created xsi:type="dcterms:W3CDTF">2007-08-28T09:12:38Z</dcterms:created>
  <dcterms:modified xsi:type="dcterms:W3CDTF">2022-10-28T08:03:37Z</dcterms:modified>
</cp:coreProperties>
</file>